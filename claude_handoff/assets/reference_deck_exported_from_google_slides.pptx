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1A925B-387E-4F20-950E-5FCF7B285F05}">
  <a:tblStyle styleId="{F01A925B-387E-4F20-950E-5FCF7B285F0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8858991e0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g3d8858991e0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3d8858991e0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d8858991e0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d8858991e0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g3d8858991e0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d8858991e0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g3d8858991e0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g3d8858991e0_0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d8858991e0_0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3d8858991e0_0_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g3d8858991e0_0_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 name="Google Shape;685;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6" name="Google Shape;686;p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d8858991e0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d8858991e0_0_2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g3d8858991e0_0_2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d8858991e0_0_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g3d8858991e0_0_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g3d8858991e0_0_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d8ce91b359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g3d8ce91b359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g3d8ce91b359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d8ce91b359_2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d8ce91b359_2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g3d8ce91b359_2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d8858991e0_0_2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g3d8858991e0_0_2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g3d8858991e0_0_2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d8858991e0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g3d8858991e0_0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g3d8858991e0_0_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d8ce91b359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g3d8ce91b359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 name="Google Shape;827;g3d8ce91b359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 name="Google Shape;84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2.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6.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wwt-uk-monitor.vercel.app/" TargetMode="External"/><Relationship Id="rId4" Type="http://schemas.openxmlformats.org/officeDocument/2006/relationships/image" Target="../media/image1.png"/><Relationship Id="rId5"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32.png"/><Relationship Id="rId5"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3"/>
          <p:cNvSpPr/>
          <p:nvPr/>
        </p:nvSpPr>
        <p:spPr>
          <a:xfrm>
            <a:off x="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0"/>
            <a:ext cx="164592"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943600" y="0"/>
            <a:ext cx="3200400" cy="5143500"/>
          </a:xfrm>
          <a:prstGeom prst="rect">
            <a:avLst/>
          </a:prstGeom>
          <a:solidFill>
            <a:srgbClr val="2D2D2D"/>
          </a:solidFill>
          <a:ln cap="flat" cmpd="sng" w="12700">
            <a:solidFill>
              <a:srgbClr val="2D2D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64600" y="2468874"/>
            <a:ext cx="5778900" cy="91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457200" y="731520"/>
            <a:ext cx="5486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Trebuchet MS"/>
              <a:buNone/>
            </a:pPr>
            <a:r>
              <a:rPr b="1" i="0" lang="en-US" sz="2800" u="none" cap="none" strike="noStrike">
                <a:solidFill>
                  <a:srgbClr val="FFFFFF"/>
                </a:solidFill>
                <a:latin typeface="Trebuchet MS"/>
                <a:ea typeface="Trebuchet MS"/>
                <a:cs typeface="Trebuchet MS"/>
                <a:sym typeface="Trebuchet MS"/>
              </a:rPr>
              <a:t>Wendy Wu Tours</a:t>
            </a:r>
            <a:endParaRPr b="0" i="0" sz="2800" u="none" cap="none" strike="noStrike">
              <a:solidFill>
                <a:schemeClr val="dk1"/>
              </a:solidFill>
              <a:latin typeface="Calibri"/>
              <a:ea typeface="Calibri"/>
              <a:cs typeface="Calibri"/>
              <a:sym typeface="Calibri"/>
            </a:endParaRPr>
          </a:p>
        </p:txBody>
      </p:sp>
      <p:sp>
        <p:nvSpPr>
          <p:cNvPr id="21" name="Google Shape;21;p3"/>
          <p:cNvSpPr/>
          <p:nvPr/>
        </p:nvSpPr>
        <p:spPr>
          <a:xfrm>
            <a:off x="457200" y="1325880"/>
            <a:ext cx="5486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1800"/>
              <a:buFont typeface="Trebuchet MS"/>
              <a:buNone/>
            </a:pPr>
            <a:r>
              <a:rPr b="0" i="0" lang="en-US" sz="1800" u="none" cap="none" strike="noStrike">
                <a:solidFill>
                  <a:srgbClr val="E0E0E0"/>
                </a:solidFill>
                <a:latin typeface="Trebuchet MS"/>
                <a:ea typeface="Trebuchet MS"/>
                <a:cs typeface="Trebuchet MS"/>
                <a:sym typeface="Trebuchet MS"/>
              </a:rPr>
              <a:t>Quarterly PPC Performance Report</a:t>
            </a:r>
            <a:endParaRPr b="0" i="0" sz="1800" u="none" cap="none" strike="noStrike">
              <a:solidFill>
                <a:schemeClr val="dk1"/>
              </a:solidFill>
              <a:latin typeface="Calibri"/>
              <a:ea typeface="Calibri"/>
              <a:cs typeface="Calibri"/>
              <a:sym typeface="Calibri"/>
            </a:endParaRPr>
          </a:p>
        </p:txBody>
      </p:sp>
      <p:sp>
        <p:nvSpPr>
          <p:cNvPr id="22" name="Google Shape;22;p3"/>
          <p:cNvSpPr/>
          <p:nvPr/>
        </p:nvSpPr>
        <p:spPr>
          <a:xfrm>
            <a:off x="457200" y="182880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400"/>
              <a:buFont typeface="Calibri"/>
              <a:buNone/>
            </a:pPr>
            <a:r>
              <a:rPr b="0" i="0" lang="en-US" sz="1400" u="none" cap="none" strike="noStrike">
                <a:solidFill>
                  <a:srgbClr val="F5C6CB"/>
                </a:solidFill>
                <a:latin typeface="Calibri"/>
                <a:ea typeface="Calibri"/>
                <a:cs typeface="Calibri"/>
                <a:sym typeface="Calibri"/>
              </a:rPr>
              <a:t>Q1 2026 (Jan – Mar 2026)</a:t>
            </a:r>
            <a:endParaRPr b="0" i="0" sz="1400" u="none" cap="none" strike="noStrike">
              <a:solidFill>
                <a:schemeClr val="dk1"/>
              </a:solidFill>
              <a:latin typeface="Calibri"/>
              <a:ea typeface="Calibri"/>
              <a:cs typeface="Calibri"/>
              <a:sym typeface="Calibri"/>
            </a:endParaRPr>
          </a:p>
        </p:txBody>
      </p:sp>
      <p:sp>
        <p:nvSpPr>
          <p:cNvPr id="23" name="Google Shape;23;p3"/>
          <p:cNvSpPr/>
          <p:nvPr/>
        </p:nvSpPr>
        <p:spPr>
          <a:xfrm>
            <a:off x="457200" y="2697480"/>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b="0" i="0" lang="en-US" sz="1100" u="none" cap="none" strike="noStrike">
                <a:solidFill>
                  <a:srgbClr val="666666"/>
                </a:solidFill>
                <a:latin typeface="Calibri"/>
                <a:ea typeface="Calibri"/>
                <a:cs typeface="Calibri"/>
                <a:sym typeface="Calibri"/>
              </a:rPr>
              <a:t>Prepared by Summon</a:t>
            </a:r>
            <a:endParaRPr b="0" i="0" sz="1100" u="none" cap="none" strike="noStrike">
              <a:solidFill>
                <a:schemeClr val="dk1"/>
              </a:solidFill>
              <a:latin typeface="Calibri"/>
              <a:ea typeface="Calibri"/>
              <a:cs typeface="Calibri"/>
              <a:sym typeface="Calibri"/>
            </a:endParaRPr>
          </a:p>
        </p:txBody>
      </p:sp>
      <p:sp>
        <p:nvSpPr>
          <p:cNvPr id="24" name="Google Shape;24;p3"/>
          <p:cNvSpPr/>
          <p:nvPr/>
        </p:nvSpPr>
        <p:spPr>
          <a:xfrm>
            <a:off x="6217920" y="822960"/>
            <a:ext cx="2651760" cy="804672"/>
          </a:xfrm>
          <a:prstGeom prst="rect">
            <a:avLst/>
          </a:prstGeom>
          <a:solidFill>
            <a:srgbClr val="2D2D2D"/>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6217920" y="877824"/>
            <a:ext cx="26517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5,682</a:t>
            </a:r>
            <a:endParaRPr b="0" i="0" sz="2200" u="none" cap="none" strike="noStrike">
              <a:solidFill>
                <a:schemeClr val="dk1"/>
              </a:solidFill>
              <a:latin typeface="Calibri"/>
              <a:ea typeface="Calibri"/>
              <a:cs typeface="Calibri"/>
              <a:sym typeface="Calibri"/>
            </a:endParaRPr>
          </a:p>
        </p:txBody>
      </p:sp>
      <p:sp>
        <p:nvSpPr>
          <p:cNvPr id="26" name="Google Shape;26;p3"/>
          <p:cNvSpPr/>
          <p:nvPr/>
        </p:nvSpPr>
        <p:spPr>
          <a:xfrm>
            <a:off x="6217920" y="1298448"/>
            <a:ext cx="2651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Total Leads</a:t>
            </a:r>
            <a:endParaRPr b="0" i="0" sz="1000" u="none" cap="none" strike="noStrike">
              <a:solidFill>
                <a:schemeClr val="dk1"/>
              </a:solidFill>
              <a:latin typeface="Calibri"/>
              <a:ea typeface="Calibri"/>
              <a:cs typeface="Calibri"/>
              <a:sym typeface="Calibri"/>
            </a:endParaRPr>
          </a:p>
        </p:txBody>
      </p:sp>
      <p:sp>
        <p:nvSpPr>
          <p:cNvPr id="27" name="Google Shape;27;p3"/>
          <p:cNvSpPr/>
          <p:nvPr/>
        </p:nvSpPr>
        <p:spPr>
          <a:xfrm>
            <a:off x="6217920" y="1828800"/>
            <a:ext cx="2651760" cy="804672"/>
          </a:xfrm>
          <a:prstGeom prst="rect">
            <a:avLst/>
          </a:prstGeom>
          <a:solidFill>
            <a:srgbClr val="2D2D2D"/>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6217920" y="1883664"/>
            <a:ext cx="26517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£224K</a:t>
            </a:r>
            <a:endParaRPr b="0" i="0" sz="2200" u="none" cap="none" strike="noStrike">
              <a:solidFill>
                <a:schemeClr val="dk1"/>
              </a:solidFill>
              <a:latin typeface="Calibri"/>
              <a:ea typeface="Calibri"/>
              <a:cs typeface="Calibri"/>
              <a:sym typeface="Calibri"/>
            </a:endParaRPr>
          </a:p>
        </p:txBody>
      </p:sp>
      <p:sp>
        <p:nvSpPr>
          <p:cNvPr id="29" name="Google Shape;29;p3"/>
          <p:cNvSpPr/>
          <p:nvPr/>
        </p:nvSpPr>
        <p:spPr>
          <a:xfrm>
            <a:off x="6217920" y="2304288"/>
            <a:ext cx="2651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Total Spend</a:t>
            </a:r>
            <a:endParaRPr b="0" i="0" sz="1000" u="none" cap="none" strike="noStrike">
              <a:solidFill>
                <a:schemeClr val="dk1"/>
              </a:solidFill>
              <a:latin typeface="Calibri"/>
              <a:ea typeface="Calibri"/>
              <a:cs typeface="Calibri"/>
              <a:sym typeface="Calibri"/>
            </a:endParaRPr>
          </a:p>
        </p:txBody>
      </p:sp>
      <p:sp>
        <p:nvSpPr>
          <p:cNvPr id="30" name="Google Shape;30;p3"/>
          <p:cNvSpPr/>
          <p:nvPr/>
        </p:nvSpPr>
        <p:spPr>
          <a:xfrm>
            <a:off x="6217920" y="2834640"/>
            <a:ext cx="2651760" cy="804672"/>
          </a:xfrm>
          <a:prstGeom prst="rect">
            <a:avLst/>
          </a:prstGeom>
          <a:solidFill>
            <a:srgbClr val="2D2D2D"/>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6217920" y="2889504"/>
            <a:ext cx="26517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£39.46</a:t>
            </a:r>
            <a:endParaRPr b="0" i="0" sz="2200" u="none" cap="none" strike="noStrike">
              <a:solidFill>
                <a:schemeClr val="dk1"/>
              </a:solidFill>
              <a:latin typeface="Calibri"/>
              <a:ea typeface="Calibri"/>
              <a:cs typeface="Calibri"/>
              <a:sym typeface="Calibri"/>
            </a:endParaRPr>
          </a:p>
        </p:txBody>
      </p:sp>
      <p:sp>
        <p:nvSpPr>
          <p:cNvPr id="32" name="Google Shape;32;p3"/>
          <p:cNvSpPr/>
          <p:nvPr/>
        </p:nvSpPr>
        <p:spPr>
          <a:xfrm>
            <a:off x="6217920" y="3310128"/>
            <a:ext cx="2651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Blended CPL</a:t>
            </a:r>
            <a:endParaRPr b="0" i="0" sz="1000" u="none" cap="none" strike="noStrike">
              <a:solidFill>
                <a:schemeClr val="dk1"/>
              </a:solidFill>
              <a:latin typeface="Calibri"/>
              <a:ea typeface="Calibri"/>
              <a:cs typeface="Calibri"/>
              <a:sym typeface="Calibri"/>
            </a:endParaRPr>
          </a:p>
        </p:txBody>
      </p:sp>
      <p:sp>
        <p:nvSpPr>
          <p:cNvPr id="33" name="Google Shape;33;p3"/>
          <p:cNvSpPr/>
          <p:nvPr/>
        </p:nvSpPr>
        <p:spPr>
          <a:xfrm>
            <a:off x="6217920" y="3840480"/>
            <a:ext cx="2651760" cy="804672"/>
          </a:xfrm>
          <a:prstGeom prst="rect">
            <a:avLst/>
          </a:prstGeom>
          <a:solidFill>
            <a:srgbClr val="2D2D2D"/>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6217920" y="3895344"/>
            <a:ext cx="26517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3.10%</a:t>
            </a:r>
            <a:endParaRPr b="0" i="0" sz="2200" u="none" cap="none" strike="noStrike">
              <a:solidFill>
                <a:schemeClr val="dk1"/>
              </a:solidFill>
              <a:latin typeface="Calibri"/>
              <a:ea typeface="Calibri"/>
              <a:cs typeface="Calibri"/>
              <a:sym typeface="Calibri"/>
            </a:endParaRPr>
          </a:p>
        </p:txBody>
      </p:sp>
      <p:sp>
        <p:nvSpPr>
          <p:cNvPr id="35" name="Google Shape;35;p3"/>
          <p:cNvSpPr/>
          <p:nvPr/>
        </p:nvSpPr>
        <p:spPr>
          <a:xfrm>
            <a:off x="6217920" y="4315968"/>
            <a:ext cx="2651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CVR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4"/>
          <p:cNvSpPr/>
          <p:nvPr/>
        </p:nvSpPr>
        <p:spPr>
          <a:xfrm>
            <a:off x="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0" y="0"/>
            <a:ext cx="128016"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128016" y="2917124"/>
            <a:ext cx="9015900" cy="63900"/>
          </a:xfrm>
          <a:prstGeom prst="rect">
            <a:avLst/>
          </a:prstGeom>
          <a:solidFill>
            <a:srgbClr val="D01F2E">
              <a:alpha val="30196"/>
            </a:srgbClr>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914400" y="1840230"/>
            <a:ext cx="73152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i="0" lang="en-US" sz="3600" u="none" cap="none" strike="noStrike">
                <a:solidFill>
                  <a:srgbClr val="FFFFFF"/>
                </a:solidFill>
                <a:latin typeface="Trebuchet MS"/>
                <a:ea typeface="Trebuchet MS"/>
                <a:cs typeface="Trebuchet MS"/>
                <a:sym typeface="Trebuchet MS"/>
              </a:rPr>
              <a:t>Google Trends</a:t>
            </a:r>
            <a:endParaRPr b="0" i="0" sz="3600" u="none" cap="none" strike="noStrike">
              <a:solidFill>
                <a:schemeClr val="dk1"/>
              </a:solidFill>
              <a:latin typeface="Calibri"/>
              <a:ea typeface="Calibri"/>
              <a:cs typeface="Calibri"/>
              <a:sym typeface="Calibri"/>
            </a:endParaRPr>
          </a:p>
        </p:txBody>
      </p:sp>
      <p:sp>
        <p:nvSpPr>
          <p:cNvPr id="45" name="Google Shape;45;p4"/>
          <p:cNvSpPr/>
          <p:nvPr/>
        </p:nvSpPr>
        <p:spPr>
          <a:xfrm>
            <a:off x="914400" y="316611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100"/>
              <a:buFont typeface="Calibri"/>
              <a:buNone/>
            </a:pPr>
            <a:r>
              <a:rPr b="0" i="0" lang="en-US" sz="1100" u="none" cap="none" strike="noStrike">
                <a:solidFill>
                  <a:srgbClr val="F5C6CB"/>
                </a:solidFill>
                <a:latin typeface="Calibri"/>
                <a:ea typeface="Calibri"/>
                <a:cs typeface="Calibri"/>
                <a:sym typeface="Calibri"/>
              </a:rPr>
              <a:t>Wendy Wu Tours | Q1 2026 | Summon</a:t>
            </a:r>
            <a:endParaRPr sz="1100">
              <a:solidFill>
                <a:srgbClr val="F5C6CB"/>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5"/>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Wendy Wu Tours Terms Are Growing</a:t>
            </a:r>
            <a:endParaRPr b="0" i="0" sz="2000" u="none" cap="none" strike="noStrike">
              <a:solidFill>
                <a:schemeClr val="dk1"/>
              </a:solidFill>
              <a:latin typeface="Calibri"/>
              <a:ea typeface="Calibri"/>
              <a:cs typeface="Calibri"/>
              <a:sym typeface="Calibri"/>
            </a:endParaRPr>
          </a:p>
        </p:txBody>
      </p:sp>
      <p:sp>
        <p:nvSpPr>
          <p:cNvPr id="54" name="Google Shape;54;p5"/>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55" name="Google Shape;55;p5"/>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57" name="Google Shape;57;p5"/>
          <p:cNvPicPr preferRelativeResize="0"/>
          <p:nvPr/>
        </p:nvPicPr>
        <p:blipFill rotWithShape="1">
          <a:blip r:embed="rId3">
            <a:alphaModFix/>
          </a:blip>
          <a:srcRect b="0" l="0" r="0" t="0"/>
          <a:stretch/>
        </p:blipFill>
        <p:spPr>
          <a:xfrm>
            <a:off x="1333901" y="902487"/>
            <a:ext cx="6321900" cy="2739600"/>
          </a:xfrm>
          <a:prstGeom prst="rect">
            <a:avLst/>
          </a:prstGeom>
          <a:noFill/>
          <a:ln>
            <a:noFill/>
          </a:ln>
        </p:spPr>
      </p:pic>
      <p:sp>
        <p:nvSpPr>
          <p:cNvPr id="58" name="Google Shape;58;p5"/>
          <p:cNvSpPr/>
          <p:nvPr/>
        </p:nvSpPr>
        <p:spPr>
          <a:xfrm>
            <a:off x="7132320" y="3703320"/>
            <a:ext cx="1920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Source: Google Trends</a:t>
            </a:r>
            <a:endParaRPr b="0" i="0" sz="800" u="none" cap="none" strike="noStrike">
              <a:solidFill>
                <a:schemeClr val="dk1"/>
              </a:solidFill>
              <a:latin typeface="Calibri"/>
              <a:ea typeface="Calibri"/>
              <a:cs typeface="Calibri"/>
              <a:sym typeface="Calibri"/>
            </a:endParaRPr>
          </a:p>
        </p:txBody>
      </p:sp>
      <p:sp>
        <p:nvSpPr>
          <p:cNvPr id="59" name="Google Shape;59;p5"/>
          <p:cNvSpPr/>
          <p:nvPr/>
        </p:nvSpPr>
        <p:spPr>
          <a:xfrm>
            <a:off x="137160" y="3931920"/>
            <a:ext cx="8869680" cy="777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b="0" i="0" lang="en-US" sz="1000" u="none" cap="none" strike="noStrike">
                <a:solidFill>
                  <a:srgbClr val="111111"/>
                </a:solidFill>
                <a:latin typeface="Calibri"/>
                <a:ea typeface="Calibri"/>
                <a:cs typeface="Calibri"/>
                <a:sym typeface="Calibri"/>
              </a:rPr>
              <a:t>Brand demand has increased </a:t>
            </a:r>
            <a:r>
              <a:rPr b="0" i="0" lang="en-US" sz="1000" u="none" cap="none" strike="noStrike">
                <a:solidFill>
                  <a:srgbClr val="111111"/>
                </a:solidFill>
                <a:latin typeface="Calibri"/>
                <a:ea typeface="Calibri"/>
                <a:cs typeface="Calibri"/>
                <a:sym typeface="Calibri"/>
              </a:rPr>
              <a:t>year</a:t>
            </a:r>
            <a:r>
              <a:rPr b="0" i="0" lang="en-US" sz="1000" u="none" cap="none" strike="noStrike">
                <a:solidFill>
                  <a:srgbClr val="111111"/>
                </a:solidFill>
                <a:latin typeface="Calibri"/>
                <a:ea typeface="Calibri"/>
                <a:cs typeface="Calibri"/>
                <a:sym typeface="Calibri"/>
              </a:rPr>
              <a:t> on year, with </a:t>
            </a:r>
            <a:r>
              <a:rPr lang="en-US" sz="1000">
                <a:solidFill>
                  <a:srgbClr val="111111"/>
                </a:solidFill>
                <a:latin typeface="Calibri"/>
                <a:ea typeface="Calibri"/>
                <a:cs typeface="Calibri"/>
                <a:sym typeface="Calibri"/>
              </a:rPr>
              <a:t>search volume occuring in January and then tailing off.</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March interest is now in line with last year</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This year has show reduction MoM, whereads last year saw a March uplift from February</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This March we are starting to see the impact of the Iran conflict</a:t>
            </a:r>
            <a:endParaRPr sz="1000">
              <a:solidFill>
                <a:srgbClr val="111111"/>
              </a:solidFill>
              <a:latin typeface="Calibri"/>
              <a:ea typeface="Calibri"/>
              <a:cs typeface="Calibri"/>
              <a:sym typeface="Calibri"/>
            </a:endParaRPr>
          </a:p>
        </p:txBody>
      </p:sp>
      <p:pic>
        <p:nvPicPr>
          <p:cNvPr id="60" name="Google Shape;60;p5"/>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6"/>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Japan Demand Trend</a:t>
            </a:r>
            <a:endParaRPr b="0" i="0" sz="2000" u="none" cap="none" strike="noStrike">
              <a:solidFill>
                <a:schemeClr val="dk1"/>
              </a:solidFill>
              <a:latin typeface="Calibri"/>
              <a:ea typeface="Calibri"/>
              <a:cs typeface="Calibri"/>
              <a:sym typeface="Calibri"/>
            </a:endParaRPr>
          </a:p>
        </p:txBody>
      </p:sp>
      <p:sp>
        <p:nvSpPr>
          <p:cNvPr id="69" name="Google Shape;69;p6"/>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70" name="Google Shape;70;p6"/>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72" name="Google Shape;72;p6"/>
          <p:cNvPicPr preferRelativeResize="0"/>
          <p:nvPr/>
        </p:nvPicPr>
        <p:blipFill rotWithShape="1">
          <a:blip r:embed="rId3">
            <a:alphaModFix/>
          </a:blip>
          <a:srcRect b="0" l="0" r="0" t="0"/>
          <a:stretch/>
        </p:blipFill>
        <p:spPr>
          <a:xfrm>
            <a:off x="137160" y="804672"/>
            <a:ext cx="6858000" cy="2971800"/>
          </a:xfrm>
          <a:prstGeom prst="rect">
            <a:avLst/>
          </a:prstGeom>
          <a:noFill/>
          <a:ln>
            <a:noFill/>
          </a:ln>
        </p:spPr>
      </p:pic>
      <p:sp>
        <p:nvSpPr>
          <p:cNvPr id="73" name="Google Shape;73;p6"/>
          <p:cNvSpPr/>
          <p:nvPr/>
        </p:nvSpPr>
        <p:spPr>
          <a:xfrm>
            <a:off x="7132320" y="3703320"/>
            <a:ext cx="1920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Source: Google Trends</a:t>
            </a:r>
            <a:endParaRPr b="0" i="0" sz="800" u="none" cap="none" strike="noStrike">
              <a:solidFill>
                <a:schemeClr val="dk1"/>
              </a:solidFill>
              <a:latin typeface="Calibri"/>
              <a:ea typeface="Calibri"/>
              <a:cs typeface="Calibri"/>
              <a:sym typeface="Calibri"/>
            </a:endParaRPr>
          </a:p>
        </p:txBody>
      </p:sp>
      <p:sp>
        <p:nvSpPr>
          <p:cNvPr id="74" name="Google Shape;74;p6"/>
          <p:cNvSpPr/>
          <p:nvPr/>
        </p:nvSpPr>
        <p:spPr>
          <a:xfrm>
            <a:off x="137160" y="3931920"/>
            <a:ext cx="8869680" cy="777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b="0" i="0" lang="en-US" sz="1000" u="none" cap="none" strike="noStrike">
                <a:solidFill>
                  <a:srgbClr val="111111"/>
                </a:solidFill>
                <a:latin typeface="Calibri"/>
                <a:ea typeface="Calibri"/>
                <a:cs typeface="Calibri"/>
                <a:sym typeface="Calibri"/>
              </a:rPr>
              <a:t>Japan demand has increased year on year</a:t>
            </a:r>
            <a:r>
              <a:rPr lang="en-US" sz="1000">
                <a:solidFill>
                  <a:srgbClr val="111111"/>
                </a:solidFill>
                <a:latin typeface="Calibri"/>
                <a:ea typeface="Calibri"/>
                <a:cs typeface="Calibri"/>
                <a:sym typeface="Calibri"/>
              </a:rPr>
              <a:t> and is </a:t>
            </a:r>
            <a:r>
              <a:rPr lang="en-US" sz="1000">
                <a:solidFill>
                  <a:srgbClr val="111111"/>
                </a:solidFill>
                <a:latin typeface="Calibri"/>
                <a:ea typeface="Calibri"/>
                <a:cs typeface="Calibri"/>
                <a:sym typeface="Calibri"/>
              </a:rPr>
              <a:t>following</a:t>
            </a:r>
            <a:r>
              <a:rPr lang="en-US" sz="1000">
                <a:solidFill>
                  <a:srgbClr val="111111"/>
                </a:solidFill>
                <a:latin typeface="Calibri"/>
                <a:ea typeface="Calibri"/>
                <a:cs typeface="Calibri"/>
                <a:sym typeface="Calibri"/>
              </a:rPr>
              <a:t> a very similar pattern to last year, wich slightly nore of a MoM reduction from February to March</a:t>
            </a:r>
            <a:endParaRPr sz="1000">
              <a:solidFill>
                <a:srgbClr val="111111"/>
              </a:solidFill>
              <a:latin typeface="Calibri"/>
              <a:ea typeface="Calibri"/>
              <a:cs typeface="Calibri"/>
              <a:sym typeface="Calibri"/>
            </a:endParaRPr>
          </a:p>
          <a:p>
            <a:pPr indent="0" lvl="0" marL="457200" marR="0" rtl="0" algn="l">
              <a:spcBef>
                <a:spcPts val="0"/>
              </a:spcBef>
              <a:spcAft>
                <a:spcPts val="0"/>
              </a:spcAft>
              <a:buNone/>
            </a:pPr>
            <a:r>
              <a:t/>
            </a:r>
            <a:endParaRPr b="0" i="0" sz="1000" u="none" cap="none" strike="noStrike">
              <a:solidFill>
                <a:schemeClr val="dk1"/>
              </a:solidFill>
              <a:latin typeface="Calibri"/>
              <a:ea typeface="Calibri"/>
              <a:cs typeface="Calibri"/>
              <a:sym typeface="Calibri"/>
            </a:endParaRPr>
          </a:p>
        </p:txBody>
      </p:sp>
      <p:pic>
        <p:nvPicPr>
          <p:cNvPr id="75" name="Google Shape;75;p6"/>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7"/>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China Demand Trend</a:t>
            </a:r>
            <a:endParaRPr b="0" i="0" sz="2000" u="none" cap="none" strike="noStrike">
              <a:solidFill>
                <a:schemeClr val="dk1"/>
              </a:solidFill>
              <a:latin typeface="Calibri"/>
              <a:ea typeface="Calibri"/>
              <a:cs typeface="Calibri"/>
              <a:sym typeface="Calibri"/>
            </a:endParaRPr>
          </a:p>
        </p:txBody>
      </p:sp>
      <p:sp>
        <p:nvSpPr>
          <p:cNvPr id="84" name="Google Shape;84;p7"/>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85" name="Google Shape;85;p7"/>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87" name="Google Shape;87;p7"/>
          <p:cNvPicPr preferRelativeResize="0"/>
          <p:nvPr/>
        </p:nvPicPr>
        <p:blipFill rotWithShape="1">
          <a:blip r:embed="rId3">
            <a:alphaModFix/>
          </a:blip>
          <a:srcRect b="0" l="0" r="0" t="0"/>
          <a:stretch/>
        </p:blipFill>
        <p:spPr>
          <a:xfrm>
            <a:off x="137160" y="804672"/>
            <a:ext cx="6858000" cy="2971800"/>
          </a:xfrm>
          <a:prstGeom prst="rect">
            <a:avLst/>
          </a:prstGeom>
          <a:noFill/>
          <a:ln>
            <a:noFill/>
          </a:ln>
        </p:spPr>
      </p:pic>
      <p:sp>
        <p:nvSpPr>
          <p:cNvPr id="88" name="Google Shape;88;p7"/>
          <p:cNvSpPr/>
          <p:nvPr/>
        </p:nvSpPr>
        <p:spPr>
          <a:xfrm>
            <a:off x="7132320" y="3703320"/>
            <a:ext cx="19202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Source: Google Trends</a:t>
            </a:r>
            <a:endParaRPr b="0" i="0" sz="800" u="none" cap="none" strike="noStrike">
              <a:solidFill>
                <a:schemeClr val="dk1"/>
              </a:solidFill>
              <a:latin typeface="Calibri"/>
              <a:ea typeface="Calibri"/>
              <a:cs typeface="Calibri"/>
              <a:sym typeface="Calibri"/>
            </a:endParaRPr>
          </a:p>
        </p:txBody>
      </p:sp>
      <p:sp>
        <p:nvSpPr>
          <p:cNvPr id="89" name="Google Shape;89;p7"/>
          <p:cNvSpPr/>
          <p:nvPr/>
        </p:nvSpPr>
        <p:spPr>
          <a:xfrm>
            <a:off x="137160" y="3931920"/>
            <a:ext cx="8869680" cy="777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b="0" i="0" lang="en-US" sz="1000" u="none" cap="none" strike="noStrike">
                <a:solidFill>
                  <a:srgbClr val="111111"/>
                </a:solidFill>
                <a:latin typeface="Calibri"/>
                <a:ea typeface="Calibri"/>
                <a:cs typeface="Calibri"/>
                <a:sym typeface="Calibri"/>
              </a:rPr>
              <a:t>China </a:t>
            </a:r>
            <a:r>
              <a:rPr lang="en-US" sz="1000">
                <a:solidFill>
                  <a:srgbClr val="111111"/>
                </a:solidFill>
                <a:latin typeface="Calibri"/>
                <a:ea typeface="Calibri"/>
                <a:cs typeface="Calibri"/>
                <a:sym typeface="Calibri"/>
              </a:rPr>
              <a:t>shows the same story with reducing MoM search volume compared to last year where March was lightly higher than Feb.</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Overall </a:t>
            </a:r>
            <a:r>
              <a:rPr lang="en-US" sz="1000">
                <a:solidFill>
                  <a:srgbClr val="111111"/>
                </a:solidFill>
                <a:latin typeface="Calibri"/>
                <a:ea typeface="Calibri"/>
                <a:cs typeface="Calibri"/>
                <a:sym typeface="Calibri"/>
              </a:rPr>
              <a:t>however</a:t>
            </a:r>
            <a:r>
              <a:rPr lang="en-US" sz="1000">
                <a:solidFill>
                  <a:srgbClr val="111111"/>
                </a:solidFill>
                <a:latin typeface="Calibri"/>
                <a:ea typeface="Calibri"/>
                <a:cs typeface="Calibri"/>
                <a:sym typeface="Calibri"/>
              </a:rPr>
              <a:t>, search demand is still higher YoY</a:t>
            </a:r>
            <a:endParaRPr sz="1000">
              <a:solidFill>
                <a:srgbClr val="111111"/>
              </a:solidFill>
              <a:latin typeface="Calibri"/>
              <a:ea typeface="Calibri"/>
              <a:cs typeface="Calibri"/>
              <a:sym typeface="Calibri"/>
            </a:endParaRPr>
          </a:p>
        </p:txBody>
      </p:sp>
      <p:pic>
        <p:nvPicPr>
          <p:cNvPr id="90" name="Google Shape;90;p7"/>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8"/>
          <p:cNvSpPr/>
          <p:nvPr/>
        </p:nvSpPr>
        <p:spPr>
          <a:xfrm>
            <a:off x="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0" y="0"/>
            <a:ext cx="128016"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128016" y="2849199"/>
            <a:ext cx="9015900" cy="63900"/>
          </a:xfrm>
          <a:prstGeom prst="rect">
            <a:avLst/>
          </a:prstGeom>
          <a:solidFill>
            <a:srgbClr val="D01F2E">
              <a:alpha val="30196"/>
            </a:srgbClr>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914400" y="1840230"/>
            <a:ext cx="73152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i="0" lang="en-US" sz="3600" u="none" cap="none" strike="noStrike">
                <a:solidFill>
                  <a:srgbClr val="FFFFFF"/>
                </a:solidFill>
                <a:latin typeface="Trebuchet MS"/>
                <a:ea typeface="Trebuchet MS"/>
                <a:cs typeface="Trebuchet MS"/>
                <a:sym typeface="Trebuchet MS"/>
              </a:rPr>
              <a:t>Performance</a:t>
            </a:r>
            <a:endParaRPr b="0" i="0" sz="3600" u="none" cap="none" strike="noStrike">
              <a:solidFill>
                <a:schemeClr val="dk1"/>
              </a:solidFill>
              <a:latin typeface="Calibri"/>
              <a:ea typeface="Calibri"/>
              <a:cs typeface="Calibri"/>
              <a:sym typeface="Calibri"/>
            </a:endParaRPr>
          </a:p>
        </p:txBody>
      </p:sp>
      <p:sp>
        <p:nvSpPr>
          <p:cNvPr id="100" name="Google Shape;100;p8"/>
          <p:cNvSpPr/>
          <p:nvPr/>
        </p:nvSpPr>
        <p:spPr>
          <a:xfrm>
            <a:off x="914400" y="316611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100"/>
              <a:buFont typeface="Calibri"/>
              <a:buNone/>
            </a:pPr>
            <a:r>
              <a:rPr b="0" i="0" lang="en-US" sz="1100" u="none" cap="none" strike="noStrike">
                <a:solidFill>
                  <a:srgbClr val="F5C6CB"/>
                </a:solidFill>
                <a:latin typeface="Calibri"/>
                <a:ea typeface="Calibri"/>
                <a:cs typeface="Calibri"/>
                <a:sym typeface="Calibri"/>
              </a:rPr>
              <a:t>Wendy Wu Tours | Q1 2026 | Summon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9" title="Screenshot 2026-04-22 114708.png"/>
          <p:cNvPicPr preferRelativeResize="0"/>
          <p:nvPr/>
        </p:nvPicPr>
        <p:blipFill>
          <a:blip r:embed="rId3">
            <a:alphaModFix/>
          </a:blip>
          <a:stretch>
            <a:fillRect/>
          </a:stretch>
        </p:blipFill>
        <p:spPr>
          <a:xfrm>
            <a:off x="4999676" y="1892800"/>
            <a:ext cx="3952289" cy="2343962"/>
          </a:xfrm>
          <a:prstGeom prst="rect">
            <a:avLst/>
          </a:prstGeom>
          <a:noFill/>
          <a:ln>
            <a:noFill/>
          </a:ln>
        </p:spPr>
      </p:pic>
      <p:sp>
        <p:nvSpPr>
          <p:cNvPr id="107" name="Google Shape;107;p9"/>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Overall Performance Trend</a:t>
            </a:r>
            <a:endParaRPr b="0" i="0" sz="2000" u="none" cap="none" strike="noStrike">
              <a:solidFill>
                <a:schemeClr val="dk1"/>
              </a:solidFill>
              <a:latin typeface="Calibri"/>
              <a:ea typeface="Calibri"/>
              <a:cs typeface="Calibri"/>
              <a:sym typeface="Calibri"/>
            </a:endParaRPr>
          </a:p>
        </p:txBody>
      </p:sp>
      <p:sp>
        <p:nvSpPr>
          <p:cNvPr id="109" name="Google Shape;109;p9"/>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110" name="Google Shape;110;p9"/>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112" name="Google Shape;112;p9"/>
          <p:cNvSpPr/>
          <p:nvPr/>
        </p:nvSpPr>
        <p:spPr>
          <a:xfrm>
            <a:off x="10972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109728" y="822960"/>
            <a:ext cx="1389888" cy="4572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
          <p:cNvSpPr/>
          <p:nvPr/>
        </p:nvSpPr>
        <p:spPr>
          <a:xfrm>
            <a:off x="18288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5,682</a:t>
            </a:r>
            <a:endParaRPr b="0" i="0" sz="1500" u="none" cap="none" strike="noStrike">
              <a:solidFill>
                <a:schemeClr val="dk1"/>
              </a:solidFill>
              <a:latin typeface="Calibri"/>
              <a:ea typeface="Calibri"/>
              <a:cs typeface="Calibri"/>
              <a:sym typeface="Calibri"/>
            </a:endParaRPr>
          </a:p>
        </p:txBody>
      </p:sp>
      <p:sp>
        <p:nvSpPr>
          <p:cNvPr id="115" name="Google Shape;115;p9"/>
          <p:cNvSpPr/>
          <p:nvPr/>
        </p:nvSpPr>
        <p:spPr>
          <a:xfrm>
            <a:off x="15544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116" name="Google Shape;116;p9"/>
          <p:cNvSpPr/>
          <p:nvPr/>
        </p:nvSpPr>
        <p:spPr>
          <a:xfrm>
            <a:off x="155448"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i="0" lang="en-US" sz="800" u="none" cap="none" strike="noStrike">
                <a:solidFill>
                  <a:schemeClr val="accent6"/>
                </a:solidFill>
                <a:latin typeface="Calibri"/>
                <a:ea typeface="Calibri"/>
                <a:cs typeface="Calibri"/>
                <a:sym typeface="Calibri"/>
              </a:rPr>
              <a:t>+61.24%</a:t>
            </a:r>
            <a:endParaRPr b="0" i="0" sz="800" u="none" cap="none" strike="noStrike">
              <a:solidFill>
                <a:schemeClr val="accent6"/>
              </a:solidFill>
              <a:latin typeface="Calibri"/>
              <a:ea typeface="Calibri"/>
              <a:cs typeface="Calibri"/>
              <a:sym typeface="Calibri"/>
            </a:endParaRPr>
          </a:p>
        </p:txBody>
      </p:sp>
      <p:sp>
        <p:nvSpPr>
          <p:cNvPr id="117" name="Google Shape;117;p9"/>
          <p:cNvSpPr/>
          <p:nvPr/>
        </p:nvSpPr>
        <p:spPr>
          <a:xfrm>
            <a:off x="1600200"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a:off x="1600200" y="822960"/>
            <a:ext cx="1389888" cy="457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a:off x="1673352"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£224,233</a:t>
            </a:r>
            <a:endParaRPr b="0" i="0" sz="1500" u="none" cap="none" strike="noStrike">
              <a:solidFill>
                <a:schemeClr val="dk1"/>
              </a:solidFill>
              <a:latin typeface="Calibri"/>
              <a:ea typeface="Calibri"/>
              <a:cs typeface="Calibri"/>
              <a:sym typeface="Calibri"/>
            </a:endParaRPr>
          </a:p>
        </p:txBody>
      </p:sp>
      <p:sp>
        <p:nvSpPr>
          <p:cNvPr id="120" name="Google Shape;120;p9"/>
          <p:cNvSpPr/>
          <p:nvPr/>
        </p:nvSpPr>
        <p:spPr>
          <a:xfrm>
            <a:off x="1645920"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121" name="Google Shape;121;p9"/>
          <p:cNvSpPr/>
          <p:nvPr/>
        </p:nvSpPr>
        <p:spPr>
          <a:xfrm>
            <a:off x="1645920"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+49.47%</a:t>
            </a:r>
            <a:endParaRPr b="0" i="0" sz="800" u="none" cap="none" strike="noStrike">
              <a:solidFill>
                <a:schemeClr val="dk1"/>
              </a:solidFill>
              <a:latin typeface="Calibri"/>
              <a:ea typeface="Calibri"/>
              <a:cs typeface="Calibri"/>
              <a:sym typeface="Calibri"/>
            </a:endParaRPr>
          </a:p>
        </p:txBody>
      </p:sp>
      <p:sp>
        <p:nvSpPr>
          <p:cNvPr id="122" name="Google Shape;122;p9"/>
          <p:cNvSpPr/>
          <p:nvPr/>
        </p:nvSpPr>
        <p:spPr>
          <a:xfrm>
            <a:off x="3090672"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p:nvPr/>
        </p:nvSpPr>
        <p:spPr>
          <a:xfrm>
            <a:off x="3090672" y="822960"/>
            <a:ext cx="1389888" cy="4572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3163824"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£39.46</a:t>
            </a:r>
            <a:endParaRPr b="0" i="0" sz="1500" u="none" cap="none" strike="noStrike">
              <a:solidFill>
                <a:schemeClr val="dk1"/>
              </a:solidFill>
              <a:latin typeface="Calibri"/>
              <a:ea typeface="Calibri"/>
              <a:cs typeface="Calibri"/>
              <a:sym typeface="Calibri"/>
            </a:endParaRPr>
          </a:p>
        </p:txBody>
      </p:sp>
      <p:sp>
        <p:nvSpPr>
          <p:cNvPr id="125" name="Google Shape;125;p9"/>
          <p:cNvSpPr/>
          <p:nvPr/>
        </p:nvSpPr>
        <p:spPr>
          <a:xfrm>
            <a:off x="3136392"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CPL</a:t>
            </a:r>
            <a:endParaRPr b="0" i="0" sz="800" u="none" cap="none" strike="noStrike">
              <a:solidFill>
                <a:schemeClr val="dk1"/>
              </a:solidFill>
              <a:latin typeface="Calibri"/>
              <a:ea typeface="Calibri"/>
              <a:cs typeface="Calibri"/>
              <a:sym typeface="Calibri"/>
            </a:endParaRPr>
          </a:p>
        </p:txBody>
      </p:sp>
      <p:sp>
        <p:nvSpPr>
          <p:cNvPr id="126" name="Google Shape;126;p9"/>
          <p:cNvSpPr/>
          <p:nvPr/>
        </p:nvSpPr>
        <p:spPr>
          <a:xfrm>
            <a:off x="3136392"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800">
                <a:solidFill>
                  <a:schemeClr val="accent6"/>
                </a:solidFill>
                <a:latin typeface="Calibri"/>
                <a:ea typeface="Calibri"/>
                <a:cs typeface="Calibri"/>
                <a:sym typeface="Calibri"/>
              </a:rPr>
              <a:t>-7.3%</a:t>
            </a:r>
            <a:endParaRPr b="0" i="0" sz="800" u="none" cap="none" strike="noStrike">
              <a:solidFill>
                <a:schemeClr val="accent6"/>
              </a:solidFill>
              <a:latin typeface="Calibri"/>
              <a:ea typeface="Calibri"/>
              <a:cs typeface="Calibri"/>
              <a:sym typeface="Calibri"/>
            </a:endParaRPr>
          </a:p>
        </p:txBody>
      </p:sp>
      <p:sp>
        <p:nvSpPr>
          <p:cNvPr id="127" name="Google Shape;127;p9"/>
          <p:cNvSpPr/>
          <p:nvPr/>
        </p:nvSpPr>
        <p:spPr>
          <a:xfrm>
            <a:off x="4581144"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4581144" y="822960"/>
            <a:ext cx="1389888" cy="4572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p:nvPr/>
        </p:nvSpPr>
        <p:spPr>
          <a:xfrm>
            <a:off x="4654296"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3.10%</a:t>
            </a:r>
            <a:endParaRPr b="0" i="0" sz="1500" u="none" cap="none" strike="noStrike">
              <a:solidFill>
                <a:schemeClr val="dk1"/>
              </a:solidFill>
              <a:latin typeface="Calibri"/>
              <a:ea typeface="Calibri"/>
              <a:cs typeface="Calibri"/>
              <a:sym typeface="Calibri"/>
            </a:endParaRPr>
          </a:p>
        </p:txBody>
      </p:sp>
      <p:sp>
        <p:nvSpPr>
          <p:cNvPr id="130" name="Google Shape;130;p9"/>
          <p:cNvSpPr/>
          <p:nvPr/>
        </p:nvSpPr>
        <p:spPr>
          <a:xfrm>
            <a:off x="4626864"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131" name="Google Shape;131;p9"/>
          <p:cNvSpPr/>
          <p:nvPr/>
        </p:nvSpPr>
        <p:spPr>
          <a:xfrm>
            <a:off x="4626864" y="1545336"/>
            <a:ext cx="1298448" cy="219456"/>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800">
                <a:solidFill>
                  <a:schemeClr val="accent6"/>
                </a:solidFill>
                <a:latin typeface="Calibri"/>
                <a:ea typeface="Calibri"/>
                <a:cs typeface="Calibri"/>
                <a:sym typeface="Calibri"/>
              </a:rPr>
              <a:t>+6.81%</a:t>
            </a:r>
            <a:endParaRPr b="0" i="0" sz="800" u="none" cap="none" strike="noStrike">
              <a:solidFill>
                <a:schemeClr val="accent6"/>
              </a:solidFill>
              <a:latin typeface="Calibri"/>
              <a:ea typeface="Calibri"/>
              <a:cs typeface="Calibri"/>
              <a:sym typeface="Calibri"/>
            </a:endParaRPr>
          </a:p>
        </p:txBody>
      </p:sp>
      <p:sp>
        <p:nvSpPr>
          <p:cNvPr id="132" name="Google Shape;132;p9"/>
          <p:cNvSpPr/>
          <p:nvPr/>
        </p:nvSpPr>
        <p:spPr>
          <a:xfrm>
            <a:off x="6071616"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6071616" y="822960"/>
            <a:ext cx="1389888" cy="4572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
          <p:cNvSpPr/>
          <p:nvPr/>
        </p:nvSpPr>
        <p:spPr>
          <a:xfrm>
            <a:off x="6144768"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183,460</a:t>
            </a:r>
            <a:endParaRPr b="0" i="0" sz="1500" u="none" cap="none" strike="noStrike">
              <a:solidFill>
                <a:schemeClr val="dk1"/>
              </a:solidFill>
              <a:latin typeface="Calibri"/>
              <a:ea typeface="Calibri"/>
              <a:cs typeface="Calibri"/>
              <a:sym typeface="Calibri"/>
            </a:endParaRPr>
          </a:p>
        </p:txBody>
      </p:sp>
      <p:sp>
        <p:nvSpPr>
          <p:cNvPr id="135" name="Google Shape;135;p9"/>
          <p:cNvSpPr/>
          <p:nvPr/>
        </p:nvSpPr>
        <p:spPr>
          <a:xfrm>
            <a:off x="6117336"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sp>
        <p:nvSpPr>
          <p:cNvPr id="136" name="Google Shape;136;p9"/>
          <p:cNvSpPr/>
          <p:nvPr/>
        </p:nvSpPr>
        <p:spPr>
          <a:xfrm>
            <a:off x="6117336"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a:t>
            </a:r>
            <a:r>
              <a:rPr b="1" lang="en-US" sz="800">
                <a:solidFill>
                  <a:srgbClr val="666666"/>
                </a:solidFill>
                <a:latin typeface="Calibri"/>
                <a:ea typeface="Calibri"/>
                <a:cs typeface="Calibri"/>
                <a:sym typeface="Calibri"/>
              </a:rPr>
              <a:t>: </a:t>
            </a:r>
            <a:r>
              <a:rPr b="1" lang="en-US" sz="800">
                <a:solidFill>
                  <a:schemeClr val="accent6"/>
                </a:solidFill>
                <a:latin typeface="Calibri"/>
                <a:ea typeface="Calibri"/>
                <a:cs typeface="Calibri"/>
                <a:sym typeface="Calibri"/>
              </a:rPr>
              <a:t>+50%</a:t>
            </a:r>
            <a:endParaRPr b="0" i="0" sz="800" u="none" cap="none" strike="noStrike">
              <a:solidFill>
                <a:schemeClr val="accent6"/>
              </a:solidFill>
              <a:latin typeface="Calibri"/>
              <a:ea typeface="Calibri"/>
              <a:cs typeface="Calibri"/>
              <a:sym typeface="Calibri"/>
            </a:endParaRPr>
          </a:p>
        </p:txBody>
      </p:sp>
      <p:sp>
        <p:nvSpPr>
          <p:cNvPr id="137" name="Google Shape;137;p9"/>
          <p:cNvSpPr/>
          <p:nvPr/>
        </p:nvSpPr>
        <p:spPr>
          <a:xfrm>
            <a:off x="756208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7562088" y="822960"/>
            <a:ext cx="1389888" cy="4572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p:nvPr/>
        </p:nvSpPr>
        <p:spPr>
          <a:xfrm>
            <a:off x="763524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1.50%</a:t>
            </a:r>
            <a:endParaRPr b="0" i="0" sz="1500" u="none" cap="none" strike="noStrike">
              <a:solidFill>
                <a:schemeClr val="dk1"/>
              </a:solidFill>
              <a:latin typeface="Calibri"/>
              <a:ea typeface="Calibri"/>
              <a:cs typeface="Calibri"/>
              <a:sym typeface="Calibri"/>
            </a:endParaRPr>
          </a:p>
        </p:txBody>
      </p:sp>
      <p:sp>
        <p:nvSpPr>
          <p:cNvPr id="140" name="Google Shape;140;p9"/>
          <p:cNvSpPr/>
          <p:nvPr/>
        </p:nvSpPr>
        <p:spPr>
          <a:xfrm>
            <a:off x="760780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141" name="Google Shape;141;p9"/>
          <p:cNvSpPr/>
          <p:nvPr/>
        </p:nvSpPr>
        <p:spPr>
          <a:xfrm>
            <a:off x="7607808" y="1545336"/>
            <a:ext cx="1298448" cy="219456"/>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800">
                <a:solidFill>
                  <a:schemeClr val="accent6"/>
                </a:solidFill>
                <a:latin typeface="Calibri"/>
                <a:ea typeface="Calibri"/>
                <a:cs typeface="Calibri"/>
                <a:sym typeface="Calibri"/>
              </a:rPr>
              <a:t>+46%</a:t>
            </a:r>
            <a:endParaRPr b="0" i="0" sz="800" u="none" cap="none" strike="noStrike">
              <a:solidFill>
                <a:schemeClr val="accent6"/>
              </a:solidFill>
              <a:latin typeface="Calibri"/>
              <a:ea typeface="Calibri"/>
              <a:cs typeface="Calibri"/>
              <a:sym typeface="Calibri"/>
            </a:endParaRPr>
          </a:p>
        </p:txBody>
      </p:sp>
      <p:sp>
        <p:nvSpPr>
          <p:cNvPr id="142" name="Google Shape;142;p9"/>
          <p:cNvSpPr/>
          <p:nvPr/>
        </p:nvSpPr>
        <p:spPr>
          <a:xfrm>
            <a:off x="155450" y="1947650"/>
            <a:ext cx="2282100" cy="2686500"/>
          </a:xfrm>
          <a:prstGeom prst="rect">
            <a:avLst/>
          </a:prstGeom>
          <a:noFill/>
          <a:ln>
            <a:noFill/>
          </a:ln>
        </p:spPr>
        <p:txBody>
          <a:bodyPr anchorCtr="0" anchor="t" bIns="45700" lIns="91425" spcFirstLastPara="1" rIns="91425" wrap="square" tIns="45700">
            <a:noAutofit/>
          </a:bodyPr>
          <a:lstStyle/>
          <a:p>
            <a:pPr indent="-292100" lvl="0" marL="457200" rtl="0" algn="l">
              <a:lnSpc>
                <a:spcPct val="10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Overall a strong quarter for the account with 61% </a:t>
            </a:r>
            <a:r>
              <a:rPr lang="en-US" sz="1000">
                <a:solidFill>
                  <a:srgbClr val="111111"/>
                </a:solidFill>
                <a:latin typeface="Calibri"/>
                <a:ea typeface="Calibri"/>
                <a:cs typeface="Calibri"/>
                <a:sym typeface="Calibri"/>
              </a:rPr>
              <a:t>increase</a:t>
            </a:r>
            <a:r>
              <a:rPr lang="en-US" sz="1000">
                <a:solidFill>
                  <a:srgbClr val="111111"/>
                </a:solidFill>
                <a:latin typeface="Calibri"/>
                <a:ea typeface="Calibri"/>
                <a:cs typeface="Calibri"/>
                <a:sym typeface="Calibri"/>
              </a:rPr>
              <a:t> in leads.</a:t>
            </a:r>
            <a:endParaRPr sz="1000">
              <a:solidFill>
                <a:srgbClr val="111111"/>
              </a:solidFill>
              <a:latin typeface="Calibri"/>
              <a:ea typeface="Calibri"/>
              <a:cs typeface="Calibri"/>
              <a:sym typeface="Calibri"/>
            </a:endParaRPr>
          </a:p>
          <a:p>
            <a:pPr indent="-292100" lvl="0" marL="457200" rtl="0" algn="l">
              <a:lnSpc>
                <a:spcPct val="10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Even within increased spend CPL has come in at 7% lower YoY</a:t>
            </a:r>
            <a:endParaRPr sz="1000">
              <a:solidFill>
                <a:srgbClr val="111111"/>
              </a:solidFill>
              <a:latin typeface="Calibri"/>
              <a:ea typeface="Calibri"/>
              <a:cs typeface="Calibri"/>
              <a:sym typeface="Calibri"/>
            </a:endParaRPr>
          </a:p>
          <a:p>
            <a:pPr indent="-292100" lvl="0" marL="457200" rtl="0" algn="l">
              <a:lnSpc>
                <a:spcPct val="10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Large improvement in Clicks and CTR YoY suggesting improved efficiency of ads at converting searches to visitors</a:t>
            </a:r>
            <a:endParaRPr sz="1000">
              <a:solidFill>
                <a:srgbClr val="111111"/>
              </a:solidFill>
              <a:latin typeface="Calibri"/>
              <a:ea typeface="Calibri"/>
              <a:cs typeface="Calibri"/>
              <a:sym typeface="Calibri"/>
            </a:endParaRPr>
          </a:p>
          <a:p>
            <a:pPr indent="-292100" lvl="0" marL="457200" rtl="0" algn="l">
              <a:lnSpc>
                <a:spcPct val="10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CVR also improved YoY </a:t>
            </a:r>
            <a:endParaRPr sz="1000">
              <a:solidFill>
                <a:srgbClr val="111111"/>
              </a:solidFill>
              <a:latin typeface="Calibri"/>
              <a:ea typeface="Calibri"/>
              <a:cs typeface="Calibri"/>
              <a:sym typeface="Calibri"/>
            </a:endParaRPr>
          </a:p>
          <a:p>
            <a:pPr indent="-292100" lvl="0" marL="457200" rtl="0" algn="l">
              <a:lnSpc>
                <a:spcPct val="10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CPL efficiency improved as the quarter progressed - as budget lowered so did bids leading to fewer conversions but also lower CPLs</a:t>
            </a:r>
            <a:endParaRPr sz="1000">
              <a:solidFill>
                <a:srgbClr val="111111"/>
              </a:solidFill>
              <a:latin typeface="Calibri"/>
              <a:ea typeface="Calibri"/>
              <a:cs typeface="Calibri"/>
              <a:sym typeface="Calibri"/>
            </a:endParaRPr>
          </a:p>
          <a:p>
            <a:pPr indent="-292100" lvl="0" marL="457200" rtl="0" algn="l">
              <a:lnSpc>
                <a:spcPct val="10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The quarterly was only marginally impacted by market conditions at the end of March</a:t>
            </a:r>
            <a:endParaRPr sz="1000">
              <a:solidFill>
                <a:srgbClr val="111111"/>
              </a:solidFill>
              <a:latin typeface="Calibri"/>
              <a:ea typeface="Calibri"/>
              <a:cs typeface="Calibri"/>
              <a:sym typeface="Calibri"/>
            </a:endParaRPr>
          </a:p>
          <a:p>
            <a:pPr indent="0" lvl="0" marL="457200" rtl="0" algn="l">
              <a:lnSpc>
                <a:spcPct val="100000"/>
              </a:lnSpc>
              <a:spcBef>
                <a:spcPts val="0"/>
              </a:spcBef>
              <a:spcAft>
                <a:spcPts val="0"/>
              </a:spcAft>
              <a:buNone/>
            </a:pPr>
            <a:r>
              <a:t/>
            </a:r>
            <a:endParaRPr sz="1000">
              <a:solidFill>
                <a:srgbClr val="111111"/>
              </a:solidFill>
              <a:latin typeface="Calibri"/>
              <a:ea typeface="Calibri"/>
              <a:cs typeface="Calibri"/>
              <a:sym typeface="Calibri"/>
            </a:endParaRPr>
          </a:p>
        </p:txBody>
      </p:sp>
      <p:pic>
        <p:nvPicPr>
          <p:cNvPr id="143" name="Google Shape;143;p9"/>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pic>
        <p:nvPicPr>
          <p:cNvPr id="144" name="Google Shape;144;p9"/>
          <p:cNvPicPr preferRelativeResize="0"/>
          <p:nvPr/>
        </p:nvPicPr>
        <p:blipFill>
          <a:blip r:embed="rId5">
            <a:alphaModFix/>
          </a:blip>
          <a:stretch>
            <a:fillRect/>
          </a:stretch>
        </p:blipFill>
        <p:spPr>
          <a:xfrm>
            <a:off x="2329474" y="1892800"/>
            <a:ext cx="2912275" cy="2248849"/>
          </a:xfrm>
          <a:prstGeom prst="rect">
            <a:avLst/>
          </a:prstGeom>
          <a:noFill/>
          <a:ln>
            <a:noFill/>
          </a:ln>
        </p:spPr>
      </p:pic>
      <p:sp>
        <p:nvSpPr>
          <p:cNvPr id="145" name="Google Shape;145;p9"/>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10"/>
          <p:cNvPicPr preferRelativeResize="0"/>
          <p:nvPr/>
        </p:nvPicPr>
        <p:blipFill>
          <a:blip r:embed="rId3">
            <a:alphaModFix/>
          </a:blip>
          <a:stretch>
            <a:fillRect/>
          </a:stretch>
        </p:blipFill>
        <p:spPr>
          <a:xfrm>
            <a:off x="975700" y="778049"/>
            <a:ext cx="3471826" cy="2781249"/>
          </a:xfrm>
          <a:prstGeom prst="rect">
            <a:avLst/>
          </a:prstGeom>
          <a:noFill/>
          <a:ln>
            <a:noFill/>
          </a:ln>
        </p:spPr>
      </p:pic>
      <p:sp>
        <p:nvSpPr>
          <p:cNvPr id="152" name="Google Shape;152;p10"/>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Campaign Type Mix</a:t>
            </a:r>
            <a:endParaRPr b="0" i="0" sz="2000" u="none" cap="none" strike="noStrike">
              <a:solidFill>
                <a:schemeClr val="dk1"/>
              </a:solidFill>
              <a:latin typeface="Calibri"/>
              <a:ea typeface="Calibri"/>
              <a:cs typeface="Calibri"/>
              <a:sym typeface="Calibri"/>
            </a:endParaRPr>
          </a:p>
        </p:txBody>
      </p:sp>
      <p:sp>
        <p:nvSpPr>
          <p:cNvPr id="155" name="Google Shape;155;p10"/>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156" name="Google Shape;156;p10"/>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158" name="Google Shape;158;p10"/>
          <p:cNvSpPr/>
          <p:nvPr/>
        </p:nvSpPr>
        <p:spPr>
          <a:xfrm>
            <a:off x="137150" y="3624118"/>
            <a:ext cx="8869800" cy="1233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As you would expect Brand </a:t>
            </a:r>
            <a:r>
              <a:rPr lang="en-US" sz="1000">
                <a:solidFill>
                  <a:srgbClr val="111111"/>
                </a:solidFill>
                <a:latin typeface="Calibri"/>
                <a:ea typeface="Calibri"/>
                <a:cs typeface="Calibri"/>
                <a:sym typeface="Calibri"/>
              </a:rPr>
              <a:t>delivered</a:t>
            </a:r>
            <a:r>
              <a:rPr lang="en-US" sz="1000">
                <a:solidFill>
                  <a:srgbClr val="111111"/>
                </a:solidFill>
                <a:latin typeface="Calibri"/>
                <a:ea typeface="Calibri"/>
                <a:cs typeface="Calibri"/>
                <a:sym typeface="Calibri"/>
              </a:rPr>
              <a:t> the highest across the account, but performance was positive across all campaign types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The majority of budget was invested in Generic campaigns, and these campaigns saw CPLs of £144 this quarter</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Generics is the </a:t>
            </a:r>
            <a:r>
              <a:rPr lang="en-US" sz="1000">
                <a:solidFill>
                  <a:srgbClr val="111111"/>
                </a:solidFill>
                <a:latin typeface="Calibri"/>
                <a:ea typeface="Calibri"/>
                <a:cs typeface="Calibri"/>
                <a:sym typeface="Calibri"/>
              </a:rPr>
              <a:t>main</a:t>
            </a:r>
            <a:r>
              <a:rPr lang="en-US" sz="1000">
                <a:solidFill>
                  <a:srgbClr val="111111"/>
                </a:solidFill>
                <a:latin typeface="Calibri"/>
                <a:ea typeface="Calibri"/>
                <a:cs typeface="Calibri"/>
                <a:sym typeface="Calibri"/>
              </a:rPr>
              <a:t> prospecting channel so CPL is the highest but performing well, both Demand Gen and PMax can feature brand or remarketing, so is not </a:t>
            </a:r>
            <a:r>
              <a:rPr lang="en-US" sz="1000">
                <a:solidFill>
                  <a:srgbClr val="111111"/>
                </a:solidFill>
                <a:latin typeface="Calibri"/>
                <a:ea typeface="Calibri"/>
                <a:cs typeface="Calibri"/>
                <a:sym typeface="Calibri"/>
              </a:rPr>
              <a:t>necessarily</a:t>
            </a:r>
            <a:r>
              <a:rPr lang="en-US" sz="1000">
                <a:solidFill>
                  <a:srgbClr val="111111"/>
                </a:solidFill>
                <a:latin typeface="Calibri"/>
                <a:ea typeface="Calibri"/>
                <a:cs typeface="Calibri"/>
                <a:sym typeface="Calibri"/>
              </a:rPr>
              <a:t> all purely new prospects</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Performance Max </a:t>
            </a:r>
            <a:r>
              <a:rPr lang="en-US" sz="1000">
                <a:solidFill>
                  <a:srgbClr val="111111"/>
                </a:solidFill>
                <a:latin typeface="Calibri"/>
                <a:ea typeface="Calibri"/>
                <a:cs typeface="Calibri"/>
                <a:sym typeface="Calibri"/>
              </a:rPr>
              <a:t>produced leads at the lowest CPL, but the second highest investment. There may be scope to increase investment here, depending on YoY sales lead performance </a:t>
            </a:r>
            <a:endParaRPr b="0" i="0" sz="1000" u="none" cap="none" strike="noStrike">
              <a:solidFill>
                <a:schemeClr val="dk1"/>
              </a:solidFill>
              <a:latin typeface="Calibri"/>
              <a:ea typeface="Calibri"/>
              <a:cs typeface="Calibri"/>
              <a:sym typeface="Calibri"/>
            </a:endParaRPr>
          </a:p>
        </p:txBody>
      </p:sp>
      <p:pic>
        <p:nvPicPr>
          <p:cNvPr id="159" name="Google Shape;159;p10"/>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pic>
        <p:nvPicPr>
          <p:cNvPr id="160" name="Google Shape;160;p10"/>
          <p:cNvPicPr preferRelativeResize="0"/>
          <p:nvPr/>
        </p:nvPicPr>
        <p:blipFill>
          <a:blip r:embed="rId5">
            <a:alphaModFix/>
          </a:blip>
          <a:stretch>
            <a:fillRect/>
          </a:stretch>
        </p:blipFill>
        <p:spPr>
          <a:xfrm>
            <a:off x="4599926" y="865632"/>
            <a:ext cx="3871697" cy="26061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1"/>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Brand Summary</a:t>
            </a:r>
            <a:endParaRPr b="0" i="0" sz="2000" u="none" cap="none" strike="noStrike">
              <a:solidFill>
                <a:schemeClr val="dk1"/>
              </a:solidFill>
              <a:latin typeface="Calibri"/>
              <a:ea typeface="Calibri"/>
              <a:cs typeface="Calibri"/>
              <a:sym typeface="Calibri"/>
            </a:endParaRPr>
          </a:p>
        </p:txBody>
      </p:sp>
      <p:sp>
        <p:nvSpPr>
          <p:cNvPr id="169" name="Google Shape;169;p11"/>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170" name="Google Shape;170;p11"/>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172" name="Google Shape;172;p11"/>
          <p:cNvSpPr/>
          <p:nvPr/>
        </p:nvSpPr>
        <p:spPr>
          <a:xfrm>
            <a:off x="10972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a:off x="109728" y="822960"/>
            <a:ext cx="1389888" cy="4572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a:off x="18288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3,406</a:t>
            </a:r>
            <a:endParaRPr b="0" i="0" sz="1500" u="none" cap="none" strike="noStrike">
              <a:solidFill>
                <a:schemeClr val="dk1"/>
              </a:solidFill>
              <a:latin typeface="Calibri"/>
              <a:ea typeface="Calibri"/>
              <a:cs typeface="Calibri"/>
              <a:sym typeface="Calibri"/>
            </a:endParaRPr>
          </a:p>
        </p:txBody>
      </p:sp>
      <p:sp>
        <p:nvSpPr>
          <p:cNvPr id="175" name="Google Shape;175;p11"/>
          <p:cNvSpPr/>
          <p:nvPr/>
        </p:nvSpPr>
        <p:spPr>
          <a:xfrm>
            <a:off x="15544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176" name="Google Shape;176;p11"/>
          <p:cNvSpPr/>
          <p:nvPr/>
        </p:nvSpPr>
        <p:spPr>
          <a:xfrm>
            <a:off x="155448"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i="0" lang="en-US" sz="800" u="none" cap="none" strike="noStrike">
                <a:solidFill>
                  <a:schemeClr val="accent6"/>
                </a:solidFill>
                <a:latin typeface="Calibri"/>
                <a:ea typeface="Calibri"/>
                <a:cs typeface="Calibri"/>
                <a:sym typeface="Calibri"/>
              </a:rPr>
              <a:t>+395.78%</a:t>
            </a:r>
            <a:endParaRPr b="0" i="0" sz="800" u="none" cap="none" strike="noStrike">
              <a:solidFill>
                <a:schemeClr val="accent6"/>
              </a:solidFill>
              <a:latin typeface="Calibri"/>
              <a:ea typeface="Calibri"/>
              <a:cs typeface="Calibri"/>
              <a:sym typeface="Calibri"/>
            </a:endParaRPr>
          </a:p>
        </p:txBody>
      </p:sp>
      <p:sp>
        <p:nvSpPr>
          <p:cNvPr id="177" name="Google Shape;177;p11"/>
          <p:cNvSpPr/>
          <p:nvPr/>
        </p:nvSpPr>
        <p:spPr>
          <a:xfrm>
            <a:off x="1600200"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1"/>
          <p:cNvSpPr/>
          <p:nvPr/>
        </p:nvSpPr>
        <p:spPr>
          <a:xfrm>
            <a:off x="1600200" y="822960"/>
            <a:ext cx="1389888" cy="457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1673352"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£12,861</a:t>
            </a:r>
            <a:endParaRPr b="0" i="0" sz="1500" u="none" cap="none" strike="noStrike">
              <a:solidFill>
                <a:schemeClr val="dk1"/>
              </a:solidFill>
              <a:latin typeface="Calibri"/>
              <a:ea typeface="Calibri"/>
              <a:cs typeface="Calibri"/>
              <a:sym typeface="Calibri"/>
            </a:endParaRPr>
          </a:p>
        </p:txBody>
      </p:sp>
      <p:sp>
        <p:nvSpPr>
          <p:cNvPr id="180" name="Google Shape;180;p11"/>
          <p:cNvSpPr/>
          <p:nvPr/>
        </p:nvSpPr>
        <p:spPr>
          <a:xfrm>
            <a:off x="1645920"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181" name="Google Shape;181;p11"/>
          <p:cNvSpPr/>
          <p:nvPr/>
        </p:nvSpPr>
        <p:spPr>
          <a:xfrm>
            <a:off x="1645920"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+48.70%</a:t>
            </a:r>
            <a:endParaRPr b="0" i="0" sz="800" u="none" cap="none" strike="noStrike">
              <a:solidFill>
                <a:schemeClr val="dk1"/>
              </a:solidFill>
              <a:latin typeface="Calibri"/>
              <a:ea typeface="Calibri"/>
              <a:cs typeface="Calibri"/>
              <a:sym typeface="Calibri"/>
            </a:endParaRPr>
          </a:p>
        </p:txBody>
      </p:sp>
      <p:sp>
        <p:nvSpPr>
          <p:cNvPr id="182" name="Google Shape;182;p11"/>
          <p:cNvSpPr/>
          <p:nvPr/>
        </p:nvSpPr>
        <p:spPr>
          <a:xfrm>
            <a:off x="3090672"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a:off x="3090672" y="822960"/>
            <a:ext cx="1389888" cy="4572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a:off x="3163824"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£3.78</a:t>
            </a:r>
            <a:endParaRPr b="0" i="0" sz="1500" u="none" cap="none" strike="noStrike">
              <a:solidFill>
                <a:schemeClr val="dk1"/>
              </a:solidFill>
              <a:latin typeface="Calibri"/>
              <a:ea typeface="Calibri"/>
              <a:cs typeface="Calibri"/>
              <a:sym typeface="Calibri"/>
            </a:endParaRPr>
          </a:p>
        </p:txBody>
      </p:sp>
      <p:sp>
        <p:nvSpPr>
          <p:cNvPr id="185" name="Google Shape;185;p11"/>
          <p:cNvSpPr/>
          <p:nvPr/>
        </p:nvSpPr>
        <p:spPr>
          <a:xfrm>
            <a:off x="3136392"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Blended CPL</a:t>
            </a:r>
            <a:endParaRPr b="0" i="0" sz="800" u="none" cap="none" strike="noStrike">
              <a:solidFill>
                <a:schemeClr val="dk1"/>
              </a:solidFill>
              <a:latin typeface="Calibri"/>
              <a:ea typeface="Calibri"/>
              <a:cs typeface="Calibri"/>
              <a:sym typeface="Calibri"/>
            </a:endParaRPr>
          </a:p>
        </p:txBody>
      </p:sp>
      <p:sp>
        <p:nvSpPr>
          <p:cNvPr id="186" name="Google Shape;186;p11"/>
          <p:cNvSpPr/>
          <p:nvPr/>
        </p:nvSpPr>
        <p:spPr>
          <a:xfrm>
            <a:off x="3136392" y="1545336"/>
            <a:ext cx="1298448" cy="219456"/>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800">
                <a:solidFill>
                  <a:schemeClr val="accent6"/>
                </a:solidFill>
                <a:latin typeface="Calibri"/>
                <a:ea typeface="Calibri"/>
                <a:cs typeface="Calibri"/>
                <a:sym typeface="Calibri"/>
              </a:rPr>
              <a:t>-70%</a:t>
            </a:r>
            <a:endParaRPr b="0" i="0" sz="800" u="none" cap="none" strike="noStrike">
              <a:solidFill>
                <a:schemeClr val="accent6"/>
              </a:solidFill>
              <a:latin typeface="Calibri"/>
              <a:ea typeface="Calibri"/>
              <a:cs typeface="Calibri"/>
              <a:sym typeface="Calibri"/>
            </a:endParaRPr>
          </a:p>
        </p:txBody>
      </p:sp>
      <p:sp>
        <p:nvSpPr>
          <p:cNvPr id="187" name="Google Shape;187;p11"/>
          <p:cNvSpPr/>
          <p:nvPr/>
        </p:nvSpPr>
        <p:spPr>
          <a:xfrm>
            <a:off x="4581144"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4581144" y="822960"/>
            <a:ext cx="1389888" cy="4572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a:off x="4654296"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9.27%</a:t>
            </a:r>
            <a:endParaRPr b="0" i="0" sz="1500" u="none" cap="none" strike="noStrike">
              <a:solidFill>
                <a:schemeClr val="dk1"/>
              </a:solidFill>
              <a:latin typeface="Calibri"/>
              <a:ea typeface="Calibri"/>
              <a:cs typeface="Calibri"/>
              <a:sym typeface="Calibri"/>
            </a:endParaRPr>
          </a:p>
        </p:txBody>
      </p:sp>
      <p:sp>
        <p:nvSpPr>
          <p:cNvPr id="190" name="Google Shape;190;p11"/>
          <p:cNvSpPr/>
          <p:nvPr/>
        </p:nvSpPr>
        <p:spPr>
          <a:xfrm>
            <a:off x="4626864"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191" name="Google Shape;191;p11"/>
          <p:cNvSpPr/>
          <p:nvPr/>
        </p:nvSpPr>
        <p:spPr>
          <a:xfrm>
            <a:off x="4626864"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800">
                <a:solidFill>
                  <a:schemeClr val="accent6"/>
                </a:solidFill>
                <a:latin typeface="Calibri"/>
                <a:ea typeface="Calibri"/>
                <a:cs typeface="Calibri"/>
                <a:sym typeface="Calibri"/>
              </a:rPr>
              <a:t>+17%</a:t>
            </a:r>
            <a:endParaRPr b="0" i="0" sz="800" u="none" cap="none" strike="noStrike">
              <a:solidFill>
                <a:schemeClr val="accent6"/>
              </a:solidFill>
              <a:latin typeface="Calibri"/>
              <a:ea typeface="Calibri"/>
              <a:cs typeface="Calibri"/>
              <a:sym typeface="Calibri"/>
            </a:endParaRPr>
          </a:p>
        </p:txBody>
      </p:sp>
      <p:sp>
        <p:nvSpPr>
          <p:cNvPr id="192" name="Google Shape;192;p11"/>
          <p:cNvSpPr/>
          <p:nvPr/>
        </p:nvSpPr>
        <p:spPr>
          <a:xfrm>
            <a:off x="6071616"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6071616" y="822960"/>
            <a:ext cx="1389888" cy="4572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p:nvPr/>
        </p:nvSpPr>
        <p:spPr>
          <a:xfrm>
            <a:off x="6144768"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36,760</a:t>
            </a:r>
            <a:endParaRPr b="0" i="0" sz="1500" u="none" cap="none" strike="noStrike">
              <a:solidFill>
                <a:schemeClr val="dk1"/>
              </a:solidFill>
              <a:latin typeface="Calibri"/>
              <a:ea typeface="Calibri"/>
              <a:cs typeface="Calibri"/>
              <a:sym typeface="Calibri"/>
            </a:endParaRPr>
          </a:p>
        </p:txBody>
      </p:sp>
      <p:sp>
        <p:nvSpPr>
          <p:cNvPr id="195" name="Google Shape;195;p11"/>
          <p:cNvSpPr/>
          <p:nvPr/>
        </p:nvSpPr>
        <p:spPr>
          <a:xfrm>
            <a:off x="6117336"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sp>
        <p:nvSpPr>
          <p:cNvPr id="196" name="Google Shape;196;p11"/>
          <p:cNvSpPr/>
          <p:nvPr/>
        </p:nvSpPr>
        <p:spPr>
          <a:xfrm>
            <a:off x="6117336"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800">
                <a:solidFill>
                  <a:schemeClr val="accent6"/>
                </a:solidFill>
                <a:latin typeface="Calibri"/>
                <a:ea typeface="Calibri"/>
                <a:cs typeface="Calibri"/>
                <a:sym typeface="Calibri"/>
              </a:rPr>
              <a:t>+321%</a:t>
            </a:r>
            <a:endParaRPr b="0" i="0" sz="800" u="none" cap="none" strike="noStrike">
              <a:solidFill>
                <a:schemeClr val="accent6"/>
              </a:solidFill>
              <a:latin typeface="Calibri"/>
              <a:ea typeface="Calibri"/>
              <a:cs typeface="Calibri"/>
              <a:sym typeface="Calibri"/>
            </a:endParaRPr>
          </a:p>
        </p:txBody>
      </p:sp>
      <p:sp>
        <p:nvSpPr>
          <p:cNvPr id="197" name="Google Shape;197;p11"/>
          <p:cNvSpPr/>
          <p:nvPr/>
        </p:nvSpPr>
        <p:spPr>
          <a:xfrm>
            <a:off x="756208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a:off x="7562088" y="822960"/>
            <a:ext cx="1389888" cy="4572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763524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50.87%</a:t>
            </a:r>
            <a:endParaRPr b="0" i="0" sz="1500" u="none" cap="none" strike="noStrike">
              <a:solidFill>
                <a:schemeClr val="dk1"/>
              </a:solidFill>
              <a:latin typeface="Calibri"/>
              <a:ea typeface="Calibri"/>
              <a:cs typeface="Calibri"/>
              <a:sym typeface="Calibri"/>
            </a:endParaRPr>
          </a:p>
        </p:txBody>
      </p:sp>
      <p:sp>
        <p:nvSpPr>
          <p:cNvPr id="200" name="Google Shape;200;p11"/>
          <p:cNvSpPr/>
          <p:nvPr/>
        </p:nvSpPr>
        <p:spPr>
          <a:xfrm>
            <a:off x="760780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201" name="Google Shape;201;p11"/>
          <p:cNvSpPr/>
          <p:nvPr/>
        </p:nvSpPr>
        <p:spPr>
          <a:xfrm>
            <a:off x="7607808"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800">
                <a:solidFill>
                  <a:srgbClr val="A32D2D"/>
                </a:solidFill>
                <a:latin typeface="Calibri"/>
                <a:ea typeface="Calibri"/>
                <a:cs typeface="Calibri"/>
                <a:sym typeface="Calibri"/>
              </a:rPr>
              <a:t>-2%</a:t>
            </a:r>
            <a:endParaRPr b="0" i="0" sz="800" u="none" cap="none" strike="noStrike">
              <a:solidFill>
                <a:srgbClr val="A32D2D"/>
              </a:solidFill>
              <a:latin typeface="Calibri"/>
              <a:ea typeface="Calibri"/>
              <a:cs typeface="Calibri"/>
              <a:sym typeface="Calibri"/>
            </a:endParaRPr>
          </a:p>
        </p:txBody>
      </p:sp>
      <p:graphicFrame>
        <p:nvGraphicFramePr>
          <p:cNvPr id="202" name="Google Shape;202;p11"/>
          <p:cNvGraphicFramePr/>
          <p:nvPr/>
        </p:nvGraphicFramePr>
        <p:xfrm>
          <a:off x="155460" y="2036827"/>
          <a:ext cx="3000000" cy="3000000"/>
        </p:xfrm>
        <a:graphic>
          <a:graphicData uri="http://schemas.openxmlformats.org/drawingml/2006/table">
            <a:tbl>
              <a:tblPr>
                <a:noFill/>
                <a:tableStyleId>{F01A925B-387E-4F20-950E-5FCF7B285F05}</a:tableStyleId>
              </a:tblPr>
              <a:tblGrid>
                <a:gridCol w="640075"/>
                <a:gridCol w="1051550"/>
                <a:gridCol w="685800"/>
                <a:gridCol w="594350"/>
                <a:gridCol w="594350"/>
                <a:gridCol w="914400"/>
                <a:gridCol w="868675"/>
                <a:gridCol w="640075"/>
                <a:gridCol w="594350"/>
              </a:tblGrid>
              <a:tr h="256025">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Month</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Impressions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Clicks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CTR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CPC</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Sales Leads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CVR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Jan</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29,361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15,291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52.08%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£0.38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£5,737.22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1,430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£4.01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9.35%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Feb</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22,554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11,520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51.08%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£0.29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£3,384.96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1,015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£3.33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8.81%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Mar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20,353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9,949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48.88%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£0.38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£3,739.10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961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£3.89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9.66%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Total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72,268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36,760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50.87%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£0.35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£12,861.28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3,406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£3.78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9.27%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bl>
          </a:graphicData>
        </a:graphic>
      </p:graphicFrame>
      <p:sp>
        <p:nvSpPr>
          <p:cNvPr id="203" name="Google Shape;203;p11"/>
          <p:cNvSpPr/>
          <p:nvPr/>
        </p:nvSpPr>
        <p:spPr>
          <a:xfrm>
            <a:off x="137150" y="3493000"/>
            <a:ext cx="8869800" cy="1458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b="0" i="0" lang="en-US" sz="1000" u="none" cap="none" strike="noStrike">
                <a:solidFill>
                  <a:srgbClr val="111111"/>
                </a:solidFill>
                <a:latin typeface="Calibri"/>
                <a:ea typeface="Calibri"/>
                <a:cs typeface="Calibri"/>
                <a:sym typeface="Calibri"/>
              </a:rPr>
              <a:t>Brand generated 3,406 leads from £12,861.28 with a quarter CPL of £3.78. A very strong </a:t>
            </a:r>
            <a:r>
              <a:rPr lang="en-US" sz="1000">
                <a:solidFill>
                  <a:srgbClr val="111111"/>
                </a:solidFill>
                <a:latin typeface="Calibri"/>
                <a:ea typeface="Calibri"/>
                <a:cs typeface="Calibri"/>
                <a:sym typeface="Calibri"/>
              </a:rPr>
              <a:t>improvement</a:t>
            </a:r>
            <a:r>
              <a:rPr b="0" i="0" lang="en-US" sz="1000" u="none" cap="none" strike="noStrike">
                <a:solidFill>
                  <a:srgbClr val="111111"/>
                </a:solidFill>
                <a:latin typeface="Calibri"/>
                <a:ea typeface="Calibri"/>
                <a:cs typeface="Calibri"/>
                <a:sym typeface="Calibri"/>
              </a:rPr>
              <a:t> in efficiency</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b="0" i="0" lang="en-US" sz="1000" u="none" cap="none" strike="noStrike">
                <a:solidFill>
                  <a:srgbClr val="111111"/>
                </a:solidFill>
                <a:latin typeface="Calibri"/>
                <a:ea typeface="Calibri"/>
                <a:cs typeface="Calibri"/>
                <a:sym typeface="Calibri"/>
              </a:rPr>
              <a:t>B</a:t>
            </a:r>
            <a:r>
              <a:rPr lang="en-US" sz="1000">
                <a:solidFill>
                  <a:srgbClr val="111111"/>
                </a:solidFill>
                <a:latin typeface="Calibri"/>
                <a:ea typeface="Calibri"/>
                <a:cs typeface="Calibri"/>
                <a:sym typeface="Calibri"/>
              </a:rPr>
              <a:t>rand campaigns have seen the biggest growth of all channels YoY, although the real success is return far outstripping the level of increased investment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This is in part due to higher investment in this channel, and also brand searches that could have been attributed to PMax last year, now being attributed to our brand specific campaigns</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Protecting brand terms remains an </a:t>
            </a:r>
            <a:r>
              <a:rPr lang="en-US" sz="1000">
                <a:solidFill>
                  <a:srgbClr val="111111"/>
                </a:solidFill>
                <a:latin typeface="Calibri"/>
                <a:ea typeface="Calibri"/>
                <a:cs typeface="Calibri"/>
                <a:sym typeface="Calibri"/>
              </a:rPr>
              <a:t>important</a:t>
            </a:r>
            <a:r>
              <a:rPr lang="en-US" sz="1000">
                <a:solidFill>
                  <a:srgbClr val="111111"/>
                </a:solidFill>
                <a:latin typeface="Calibri"/>
                <a:ea typeface="Calibri"/>
                <a:cs typeface="Calibri"/>
                <a:sym typeface="Calibri"/>
              </a:rPr>
              <a:t> tactic in light of increased competition on brand terms as a result of competitors using AI Max and Performance Max campaigns more. </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Some of the overall success of the quarter lands in brand, so a </a:t>
            </a:r>
            <a:r>
              <a:rPr lang="en-US" sz="1000">
                <a:solidFill>
                  <a:srgbClr val="111111"/>
                </a:solidFill>
                <a:latin typeface="Calibri"/>
                <a:ea typeface="Calibri"/>
                <a:cs typeface="Calibri"/>
                <a:sym typeface="Calibri"/>
              </a:rPr>
              <a:t>large</a:t>
            </a:r>
            <a:r>
              <a:rPr lang="en-US" sz="1000">
                <a:solidFill>
                  <a:srgbClr val="111111"/>
                </a:solidFill>
                <a:latin typeface="Calibri"/>
                <a:ea typeface="Calibri"/>
                <a:cs typeface="Calibri"/>
                <a:sym typeface="Calibri"/>
              </a:rPr>
              <a:t> part of the brand success is assisted by the increased Generics activity as well as PMax and DGen</a:t>
            </a:r>
            <a:endParaRPr sz="1000">
              <a:solidFill>
                <a:srgbClr val="111111"/>
              </a:solidFill>
              <a:latin typeface="Calibri"/>
              <a:ea typeface="Calibri"/>
              <a:cs typeface="Calibri"/>
              <a:sym typeface="Calibri"/>
            </a:endParaRPr>
          </a:p>
        </p:txBody>
      </p:sp>
      <p:pic>
        <p:nvPicPr>
          <p:cNvPr id="204" name="Google Shape;204;p11"/>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2"/>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Brand Monthly Trend</a:t>
            </a:r>
            <a:endParaRPr b="0" i="0" sz="2000" u="none" cap="none" strike="noStrike">
              <a:solidFill>
                <a:schemeClr val="dk1"/>
              </a:solidFill>
              <a:latin typeface="Calibri"/>
              <a:ea typeface="Calibri"/>
              <a:cs typeface="Calibri"/>
              <a:sym typeface="Calibri"/>
            </a:endParaRPr>
          </a:p>
        </p:txBody>
      </p:sp>
      <p:sp>
        <p:nvSpPr>
          <p:cNvPr id="213" name="Google Shape;213;p12"/>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214" name="Google Shape;214;p12"/>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216" name="Google Shape;216;p12" title="Screenshot 2026-04-22 120430.png"/>
          <p:cNvPicPr preferRelativeResize="0"/>
          <p:nvPr/>
        </p:nvPicPr>
        <p:blipFill>
          <a:blip r:embed="rId3">
            <a:alphaModFix/>
          </a:blip>
          <a:stretch>
            <a:fillRect/>
          </a:stretch>
        </p:blipFill>
        <p:spPr>
          <a:xfrm>
            <a:off x="3819425" y="1067350"/>
            <a:ext cx="5118025" cy="3061025"/>
          </a:xfrm>
          <a:prstGeom prst="rect">
            <a:avLst/>
          </a:prstGeom>
          <a:noFill/>
          <a:ln>
            <a:noFill/>
          </a:ln>
        </p:spPr>
      </p:pic>
      <p:pic>
        <p:nvPicPr>
          <p:cNvPr id="217" name="Google Shape;217;p12" title="Screenshot 2026-04-22 121421.png"/>
          <p:cNvPicPr preferRelativeResize="0"/>
          <p:nvPr/>
        </p:nvPicPr>
        <p:blipFill>
          <a:blip r:embed="rId4">
            <a:alphaModFix/>
          </a:blip>
          <a:stretch>
            <a:fillRect/>
          </a:stretch>
        </p:blipFill>
        <p:spPr>
          <a:xfrm>
            <a:off x="64000" y="1162800"/>
            <a:ext cx="3857300" cy="2814225"/>
          </a:xfrm>
          <a:prstGeom prst="rect">
            <a:avLst/>
          </a:prstGeom>
          <a:noFill/>
          <a:ln>
            <a:noFill/>
          </a:ln>
        </p:spPr>
      </p:pic>
      <p:pic>
        <p:nvPicPr>
          <p:cNvPr id="218" name="Google Shape;218;p12"/>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3"/>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Generic Summary</a:t>
            </a:r>
            <a:endParaRPr b="0" i="0" sz="2000" u="none" cap="none" strike="noStrike">
              <a:solidFill>
                <a:schemeClr val="dk1"/>
              </a:solidFill>
              <a:latin typeface="Calibri"/>
              <a:ea typeface="Calibri"/>
              <a:cs typeface="Calibri"/>
              <a:sym typeface="Calibri"/>
            </a:endParaRPr>
          </a:p>
        </p:txBody>
      </p:sp>
      <p:sp>
        <p:nvSpPr>
          <p:cNvPr id="227" name="Google Shape;227;p13"/>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228" name="Google Shape;228;p13"/>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230" name="Google Shape;230;p13"/>
          <p:cNvSpPr/>
          <p:nvPr/>
        </p:nvSpPr>
        <p:spPr>
          <a:xfrm>
            <a:off x="10972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
          <p:cNvSpPr/>
          <p:nvPr/>
        </p:nvSpPr>
        <p:spPr>
          <a:xfrm>
            <a:off x="109728" y="822960"/>
            <a:ext cx="1389888" cy="4572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a:off x="18288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1,294</a:t>
            </a:r>
            <a:endParaRPr b="0" i="0" sz="1500" u="none" cap="none" strike="noStrike">
              <a:solidFill>
                <a:schemeClr val="dk1"/>
              </a:solidFill>
              <a:latin typeface="Calibri"/>
              <a:ea typeface="Calibri"/>
              <a:cs typeface="Calibri"/>
              <a:sym typeface="Calibri"/>
            </a:endParaRPr>
          </a:p>
        </p:txBody>
      </p:sp>
      <p:sp>
        <p:nvSpPr>
          <p:cNvPr id="233" name="Google Shape;233;p13"/>
          <p:cNvSpPr/>
          <p:nvPr/>
        </p:nvSpPr>
        <p:spPr>
          <a:xfrm>
            <a:off x="15544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234" name="Google Shape;234;p13"/>
          <p:cNvSpPr/>
          <p:nvPr/>
        </p:nvSpPr>
        <p:spPr>
          <a:xfrm>
            <a:off x="155448"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+14.41%</a:t>
            </a:r>
            <a:endParaRPr b="0" i="0" sz="800" u="none" cap="none" strike="noStrike">
              <a:solidFill>
                <a:schemeClr val="dk1"/>
              </a:solidFill>
              <a:latin typeface="Calibri"/>
              <a:ea typeface="Calibri"/>
              <a:cs typeface="Calibri"/>
              <a:sym typeface="Calibri"/>
            </a:endParaRPr>
          </a:p>
        </p:txBody>
      </p:sp>
      <p:sp>
        <p:nvSpPr>
          <p:cNvPr id="235" name="Google Shape;235;p13"/>
          <p:cNvSpPr/>
          <p:nvPr/>
        </p:nvSpPr>
        <p:spPr>
          <a:xfrm>
            <a:off x="1600200"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3"/>
          <p:cNvSpPr/>
          <p:nvPr/>
        </p:nvSpPr>
        <p:spPr>
          <a:xfrm>
            <a:off x="1600200" y="822960"/>
            <a:ext cx="1389888" cy="457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a:off x="1673352"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£147,756</a:t>
            </a:r>
            <a:endParaRPr b="0" i="0" sz="1500" u="none" cap="none" strike="noStrike">
              <a:solidFill>
                <a:schemeClr val="dk1"/>
              </a:solidFill>
              <a:latin typeface="Calibri"/>
              <a:ea typeface="Calibri"/>
              <a:cs typeface="Calibri"/>
              <a:sym typeface="Calibri"/>
            </a:endParaRPr>
          </a:p>
        </p:txBody>
      </p:sp>
      <p:sp>
        <p:nvSpPr>
          <p:cNvPr id="238" name="Google Shape;238;p13"/>
          <p:cNvSpPr/>
          <p:nvPr/>
        </p:nvSpPr>
        <p:spPr>
          <a:xfrm>
            <a:off x="1645920"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239" name="Google Shape;239;p13"/>
          <p:cNvSpPr/>
          <p:nvPr/>
        </p:nvSpPr>
        <p:spPr>
          <a:xfrm>
            <a:off x="1645920"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800">
                <a:solidFill>
                  <a:srgbClr val="666666"/>
                </a:solidFill>
                <a:latin typeface="Calibri"/>
                <a:ea typeface="Calibri"/>
                <a:cs typeface="Calibri"/>
                <a:sym typeface="Calibri"/>
              </a:rPr>
              <a:t>+25.69%</a:t>
            </a:r>
            <a:endParaRPr b="0" i="0" sz="800" u="none" cap="none" strike="noStrike">
              <a:solidFill>
                <a:schemeClr val="dk1"/>
              </a:solidFill>
              <a:latin typeface="Calibri"/>
              <a:ea typeface="Calibri"/>
              <a:cs typeface="Calibri"/>
              <a:sym typeface="Calibri"/>
            </a:endParaRPr>
          </a:p>
        </p:txBody>
      </p:sp>
      <p:sp>
        <p:nvSpPr>
          <p:cNvPr id="240" name="Google Shape;240;p13"/>
          <p:cNvSpPr/>
          <p:nvPr/>
        </p:nvSpPr>
        <p:spPr>
          <a:xfrm>
            <a:off x="3090672"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3"/>
          <p:cNvSpPr/>
          <p:nvPr/>
        </p:nvSpPr>
        <p:spPr>
          <a:xfrm>
            <a:off x="3090672" y="822960"/>
            <a:ext cx="1389888" cy="4572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
          <p:cNvSpPr/>
          <p:nvPr/>
        </p:nvSpPr>
        <p:spPr>
          <a:xfrm>
            <a:off x="3163824"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£114.19</a:t>
            </a:r>
            <a:endParaRPr b="0" i="0" sz="1500" u="none" cap="none" strike="noStrike">
              <a:solidFill>
                <a:schemeClr val="dk1"/>
              </a:solidFill>
              <a:latin typeface="Calibri"/>
              <a:ea typeface="Calibri"/>
              <a:cs typeface="Calibri"/>
              <a:sym typeface="Calibri"/>
            </a:endParaRPr>
          </a:p>
        </p:txBody>
      </p:sp>
      <p:sp>
        <p:nvSpPr>
          <p:cNvPr id="243" name="Google Shape;243;p13"/>
          <p:cNvSpPr/>
          <p:nvPr/>
        </p:nvSpPr>
        <p:spPr>
          <a:xfrm>
            <a:off x="3136392"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CPL</a:t>
            </a:r>
            <a:endParaRPr b="0" i="0" sz="800" u="none" cap="none" strike="noStrike">
              <a:solidFill>
                <a:schemeClr val="dk1"/>
              </a:solidFill>
              <a:latin typeface="Calibri"/>
              <a:ea typeface="Calibri"/>
              <a:cs typeface="Calibri"/>
              <a:sym typeface="Calibri"/>
            </a:endParaRPr>
          </a:p>
        </p:txBody>
      </p:sp>
      <p:sp>
        <p:nvSpPr>
          <p:cNvPr id="244" name="Google Shape;244;p13"/>
          <p:cNvSpPr/>
          <p:nvPr/>
        </p:nvSpPr>
        <p:spPr>
          <a:xfrm>
            <a:off x="3136392"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+9.86%</a:t>
            </a:r>
            <a:endParaRPr b="0" i="0" sz="800" u="none" cap="none" strike="noStrike">
              <a:solidFill>
                <a:schemeClr val="dk1"/>
              </a:solidFill>
              <a:latin typeface="Calibri"/>
              <a:ea typeface="Calibri"/>
              <a:cs typeface="Calibri"/>
              <a:sym typeface="Calibri"/>
            </a:endParaRPr>
          </a:p>
        </p:txBody>
      </p:sp>
      <p:sp>
        <p:nvSpPr>
          <p:cNvPr id="245" name="Google Shape;245;p13"/>
          <p:cNvSpPr/>
          <p:nvPr/>
        </p:nvSpPr>
        <p:spPr>
          <a:xfrm>
            <a:off x="4581144"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3"/>
          <p:cNvSpPr/>
          <p:nvPr/>
        </p:nvSpPr>
        <p:spPr>
          <a:xfrm>
            <a:off x="4581144" y="822960"/>
            <a:ext cx="1389888" cy="4572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p:nvPr/>
        </p:nvSpPr>
        <p:spPr>
          <a:xfrm>
            <a:off x="4654296"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2.20%</a:t>
            </a:r>
            <a:endParaRPr b="0" i="0" sz="1500" u="none" cap="none" strike="noStrike">
              <a:solidFill>
                <a:schemeClr val="dk1"/>
              </a:solidFill>
              <a:latin typeface="Calibri"/>
              <a:ea typeface="Calibri"/>
              <a:cs typeface="Calibri"/>
              <a:sym typeface="Calibri"/>
            </a:endParaRPr>
          </a:p>
        </p:txBody>
      </p:sp>
      <p:sp>
        <p:nvSpPr>
          <p:cNvPr id="248" name="Google Shape;248;p13"/>
          <p:cNvSpPr/>
          <p:nvPr/>
        </p:nvSpPr>
        <p:spPr>
          <a:xfrm>
            <a:off x="4626864"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249" name="Google Shape;249;p13"/>
          <p:cNvSpPr/>
          <p:nvPr/>
        </p:nvSpPr>
        <p:spPr>
          <a:xfrm>
            <a:off x="4626864"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-8.60%</a:t>
            </a:r>
            <a:endParaRPr b="0" i="0" sz="800" u="none" cap="none" strike="noStrike">
              <a:solidFill>
                <a:schemeClr val="dk1"/>
              </a:solidFill>
              <a:latin typeface="Calibri"/>
              <a:ea typeface="Calibri"/>
              <a:cs typeface="Calibri"/>
              <a:sym typeface="Calibri"/>
            </a:endParaRPr>
          </a:p>
        </p:txBody>
      </p:sp>
      <p:sp>
        <p:nvSpPr>
          <p:cNvPr id="250" name="Google Shape;250;p13"/>
          <p:cNvSpPr/>
          <p:nvPr/>
        </p:nvSpPr>
        <p:spPr>
          <a:xfrm>
            <a:off x="6071616"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3"/>
          <p:cNvSpPr/>
          <p:nvPr/>
        </p:nvSpPr>
        <p:spPr>
          <a:xfrm>
            <a:off x="6071616" y="822960"/>
            <a:ext cx="1389888" cy="4572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a:off x="6144768"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58,685</a:t>
            </a:r>
            <a:endParaRPr b="0" i="0" sz="1500" u="none" cap="none" strike="noStrike">
              <a:solidFill>
                <a:schemeClr val="dk1"/>
              </a:solidFill>
              <a:latin typeface="Calibri"/>
              <a:ea typeface="Calibri"/>
              <a:cs typeface="Calibri"/>
              <a:sym typeface="Calibri"/>
            </a:endParaRPr>
          </a:p>
        </p:txBody>
      </p:sp>
      <p:sp>
        <p:nvSpPr>
          <p:cNvPr id="253" name="Google Shape;253;p13"/>
          <p:cNvSpPr/>
          <p:nvPr/>
        </p:nvSpPr>
        <p:spPr>
          <a:xfrm>
            <a:off x="6117336"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sp>
        <p:nvSpPr>
          <p:cNvPr id="254" name="Google Shape;254;p13"/>
          <p:cNvSpPr/>
          <p:nvPr/>
        </p:nvSpPr>
        <p:spPr>
          <a:xfrm>
            <a:off x="6117336"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+25.18%</a:t>
            </a:r>
            <a:endParaRPr b="0" i="0" sz="800" u="none" cap="none" strike="noStrike">
              <a:solidFill>
                <a:schemeClr val="dk1"/>
              </a:solidFill>
              <a:latin typeface="Calibri"/>
              <a:ea typeface="Calibri"/>
              <a:cs typeface="Calibri"/>
              <a:sym typeface="Calibri"/>
            </a:endParaRPr>
          </a:p>
        </p:txBody>
      </p:sp>
      <p:sp>
        <p:nvSpPr>
          <p:cNvPr id="255" name="Google Shape;255;p13"/>
          <p:cNvSpPr/>
          <p:nvPr/>
        </p:nvSpPr>
        <p:spPr>
          <a:xfrm>
            <a:off x="756208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p:nvPr/>
        </p:nvSpPr>
        <p:spPr>
          <a:xfrm>
            <a:off x="7562088" y="822960"/>
            <a:ext cx="1389888" cy="4572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a:off x="763524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4.86%</a:t>
            </a:r>
            <a:endParaRPr b="0" i="0" sz="1500" u="none" cap="none" strike="noStrike">
              <a:solidFill>
                <a:schemeClr val="dk1"/>
              </a:solidFill>
              <a:latin typeface="Calibri"/>
              <a:ea typeface="Calibri"/>
              <a:cs typeface="Calibri"/>
              <a:sym typeface="Calibri"/>
            </a:endParaRPr>
          </a:p>
        </p:txBody>
      </p:sp>
      <p:sp>
        <p:nvSpPr>
          <p:cNvPr id="258" name="Google Shape;258;p13"/>
          <p:cNvSpPr/>
          <p:nvPr/>
        </p:nvSpPr>
        <p:spPr>
          <a:xfrm>
            <a:off x="760780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259" name="Google Shape;259;p13"/>
          <p:cNvSpPr/>
          <p:nvPr/>
        </p:nvSpPr>
        <p:spPr>
          <a:xfrm>
            <a:off x="7607808"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+47.57%</a:t>
            </a:r>
            <a:endParaRPr b="0" i="0" sz="800" u="none" cap="none" strike="noStrike">
              <a:solidFill>
                <a:schemeClr val="dk1"/>
              </a:solidFill>
              <a:latin typeface="Calibri"/>
              <a:ea typeface="Calibri"/>
              <a:cs typeface="Calibri"/>
              <a:sym typeface="Calibri"/>
            </a:endParaRPr>
          </a:p>
        </p:txBody>
      </p:sp>
      <p:graphicFrame>
        <p:nvGraphicFramePr>
          <p:cNvPr id="260" name="Google Shape;260;p13"/>
          <p:cNvGraphicFramePr/>
          <p:nvPr/>
        </p:nvGraphicFramePr>
        <p:xfrm>
          <a:off x="137160" y="2036840"/>
          <a:ext cx="3000000" cy="3000000"/>
        </p:xfrm>
        <a:graphic>
          <a:graphicData uri="http://schemas.openxmlformats.org/drawingml/2006/table">
            <a:tbl>
              <a:tblPr>
                <a:noFill/>
                <a:tableStyleId>{F01A925B-387E-4F20-950E-5FCF7B285F05}</a:tableStyleId>
              </a:tblPr>
              <a:tblGrid>
                <a:gridCol w="640075"/>
                <a:gridCol w="1051550"/>
                <a:gridCol w="685800"/>
                <a:gridCol w="594350"/>
                <a:gridCol w="594350"/>
                <a:gridCol w="914400"/>
                <a:gridCol w="868675"/>
                <a:gridCol w="640075"/>
                <a:gridCol w="594350"/>
              </a:tblGrid>
              <a:tr h="256025">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Month</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Impressions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Clicks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CTR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CPC</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Sales Leads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CVR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Jan</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404,712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22,167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5.48%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£2.97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£65,788.14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524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£125.55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2.36%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Feb</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354,493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19,784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5.58%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£2.40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£47,474.65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478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£99.32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2.42%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Mar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448,963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16,734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3.73%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£2.06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£34,492.96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292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£118.13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1.74%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Total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1,208,168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58,685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4.86%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£2.52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£147,755.75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1,294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£114.19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2.20%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bl>
          </a:graphicData>
        </a:graphic>
      </p:graphicFrame>
      <p:sp>
        <p:nvSpPr>
          <p:cNvPr id="261" name="Google Shape;261;p13"/>
          <p:cNvSpPr/>
          <p:nvPr/>
        </p:nvSpPr>
        <p:spPr>
          <a:xfrm>
            <a:off x="137160" y="3493008"/>
            <a:ext cx="8869680" cy="14173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Overall we have seen a YoY increase in leads from our Generic campaigns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As we push investment, it is expected that we may not see the exact level of return in leads, however CPL remains strong. March performance had an impact on the numbers as we started to see reducing performance</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CTR has improved by 45% - this will be in part due to greater visibility in better positions, plus we have been running ad copy tests throughout the quarter, so this is a very good indication that our tests have improved </a:t>
            </a:r>
            <a:r>
              <a:rPr lang="en-US" sz="1000">
                <a:solidFill>
                  <a:srgbClr val="111111"/>
                </a:solidFill>
                <a:latin typeface="Calibri"/>
                <a:ea typeface="Calibri"/>
                <a:cs typeface="Calibri"/>
                <a:sym typeface="Calibri"/>
              </a:rPr>
              <a:t>performance</a:t>
            </a:r>
            <a:r>
              <a:rPr lang="en-US" sz="1000">
                <a:solidFill>
                  <a:srgbClr val="111111"/>
                </a:solidFill>
                <a:latin typeface="Calibri"/>
                <a:ea typeface="Calibri"/>
                <a:cs typeface="Calibri"/>
                <a:sym typeface="Calibri"/>
              </a:rPr>
              <a:t> here. </a:t>
            </a:r>
            <a:endParaRPr sz="1000">
              <a:solidFill>
                <a:srgbClr val="111111"/>
              </a:solidFill>
              <a:latin typeface="Calibri"/>
              <a:ea typeface="Calibri"/>
              <a:cs typeface="Calibri"/>
              <a:sym typeface="Calibri"/>
            </a:endParaRPr>
          </a:p>
        </p:txBody>
      </p:sp>
      <p:pic>
        <p:nvPicPr>
          <p:cNvPr id="262" name="Google Shape;262;p13"/>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4"/>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4"/>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Generic Monthly Trend</a:t>
            </a:r>
            <a:endParaRPr b="0" i="0" sz="2000" u="none" cap="none" strike="noStrike">
              <a:solidFill>
                <a:schemeClr val="dk1"/>
              </a:solidFill>
              <a:latin typeface="Calibri"/>
              <a:ea typeface="Calibri"/>
              <a:cs typeface="Calibri"/>
              <a:sym typeface="Calibri"/>
            </a:endParaRPr>
          </a:p>
        </p:txBody>
      </p:sp>
      <p:sp>
        <p:nvSpPr>
          <p:cNvPr id="271" name="Google Shape;271;p14"/>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272" name="Google Shape;272;p14"/>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274" name="Google Shape;274;p14" title="Screenshot 2026-04-22 124547.png"/>
          <p:cNvPicPr preferRelativeResize="0"/>
          <p:nvPr/>
        </p:nvPicPr>
        <p:blipFill>
          <a:blip r:embed="rId3">
            <a:alphaModFix/>
          </a:blip>
          <a:stretch>
            <a:fillRect/>
          </a:stretch>
        </p:blipFill>
        <p:spPr>
          <a:xfrm>
            <a:off x="182875" y="984563"/>
            <a:ext cx="4409750" cy="3174374"/>
          </a:xfrm>
          <a:prstGeom prst="rect">
            <a:avLst/>
          </a:prstGeom>
          <a:noFill/>
          <a:ln>
            <a:noFill/>
          </a:ln>
        </p:spPr>
      </p:pic>
      <p:pic>
        <p:nvPicPr>
          <p:cNvPr id="275" name="Google Shape;275;p14" title="Screenshot 2026-04-22 122433.png"/>
          <p:cNvPicPr preferRelativeResize="0"/>
          <p:nvPr/>
        </p:nvPicPr>
        <p:blipFill>
          <a:blip r:embed="rId4">
            <a:alphaModFix/>
          </a:blip>
          <a:stretch>
            <a:fillRect/>
          </a:stretch>
        </p:blipFill>
        <p:spPr>
          <a:xfrm>
            <a:off x="3914625" y="953100"/>
            <a:ext cx="5014351" cy="3018200"/>
          </a:xfrm>
          <a:prstGeom prst="rect">
            <a:avLst/>
          </a:prstGeom>
          <a:noFill/>
          <a:ln>
            <a:noFill/>
          </a:ln>
        </p:spPr>
      </p:pic>
      <p:pic>
        <p:nvPicPr>
          <p:cNvPr id="276" name="Google Shape;276;p14"/>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5"/>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Performance Max Summary</a:t>
            </a:r>
            <a:endParaRPr b="0" i="0" sz="2000" u="none" cap="none" strike="noStrike">
              <a:solidFill>
                <a:schemeClr val="dk1"/>
              </a:solidFill>
              <a:latin typeface="Calibri"/>
              <a:ea typeface="Calibri"/>
              <a:cs typeface="Calibri"/>
              <a:sym typeface="Calibri"/>
            </a:endParaRPr>
          </a:p>
        </p:txBody>
      </p:sp>
      <p:sp>
        <p:nvSpPr>
          <p:cNvPr id="285" name="Google Shape;285;p15"/>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286" name="Google Shape;286;p15"/>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288" name="Google Shape;288;p15"/>
          <p:cNvSpPr/>
          <p:nvPr/>
        </p:nvSpPr>
        <p:spPr>
          <a:xfrm>
            <a:off x="10972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109728" y="822960"/>
            <a:ext cx="1389888" cy="4572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18288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627</a:t>
            </a:r>
            <a:endParaRPr b="0" i="0" sz="1500" u="none" cap="none" strike="noStrike">
              <a:solidFill>
                <a:schemeClr val="dk1"/>
              </a:solidFill>
              <a:latin typeface="Calibri"/>
              <a:ea typeface="Calibri"/>
              <a:cs typeface="Calibri"/>
              <a:sym typeface="Calibri"/>
            </a:endParaRPr>
          </a:p>
        </p:txBody>
      </p:sp>
      <p:sp>
        <p:nvSpPr>
          <p:cNvPr id="291" name="Google Shape;291;p15"/>
          <p:cNvSpPr/>
          <p:nvPr/>
        </p:nvSpPr>
        <p:spPr>
          <a:xfrm>
            <a:off x="15544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292" name="Google Shape;292;p15"/>
          <p:cNvSpPr/>
          <p:nvPr/>
        </p:nvSpPr>
        <p:spPr>
          <a:xfrm>
            <a:off x="155448"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a:t>
            </a:r>
            <a:r>
              <a:rPr b="1" lang="en-US" sz="900">
                <a:solidFill>
                  <a:srgbClr val="E53E3E"/>
                </a:solidFill>
                <a:latin typeface="Calibri"/>
                <a:ea typeface="Calibri"/>
                <a:cs typeface="Calibri"/>
                <a:sym typeface="Calibri"/>
              </a:rPr>
              <a:t>-57.00%</a:t>
            </a:r>
            <a:endParaRPr b="0" i="0" sz="800" u="none" cap="none" strike="noStrike">
              <a:solidFill>
                <a:schemeClr val="dk1"/>
              </a:solidFill>
              <a:latin typeface="Calibri"/>
              <a:ea typeface="Calibri"/>
              <a:cs typeface="Calibri"/>
              <a:sym typeface="Calibri"/>
            </a:endParaRPr>
          </a:p>
        </p:txBody>
      </p:sp>
      <p:sp>
        <p:nvSpPr>
          <p:cNvPr id="293" name="Google Shape;293;p15"/>
          <p:cNvSpPr/>
          <p:nvPr/>
        </p:nvSpPr>
        <p:spPr>
          <a:xfrm>
            <a:off x="1600200"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1600200" y="822960"/>
            <a:ext cx="1389888" cy="457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1673352"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£36,809</a:t>
            </a:r>
            <a:endParaRPr b="0" i="0" sz="1500" u="none" cap="none" strike="noStrike">
              <a:solidFill>
                <a:schemeClr val="dk1"/>
              </a:solidFill>
              <a:latin typeface="Calibri"/>
              <a:ea typeface="Calibri"/>
              <a:cs typeface="Calibri"/>
              <a:sym typeface="Calibri"/>
            </a:endParaRPr>
          </a:p>
        </p:txBody>
      </p:sp>
      <p:sp>
        <p:nvSpPr>
          <p:cNvPr id="296" name="Google Shape;296;p15"/>
          <p:cNvSpPr/>
          <p:nvPr/>
        </p:nvSpPr>
        <p:spPr>
          <a:xfrm>
            <a:off x="1645920"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297" name="Google Shape;297;p15"/>
          <p:cNvSpPr/>
          <p:nvPr/>
        </p:nvSpPr>
        <p:spPr>
          <a:xfrm>
            <a:off x="1645920"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+67.34%</a:t>
            </a:r>
            <a:endParaRPr b="0" i="0" sz="800" u="none" cap="none" strike="noStrike">
              <a:solidFill>
                <a:schemeClr val="dk1"/>
              </a:solidFill>
              <a:latin typeface="Calibri"/>
              <a:ea typeface="Calibri"/>
              <a:cs typeface="Calibri"/>
              <a:sym typeface="Calibri"/>
            </a:endParaRPr>
          </a:p>
        </p:txBody>
      </p:sp>
      <p:sp>
        <p:nvSpPr>
          <p:cNvPr id="298" name="Google Shape;298;p15"/>
          <p:cNvSpPr/>
          <p:nvPr/>
        </p:nvSpPr>
        <p:spPr>
          <a:xfrm>
            <a:off x="3090672"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
          <p:cNvSpPr/>
          <p:nvPr/>
        </p:nvSpPr>
        <p:spPr>
          <a:xfrm>
            <a:off x="3090672" y="822960"/>
            <a:ext cx="1389888" cy="4572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3163824"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£58.71</a:t>
            </a:r>
            <a:endParaRPr b="0" i="0" sz="1500" u="none" cap="none" strike="noStrike">
              <a:solidFill>
                <a:schemeClr val="dk1"/>
              </a:solidFill>
              <a:latin typeface="Calibri"/>
              <a:ea typeface="Calibri"/>
              <a:cs typeface="Calibri"/>
              <a:sym typeface="Calibri"/>
            </a:endParaRPr>
          </a:p>
        </p:txBody>
      </p:sp>
      <p:sp>
        <p:nvSpPr>
          <p:cNvPr id="301" name="Google Shape;301;p15"/>
          <p:cNvSpPr/>
          <p:nvPr/>
        </p:nvSpPr>
        <p:spPr>
          <a:xfrm>
            <a:off x="3136392"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Blended CPL</a:t>
            </a:r>
            <a:endParaRPr b="0" i="0" sz="800" u="none" cap="none" strike="noStrike">
              <a:solidFill>
                <a:schemeClr val="dk1"/>
              </a:solidFill>
              <a:latin typeface="Calibri"/>
              <a:ea typeface="Calibri"/>
              <a:cs typeface="Calibri"/>
              <a:sym typeface="Calibri"/>
            </a:endParaRPr>
          </a:p>
        </p:txBody>
      </p:sp>
      <p:sp>
        <p:nvSpPr>
          <p:cNvPr id="302" name="Google Shape;302;p15"/>
          <p:cNvSpPr/>
          <p:nvPr/>
        </p:nvSpPr>
        <p:spPr>
          <a:xfrm>
            <a:off x="3136392"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+289.14%</a:t>
            </a:r>
            <a:endParaRPr b="0" i="0" sz="800" u="none" cap="none" strike="noStrike">
              <a:solidFill>
                <a:schemeClr val="dk1"/>
              </a:solidFill>
              <a:latin typeface="Calibri"/>
              <a:ea typeface="Calibri"/>
              <a:cs typeface="Calibri"/>
              <a:sym typeface="Calibri"/>
            </a:endParaRPr>
          </a:p>
        </p:txBody>
      </p:sp>
      <p:sp>
        <p:nvSpPr>
          <p:cNvPr id="303" name="Google Shape;303;p15"/>
          <p:cNvSpPr/>
          <p:nvPr/>
        </p:nvSpPr>
        <p:spPr>
          <a:xfrm>
            <a:off x="4581144"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4581144" y="822960"/>
            <a:ext cx="1389888" cy="4572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4654296"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1.44%</a:t>
            </a:r>
            <a:endParaRPr b="0" i="0" sz="1500" u="none" cap="none" strike="noStrike">
              <a:solidFill>
                <a:schemeClr val="dk1"/>
              </a:solidFill>
              <a:latin typeface="Calibri"/>
              <a:ea typeface="Calibri"/>
              <a:cs typeface="Calibri"/>
              <a:sym typeface="Calibri"/>
            </a:endParaRPr>
          </a:p>
        </p:txBody>
      </p:sp>
      <p:sp>
        <p:nvSpPr>
          <p:cNvPr id="306" name="Google Shape;306;p15"/>
          <p:cNvSpPr/>
          <p:nvPr/>
        </p:nvSpPr>
        <p:spPr>
          <a:xfrm>
            <a:off x="4626864"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307" name="Google Shape;307;p15"/>
          <p:cNvSpPr/>
          <p:nvPr/>
        </p:nvSpPr>
        <p:spPr>
          <a:xfrm>
            <a:off x="4626864"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-45.91%</a:t>
            </a:r>
            <a:endParaRPr b="0" i="0" sz="800" u="none" cap="none" strike="noStrike">
              <a:solidFill>
                <a:schemeClr val="dk1"/>
              </a:solidFill>
              <a:latin typeface="Calibri"/>
              <a:ea typeface="Calibri"/>
              <a:cs typeface="Calibri"/>
              <a:sym typeface="Calibri"/>
            </a:endParaRPr>
          </a:p>
        </p:txBody>
      </p:sp>
      <p:sp>
        <p:nvSpPr>
          <p:cNvPr id="308" name="Google Shape;308;p15"/>
          <p:cNvSpPr/>
          <p:nvPr/>
        </p:nvSpPr>
        <p:spPr>
          <a:xfrm>
            <a:off x="6071616"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6071616" y="822960"/>
            <a:ext cx="1389888" cy="4572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6144768"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43,599</a:t>
            </a:r>
            <a:endParaRPr b="0" i="0" sz="1500" u="none" cap="none" strike="noStrike">
              <a:solidFill>
                <a:schemeClr val="dk1"/>
              </a:solidFill>
              <a:latin typeface="Calibri"/>
              <a:ea typeface="Calibri"/>
              <a:cs typeface="Calibri"/>
              <a:sym typeface="Calibri"/>
            </a:endParaRPr>
          </a:p>
        </p:txBody>
      </p:sp>
      <p:sp>
        <p:nvSpPr>
          <p:cNvPr id="311" name="Google Shape;311;p15"/>
          <p:cNvSpPr/>
          <p:nvPr/>
        </p:nvSpPr>
        <p:spPr>
          <a:xfrm>
            <a:off x="6117336"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sp>
        <p:nvSpPr>
          <p:cNvPr id="312" name="Google Shape;312;p15"/>
          <p:cNvSpPr/>
          <p:nvPr/>
        </p:nvSpPr>
        <p:spPr>
          <a:xfrm>
            <a:off x="6117336"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-20.50%</a:t>
            </a:r>
            <a:endParaRPr b="0" i="0" sz="800" u="none" cap="none" strike="noStrike">
              <a:solidFill>
                <a:schemeClr val="dk1"/>
              </a:solidFill>
              <a:latin typeface="Calibri"/>
              <a:ea typeface="Calibri"/>
              <a:cs typeface="Calibri"/>
              <a:sym typeface="Calibri"/>
            </a:endParaRPr>
          </a:p>
        </p:txBody>
      </p:sp>
      <p:sp>
        <p:nvSpPr>
          <p:cNvPr id="313" name="Google Shape;313;p15"/>
          <p:cNvSpPr/>
          <p:nvPr/>
        </p:nvSpPr>
        <p:spPr>
          <a:xfrm>
            <a:off x="756208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7562088" y="822960"/>
            <a:ext cx="1389888" cy="4572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763524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0.79%</a:t>
            </a:r>
            <a:endParaRPr b="0" i="0" sz="1500" u="none" cap="none" strike="noStrike">
              <a:solidFill>
                <a:schemeClr val="dk1"/>
              </a:solidFill>
              <a:latin typeface="Calibri"/>
              <a:ea typeface="Calibri"/>
              <a:cs typeface="Calibri"/>
              <a:sym typeface="Calibri"/>
            </a:endParaRPr>
          </a:p>
        </p:txBody>
      </p:sp>
      <p:sp>
        <p:nvSpPr>
          <p:cNvPr id="316" name="Google Shape;316;p15"/>
          <p:cNvSpPr/>
          <p:nvPr/>
        </p:nvSpPr>
        <p:spPr>
          <a:xfrm>
            <a:off x="760780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317" name="Google Shape;317;p15"/>
          <p:cNvSpPr/>
          <p:nvPr/>
        </p:nvSpPr>
        <p:spPr>
          <a:xfrm>
            <a:off x="7607808"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+34.26%</a:t>
            </a:r>
            <a:endParaRPr sz="900">
              <a:solidFill>
                <a:schemeClr val="dk1"/>
              </a:solidFill>
              <a:latin typeface="Calibri"/>
              <a:ea typeface="Calibri"/>
              <a:cs typeface="Calibri"/>
              <a:sym typeface="Calibri"/>
            </a:endParaRPr>
          </a:p>
          <a:p>
            <a:pPr indent="0" lvl="0" marL="0" marR="0" rtl="0" algn="ctr">
              <a:spcBef>
                <a:spcPts val="0"/>
              </a:spcBef>
              <a:spcAft>
                <a:spcPts val="0"/>
              </a:spcAft>
              <a:buClr>
                <a:srgbClr val="666666"/>
              </a:buClr>
              <a:buSzPts val="800"/>
              <a:buFont typeface="Calibri"/>
              <a:buNone/>
            </a:pPr>
            <a:r>
              <a:t/>
            </a:r>
            <a:endParaRPr b="1" sz="800">
              <a:solidFill>
                <a:srgbClr val="666666"/>
              </a:solidFill>
              <a:latin typeface="Calibri"/>
              <a:ea typeface="Calibri"/>
              <a:cs typeface="Calibri"/>
              <a:sym typeface="Calibri"/>
            </a:endParaRPr>
          </a:p>
        </p:txBody>
      </p:sp>
      <p:graphicFrame>
        <p:nvGraphicFramePr>
          <p:cNvPr id="318" name="Google Shape;318;p15"/>
          <p:cNvGraphicFramePr/>
          <p:nvPr/>
        </p:nvGraphicFramePr>
        <p:xfrm>
          <a:off x="137160" y="1901952"/>
          <a:ext cx="3000000" cy="3000000"/>
        </p:xfrm>
        <a:graphic>
          <a:graphicData uri="http://schemas.openxmlformats.org/drawingml/2006/table">
            <a:tbl>
              <a:tblPr>
                <a:noFill/>
                <a:tableStyleId>{F01A925B-387E-4F20-950E-5FCF7B285F05}</a:tableStyleId>
              </a:tblPr>
              <a:tblGrid>
                <a:gridCol w="640075"/>
                <a:gridCol w="1051550"/>
                <a:gridCol w="685800"/>
                <a:gridCol w="594350"/>
                <a:gridCol w="594350"/>
                <a:gridCol w="914400"/>
                <a:gridCol w="868675"/>
                <a:gridCol w="640075"/>
                <a:gridCol w="594350"/>
              </a:tblGrid>
              <a:tr h="256025">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Month</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Impressions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Clicks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CTR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CPC</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Sales Leads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CVR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Jan</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1,525,966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17,022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£0.89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£15,223.55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271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£56.18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1.59%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Feb</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2,813,840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16,230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0.58%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£0.82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£13,350.29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210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£63.57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1.29%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Mar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1,153,267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10,347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0.90%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£0.80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£8,234.92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146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£56.40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1.41%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Total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5,493,073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43,599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0.79%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£0.84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£36,808.75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627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£58.71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1.44%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bl>
          </a:graphicData>
        </a:graphic>
      </p:graphicFrame>
      <p:sp>
        <p:nvSpPr>
          <p:cNvPr id="319" name="Google Shape;319;p15"/>
          <p:cNvSpPr/>
          <p:nvPr/>
        </p:nvSpPr>
        <p:spPr>
          <a:xfrm>
            <a:off x="64000" y="3353551"/>
            <a:ext cx="8869800" cy="1645200"/>
          </a:xfrm>
          <a:prstGeom prst="rect">
            <a:avLst/>
          </a:prstGeom>
          <a:noFill/>
          <a:ln>
            <a:noFill/>
          </a:ln>
        </p:spPr>
        <p:txBody>
          <a:bodyPr anchorCtr="0" anchor="t" bIns="45700" lIns="91425" spcFirstLastPara="1" rIns="91425" wrap="square" tIns="45700">
            <a:noAutofit/>
          </a:bodyPr>
          <a:lstStyle/>
          <a:p>
            <a:pPr indent="-292100" lvl="0" marL="457200" marR="0" rtl="0" algn="l">
              <a:lnSpc>
                <a:spcPct val="12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PMax has shifted significantly this quarter compared to 2025, however it is being </a:t>
            </a:r>
            <a:r>
              <a:rPr lang="en-US" sz="1000">
                <a:solidFill>
                  <a:srgbClr val="111111"/>
                </a:solidFill>
                <a:latin typeface="Calibri"/>
                <a:ea typeface="Calibri"/>
                <a:cs typeface="Calibri"/>
                <a:sym typeface="Calibri"/>
              </a:rPr>
              <a:t>used</a:t>
            </a:r>
            <a:r>
              <a:rPr lang="en-US" sz="1000">
                <a:solidFill>
                  <a:srgbClr val="111111"/>
                </a:solidFill>
                <a:latin typeface="Calibri"/>
                <a:ea typeface="Calibri"/>
                <a:cs typeface="Calibri"/>
                <a:sym typeface="Calibri"/>
              </a:rPr>
              <a:t> in a different way with extensive brand exclusions</a:t>
            </a:r>
            <a:endParaRPr sz="1000">
              <a:solidFill>
                <a:srgbClr val="111111"/>
              </a:solidFill>
              <a:latin typeface="Calibri"/>
              <a:ea typeface="Calibri"/>
              <a:cs typeface="Calibri"/>
              <a:sym typeface="Calibri"/>
            </a:endParaRPr>
          </a:p>
          <a:p>
            <a:pPr indent="-292100" lvl="0" marL="457200" marR="0" rtl="0" algn="l">
              <a:lnSpc>
                <a:spcPct val="12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This has </a:t>
            </a:r>
            <a:r>
              <a:rPr lang="en-US" sz="1000">
                <a:solidFill>
                  <a:srgbClr val="111111"/>
                </a:solidFill>
                <a:latin typeface="Calibri"/>
                <a:ea typeface="Calibri"/>
                <a:cs typeface="Calibri"/>
                <a:sym typeface="Calibri"/>
              </a:rPr>
              <a:t>results</a:t>
            </a:r>
            <a:r>
              <a:rPr lang="en-US" sz="1000">
                <a:solidFill>
                  <a:srgbClr val="111111"/>
                </a:solidFill>
                <a:latin typeface="Calibri"/>
                <a:ea typeface="Calibri"/>
                <a:cs typeface="Calibri"/>
                <a:sym typeface="Calibri"/>
              </a:rPr>
              <a:t> in more realistic CPLs, not </a:t>
            </a:r>
            <a:r>
              <a:rPr lang="en-US" sz="1000">
                <a:solidFill>
                  <a:srgbClr val="111111"/>
                </a:solidFill>
                <a:latin typeface="Calibri"/>
                <a:ea typeface="Calibri"/>
                <a:cs typeface="Calibri"/>
                <a:sym typeface="Calibri"/>
              </a:rPr>
              <a:t>masked</a:t>
            </a:r>
            <a:r>
              <a:rPr lang="en-US" sz="1000">
                <a:solidFill>
                  <a:srgbClr val="111111"/>
                </a:solidFill>
                <a:latin typeface="Calibri"/>
                <a:ea typeface="Calibri"/>
                <a:cs typeface="Calibri"/>
                <a:sym typeface="Calibri"/>
              </a:rPr>
              <a:t> by branded conversions</a:t>
            </a:r>
            <a:endParaRPr sz="1000">
              <a:solidFill>
                <a:srgbClr val="111111"/>
              </a:solidFill>
              <a:latin typeface="Calibri"/>
              <a:ea typeface="Calibri"/>
              <a:cs typeface="Calibri"/>
              <a:sym typeface="Calibri"/>
            </a:endParaRPr>
          </a:p>
          <a:p>
            <a:pPr indent="-292100" lvl="0" marL="457200" marR="0" rtl="0" algn="l">
              <a:lnSpc>
                <a:spcPct val="12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PMax is now being used in a much more efficient way - as a way to generate demand across the full funnel from </a:t>
            </a:r>
            <a:r>
              <a:rPr lang="en-US" sz="1000">
                <a:solidFill>
                  <a:srgbClr val="111111"/>
                </a:solidFill>
                <a:latin typeface="Calibri"/>
                <a:ea typeface="Calibri"/>
                <a:cs typeface="Calibri"/>
                <a:sym typeface="Calibri"/>
              </a:rPr>
              <a:t>awareness</a:t>
            </a:r>
            <a:r>
              <a:rPr lang="en-US" sz="1000">
                <a:solidFill>
                  <a:srgbClr val="111111"/>
                </a:solidFill>
                <a:latin typeface="Calibri"/>
                <a:ea typeface="Calibri"/>
                <a:cs typeface="Calibri"/>
                <a:sym typeface="Calibri"/>
              </a:rPr>
              <a:t> to purchase, and also as a way of investigating new keyword </a:t>
            </a:r>
            <a:r>
              <a:rPr lang="en-US" sz="1000">
                <a:solidFill>
                  <a:srgbClr val="111111"/>
                </a:solidFill>
                <a:latin typeface="Calibri"/>
                <a:ea typeface="Calibri"/>
                <a:cs typeface="Calibri"/>
                <a:sym typeface="Calibri"/>
              </a:rPr>
              <a:t>possibilities</a:t>
            </a:r>
            <a:r>
              <a:rPr lang="en-US" sz="1000">
                <a:solidFill>
                  <a:srgbClr val="111111"/>
                </a:solidFill>
                <a:latin typeface="Calibri"/>
                <a:ea typeface="Calibri"/>
                <a:cs typeface="Calibri"/>
                <a:sym typeface="Calibri"/>
              </a:rPr>
              <a:t> that can be used to inform high </a:t>
            </a:r>
            <a:r>
              <a:rPr lang="en-US" sz="1000">
                <a:solidFill>
                  <a:srgbClr val="111111"/>
                </a:solidFill>
                <a:latin typeface="Calibri"/>
                <a:ea typeface="Calibri"/>
                <a:cs typeface="Calibri"/>
                <a:sym typeface="Calibri"/>
              </a:rPr>
              <a:t>intent search campaigns</a:t>
            </a:r>
            <a:endParaRPr sz="1000">
              <a:solidFill>
                <a:srgbClr val="111111"/>
              </a:solidFill>
              <a:latin typeface="Calibri"/>
              <a:ea typeface="Calibri"/>
              <a:cs typeface="Calibri"/>
              <a:sym typeface="Calibri"/>
            </a:endParaRPr>
          </a:p>
          <a:p>
            <a:pPr indent="-292100" lvl="0" marL="457200" marR="0" rtl="0" algn="l">
              <a:lnSpc>
                <a:spcPct val="12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Although CVR has reduced YoY, 1.44% for a Pmax campaign that includes display etc is very healthy</a:t>
            </a:r>
            <a:endParaRPr sz="1000">
              <a:solidFill>
                <a:srgbClr val="111111"/>
              </a:solidFill>
              <a:latin typeface="Calibri"/>
              <a:ea typeface="Calibri"/>
              <a:cs typeface="Calibri"/>
              <a:sym typeface="Calibri"/>
            </a:endParaRPr>
          </a:p>
          <a:p>
            <a:pPr indent="-292100" lvl="0" marL="457200" marR="0" rtl="0" algn="l">
              <a:lnSpc>
                <a:spcPct val="12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Improvements</a:t>
            </a:r>
            <a:r>
              <a:rPr lang="en-US" sz="1000">
                <a:solidFill>
                  <a:srgbClr val="111111"/>
                </a:solidFill>
                <a:latin typeface="Calibri"/>
                <a:ea typeface="Calibri"/>
                <a:cs typeface="Calibri"/>
                <a:sym typeface="Calibri"/>
              </a:rPr>
              <a:t> in CTR also suggest a movement away from </a:t>
            </a:r>
            <a:r>
              <a:rPr lang="en-US" sz="1000">
                <a:solidFill>
                  <a:srgbClr val="111111"/>
                </a:solidFill>
                <a:latin typeface="Calibri"/>
                <a:ea typeface="Calibri"/>
                <a:cs typeface="Calibri"/>
                <a:sym typeface="Calibri"/>
              </a:rPr>
              <a:t>display</a:t>
            </a:r>
            <a:r>
              <a:rPr lang="en-US" sz="1000">
                <a:solidFill>
                  <a:srgbClr val="111111"/>
                </a:solidFill>
                <a:latin typeface="Calibri"/>
                <a:ea typeface="Calibri"/>
                <a:cs typeface="Calibri"/>
                <a:sym typeface="Calibri"/>
              </a:rPr>
              <a:t> and more budget being spent on search, this acts as a discovery tool where we find new terms and add these to search campaigns, so it’s a valuable part of our overall approach</a:t>
            </a:r>
            <a:endParaRPr sz="1000">
              <a:solidFill>
                <a:srgbClr val="111111"/>
              </a:solidFill>
              <a:latin typeface="Calibri"/>
              <a:ea typeface="Calibri"/>
              <a:cs typeface="Calibri"/>
              <a:sym typeface="Calibri"/>
            </a:endParaRPr>
          </a:p>
          <a:p>
            <a:pPr indent="-292100" lvl="0" marL="457200" marR="0" rtl="0" algn="l">
              <a:lnSpc>
                <a:spcPct val="120000"/>
              </a:lnSpc>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The cleaner structure allows us to push investment more confidently, in the knowledge that the numbers are not inflated</a:t>
            </a:r>
            <a:endParaRPr sz="1000">
              <a:solidFill>
                <a:srgbClr val="111111"/>
              </a:solidFill>
              <a:latin typeface="Calibri"/>
              <a:ea typeface="Calibri"/>
              <a:cs typeface="Calibri"/>
              <a:sym typeface="Calibri"/>
            </a:endParaRPr>
          </a:p>
        </p:txBody>
      </p:sp>
      <p:pic>
        <p:nvPicPr>
          <p:cNvPr id="320" name="Google Shape;320;p15"/>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6"/>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Performance Max Monthly Trend</a:t>
            </a:r>
            <a:endParaRPr b="0" i="0" sz="2000" u="none" cap="none" strike="noStrike">
              <a:solidFill>
                <a:schemeClr val="dk1"/>
              </a:solidFill>
              <a:latin typeface="Calibri"/>
              <a:ea typeface="Calibri"/>
              <a:cs typeface="Calibri"/>
              <a:sym typeface="Calibri"/>
            </a:endParaRPr>
          </a:p>
        </p:txBody>
      </p:sp>
      <p:sp>
        <p:nvSpPr>
          <p:cNvPr id="329" name="Google Shape;329;p16"/>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330" name="Google Shape;330;p16"/>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332" name="Google Shape;332;p16" title="Screenshot 2026-04-22 140601.png"/>
          <p:cNvPicPr preferRelativeResize="0"/>
          <p:nvPr/>
        </p:nvPicPr>
        <p:blipFill>
          <a:blip r:embed="rId3">
            <a:alphaModFix/>
          </a:blip>
          <a:stretch>
            <a:fillRect/>
          </a:stretch>
        </p:blipFill>
        <p:spPr>
          <a:xfrm>
            <a:off x="0" y="1105625"/>
            <a:ext cx="4041424" cy="2932241"/>
          </a:xfrm>
          <a:prstGeom prst="rect">
            <a:avLst/>
          </a:prstGeom>
          <a:noFill/>
          <a:ln>
            <a:noFill/>
          </a:ln>
        </p:spPr>
      </p:pic>
      <p:pic>
        <p:nvPicPr>
          <p:cNvPr id="333" name="Google Shape;333;p16" title="Screenshot 2026-04-22 140653.png"/>
          <p:cNvPicPr preferRelativeResize="0"/>
          <p:nvPr/>
        </p:nvPicPr>
        <p:blipFill>
          <a:blip r:embed="rId4">
            <a:alphaModFix/>
          </a:blip>
          <a:stretch>
            <a:fillRect/>
          </a:stretch>
        </p:blipFill>
        <p:spPr>
          <a:xfrm>
            <a:off x="3844124" y="1086326"/>
            <a:ext cx="5099525" cy="3055650"/>
          </a:xfrm>
          <a:prstGeom prst="rect">
            <a:avLst/>
          </a:prstGeom>
          <a:noFill/>
          <a:ln>
            <a:noFill/>
          </a:ln>
        </p:spPr>
      </p:pic>
      <p:pic>
        <p:nvPicPr>
          <p:cNvPr id="334" name="Google Shape;334;p16"/>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7"/>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7"/>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7"/>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Demand Gen Summary</a:t>
            </a:r>
            <a:endParaRPr b="0" i="0" sz="2000" u="none" cap="none" strike="noStrike">
              <a:solidFill>
                <a:schemeClr val="dk1"/>
              </a:solidFill>
              <a:latin typeface="Calibri"/>
              <a:ea typeface="Calibri"/>
              <a:cs typeface="Calibri"/>
              <a:sym typeface="Calibri"/>
            </a:endParaRPr>
          </a:p>
        </p:txBody>
      </p:sp>
      <p:sp>
        <p:nvSpPr>
          <p:cNvPr id="343" name="Google Shape;343;p17"/>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344" name="Google Shape;344;p17"/>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346" name="Google Shape;346;p17"/>
          <p:cNvSpPr/>
          <p:nvPr/>
        </p:nvSpPr>
        <p:spPr>
          <a:xfrm>
            <a:off x="10972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7"/>
          <p:cNvSpPr/>
          <p:nvPr/>
        </p:nvSpPr>
        <p:spPr>
          <a:xfrm>
            <a:off x="109728" y="822960"/>
            <a:ext cx="1389888" cy="4572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7"/>
          <p:cNvSpPr/>
          <p:nvPr/>
        </p:nvSpPr>
        <p:spPr>
          <a:xfrm>
            <a:off x="18288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277</a:t>
            </a:r>
            <a:endParaRPr b="0" i="0" sz="1500" u="none" cap="none" strike="noStrike">
              <a:solidFill>
                <a:schemeClr val="dk1"/>
              </a:solidFill>
              <a:latin typeface="Calibri"/>
              <a:ea typeface="Calibri"/>
              <a:cs typeface="Calibri"/>
              <a:sym typeface="Calibri"/>
            </a:endParaRPr>
          </a:p>
        </p:txBody>
      </p:sp>
      <p:sp>
        <p:nvSpPr>
          <p:cNvPr id="349" name="Google Shape;349;p17"/>
          <p:cNvSpPr/>
          <p:nvPr/>
        </p:nvSpPr>
        <p:spPr>
          <a:xfrm>
            <a:off x="15544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350" name="Google Shape;350;p17"/>
          <p:cNvSpPr/>
          <p:nvPr/>
        </p:nvSpPr>
        <p:spPr>
          <a:xfrm>
            <a:off x="155448"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+793.55%</a:t>
            </a:r>
            <a:endParaRPr b="0" i="0" sz="800" u="none" cap="none" strike="noStrike">
              <a:solidFill>
                <a:schemeClr val="dk1"/>
              </a:solidFill>
              <a:latin typeface="Calibri"/>
              <a:ea typeface="Calibri"/>
              <a:cs typeface="Calibri"/>
              <a:sym typeface="Calibri"/>
            </a:endParaRPr>
          </a:p>
        </p:txBody>
      </p:sp>
      <p:sp>
        <p:nvSpPr>
          <p:cNvPr id="351" name="Google Shape;351;p17"/>
          <p:cNvSpPr/>
          <p:nvPr/>
        </p:nvSpPr>
        <p:spPr>
          <a:xfrm>
            <a:off x="1600200"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p:nvPr/>
        </p:nvSpPr>
        <p:spPr>
          <a:xfrm>
            <a:off x="1600200" y="822960"/>
            <a:ext cx="1389888" cy="457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7"/>
          <p:cNvSpPr/>
          <p:nvPr/>
        </p:nvSpPr>
        <p:spPr>
          <a:xfrm>
            <a:off x="1673352"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£26,807</a:t>
            </a:r>
            <a:endParaRPr b="0" i="0" sz="1500" u="none" cap="none" strike="noStrike">
              <a:solidFill>
                <a:schemeClr val="dk1"/>
              </a:solidFill>
              <a:latin typeface="Calibri"/>
              <a:ea typeface="Calibri"/>
              <a:cs typeface="Calibri"/>
              <a:sym typeface="Calibri"/>
            </a:endParaRPr>
          </a:p>
        </p:txBody>
      </p:sp>
      <p:sp>
        <p:nvSpPr>
          <p:cNvPr id="354" name="Google Shape;354;p17"/>
          <p:cNvSpPr/>
          <p:nvPr/>
        </p:nvSpPr>
        <p:spPr>
          <a:xfrm>
            <a:off x="1645920"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355" name="Google Shape;355;p17"/>
          <p:cNvSpPr/>
          <p:nvPr/>
        </p:nvSpPr>
        <p:spPr>
          <a:xfrm>
            <a:off x="1645920"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a:t>
            </a:r>
            <a:r>
              <a:rPr b="1" lang="en-US" sz="800">
                <a:solidFill>
                  <a:srgbClr val="666666"/>
                </a:solidFill>
                <a:latin typeface="Calibri"/>
                <a:ea typeface="Calibri"/>
                <a:cs typeface="Calibri"/>
                <a:sym typeface="Calibri"/>
              </a:rPr>
              <a:t>Y: +1371.44%</a:t>
            </a:r>
            <a:endParaRPr b="0" i="0" sz="800" u="none" cap="none" strike="noStrike">
              <a:solidFill>
                <a:schemeClr val="dk1"/>
              </a:solidFill>
              <a:latin typeface="Calibri"/>
              <a:ea typeface="Calibri"/>
              <a:cs typeface="Calibri"/>
              <a:sym typeface="Calibri"/>
            </a:endParaRPr>
          </a:p>
        </p:txBody>
      </p:sp>
      <p:sp>
        <p:nvSpPr>
          <p:cNvPr id="356" name="Google Shape;356;p17"/>
          <p:cNvSpPr/>
          <p:nvPr/>
        </p:nvSpPr>
        <p:spPr>
          <a:xfrm>
            <a:off x="3090672"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7"/>
          <p:cNvSpPr/>
          <p:nvPr/>
        </p:nvSpPr>
        <p:spPr>
          <a:xfrm>
            <a:off x="3090672" y="822960"/>
            <a:ext cx="1389888" cy="4572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a:off x="3163824"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£96.78</a:t>
            </a:r>
            <a:endParaRPr b="0" i="0" sz="1500" u="none" cap="none" strike="noStrike">
              <a:solidFill>
                <a:schemeClr val="dk1"/>
              </a:solidFill>
              <a:latin typeface="Calibri"/>
              <a:ea typeface="Calibri"/>
              <a:cs typeface="Calibri"/>
              <a:sym typeface="Calibri"/>
            </a:endParaRPr>
          </a:p>
        </p:txBody>
      </p:sp>
      <p:sp>
        <p:nvSpPr>
          <p:cNvPr id="359" name="Google Shape;359;p17"/>
          <p:cNvSpPr/>
          <p:nvPr/>
        </p:nvSpPr>
        <p:spPr>
          <a:xfrm>
            <a:off x="3136392"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Blended CPL</a:t>
            </a:r>
            <a:endParaRPr b="0" i="0" sz="800" u="none" cap="none" strike="noStrike">
              <a:solidFill>
                <a:schemeClr val="dk1"/>
              </a:solidFill>
              <a:latin typeface="Calibri"/>
              <a:ea typeface="Calibri"/>
              <a:cs typeface="Calibri"/>
              <a:sym typeface="Calibri"/>
            </a:endParaRPr>
          </a:p>
        </p:txBody>
      </p:sp>
      <p:sp>
        <p:nvSpPr>
          <p:cNvPr id="360" name="Google Shape;360;p17"/>
          <p:cNvSpPr/>
          <p:nvPr/>
        </p:nvSpPr>
        <p:spPr>
          <a:xfrm>
            <a:off x="3136392"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+64.67%</a:t>
            </a:r>
            <a:endParaRPr b="0" i="0" sz="800" u="none" cap="none" strike="noStrike">
              <a:solidFill>
                <a:schemeClr val="dk1"/>
              </a:solidFill>
              <a:latin typeface="Calibri"/>
              <a:ea typeface="Calibri"/>
              <a:cs typeface="Calibri"/>
              <a:sym typeface="Calibri"/>
            </a:endParaRPr>
          </a:p>
        </p:txBody>
      </p:sp>
      <p:sp>
        <p:nvSpPr>
          <p:cNvPr id="361" name="Google Shape;361;p17"/>
          <p:cNvSpPr/>
          <p:nvPr/>
        </p:nvSpPr>
        <p:spPr>
          <a:xfrm>
            <a:off x="4581144"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7"/>
          <p:cNvSpPr/>
          <p:nvPr/>
        </p:nvSpPr>
        <p:spPr>
          <a:xfrm>
            <a:off x="4581144" y="822960"/>
            <a:ext cx="1389888" cy="4572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7"/>
          <p:cNvSpPr/>
          <p:nvPr/>
        </p:nvSpPr>
        <p:spPr>
          <a:xfrm>
            <a:off x="4654296"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0.62%</a:t>
            </a:r>
            <a:endParaRPr b="0" i="0" sz="1500" u="none" cap="none" strike="noStrike">
              <a:solidFill>
                <a:schemeClr val="dk1"/>
              </a:solidFill>
              <a:latin typeface="Calibri"/>
              <a:ea typeface="Calibri"/>
              <a:cs typeface="Calibri"/>
              <a:sym typeface="Calibri"/>
            </a:endParaRPr>
          </a:p>
        </p:txBody>
      </p:sp>
      <p:sp>
        <p:nvSpPr>
          <p:cNvPr id="364" name="Google Shape;364;p17"/>
          <p:cNvSpPr/>
          <p:nvPr/>
        </p:nvSpPr>
        <p:spPr>
          <a:xfrm>
            <a:off x="4626864"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365" name="Google Shape;365;p17"/>
          <p:cNvSpPr/>
          <p:nvPr/>
        </p:nvSpPr>
        <p:spPr>
          <a:xfrm>
            <a:off x="4626864"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a:t>
            </a:r>
            <a:r>
              <a:rPr b="1" lang="en-US" sz="800">
                <a:solidFill>
                  <a:srgbClr val="666666"/>
                </a:solidFill>
                <a:latin typeface="Calibri"/>
                <a:ea typeface="Calibri"/>
                <a:cs typeface="Calibri"/>
                <a:sym typeface="Calibri"/>
              </a:rPr>
              <a:t>: </a:t>
            </a:r>
            <a:r>
              <a:rPr b="1" lang="en-US" sz="900">
                <a:solidFill>
                  <a:srgbClr val="10B981"/>
                </a:solidFill>
                <a:latin typeface="Calibri"/>
                <a:ea typeface="Calibri"/>
                <a:cs typeface="Calibri"/>
                <a:sym typeface="Calibri"/>
              </a:rPr>
              <a:t>+123.21%</a:t>
            </a:r>
            <a:endParaRPr b="0" i="0" sz="800" u="none" cap="none" strike="noStrike">
              <a:solidFill>
                <a:schemeClr val="dk1"/>
              </a:solidFill>
              <a:latin typeface="Calibri"/>
              <a:ea typeface="Calibri"/>
              <a:cs typeface="Calibri"/>
              <a:sym typeface="Calibri"/>
            </a:endParaRPr>
          </a:p>
        </p:txBody>
      </p:sp>
      <p:sp>
        <p:nvSpPr>
          <p:cNvPr id="366" name="Google Shape;366;p17"/>
          <p:cNvSpPr/>
          <p:nvPr/>
        </p:nvSpPr>
        <p:spPr>
          <a:xfrm>
            <a:off x="6071616"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7"/>
          <p:cNvSpPr/>
          <p:nvPr/>
        </p:nvSpPr>
        <p:spPr>
          <a:xfrm>
            <a:off x="6071616" y="822960"/>
            <a:ext cx="1389888" cy="4572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6144768"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44,416</a:t>
            </a:r>
            <a:endParaRPr b="0" i="0" sz="1500" u="none" cap="none" strike="noStrike">
              <a:solidFill>
                <a:schemeClr val="dk1"/>
              </a:solidFill>
              <a:latin typeface="Calibri"/>
              <a:ea typeface="Calibri"/>
              <a:cs typeface="Calibri"/>
              <a:sym typeface="Calibri"/>
            </a:endParaRPr>
          </a:p>
        </p:txBody>
      </p:sp>
      <p:sp>
        <p:nvSpPr>
          <p:cNvPr id="369" name="Google Shape;369;p17"/>
          <p:cNvSpPr/>
          <p:nvPr/>
        </p:nvSpPr>
        <p:spPr>
          <a:xfrm>
            <a:off x="6117336"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sp>
        <p:nvSpPr>
          <p:cNvPr id="370" name="Google Shape;370;p17"/>
          <p:cNvSpPr/>
          <p:nvPr/>
        </p:nvSpPr>
        <p:spPr>
          <a:xfrm>
            <a:off x="6117336"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+300.32%</a:t>
            </a:r>
            <a:endParaRPr b="0" i="0" sz="800" u="none" cap="none" strike="noStrike">
              <a:solidFill>
                <a:schemeClr val="dk1"/>
              </a:solidFill>
              <a:latin typeface="Calibri"/>
              <a:ea typeface="Calibri"/>
              <a:cs typeface="Calibri"/>
              <a:sym typeface="Calibri"/>
            </a:endParaRPr>
          </a:p>
        </p:txBody>
      </p:sp>
      <p:sp>
        <p:nvSpPr>
          <p:cNvPr id="371" name="Google Shape;371;p17"/>
          <p:cNvSpPr/>
          <p:nvPr/>
        </p:nvSpPr>
        <p:spPr>
          <a:xfrm>
            <a:off x="756208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7"/>
          <p:cNvSpPr/>
          <p:nvPr/>
        </p:nvSpPr>
        <p:spPr>
          <a:xfrm>
            <a:off x="7562088" y="822960"/>
            <a:ext cx="1389888" cy="4572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7"/>
          <p:cNvSpPr/>
          <p:nvPr/>
        </p:nvSpPr>
        <p:spPr>
          <a:xfrm>
            <a:off x="763524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0.82%</a:t>
            </a:r>
            <a:endParaRPr b="0" i="0" sz="1500" u="none" cap="none" strike="noStrike">
              <a:solidFill>
                <a:schemeClr val="dk1"/>
              </a:solidFill>
              <a:latin typeface="Calibri"/>
              <a:ea typeface="Calibri"/>
              <a:cs typeface="Calibri"/>
              <a:sym typeface="Calibri"/>
            </a:endParaRPr>
          </a:p>
        </p:txBody>
      </p:sp>
      <p:sp>
        <p:nvSpPr>
          <p:cNvPr id="374" name="Google Shape;374;p17"/>
          <p:cNvSpPr/>
          <p:nvPr/>
        </p:nvSpPr>
        <p:spPr>
          <a:xfrm>
            <a:off x="760780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375" name="Google Shape;375;p17"/>
          <p:cNvSpPr/>
          <p:nvPr/>
        </p:nvSpPr>
        <p:spPr>
          <a:xfrm>
            <a:off x="7607808" y="1545336"/>
            <a:ext cx="129844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-17.87%</a:t>
            </a:r>
            <a:endParaRPr b="0" i="0" sz="800" u="none" cap="none" strike="noStrike">
              <a:solidFill>
                <a:schemeClr val="dk1"/>
              </a:solidFill>
              <a:latin typeface="Calibri"/>
              <a:ea typeface="Calibri"/>
              <a:cs typeface="Calibri"/>
              <a:sym typeface="Calibri"/>
            </a:endParaRPr>
          </a:p>
        </p:txBody>
      </p:sp>
      <p:graphicFrame>
        <p:nvGraphicFramePr>
          <p:cNvPr id="376" name="Google Shape;376;p17"/>
          <p:cNvGraphicFramePr/>
          <p:nvPr/>
        </p:nvGraphicFramePr>
        <p:xfrm>
          <a:off x="137160" y="1901952"/>
          <a:ext cx="3000000" cy="3000000"/>
        </p:xfrm>
        <a:graphic>
          <a:graphicData uri="http://schemas.openxmlformats.org/drawingml/2006/table">
            <a:tbl>
              <a:tblPr>
                <a:noFill/>
                <a:tableStyleId>{F01A925B-387E-4F20-950E-5FCF7B285F05}</a:tableStyleId>
              </a:tblPr>
              <a:tblGrid>
                <a:gridCol w="640075"/>
                <a:gridCol w="1051550"/>
                <a:gridCol w="685800"/>
                <a:gridCol w="594350"/>
                <a:gridCol w="594350"/>
                <a:gridCol w="914400"/>
                <a:gridCol w="868675"/>
                <a:gridCol w="640075"/>
                <a:gridCol w="594350"/>
              </a:tblGrid>
              <a:tr h="256025">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Month</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Impressions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Clicks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CTR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CPC</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Sales Leads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CVR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Jan</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2,773,009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25,022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0.90%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£0.54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£13,459.83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147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£91.56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0.59%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Feb</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1,599,600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11,658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0.73%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£0.78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£9,095.57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£98.86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0.79%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Mar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1,060,399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7,736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0.73%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£0.55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£4,251.99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£111.89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0.49%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Total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5,433,008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44,416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0.82%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£0.60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£26,807.39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277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£96.78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0.62%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bl>
          </a:graphicData>
        </a:graphic>
      </p:graphicFrame>
      <p:sp>
        <p:nvSpPr>
          <p:cNvPr id="377" name="Google Shape;377;p17"/>
          <p:cNvSpPr/>
          <p:nvPr/>
        </p:nvSpPr>
        <p:spPr>
          <a:xfrm>
            <a:off x="137150" y="3493001"/>
            <a:ext cx="8869800" cy="1170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b="0" i="0" lang="en-US" sz="1000" u="none" cap="none" strike="noStrike">
                <a:solidFill>
                  <a:srgbClr val="111111"/>
                </a:solidFill>
                <a:latin typeface="Calibri"/>
                <a:ea typeface="Calibri"/>
                <a:cs typeface="Calibri"/>
                <a:sym typeface="Calibri"/>
              </a:rPr>
              <a:t>Demand Gen</a:t>
            </a:r>
            <a:r>
              <a:rPr lang="en-US" sz="1000">
                <a:solidFill>
                  <a:srgbClr val="111111"/>
                </a:solidFill>
                <a:latin typeface="Calibri"/>
                <a:ea typeface="Calibri"/>
                <a:cs typeface="Calibri"/>
                <a:sym typeface="Calibri"/>
              </a:rPr>
              <a:t> investment was low last year with only and India campaign running from mid February. Its expansion has been a real success story</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Although DGen is not always best measured by how well it generates leads, our campaigns have produced a good number at a very acceptable CPL.</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Degen is currently live for core destinations </a:t>
            </a:r>
            <a:r>
              <a:rPr lang="en-US" sz="1000">
                <a:solidFill>
                  <a:srgbClr val="111111"/>
                </a:solidFill>
                <a:latin typeface="Calibri"/>
                <a:ea typeface="Calibri"/>
                <a:cs typeface="Calibri"/>
                <a:sym typeface="Calibri"/>
              </a:rPr>
              <a:t>only and is set to approximately 10% of destination spend. </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This give us good MOF and awareness coverage, as well as contributing directly to leads</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There may be </a:t>
            </a:r>
            <a:r>
              <a:rPr lang="en-US" sz="1000">
                <a:solidFill>
                  <a:srgbClr val="111111"/>
                </a:solidFill>
                <a:latin typeface="Calibri"/>
                <a:ea typeface="Calibri"/>
                <a:cs typeface="Calibri"/>
                <a:sym typeface="Calibri"/>
              </a:rPr>
              <a:t>potential</a:t>
            </a:r>
            <a:r>
              <a:rPr lang="en-US" sz="1000">
                <a:solidFill>
                  <a:srgbClr val="111111"/>
                </a:solidFill>
                <a:latin typeface="Calibri"/>
                <a:ea typeface="Calibri"/>
                <a:cs typeface="Calibri"/>
                <a:sym typeface="Calibri"/>
              </a:rPr>
              <a:t> to make better use of DGen, particularly with high </a:t>
            </a:r>
            <a:r>
              <a:rPr lang="en-US" sz="1000">
                <a:solidFill>
                  <a:srgbClr val="111111"/>
                </a:solidFill>
                <a:latin typeface="Calibri"/>
                <a:ea typeface="Calibri"/>
                <a:cs typeface="Calibri"/>
                <a:sym typeface="Calibri"/>
              </a:rPr>
              <a:t>quality</a:t>
            </a:r>
            <a:r>
              <a:rPr lang="en-US" sz="1000">
                <a:solidFill>
                  <a:srgbClr val="111111"/>
                </a:solidFill>
                <a:latin typeface="Calibri"/>
                <a:ea typeface="Calibri"/>
                <a:cs typeface="Calibri"/>
                <a:sym typeface="Calibri"/>
              </a:rPr>
              <a:t> video content. This is something we would like to expand</a:t>
            </a:r>
            <a:endParaRPr b="0" i="0" sz="1000" u="none" cap="none" strike="noStrike">
              <a:solidFill>
                <a:schemeClr val="dk1"/>
              </a:solidFill>
              <a:latin typeface="Calibri"/>
              <a:ea typeface="Calibri"/>
              <a:cs typeface="Calibri"/>
              <a:sym typeface="Calibri"/>
            </a:endParaRPr>
          </a:p>
        </p:txBody>
      </p:sp>
      <p:pic>
        <p:nvPicPr>
          <p:cNvPr id="378" name="Google Shape;378;p17"/>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8"/>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8"/>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Demand Gen Monthly Trend</a:t>
            </a:r>
            <a:endParaRPr b="0" i="0" sz="2000" u="none" cap="none" strike="noStrike">
              <a:solidFill>
                <a:schemeClr val="dk1"/>
              </a:solidFill>
              <a:latin typeface="Calibri"/>
              <a:ea typeface="Calibri"/>
              <a:cs typeface="Calibri"/>
              <a:sym typeface="Calibri"/>
            </a:endParaRPr>
          </a:p>
        </p:txBody>
      </p:sp>
      <p:sp>
        <p:nvSpPr>
          <p:cNvPr id="387" name="Google Shape;387;p18"/>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388" name="Google Shape;388;p18"/>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8"/>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390" name="Google Shape;390;p18" title="Screenshot 2026-04-22 141246.png"/>
          <p:cNvPicPr preferRelativeResize="0"/>
          <p:nvPr/>
        </p:nvPicPr>
        <p:blipFill>
          <a:blip r:embed="rId3">
            <a:alphaModFix/>
          </a:blip>
          <a:stretch>
            <a:fillRect/>
          </a:stretch>
        </p:blipFill>
        <p:spPr>
          <a:xfrm>
            <a:off x="4291598" y="1272737"/>
            <a:ext cx="4699952" cy="2799174"/>
          </a:xfrm>
          <a:prstGeom prst="rect">
            <a:avLst/>
          </a:prstGeom>
          <a:noFill/>
          <a:ln>
            <a:noFill/>
          </a:ln>
        </p:spPr>
      </p:pic>
      <p:pic>
        <p:nvPicPr>
          <p:cNvPr id="391" name="Google Shape;391;p18" title="Screenshot 2026-04-22 141300.png"/>
          <p:cNvPicPr preferRelativeResize="0"/>
          <p:nvPr/>
        </p:nvPicPr>
        <p:blipFill>
          <a:blip r:embed="rId4">
            <a:alphaModFix/>
          </a:blip>
          <a:stretch>
            <a:fillRect/>
          </a:stretch>
        </p:blipFill>
        <p:spPr>
          <a:xfrm>
            <a:off x="230510" y="1360973"/>
            <a:ext cx="3878741" cy="2799176"/>
          </a:xfrm>
          <a:prstGeom prst="rect">
            <a:avLst/>
          </a:prstGeom>
          <a:noFill/>
          <a:ln>
            <a:noFill/>
          </a:ln>
        </p:spPr>
      </p:pic>
      <p:pic>
        <p:nvPicPr>
          <p:cNvPr id="392" name="Google Shape;392;p18"/>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9"/>
          <p:cNvSpPr/>
          <p:nvPr/>
        </p:nvSpPr>
        <p:spPr>
          <a:xfrm>
            <a:off x="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9"/>
          <p:cNvSpPr/>
          <p:nvPr/>
        </p:nvSpPr>
        <p:spPr>
          <a:xfrm>
            <a:off x="0" y="0"/>
            <a:ext cx="128016"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9"/>
          <p:cNvSpPr/>
          <p:nvPr/>
        </p:nvSpPr>
        <p:spPr>
          <a:xfrm>
            <a:off x="64004" y="2866199"/>
            <a:ext cx="9015900" cy="63900"/>
          </a:xfrm>
          <a:prstGeom prst="rect">
            <a:avLst/>
          </a:prstGeom>
          <a:solidFill>
            <a:srgbClr val="D01F2E">
              <a:alpha val="30196"/>
            </a:srgbClr>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914400" y="1840230"/>
            <a:ext cx="73152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i="0" lang="en-US" sz="3600" u="none" cap="none" strike="noStrike">
                <a:solidFill>
                  <a:srgbClr val="FFFFFF"/>
                </a:solidFill>
                <a:latin typeface="Trebuchet MS"/>
                <a:ea typeface="Trebuchet MS"/>
                <a:cs typeface="Trebuchet MS"/>
                <a:sym typeface="Trebuchet MS"/>
              </a:rPr>
              <a:t>Destinations</a:t>
            </a:r>
            <a:endParaRPr b="0" i="0" sz="3600" u="none" cap="none" strike="noStrike">
              <a:solidFill>
                <a:schemeClr val="dk1"/>
              </a:solidFill>
              <a:latin typeface="Calibri"/>
              <a:ea typeface="Calibri"/>
              <a:cs typeface="Calibri"/>
              <a:sym typeface="Calibri"/>
            </a:endParaRPr>
          </a:p>
        </p:txBody>
      </p:sp>
      <p:sp>
        <p:nvSpPr>
          <p:cNvPr id="402" name="Google Shape;402;p19"/>
          <p:cNvSpPr/>
          <p:nvPr/>
        </p:nvSpPr>
        <p:spPr>
          <a:xfrm>
            <a:off x="914400" y="316611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100"/>
              <a:buFont typeface="Calibri"/>
              <a:buNone/>
            </a:pPr>
            <a:r>
              <a:rPr b="0" i="0" lang="en-US" sz="1100" u="none" cap="none" strike="noStrike">
                <a:solidFill>
                  <a:srgbClr val="F5C6CB"/>
                </a:solidFill>
                <a:latin typeface="Calibri"/>
                <a:ea typeface="Calibri"/>
                <a:cs typeface="Calibri"/>
                <a:sym typeface="Calibri"/>
              </a:rPr>
              <a:t>Wendy Wu Tours | Q1 2026 | Summon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0"/>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0"/>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0"/>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China Summary + YoY</a:t>
            </a:r>
            <a:endParaRPr b="0" i="0" sz="2000" u="none" cap="none" strike="noStrike">
              <a:solidFill>
                <a:schemeClr val="dk1"/>
              </a:solidFill>
              <a:latin typeface="Calibri"/>
              <a:ea typeface="Calibri"/>
              <a:cs typeface="Calibri"/>
              <a:sym typeface="Calibri"/>
            </a:endParaRPr>
          </a:p>
        </p:txBody>
      </p:sp>
      <p:sp>
        <p:nvSpPr>
          <p:cNvPr id="411" name="Google Shape;411;p20"/>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412" name="Google Shape;412;p20"/>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0"/>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414" name="Google Shape;414;p20"/>
          <p:cNvSpPr/>
          <p:nvPr/>
        </p:nvSpPr>
        <p:spPr>
          <a:xfrm>
            <a:off x="109728"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109728" y="822960"/>
            <a:ext cx="1389900" cy="456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182880"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780</a:t>
            </a:r>
            <a:endParaRPr b="0" i="0" sz="1500" u="none" cap="none" strike="noStrike">
              <a:solidFill>
                <a:schemeClr val="dk1"/>
              </a:solidFill>
              <a:latin typeface="Calibri"/>
              <a:ea typeface="Calibri"/>
              <a:cs typeface="Calibri"/>
              <a:sym typeface="Calibri"/>
            </a:endParaRPr>
          </a:p>
        </p:txBody>
      </p:sp>
      <p:sp>
        <p:nvSpPr>
          <p:cNvPr id="417" name="Google Shape;417;p20"/>
          <p:cNvSpPr/>
          <p:nvPr/>
        </p:nvSpPr>
        <p:spPr>
          <a:xfrm>
            <a:off x="155448"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418" name="Google Shape;418;p20"/>
          <p:cNvSpPr/>
          <p:nvPr/>
        </p:nvSpPr>
        <p:spPr>
          <a:xfrm>
            <a:off x="155448"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-3.94%</a:t>
            </a:r>
            <a:endParaRPr b="1" sz="900">
              <a:solidFill>
                <a:srgbClr val="E53E3E"/>
              </a:solidFill>
              <a:latin typeface="Calibri"/>
              <a:ea typeface="Calibri"/>
              <a:cs typeface="Calibri"/>
              <a:sym typeface="Calibri"/>
            </a:endParaRPr>
          </a:p>
        </p:txBody>
      </p:sp>
      <p:sp>
        <p:nvSpPr>
          <p:cNvPr id="419" name="Google Shape;419;p20"/>
          <p:cNvSpPr/>
          <p:nvPr/>
        </p:nvSpPr>
        <p:spPr>
          <a:xfrm>
            <a:off x="1600200"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1600200" y="822960"/>
            <a:ext cx="1389900" cy="456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a:off x="1673352"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£74,541</a:t>
            </a:r>
            <a:endParaRPr b="0" i="0" sz="1500" u="none" cap="none" strike="noStrike">
              <a:solidFill>
                <a:schemeClr val="dk1"/>
              </a:solidFill>
              <a:latin typeface="Calibri"/>
              <a:ea typeface="Calibri"/>
              <a:cs typeface="Calibri"/>
              <a:sym typeface="Calibri"/>
            </a:endParaRPr>
          </a:p>
        </p:txBody>
      </p:sp>
      <p:sp>
        <p:nvSpPr>
          <p:cNvPr id="422" name="Google Shape;422;p20"/>
          <p:cNvSpPr/>
          <p:nvPr/>
        </p:nvSpPr>
        <p:spPr>
          <a:xfrm>
            <a:off x="1645920"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423" name="Google Shape;423;p20"/>
          <p:cNvSpPr/>
          <p:nvPr/>
        </p:nvSpPr>
        <p:spPr>
          <a:xfrm>
            <a:off x="1645920"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888888"/>
                </a:solidFill>
                <a:latin typeface="Calibri"/>
                <a:ea typeface="Calibri"/>
                <a:cs typeface="Calibri"/>
                <a:sym typeface="Calibri"/>
              </a:rPr>
              <a:t>+158.56%</a:t>
            </a:r>
            <a:endParaRPr b="0" i="0" sz="800" u="none" cap="none" strike="noStrike">
              <a:solidFill>
                <a:srgbClr val="888888"/>
              </a:solidFill>
              <a:latin typeface="Calibri"/>
              <a:ea typeface="Calibri"/>
              <a:cs typeface="Calibri"/>
              <a:sym typeface="Calibri"/>
            </a:endParaRPr>
          </a:p>
        </p:txBody>
      </p:sp>
      <p:sp>
        <p:nvSpPr>
          <p:cNvPr id="424" name="Google Shape;424;p20"/>
          <p:cNvSpPr/>
          <p:nvPr/>
        </p:nvSpPr>
        <p:spPr>
          <a:xfrm>
            <a:off x="3090672"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0"/>
          <p:cNvSpPr/>
          <p:nvPr/>
        </p:nvSpPr>
        <p:spPr>
          <a:xfrm>
            <a:off x="3090672" y="822960"/>
            <a:ext cx="1389900" cy="4560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0"/>
          <p:cNvSpPr/>
          <p:nvPr/>
        </p:nvSpPr>
        <p:spPr>
          <a:xfrm>
            <a:off x="3163824"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£95.56</a:t>
            </a:r>
            <a:endParaRPr b="0" i="0" sz="1500" u="none" cap="none" strike="noStrike">
              <a:solidFill>
                <a:schemeClr val="dk1"/>
              </a:solidFill>
              <a:latin typeface="Calibri"/>
              <a:ea typeface="Calibri"/>
              <a:cs typeface="Calibri"/>
              <a:sym typeface="Calibri"/>
            </a:endParaRPr>
          </a:p>
        </p:txBody>
      </p:sp>
      <p:sp>
        <p:nvSpPr>
          <p:cNvPr id="427" name="Google Shape;427;p20"/>
          <p:cNvSpPr/>
          <p:nvPr/>
        </p:nvSpPr>
        <p:spPr>
          <a:xfrm>
            <a:off x="3136392"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lang="en-US" sz="800">
                <a:solidFill>
                  <a:srgbClr val="666666"/>
                </a:solidFill>
                <a:latin typeface="Calibri"/>
                <a:ea typeface="Calibri"/>
                <a:cs typeface="Calibri"/>
                <a:sym typeface="Calibri"/>
              </a:rPr>
              <a:t>C</a:t>
            </a:r>
            <a:r>
              <a:rPr b="0" i="0" lang="en-US" sz="800" u="none" cap="none" strike="noStrike">
                <a:solidFill>
                  <a:srgbClr val="666666"/>
                </a:solidFill>
                <a:latin typeface="Calibri"/>
                <a:ea typeface="Calibri"/>
                <a:cs typeface="Calibri"/>
                <a:sym typeface="Calibri"/>
              </a:rPr>
              <a:t>PL</a:t>
            </a:r>
            <a:endParaRPr b="0" i="0" sz="800" u="none" cap="none" strike="noStrike">
              <a:solidFill>
                <a:schemeClr val="dk1"/>
              </a:solidFill>
              <a:latin typeface="Calibri"/>
              <a:ea typeface="Calibri"/>
              <a:cs typeface="Calibri"/>
              <a:sym typeface="Calibri"/>
            </a:endParaRPr>
          </a:p>
        </p:txBody>
      </p:sp>
      <p:sp>
        <p:nvSpPr>
          <p:cNvPr id="428" name="Google Shape;428;p20"/>
          <p:cNvSpPr/>
          <p:nvPr/>
        </p:nvSpPr>
        <p:spPr>
          <a:xfrm>
            <a:off x="3136392"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+169.17%</a:t>
            </a:r>
            <a:endParaRPr b="0" i="0" sz="800" u="none" cap="none" strike="noStrike">
              <a:solidFill>
                <a:schemeClr val="dk1"/>
              </a:solidFill>
              <a:latin typeface="Calibri"/>
              <a:ea typeface="Calibri"/>
              <a:cs typeface="Calibri"/>
              <a:sym typeface="Calibri"/>
            </a:endParaRPr>
          </a:p>
        </p:txBody>
      </p:sp>
      <p:sp>
        <p:nvSpPr>
          <p:cNvPr id="429" name="Google Shape;429;p20"/>
          <p:cNvSpPr/>
          <p:nvPr/>
        </p:nvSpPr>
        <p:spPr>
          <a:xfrm>
            <a:off x="4581144"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0"/>
          <p:cNvSpPr/>
          <p:nvPr/>
        </p:nvSpPr>
        <p:spPr>
          <a:xfrm>
            <a:off x="4581144" y="822960"/>
            <a:ext cx="1389900" cy="4560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0"/>
          <p:cNvSpPr/>
          <p:nvPr/>
        </p:nvSpPr>
        <p:spPr>
          <a:xfrm>
            <a:off x="4654296"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1.63%</a:t>
            </a:r>
            <a:endParaRPr b="0" i="0" sz="1500" u="none" cap="none" strike="noStrike">
              <a:solidFill>
                <a:schemeClr val="dk1"/>
              </a:solidFill>
              <a:latin typeface="Calibri"/>
              <a:ea typeface="Calibri"/>
              <a:cs typeface="Calibri"/>
              <a:sym typeface="Calibri"/>
            </a:endParaRPr>
          </a:p>
        </p:txBody>
      </p:sp>
      <p:sp>
        <p:nvSpPr>
          <p:cNvPr id="432" name="Google Shape;432;p20"/>
          <p:cNvSpPr/>
          <p:nvPr/>
        </p:nvSpPr>
        <p:spPr>
          <a:xfrm>
            <a:off x="4626864"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433" name="Google Shape;433;p20"/>
          <p:cNvSpPr/>
          <p:nvPr/>
        </p:nvSpPr>
        <p:spPr>
          <a:xfrm>
            <a:off x="4626864"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-39.61%</a:t>
            </a:r>
            <a:endParaRPr b="0" i="0" sz="800" u="none" cap="none" strike="noStrike">
              <a:solidFill>
                <a:schemeClr val="dk1"/>
              </a:solidFill>
              <a:latin typeface="Calibri"/>
              <a:ea typeface="Calibri"/>
              <a:cs typeface="Calibri"/>
              <a:sym typeface="Calibri"/>
            </a:endParaRPr>
          </a:p>
        </p:txBody>
      </p:sp>
      <p:sp>
        <p:nvSpPr>
          <p:cNvPr id="434" name="Google Shape;434;p20"/>
          <p:cNvSpPr/>
          <p:nvPr/>
        </p:nvSpPr>
        <p:spPr>
          <a:xfrm>
            <a:off x="6071616"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0"/>
          <p:cNvSpPr/>
          <p:nvPr/>
        </p:nvSpPr>
        <p:spPr>
          <a:xfrm>
            <a:off x="6071616" y="822960"/>
            <a:ext cx="1389900" cy="4560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0"/>
          <p:cNvSpPr/>
          <p:nvPr/>
        </p:nvSpPr>
        <p:spPr>
          <a:xfrm>
            <a:off x="6144768"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47,910</a:t>
            </a:r>
            <a:endParaRPr b="0" i="0" sz="1500" u="none" cap="none" strike="noStrike">
              <a:solidFill>
                <a:schemeClr val="dk1"/>
              </a:solidFill>
              <a:latin typeface="Calibri"/>
              <a:ea typeface="Calibri"/>
              <a:cs typeface="Calibri"/>
              <a:sym typeface="Calibri"/>
            </a:endParaRPr>
          </a:p>
        </p:txBody>
      </p:sp>
      <p:sp>
        <p:nvSpPr>
          <p:cNvPr id="437" name="Google Shape;437;p20"/>
          <p:cNvSpPr/>
          <p:nvPr/>
        </p:nvSpPr>
        <p:spPr>
          <a:xfrm>
            <a:off x="6117336"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sp>
        <p:nvSpPr>
          <p:cNvPr id="438" name="Google Shape;438;p20"/>
          <p:cNvSpPr/>
          <p:nvPr/>
        </p:nvSpPr>
        <p:spPr>
          <a:xfrm>
            <a:off x="6117336"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+59.06%</a:t>
            </a:r>
            <a:endParaRPr b="1" sz="800">
              <a:solidFill>
                <a:srgbClr val="666666"/>
              </a:solidFill>
              <a:latin typeface="Calibri"/>
              <a:ea typeface="Calibri"/>
              <a:cs typeface="Calibri"/>
              <a:sym typeface="Calibri"/>
            </a:endParaRPr>
          </a:p>
        </p:txBody>
      </p:sp>
      <p:sp>
        <p:nvSpPr>
          <p:cNvPr id="439" name="Google Shape;439;p20"/>
          <p:cNvSpPr/>
          <p:nvPr/>
        </p:nvSpPr>
        <p:spPr>
          <a:xfrm>
            <a:off x="7562088"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0"/>
          <p:cNvSpPr/>
          <p:nvPr/>
        </p:nvSpPr>
        <p:spPr>
          <a:xfrm>
            <a:off x="7562088" y="822960"/>
            <a:ext cx="1389900" cy="4560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0"/>
          <p:cNvSpPr/>
          <p:nvPr/>
        </p:nvSpPr>
        <p:spPr>
          <a:xfrm>
            <a:off x="7635240"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1.31%</a:t>
            </a:r>
            <a:endParaRPr b="0" i="0" sz="1500" u="none" cap="none" strike="noStrike">
              <a:solidFill>
                <a:schemeClr val="dk1"/>
              </a:solidFill>
              <a:latin typeface="Calibri"/>
              <a:ea typeface="Calibri"/>
              <a:cs typeface="Calibri"/>
              <a:sym typeface="Calibri"/>
            </a:endParaRPr>
          </a:p>
        </p:txBody>
      </p:sp>
      <p:sp>
        <p:nvSpPr>
          <p:cNvPr id="442" name="Google Shape;442;p20"/>
          <p:cNvSpPr/>
          <p:nvPr/>
        </p:nvSpPr>
        <p:spPr>
          <a:xfrm>
            <a:off x="7607808"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443" name="Google Shape;443;p20"/>
          <p:cNvSpPr/>
          <p:nvPr/>
        </p:nvSpPr>
        <p:spPr>
          <a:xfrm>
            <a:off x="7607808"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+100.21%</a:t>
            </a:r>
            <a:endParaRPr b="1" sz="800">
              <a:solidFill>
                <a:srgbClr val="666666"/>
              </a:solidFill>
              <a:latin typeface="Calibri"/>
              <a:ea typeface="Calibri"/>
              <a:cs typeface="Calibri"/>
              <a:sym typeface="Calibri"/>
            </a:endParaRPr>
          </a:p>
        </p:txBody>
      </p:sp>
      <p:sp>
        <p:nvSpPr>
          <p:cNvPr id="444" name="Google Shape;444;p20"/>
          <p:cNvSpPr/>
          <p:nvPr/>
        </p:nvSpPr>
        <p:spPr>
          <a:xfrm>
            <a:off x="182873" y="3290400"/>
            <a:ext cx="6263700" cy="14172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China has seen increased investment this quarter, which has led to higher traffic</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Ad copy tests and increased bids have led to higher CTRs</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Leads overall look to be slightly down YoY, but this is affected by the PMax reduction mentioned earlier</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Generics tell a different story with leads +161% YoY</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AI Max has been tested and implemented this quarter and while this needs some heavy negative keyword controls does appear to be beneficial</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Whilst the numbers here present a high spend uplift and lead levels maintained, this </a:t>
            </a:r>
            <a:r>
              <a:rPr lang="en-US" sz="1000">
                <a:solidFill>
                  <a:srgbClr val="111111"/>
                </a:solidFill>
                <a:latin typeface="Calibri"/>
                <a:ea typeface="Calibri"/>
                <a:cs typeface="Calibri"/>
                <a:sym typeface="Calibri"/>
              </a:rPr>
              <a:t>activity</a:t>
            </a:r>
            <a:r>
              <a:rPr lang="en-US" sz="1000">
                <a:solidFill>
                  <a:srgbClr val="111111"/>
                </a:solidFill>
                <a:latin typeface="Calibri"/>
                <a:ea typeface="Calibri"/>
                <a:cs typeface="Calibri"/>
                <a:sym typeface="Calibri"/>
              </a:rPr>
              <a:t> has been successful due to the reported quality of those leads coming through to the business, so it makes sense to continue on that basis.</a:t>
            </a:r>
            <a:endParaRPr sz="1000">
              <a:solidFill>
                <a:srgbClr val="111111"/>
              </a:solidFill>
              <a:latin typeface="Calibri"/>
              <a:ea typeface="Calibri"/>
              <a:cs typeface="Calibri"/>
              <a:sym typeface="Calibri"/>
            </a:endParaRPr>
          </a:p>
        </p:txBody>
      </p:sp>
      <p:graphicFrame>
        <p:nvGraphicFramePr>
          <p:cNvPr id="445" name="Google Shape;445;p20"/>
          <p:cNvGraphicFramePr/>
          <p:nvPr/>
        </p:nvGraphicFramePr>
        <p:xfrm>
          <a:off x="182885" y="2202272"/>
          <a:ext cx="3000000" cy="3000000"/>
        </p:xfrm>
        <a:graphic>
          <a:graphicData uri="http://schemas.openxmlformats.org/drawingml/2006/table">
            <a:tbl>
              <a:tblPr>
                <a:noFill/>
                <a:tableStyleId>{F01A925B-387E-4F20-950E-5FCF7B285F05}</a:tableStyleId>
              </a:tblPr>
              <a:tblGrid>
                <a:gridCol w="1463050"/>
                <a:gridCol w="1188725"/>
                <a:gridCol w="914400"/>
                <a:gridCol w="914400"/>
                <a:gridCol w="914400"/>
                <a:gridCol w="868675"/>
              </a:tblGrid>
              <a:tr h="101600">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Campaign Type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Sales Leads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 Share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Lead Share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Generic</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£52,047.86 (169%)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404 (</a:t>
                      </a:r>
                      <a:r>
                        <a:rPr lang="en-US" sz="800">
                          <a:solidFill>
                            <a:srgbClr val="111111"/>
                          </a:solidFill>
                          <a:latin typeface="Calibri"/>
                          <a:ea typeface="Calibri"/>
                          <a:cs typeface="Calibri"/>
                          <a:sym typeface="Calibri"/>
                        </a:rPr>
                        <a:t>+161%)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69.82%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51.79%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£128.83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Performance Max</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£12,448.77 (+31%)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251 (-62%)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16.70%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32.18%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£49.60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Demand Gen</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£10,043.90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125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13.47%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16.03%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£80.35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bl>
          </a:graphicData>
        </a:graphic>
      </p:graphicFrame>
      <p:pic>
        <p:nvPicPr>
          <p:cNvPr id="446" name="Google Shape;446;p20"/>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pic>
        <p:nvPicPr>
          <p:cNvPr id="447" name="Google Shape;447;p20" title="Screenshot 2026-04-22 151943.png"/>
          <p:cNvPicPr preferRelativeResize="0"/>
          <p:nvPr/>
        </p:nvPicPr>
        <p:blipFill>
          <a:blip r:embed="rId4">
            <a:alphaModFix/>
          </a:blip>
          <a:stretch>
            <a:fillRect/>
          </a:stretch>
        </p:blipFill>
        <p:spPr>
          <a:xfrm>
            <a:off x="7098854" y="1859013"/>
            <a:ext cx="1693512" cy="3007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1"/>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1"/>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1"/>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China Monthly Trend</a:t>
            </a:r>
            <a:endParaRPr b="0" i="0" sz="2000" u="none" cap="none" strike="noStrike">
              <a:solidFill>
                <a:schemeClr val="dk1"/>
              </a:solidFill>
              <a:latin typeface="Calibri"/>
              <a:ea typeface="Calibri"/>
              <a:cs typeface="Calibri"/>
              <a:sym typeface="Calibri"/>
            </a:endParaRPr>
          </a:p>
        </p:txBody>
      </p:sp>
      <p:sp>
        <p:nvSpPr>
          <p:cNvPr id="456" name="Google Shape;456;p21"/>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457" name="Google Shape;457;p21"/>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1"/>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459" name="Google Shape;459;p21" title="Screenshot 2026-04-22 141548.png"/>
          <p:cNvPicPr preferRelativeResize="0"/>
          <p:nvPr/>
        </p:nvPicPr>
        <p:blipFill>
          <a:blip r:embed="rId3">
            <a:alphaModFix/>
          </a:blip>
          <a:stretch>
            <a:fillRect/>
          </a:stretch>
        </p:blipFill>
        <p:spPr>
          <a:xfrm>
            <a:off x="101450" y="1138500"/>
            <a:ext cx="4240774" cy="3076800"/>
          </a:xfrm>
          <a:prstGeom prst="rect">
            <a:avLst/>
          </a:prstGeom>
          <a:noFill/>
          <a:ln>
            <a:noFill/>
          </a:ln>
        </p:spPr>
      </p:pic>
      <p:pic>
        <p:nvPicPr>
          <p:cNvPr id="460" name="Google Shape;460;p21" title="Screenshot 2026-04-22 141607.png"/>
          <p:cNvPicPr preferRelativeResize="0"/>
          <p:nvPr/>
        </p:nvPicPr>
        <p:blipFill>
          <a:blip r:embed="rId4">
            <a:alphaModFix/>
          </a:blip>
          <a:stretch>
            <a:fillRect/>
          </a:stretch>
        </p:blipFill>
        <p:spPr>
          <a:xfrm>
            <a:off x="4129550" y="1145824"/>
            <a:ext cx="4862051" cy="2881651"/>
          </a:xfrm>
          <a:prstGeom prst="rect">
            <a:avLst/>
          </a:prstGeom>
          <a:noFill/>
          <a:ln>
            <a:noFill/>
          </a:ln>
        </p:spPr>
      </p:pic>
      <p:pic>
        <p:nvPicPr>
          <p:cNvPr id="461" name="Google Shape;461;p21"/>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2"/>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2"/>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2"/>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Japan Summary + YoY</a:t>
            </a:r>
            <a:endParaRPr b="0" i="0" sz="2000" u="none" cap="none" strike="noStrike">
              <a:solidFill>
                <a:schemeClr val="dk1"/>
              </a:solidFill>
              <a:latin typeface="Calibri"/>
              <a:ea typeface="Calibri"/>
              <a:cs typeface="Calibri"/>
              <a:sym typeface="Calibri"/>
            </a:endParaRPr>
          </a:p>
        </p:txBody>
      </p:sp>
      <p:sp>
        <p:nvSpPr>
          <p:cNvPr id="470" name="Google Shape;470;p22"/>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471" name="Google Shape;471;p22"/>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2"/>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473" name="Google Shape;473;p22"/>
          <p:cNvSpPr/>
          <p:nvPr/>
        </p:nvSpPr>
        <p:spPr>
          <a:xfrm>
            <a:off x="109728"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109728" y="822960"/>
            <a:ext cx="1389900" cy="456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182880"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676</a:t>
            </a:r>
            <a:endParaRPr b="0" i="0" sz="1500" u="none" cap="none" strike="noStrike">
              <a:solidFill>
                <a:schemeClr val="dk1"/>
              </a:solidFill>
              <a:latin typeface="Calibri"/>
              <a:ea typeface="Calibri"/>
              <a:cs typeface="Calibri"/>
              <a:sym typeface="Calibri"/>
            </a:endParaRPr>
          </a:p>
        </p:txBody>
      </p:sp>
      <p:sp>
        <p:nvSpPr>
          <p:cNvPr id="476" name="Google Shape;476;p22"/>
          <p:cNvSpPr/>
          <p:nvPr/>
        </p:nvSpPr>
        <p:spPr>
          <a:xfrm>
            <a:off x="155448"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477" name="Google Shape;477;p22"/>
          <p:cNvSpPr/>
          <p:nvPr/>
        </p:nvSpPr>
        <p:spPr>
          <a:xfrm>
            <a:off x="155448"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-10.58%</a:t>
            </a:r>
            <a:endParaRPr b="0" i="0" sz="800" u="none" cap="none" strike="noStrike">
              <a:solidFill>
                <a:schemeClr val="dk1"/>
              </a:solidFill>
              <a:latin typeface="Calibri"/>
              <a:ea typeface="Calibri"/>
              <a:cs typeface="Calibri"/>
              <a:sym typeface="Calibri"/>
            </a:endParaRPr>
          </a:p>
        </p:txBody>
      </p:sp>
      <p:sp>
        <p:nvSpPr>
          <p:cNvPr id="478" name="Google Shape;478;p22"/>
          <p:cNvSpPr/>
          <p:nvPr/>
        </p:nvSpPr>
        <p:spPr>
          <a:xfrm>
            <a:off x="1600200"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2"/>
          <p:cNvSpPr/>
          <p:nvPr/>
        </p:nvSpPr>
        <p:spPr>
          <a:xfrm>
            <a:off x="1600200" y="822960"/>
            <a:ext cx="1389900" cy="456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2"/>
          <p:cNvSpPr/>
          <p:nvPr/>
        </p:nvSpPr>
        <p:spPr>
          <a:xfrm>
            <a:off x="1673352"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£61,553</a:t>
            </a:r>
            <a:endParaRPr b="0" i="0" sz="1500" u="none" cap="none" strike="noStrike">
              <a:solidFill>
                <a:schemeClr val="dk1"/>
              </a:solidFill>
              <a:latin typeface="Calibri"/>
              <a:ea typeface="Calibri"/>
              <a:cs typeface="Calibri"/>
              <a:sym typeface="Calibri"/>
            </a:endParaRPr>
          </a:p>
        </p:txBody>
      </p:sp>
      <p:sp>
        <p:nvSpPr>
          <p:cNvPr id="481" name="Google Shape;481;p22"/>
          <p:cNvSpPr/>
          <p:nvPr/>
        </p:nvSpPr>
        <p:spPr>
          <a:xfrm>
            <a:off x="1645920"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482" name="Google Shape;482;p22"/>
          <p:cNvSpPr/>
          <p:nvPr/>
        </p:nvSpPr>
        <p:spPr>
          <a:xfrm>
            <a:off x="1645920"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+18.59%</a:t>
            </a:r>
            <a:endParaRPr b="0" i="0" sz="800" u="none" cap="none" strike="noStrike">
              <a:solidFill>
                <a:schemeClr val="dk1"/>
              </a:solidFill>
              <a:latin typeface="Calibri"/>
              <a:ea typeface="Calibri"/>
              <a:cs typeface="Calibri"/>
              <a:sym typeface="Calibri"/>
            </a:endParaRPr>
          </a:p>
        </p:txBody>
      </p:sp>
      <p:sp>
        <p:nvSpPr>
          <p:cNvPr id="483" name="Google Shape;483;p22"/>
          <p:cNvSpPr/>
          <p:nvPr/>
        </p:nvSpPr>
        <p:spPr>
          <a:xfrm>
            <a:off x="3090672"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2"/>
          <p:cNvSpPr/>
          <p:nvPr/>
        </p:nvSpPr>
        <p:spPr>
          <a:xfrm>
            <a:off x="3090672" y="822960"/>
            <a:ext cx="1389900" cy="4560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2"/>
          <p:cNvSpPr/>
          <p:nvPr/>
        </p:nvSpPr>
        <p:spPr>
          <a:xfrm>
            <a:off x="3163824"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£91.06</a:t>
            </a:r>
            <a:endParaRPr b="0" i="0" sz="1500" u="none" cap="none" strike="noStrike">
              <a:solidFill>
                <a:schemeClr val="dk1"/>
              </a:solidFill>
              <a:latin typeface="Calibri"/>
              <a:ea typeface="Calibri"/>
              <a:cs typeface="Calibri"/>
              <a:sym typeface="Calibri"/>
            </a:endParaRPr>
          </a:p>
        </p:txBody>
      </p:sp>
      <p:sp>
        <p:nvSpPr>
          <p:cNvPr id="486" name="Google Shape;486;p22"/>
          <p:cNvSpPr/>
          <p:nvPr/>
        </p:nvSpPr>
        <p:spPr>
          <a:xfrm>
            <a:off x="3136392"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CPL</a:t>
            </a:r>
            <a:endParaRPr b="0" i="0" sz="800" u="none" cap="none" strike="noStrike">
              <a:solidFill>
                <a:schemeClr val="dk1"/>
              </a:solidFill>
              <a:latin typeface="Calibri"/>
              <a:ea typeface="Calibri"/>
              <a:cs typeface="Calibri"/>
              <a:sym typeface="Calibri"/>
            </a:endParaRPr>
          </a:p>
        </p:txBody>
      </p:sp>
      <p:sp>
        <p:nvSpPr>
          <p:cNvPr id="487" name="Google Shape;487;p22"/>
          <p:cNvSpPr/>
          <p:nvPr/>
        </p:nvSpPr>
        <p:spPr>
          <a:xfrm>
            <a:off x="3136392"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+32.63%</a:t>
            </a:r>
            <a:endParaRPr b="0" i="0" sz="800" u="none" cap="none" strike="noStrike">
              <a:solidFill>
                <a:schemeClr val="dk1"/>
              </a:solidFill>
              <a:latin typeface="Calibri"/>
              <a:ea typeface="Calibri"/>
              <a:cs typeface="Calibri"/>
              <a:sym typeface="Calibri"/>
            </a:endParaRPr>
          </a:p>
        </p:txBody>
      </p:sp>
      <p:sp>
        <p:nvSpPr>
          <p:cNvPr id="488" name="Google Shape;488;p22"/>
          <p:cNvSpPr/>
          <p:nvPr/>
        </p:nvSpPr>
        <p:spPr>
          <a:xfrm>
            <a:off x="4581144"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2"/>
          <p:cNvSpPr/>
          <p:nvPr/>
        </p:nvSpPr>
        <p:spPr>
          <a:xfrm>
            <a:off x="4581144" y="822960"/>
            <a:ext cx="1389900" cy="4560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2"/>
          <p:cNvSpPr/>
          <p:nvPr/>
        </p:nvSpPr>
        <p:spPr>
          <a:xfrm>
            <a:off x="4654296"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1.64%</a:t>
            </a:r>
            <a:endParaRPr b="0" i="0" sz="1500" u="none" cap="none" strike="noStrike">
              <a:solidFill>
                <a:schemeClr val="dk1"/>
              </a:solidFill>
              <a:latin typeface="Calibri"/>
              <a:ea typeface="Calibri"/>
              <a:cs typeface="Calibri"/>
              <a:sym typeface="Calibri"/>
            </a:endParaRPr>
          </a:p>
        </p:txBody>
      </p:sp>
      <p:sp>
        <p:nvSpPr>
          <p:cNvPr id="491" name="Google Shape;491;p22"/>
          <p:cNvSpPr/>
          <p:nvPr/>
        </p:nvSpPr>
        <p:spPr>
          <a:xfrm>
            <a:off x="4626864"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492" name="Google Shape;492;p22"/>
          <p:cNvSpPr/>
          <p:nvPr/>
        </p:nvSpPr>
        <p:spPr>
          <a:xfrm>
            <a:off x="4626864"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-47.42%</a:t>
            </a:r>
            <a:endParaRPr b="1" sz="800">
              <a:solidFill>
                <a:srgbClr val="666666"/>
              </a:solidFill>
              <a:latin typeface="Calibri"/>
              <a:ea typeface="Calibri"/>
              <a:cs typeface="Calibri"/>
              <a:sym typeface="Calibri"/>
            </a:endParaRPr>
          </a:p>
        </p:txBody>
      </p:sp>
      <p:sp>
        <p:nvSpPr>
          <p:cNvPr id="493" name="Google Shape;493;p22"/>
          <p:cNvSpPr/>
          <p:nvPr/>
        </p:nvSpPr>
        <p:spPr>
          <a:xfrm>
            <a:off x="6071616"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2"/>
          <p:cNvSpPr/>
          <p:nvPr/>
        </p:nvSpPr>
        <p:spPr>
          <a:xfrm>
            <a:off x="6071616" y="822960"/>
            <a:ext cx="1389900" cy="4560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2"/>
          <p:cNvSpPr/>
          <p:nvPr/>
        </p:nvSpPr>
        <p:spPr>
          <a:xfrm>
            <a:off x="6144768"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41,337</a:t>
            </a:r>
            <a:endParaRPr b="0" i="0" sz="1500" u="none" cap="none" strike="noStrike">
              <a:solidFill>
                <a:schemeClr val="dk1"/>
              </a:solidFill>
              <a:latin typeface="Calibri"/>
              <a:ea typeface="Calibri"/>
              <a:cs typeface="Calibri"/>
              <a:sym typeface="Calibri"/>
            </a:endParaRPr>
          </a:p>
        </p:txBody>
      </p:sp>
      <p:sp>
        <p:nvSpPr>
          <p:cNvPr id="496" name="Google Shape;496;p22"/>
          <p:cNvSpPr/>
          <p:nvPr/>
        </p:nvSpPr>
        <p:spPr>
          <a:xfrm>
            <a:off x="6117336"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sp>
        <p:nvSpPr>
          <p:cNvPr id="497" name="Google Shape;497;p22"/>
          <p:cNvSpPr/>
          <p:nvPr/>
        </p:nvSpPr>
        <p:spPr>
          <a:xfrm>
            <a:off x="6117336"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+70.07%</a:t>
            </a:r>
            <a:endParaRPr b="1" sz="800">
              <a:solidFill>
                <a:srgbClr val="666666"/>
              </a:solidFill>
              <a:latin typeface="Calibri"/>
              <a:ea typeface="Calibri"/>
              <a:cs typeface="Calibri"/>
              <a:sym typeface="Calibri"/>
            </a:endParaRPr>
          </a:p>
        </p:txBody>
      </p:sp>
      <p:sp>
        <p:nvSpPr>
          <p:cNvPr id="498" name="Google Shape;498;p22"/>
          <p:cNvSpPr/>
          <p:nvPr/>
        </p:nvSpPr>
        <p:spPr>
          <a:xfrm>
            <a:off x="7562088"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2"/>
          <p:cNvSpPr/>
          <p:nvPr/>
        </p:nvSpPr>
        <p:spPr>
          <a:xfrm>
            <a:off x="7562088" y="822960"/>
            <a:ext cx="1389900" cy="4560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2"/>
          <p:cNvSpPr/>
          <p:nvPr/>
        </p:nvSpPr>
        <p:spPr>
          <a:xfrm>
            <a:off x="7635240"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1.29%</a:t>
            </a:r>
            <a:endParaRPr b="0" i="0" sz="1500" u="none" cap="none" strike="noStrike">
              <a:solidFill>
                <a:schemeClr val="dk1"/>
              </a:solidFill>
              <a:latin typeface="Calibri"/>
              <a:ea typeface="Calibri"/>
              <a:cs typeface="Calibri"/>
              <a:sym typeface="Calibri"/>
            </a:endParaRPr>
          </a:p>
        </p:txBody>
      </p:sp>
      <p:sp>
        <p:nvSpPr>
          <p:cNvPr id="501" name="Google Shape;501;p22"/>
          <p:cNvSpPr/>
          <p:nvPr/>
        </p:nvSpPr>
        <p:spPr>
          <a:xfrm>
            <a:off x="7607808"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502" name="Google Shape;502;p22"/>
          <p:cNvSpPr/>
          <p:nvPr/>
        </p:nvSpPr>
        <p:spPr>
          <a:xfrm>
            <a:off x="7607808"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-65.99%</a:t>
            </a:r>
            <a:endParaRPr b="0" i="0" sz="800" u="none" cap="none" strike="noStrike">
              <a:solidFill>
                <a:schemeClr val="dk1"/>
              </a:solidFill>
              <a:latin typeface="Calibri"/>
              <a:ea typeface="Calibri"/>
              <a:cs typeface="Calibri"/>
              <a:sym typeface="Calibri"/>
            </a:endParaRPr>
          </a:p>
        </p:txBody>
      </p:sp>
      <p:sp>
        <p:nvSpPr>
          <p:cNvPr id="503" name="Google Shape;503;p22"/>
          <p:cNvSpPr/>
          <p:nvPr/>
        </p:nvSpPr>
        <p:spPr>
          <a:xfrm>
            <a:off x="137153" y="3493000"/>
            <a:ext cx="6355200" cy="14172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Smaller YoY increase in spend for Japan has led to increased traffic, but overall decrease in leads</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This decrease in leads is seen in both Generic and PMax, with new leads coming from DGen</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Low investment in PMax last year - it is now inline with other core destinations</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While CVR over all is -47%, this is driven by PMax and Generic CVR is only -8% in </a:t>
            </a:r>
            <a:r>
              <a:rPr lang="en-US" sz="1000">
                <a:solidFill>
                  <a:srgbClr val="111111"/>
                </a:solidFill>
                <a:latin typeface="Calibri"/>
                <a:ea typeface="Calibri"/>
                <a:cs typeface="Calibri"/>
                <a:sym typeface="Calibri"/>
              </a:rPr>
              <a:t>comparison</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AI Max has been a </a:t>
            </a:r>
            <a:r>
              <a:rPr lang="en-US" sz="1000">
                <a:solidFill>
                  <a:srgbClr val="111111"/>
                </a:solidFill>
                <a:latin typeface="Calibri"/>
                <a:ea typeface="Calibri"/>
                <a:cs typeface="Calibri"/>
                <a:sym typeface="Calibri"/>
              </a:rPr>
              <a:t>feature</a:t>
            </a:r>
            <a:r>
              <a:rPr lang="en-US" sz="1000">
                <a:solidFill>
                  <a:srgbClr val="111111"/>
                </a:solidFill>
                <a:latin typeface="Calibri"/>
                <a:ea typeface="Calibri"/>
                <a:cs typeface="Calibri"/>
                <a:sym typeface="Calibri"/>
              </a:rPr>
              <a:t> in the Japan campaigns for longer - while this is likely increasing traffic we will </a:t>
            </a:r>
            <a:r>
              <a:rPr lang="en-US" sz="1000">
                <a:solidFill>
                  <a:srgbClr val="111111"/>
                </a:solidFill>
                <a:latin typeface="Calibri"/>
                <a:ea typeface="Calibri"/>
                <a:cs typeface="Calibri"/>
                <a:sym typeface="Calibri"/>
              </a:rPr>
              <a:t>thoroughly</a:t>
            </a:r>
            <a:r>
              <a:rPr lang="en-US" sz="1000">
                <a:solidFill>
                  <a:srgbClr val="111111"/>
                </a:solidFill>
                <a:latin typeface="Calibri"/>
                <a:ea typeface="Calibri"/>
                <a:cs typeface="Calibri"/>
                <a:sym typeface="Calibri"/>
              </a:rPr>
              <a:t> review this setting to ensure </a:t>
            </a:r>
            <a:r>
              <a:rPr lang="en-US" sz="1000">
                <a:solidFill>
                  <a:srgbClr val="111111"/>
                </a:solidFill>
                <a:latin typeface="Calibri"/>
                <a:ea typeface="Calibri"/>
                <a:cs typeface="Calibri"/>
                <a:sym typeface="Calibri"/>
              </a:rPr>
              <a:t>efficiency</a:t>
            </a:r>
            <a:r>
              <a:rPr lang="en-US" sz="1000">
                <a:solidFill>
                  <a:srgbClr val="111111"/>
                </a:solidFill>
                <a:latin typeface="Calibri"/>
                <a:ea typeface="Calibri"/>
                <a:cs typeface="Calibri"/>
                <a:sym typeface="Calibri"/>
              </a:rPr>
              <a:t>.</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CRV reduction in March most evident for the Japan campaigns</a:t>
            </a:r>
            <a:endParaRPr sz="1000">
              <a:solidFill>
                <a:srgbClr val="111111"/>
              </a:solidFill>
              <a:latin typeface="Calibri"/>
              <a:ea typeface="Calibri"/>
              <a:cs typeface="Calibri"/>
              <a:sym typeface="Calibri"/>
            </a:endParaRPr>
          </a:p>
          <a:p>
            <a:pPr indent="0" lvl="0" marL="0" marR="0" rtl="0" algn="l">
              <a:spcBef>
                <a:spcPts val="0"/>
              </a:spcBef>
              <a:spcAft>
                <a:spcPts val="0"/>
              </a:spcAft>
              <a:buNone/>
            </a:pPr>
            <a:r>
              <a:t/>
            </a:r>
            <a:endParaRPr sz="1000">
              <a:solidFill>
                <a:srgbClr val="111111"/>
              </a:solidFill>
              <a:latin typeface="Calibri"/>
              <a:ea typeface="Calibri"/>
              <a:cs typeface="Calibri"/>
              <a:sym typeface="Calibri"/>
            </a:endParaRPr>
          </a:p>
        </p:txBody>
      </p:sp>
      <p:graphicFrame>
        <p:nvGraphicFramePr>
          <p:cNvPr id="504" name="Google Shape;504;p22"/>
          <p:cNvGraphicFramePr/>
          <p:nvPr/>
        </p:nvGraphicFramePr>
        <p:xfrm>
          <a:off x="109735" y="2095585"/>
          <a:ext cx="3000000" cy="3000000"/>
        </p:xfrm>
        <a:graphic>
          <a:graphicData uri="http://schemas.openxmlformats.org/drawingml/2006/table">
            <a:tbl>
              <a:tblPr>
                <a:noFill/>
                <a:tableStyleId>{F01A925B-387E-4F20-950E-5FCF7B285F05}</a:tableStyleId>
              </a:tblPr>
              <a:tblGrid>
                <a:gridCol w="1463050"/>
                <a:gridCol w="1188725"/>
                <a:gridCol w="914400"/>
                <a:gridCol w="914400"/>
                <a:gridCol w="914400"/>
                <a:gridCol w="868675"/>
              </a:tblGrid>
              <a:tr h="101600">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Campaign Type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Sales Leads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 Share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Lead Share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Generic</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£43,624.59 (</a:t>
                      </a:r>
                      <a:r>
                        <a:rPr lang="en-US" sz="800">
                          <a:solidFill>
                            <a:srgbClr val="111111"/>
                          </a:solidFill>
                          <a:latin typeface="Calibri"/>
                          <a:ea typeface="Calibri"/>
                          <a:cs typeface="Calibri"/>
                          <a:sym typeface="Calibri"/>
                        </a:rPr>
                        <a:t>+26%)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407 (-14%)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70.87%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60.21%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£107.19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Performance Max</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£9,404.54 (+159%)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195 (-13%)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15.28%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28.85%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£48.23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Demand Gen</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£8,524.15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74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13.85%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10.95%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£115.19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Other</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£0.00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0.00%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0.00%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n/a</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bl>
          </a:graphicData>
        </a:graphic>
      </p:graphicFrame>
      <p:pic>
        <p:nvPicPr>
          <p:cNvPr id="505" name="Google Shape;505;p22"/>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pic>
        <p:nvPicPr>
          <p:cNvPr id="506" name="Google Shape;506;p22"/>
          <p:cNvPicPr preferRelativeResize="0"/>
          <p:nvPr/>
        </p:nvPicPr>
        <p:blipFill>
          <a:blip r:embed="rId4">
            <a:alphaModFix/>
          </a:blip>
          <a:stretch>
            <a:fillRect/>
          </a:stretch>
        </p:blipFill>
        <p:spPr>
          <a:xfrm>
            <a:off x="7415725" y="1953362"/>
            <a:ext cx="1464120" cy="28185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3"/>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3"/>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Japan Monthly Trend</a:t>
            </a:r>
            <a:endParaRPr b="0" i="0" sz="2000" u="none" cap="none" strike="noStrike">
              <a:solidFill>
                <a:schemeClr val="dk1"/>
              </a:solidFill>
              <a:latin typeface="Calibri"/>
              <a:ea typeface="Calibri"/>
              <a:cs typeface="Calibri"/>
              <a:sym typeface="Calibri"/>
            </a:endParaRPr>
          </a:p>
        </p:txBody>
      </p:sp>
      <p:sp>
        <p:nvSpPr>
          <p:cNvPr id="515" name="Google Shape;515;p23"/>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516" name="Google Shape;516;p23"/>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3"/>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518" name="Google Shape;518;p23" title="Screenshot 2026-04-22 142029.png"/>
          <p:cNvPicPr preferRelativeResize="0"/>
          <p:nvPr/>
        </p:nvPicPr>
        <p:blipFill>
          <a:blip r:embed="rId3">
            <a:alphaModFix/>
          </a:blip>
          <a:stretch>
            <a:fillRect/>
          </a:stretch>
        </p:blipFill>
        <p:spPr>
          <a:xfrm>
            <a:off x="0" y="1078600"/>
            <a:ext cx="4416825" cy="3196599"/>
          </a:xfrm>
          <a:prstGeom prst="rect">
            <a:avLst/>
          </a:prstGeom>
          <a:noFill/>
          <a:ln>
            <a:noFill/>
          </a:ln>
        </p:spPr>
      </p:pic>
      <p:pic>
        <p:nvPicPr>
          <p:cNvPr id="519" name="Google Shape;519;p23" title="Screenshot 2026-04-22 142118.png"/>
          <p:cNvPicPr preferRelativeResize="0"/>
          <p:nvPr/>
        </p:nvPicPr>
        <p:blipFill>
          <a:blip r:embed="rId4">
            <a:alphaModFix/>
          </a:blip>
          <a:stretch>
            <a:fillRect/>
          </a:stretch>
        </p:blipFill>
        <p:spPr>
          <a:xfrm>
            <a:off x="3963350" y="1132049"/>
            <a:ext cx="5011276" cy="2962301"/>
          </a:xfrm>
          <a:prstGeom prst="rect">
            <a:avLst/>
          </a:prstGeom>
          <a:noFill/>
          <a:ln>
            <a:noFill/>
          </a:ln>
        </p:spPr>
      </p:pic>
      <p:pic>
        <p:nvPicPr>
          <p:cNvPr id="520" name="Google Shape;520;p23"/>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24"/>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4"/>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4"/>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SE Asia Summary + YoY</a:t>
            </a:r>
            <a:endParaRPr b="0" i="0" sz="2000" u="none" cap="none" strike="noStrike">
              <a:solidFill>
                <a:schemeClr val="dk1"/>
              </a:solidFill>
              <a:latin typeface="Calibri"/>
              <a:ea typeface="Calibri"/>
              <a:cs typeface="Calibri"/>
              <a:sym typeface="Calibri"/>
            </a:endParaRPr>
          </a:p>
        </p:txBody>
      </p:sp>
      <p:sp>
        <p:nvSpPr>
          <p:cNvPr id="529" name="Google Shape;529;p24"/>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pic>
        <p:nvPicPr>
          <p:cNvPr descr="preencoded.png" id="530" name="Google Shape;530;p24"/>
          <p:cNvPicPr preferRelativeResize="0"/>
          <p:nvPr/>
        </p:nvPicPr>
        <p:blipFill rotWithShape="1">
          <a:blip r:embed="rId3">
            <a:alphaModFix/>
          </a:blip>
          <a:srcRect b="0" l="0" r="0" t="0"/>
          <a:stretch/>
        </p:blipFill>
        <p:spPr>
          <a:xfrm>
            <a:off x="6967728" y="100584"/>
            <a:ext cx="2084833" cy="512064"/>
          </a:xfrm>
          <a:prstGeom prst="rect">
            <a:avLst/>
          </a:prstGeom>
          <a:noFill/>
          <a:ln>
            <a:noFill/>
          </a:ln>
        </p:spPr>
      </p:pic>
      <p:sp>
        <p:nvSpPr>
          <p:cNvPr id="531" name="Google Shape;531;p24"/>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4"/>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533" name="Google Shape;533;p24"/>
          <p:cNvSpPr/>
          <p:nvPr/>
        </p:nvSpPr>
        <p:spPr>
          <a:xfrm>
            <a:off x="109728"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4"/>
          <p:cNvSpPr/>
          <p:nvPr/>
        </p:nvSpPr>
        <p:spPr>
          <a:xfrm>
            <a:off x="109728" y="822960"/>
            <a:ext cx="1389900" cy="456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4"/>
          <p:cNvSpPr/>
          <p:nvPr/>
        </p:nvSpPr>
        <p:spPr>
          <a:xfrm>
            <a:off x="182880"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274</a:t>
            </a:r>
            <a:endParaRPr b="0" i="0" sz="1500" u="none" cap="none" strike="noStrike">
              <a:solidFill>
                <a:schemeClr val="dk1"/>
              </a:solidFill>
              <a:latin typeface="Calibri"/>
              <a:ea typeface="Calibri"/>
              <a:cs typeface="Calibri"/>
              <a:sym typeface="Calibri"/>
            </a:endParaRPr>
          </a:p>
        </p:txBody>
      </p:sp>
      <p:sp>
        <p:nvSpPr>
          <p:cNvPr id="536" name="Google Shape;536;p24"/>
          <p:cNvSpPr/>
          <p:nvPr/>
        </p:nvSpPr>
        <p:spPr>
          <a:xfrm>
            <a:off x="155448"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537" name="Google Shape;537;p24"/>
          <p:cNvSpPr/>
          <p:nvPr/>
        </p:nvSpPr>
        <p:spPr>
          <a:xfrm>
            <a:off x="155448"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-32.84%</a:t>
            </a:r>
            <a:endParaRPr b="0" i="0" sz="800" u="none" cap="none" strike="noStrike">
              <a:solidFill>
                <a:schemeClr val="dk1"/>
              </a:solidFill>
              <a:latin typeface="Calibri"/>
              <a:ea typeface="Calibri"/>
              <a:cs typeface="Calibri"/>
              <a:sym typeface="Calibri"/>
            </a:endParaRPr>
          </a:p>
        </p:txBody>
      </p:sp>
      <p:sp>
        <p:nvSpPr>
          <p:cNvPr id="538" name="Google Shape;538;p24"/>
          <p:cNvSpPr/>
          <p:nvPr/>
        </p:nvSpPr>
        <p:spPr>
          <a:xfrm>
            <a:off x="1600200"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4"/>
          <p:cNvSpPr/>
          <p:nvPr/>
        </p:nvSpPr>
        <p:spPr>
          <a:xfrm>
            <a:off x="1600200" y="822960"/>
            <a:ext cx="1389900" cy="456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4"/>
          <p:cNvSpPr/>
          <p:nvPr/>
        </p:nvSpPr>
        <p:spPr>
          <a:xfrm>
            <a:off x="1673352"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£28,191</a:t>
            </a:r>
            <a:endParaRPr b="0" i="0" sz="1500" u="none" cap="none" strike="noStrike">
              <a:solidFill>
                <a:schemeClr val="dk1"/>
              </a:solidFill>
              <a:latin typeface="Calibri"/>
              <a:ea typeface="Calibri"/>
              <a:cs typeface="Calibri"/>
              <a:sym typeface="Calibri"/>
            </a:endParaRPr>
          </a:p>
        </p:txBody>
      </p:sp>
      <p:sp>
        <p:nvSpPr>
          <p:cNvPr id="541" name="Google Shape;541;p24"/>
          <p:cNvSpPr/>
          <p:nvPr/>
        </p:nvSpPr>
        <p:spPr>
          <a:xfrm>
            <a:off x="1645920"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542" name="Google Shape;542;p24"/>
          <p:cNvSpPr/>
          <p:nvPr/>
        </p:nvSpPr>
        <p:spPr>
          <a:xfrm>
            <a:off x="1645920"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+12.44%</a:t>
            </a:r>
            <a:endParaRPr b="0" i="0" sz="800" u="none" cap="none" strike="noStrike">
              <a:solidFill>
                <a:schemeClr val="dk1"/>
              </a:solidFill>
              <a:latin typeface="Calibri"/>
              <a:ea typeface="Calibri"/>
              <a:cs typeface="Calibri"/>
              <a:sym typeface="Calibri"/>
            </a:endParaRPr>
          </a:p>
        </p:txBody>
      </p:sp>
      <p:sp>
        <p:nvSpPr>
          <p:cNvPr id="543" name="Google Shape;543;p24"/>
          <p:cNvSpPr/>
          <p:nvPr/>
        </p:nvSpPr>
        <p:spPr>
          <a:xfrm>
            <a:off x="3090672"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4"/>
          <p:cNvSpPr/>
          <p:nvPr/>
        </p:nvSpPr>
        <p:spPr>
          <a:xfrm>
            <a:off x="3090672" y="822960"/>
            <a:ext cx="1389900" cy="4560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4"/>
          <p:cNvSpPr/>
          <p:nvPr/>
        </p:nvSpPr>
        <p:spPr>
          <a:xfrm>
            <a:off x="3163824"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£102.89</a:t>
            </a:r>
            <a:endParaRPr b="0" i="0" sz="1500" u="none" cap="none" strike="noStrike">
              <a:solidFill>
                <a:schemeClr val="dk1"/>
              </a:solidFill>
              <a:latin typeface="Calibri"/>
              <a:ea typeface="Calibri"/>
              <a:cs typeface="Calibri"/>
              <a:sym typeface="Calibri"/>
            </a:endParaRPr>
          </a:p>
        </p:txBody>
      </p:sp>
      <p:sp>
        <p:nvSpPr>
          <p:cNvPr id="546" name="Google Shape;546;p24"/>
          <p:cNvSpPr/>
          <p:nvPr/>
        </p:nvSpPr>
        <p:spPr>
          <a:xfrm>
            <a:off x="3136392"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CPL</a:t>
            </a:r>
            <a:endParaRPr b="0" i="0" sz="800" u="none" cap="none" strike="noStrike">
              <a:solidFill>
                <a:schemeClr val="dk1"/>
              </a:solidFill>
              <a:latin typeface="Calibri"/>
              <a:ea typeface="Calibri"/>
              <a:cs typeface="Calibri"/>
              <a:sym typeface="Calibri"/>
            </a:endParaRPr>
          </a:p>
        </p:txBody>
      </p:sp>
      <p:sp>
        <p:nvSpPr>
          <p:cNvPr id="547" name="Google Shape;547;p24"/>
          <p:cNvSpPr/>
          <p:nvPr/>
        </p:nvSpPr>
        <p:spPr>
          <a:xfrm>
            <a:off x="3136392"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+67.43%</a:t>
            </a:r>
            <a:endParaRPr b="0" i="0" sz="800" u="none" cap="none" strike="noStrike">
              <a:solidFill>
                <a:schemeClr val="dk1"/>
              </a:solidFill>
              <a:latin typeface="Calibri"/>
              <a:ea typeface="Calibri"/>
              <a:cs typeface="Calibri"/>
              <a:sym typeface="Calibri"/>
            </a:endParaRPr>
          </a:p>
        </p:txBody>
      </p:sp>
      <p:sp>
        <p:nvSpPr>
          <p:cNvPr id="548" name="Google Shape;548;p24"/>
          <p:cNvSpPr/>
          <p:nvPr/>
        </p:nvSpPr>
        <p:spPr>
          <a:xfrm>
            <a:off x="4581144"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4"/>
          <p:cNvSpPr/>
          <p:nvPr/>
        </p:nvSpPr>
        <p:spPr>
          <a:xfrm>
            <a:off x="4581144" y="822960"/>
            <a:ext cx="1389900" cy="4560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4"/>
          <p:cNvSpPr/>
          <p:nvPr/>
        </p:nvSpPr>
        <p:spPr>
          <a:xfrm>
            <a:off x="4654296"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1.23%</a:t>
            </a:r>
            <a:endParaRPr b="0" i="0" sz="1500" u="none" cap="none" strike="noStrike">
              <a:solidFill>
                <a:schemeClr val="dk1"/>
              </a:solidFill>
              <a:latin typeface="Calibri"/>
              <a:ea typeface="Calibri"/>
              <a:cs typeface="Calibri"/>
              <a:sym typeface="Calibri"/>
            </a:endParaRPr>
          </a:p>
        </p:txBody>
      </p:sp>
      <p:sp>
        <p:nvSpPr>
          <p:cNvPr id="551" name="Google Shape;551;p24"/>
          <p:cNvSpPr/>
          <p:nvPr/>
        </p:nvSpPr>
        <p:spPr>
          <a:xfrm>
            <a:off x="4626864"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552" name="Google Shape;552;p24"/>
          <p:cNvSpPr/>
          <p:nvPr/>
        </p:nvSpPr>
        <p:spPr>
          <a:xfrm>
            <a:off x="4626864"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-64.67%</a:t>
            </a:r>
            <a:endParaRPr b="0" i="0" sz="800" u="none" cap="none" strike="noStrike">
              <a:solidFill>
                <a:schemeClr val="dk1"/>
              </a:solidFill>
              <a:latin typeface="Calibri"/>
              <a:ea typeface="Calibri"/>
              <a:cs typeface="Calibri"/>
              <a:sym typeface="Calibri"/>
            </a:endParaRPr>
          </a:p>
        </p:txBody>
      </p:sp>
      <p:sp>
        <p:nvSpPr>
          <p:cNvPr id="553" name="Google Shape;553;p24"/>
          <p:cNvSpPr/>
          <p:nvPr/>
        </p:nvSpPr>
        <p:spPr>
          <a:xfrm>
            <a:off x="6071616"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4"/>
          <p:cNvSpPr/>
          <p:nvPr/>
        </p:nvSpPr>
        <p:spPr>
          <a:xfrm>
            <a:off x="6071616" y="822960"/>
            <a:ext cx="1389900" cy="4560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4"/>
          <p:cNvSpPr/>
          <p:nvPr/>
        </p:nvSpPr>
        <p:spPr>
          <a:xfrm>
            <a:off x="6144768"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22,351</a:t>
            </a:r>
            <a:endParaRPr b="0" i="0" sz="1500" u="none" cap="none" strike="noStrike">
              <a:solidFill>
                <a:schemeClr val="dk1"/>
              </a:solidFill>
              <a:latin typeface="Calibri"/>
              <a:ea typeface="Calibri"/>
              <a:cs typeface="Calibri"/>
              <a:sym typeface="Calibri"/>
            </a:endParaRPr>
          </a:p>
        </p:txBody>
      </p:sp>
      <p:sp>
        <p:nvSpPr>
          <p:cNvPr id="556" name="Google Shape;556;p24"/>
          <p:cNvSpPr/>
          <p:nvPr/>
        </p:nvSpPr>
        <p:spPr>
          <a:xfrm>
            <a:off x="6117336"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sp>
        <p:nvSpPr>
          <p:cNvPr id="557" name="Google Shape;557;p24"/>
          <p:cNvSpPr/>
          <p:nvPr/>
        </p:nvSpPr>
        <p:spPr>
          <a:xfrm>
            <a:off x="6117336"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+90.11%</a:t>
            </a:r>
            <a:endParaRPr b="1" sz="800">
              <a:solidFill>
                <a:srgbClr val="666666"/>
              </a:solidFill>
              <a:latin typeface="Calibri"/>
              <a:ea typeface="Calibri"/>
              <a:cs typeface="Calibri"/>
              <a:sym typeface="Calibri"/>
            </a:endParaRPr>
          </a:p>
        </p:txBody>
      </p:sp>
      <p:sp>
        <p:nvSpPr>
          <p:cNvPr id="558" name="Google Shape;558;p24"/>
          <p:cNvSpPr/>
          <p:nvPr/>
        </p:nvSpPr>
        <p:spPr>
          <a:xfrm>
            <a:off x="7562088"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4"/>
          <p:cNvSpPr/>
          <p:nvPr/>
        </p:nvSpPr>
        <p:spPr>
          <a:xfrm>
            <a:off x="7562088" y="822960"/>
            <a:ext cx="1389900" cy="4560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4"/>
          <p:cNvSpPr/>
          <p:nvPr/>
        </p:nvSpPr>
        <p:spPr>
          <a:xfrm>
            <a:off x="7635240"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1.12%</a:t>
            </a:r>
            <a:endParaRPr b="0" i="0" sz="1500" u="none" cap="none" strike="noStrike">
              <a:solidFill>
                <a:schemeClr val="dk1"/>
              </a:solidFill>
              <a:latin typeface="Calibri"/>
              <a:ea typeface="Calibri"/>
              <a:cs typeface="Calibri"/>
              <a:sym typeface="Calibri"/>
            </a:endParaRPr>
          </a:p>
        </p:txBody>
      </p:sp>
      <p:sp>
        <p:nvSpPr>
          <p:cNvPr id="561" name="Google Shape;561;p24"/>
          <p:cNvSpPr/>
          <p:nvPr/>
        </p:nvSpPr>
        <p:spPr>
          <a:xfrm>
            <a:off x="7607808"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562" name="Google Shape;562;p24"/>
          <p:cNvSpPr/>
          <p:nvPr/>
        </p:nvSpPr>
        <p:spPr>
          <a:xfrm>
            <a:off x="7607808"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-61.12%</a:t>
            </a:r>
            <a:endParaRPr b="1" sz="800">
              <a:solidFill>
                <a:srgbClr val="666666"/>
              </a:solidFill>
              <a:latin typeface="Calibri"/>
              <a:ea typeface="Calibri"/>
              <a:cs typeface="Calibri"/>
              <a:sym typeface="Calibri"/>
            </a:endParaRPr>
          </a:p>
        </p:txBody>
      </p:sp>
      <p:sp>
        <p:nvSpPr>
          <p:cNvPr id="563" name="Google Shape;563;p24"/>
          <p:cNvSpPr/>
          <p:nvPr/>
        </p:nvSpPr>
        <p:spPr>
          <a:xfrm>
            <a:off x="137150" y="3493000"/>
            <a:ext cx="6263700" cy="1056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Overall reduction in leads, mostly driven by PMax.</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Generic leads have decreased inline </a:t>
            </a:r>
            <a:r>
              <a:rPr lang="en-US" sz="1000">
                <a:solidFill>
                  <a:srgbClr val="111111"/>
                </a:solidFill>
                <a:latin typeface="Calibri"/>
                <a:ea typeface="Calibri"/>
                <a:cs typeface="Calibri"/>
                <a:sym typeface="Calibri"/>
              </a:rPr>
              <a:t>with</a:t>
            </a:r>
            <a:r>
              <a:rPr lang="en-US" sz="1000">
                <a:solidFill>
                  <a:srgbClr val="111111"/>
                </a:solidFill>
                <a:latin typeface="Calibri"/>
                <a:ea typeface="Calibri"/>
                <a:cs typeface="Calibri"/>
                <a:sym typeface="Calibri"/>
              </a:rPr>
              <a:t> lower spend. CVR from Generic campaign has remained the same YoY</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Although PMax is generating leads at lower CPL, there is potential here for adjusting budget splits to favour Generic more heavily for these destinations</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SE Asia is one destination that has bucked the trend of lower CVR in March, actually seeing an increase MoM</a:t>
            </a:r>
            <a:endParaRPr b="0" i="0" sz="1000" u="none" cap="none" strike="noStrike">
              <a:solidFill>
                <a:schemeClr val="dk1"/>
              </a:solidFill>
              <a:latin typeface="Calibri"/>
              <a:ea typeface="Calibri"/>
              <a:cs typeface="Calibri"/>
              <a:sym typeface="Calibri"/>
            </a:endParaRPr>
          </a:p>
        </p:txBody>
      </p:sp>
      <p:graphicFrame>
        <p:nvGraphicFramePr>
          <p:cNvPr id="564" name="Google Shape;564;p24"/>
          <p:cNvGraphicFramePr/>
          <p:nvPr/>
        </p:nvGraphicFramePr>
        <p:xfrm>
          <a:off x="109735" y="2088872"/>
          <a:ext cx="3000000" cy="3000000"/>
        </p:xfrm>
        <a:graphic>
          <a:graphicData uri="http://schemas.openxmlformats.org/drawingml/2006/table">
            <a:tbl>
              <a:tblPr>
                <a:noFill/>
                <a:tableStyleId>{F01A925B-387E-4F20-950E-5FCF7B285F05}</a:tableStyleId>
              </a:tblPr>
              <a:tblGrid>
                <a:gridCol w="1463050"/>
                <a:gridCol w="1188725"/>
                <a:gridCol w="914400"/>
                <a:gridCol w="914400"/>
                <a:gridCol w="914400"/>
                <a:gridCol w="868675"/>
              </a:tblGrid>
              <a:tr h="101600">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Campaign Type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Sales Leads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 Share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Lead Share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Generic</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£16,831.90 (-26%)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142 (-26%)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59.71%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51.82%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£118.53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Performance Max</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£7,127.70 </a:t>
                      </a:r>
                      <a:r>
                        <a:rPr lang="en-US" sz="800">
                          <a:solidFill>
                            <a:srgbClr val="111111"/>
                          </a:solidFill>
                          <a:latin typeface="Calibri"/>
                          <a:ea typeface="Calibri"/>
                          <a:cs typeface="Calibri"/>
                          <a:sym typeface="Calibri"/>
                        </a:rPr>
                        <a:t>(+198%)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88 (-59%)</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25.28%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32.12%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£81.00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Demand Gen</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£4,231.48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15.01%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16.06%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£96.17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bl>
          </a:graphicData>
        </a:graphic>
      </p:graphicFrame>
      <p:pic>
        <p:nvPicPr>
          <p:cNvPr id="565" name="Google Shape;565;p24"/>
          <p:cNvPicPr preferRelativeResize="0"/>
          <p:nvPr/>
        </p:nvPicPr>
        <p:blipFill>
          <a:blip r:embed="rId4">
            <a:alphaModFix/>
          </a:blip>
          <a:stretch>
            <a:fillRect/>
          </a:stretch>
        </p:blipFill>
        <p:spPr>
          <a:xfrm>
            <a:off x="7083074" y="1892800"/>
            <a:ext cx="1661922" cy="2933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25"/>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5"/>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5"/>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SE Asia Monthly Trend</a:t>
            </a:r>
            <a:endParaRPr b="0" i="0" sz="2000" u="none" cap="none" strike="noStrike">
              <a:solidFill>
                <a:schemeClr val="dk1"/>
              </a:solidFill>
              <a:latin typeface="Calibri"/>
              <a:ea typeface="Calibri"/>
              <a:cs typeface="Calibri"/>
              <a:sym typeface="Calibri"/>
            </a:endParaRPr>
          </a:p>
        </p:txBody>
      </p:sp>
      <p:sp>
        <p:nvSpPr>
          <p:cNvPr id="574" name="Google Shape;574;p25"/>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575" name="Google Shape;575;p25"/>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5"/>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577" name="Google Shape;577;p25" title="Screenshot 2026-04-22 142755.png"/>
          <p:cNvPicPr preferRelativeResize="0"/>
          <p:nvPr/>
        </p:nvPicPr>
        <p:blipFill>
          <a:blip r:embed="rId3">
            <a:alphaModFix/>
          </a:blip>
          <a:stretch>
            <a:fillRect/>
          </a:stretch>
        </p:blipFill>
        <p:spPr>
          <a:xfrm>
            <a:off x="4177450" y="1133039"/>
            <a:ext cx="4822651" cy="2877425"/>
          </a:xfrm>
          <a:prstGeom prst="rect">
            <a:avLst/>
          </a:prstGeom>
          <a:noFill/>
          <a:ln>
            <a:noFill/>
          </a:ln>
        </p:spPr>
      </p:pic>
      <p:pic>
        <p:nvPicPr>
          <p:cNvPr id="578" name="Google Shape;578;p25" title="Screenshot 2026-04-22 142830.png"/>
          <p:cNvPicPr preferRelativeResize="0"/>
          <p:nvPr/>
        </p:nvPicPr>
        <p:blipFill>
          <a:blip r:embed="rId4">
            <a:alphaModFix/>
          </a:blip>
          <a:stretch>
            <a:fillRect/>
          </a:stretch>
        </p:blipFill>
        <p:spPr>
          <a:xfrm>
            <a:off x="182875" y="1222345"/>
            <a:ext cx="3864149" cy="2778674"/>
          </a:xfrm>
          <a:prstGeom prst="rect">
            <a:avLst/>
          </a:prstGeom>
          <a:noFill/>
          <a:ln>
            <a:noFill/>
          </a:ln>
        </p:spPr>
      </p:pic>
      <p:pic>
        <p:nvPicPr>
          <p:cNvPr id="579" name="Google Shape;579;p25"/>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26"/>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6"/>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6"/>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India Summary + YoY</a:t>
            </a:r>
            <a:endParaRPr b="0" i="0" sz="2000" u="none" cap="none" strike="noStrike">
              <a:solidFill>
                <a:schemeClr val="dk1"/>
              </a:solidFill>
              <a:latin typeface="Calibri"/>
              <a:ea typeface="Calibri"/>
              <a:cs typeface="Calibri"/>
              <a:sym typeface="Calibri"/>
            </a:endParaRPr>
          </a:p>
        </p:txBody>
      </p:sp>
      <p:sp>
        <p:nvSpPr>
          <p:cNvPr id="588" name="Google Shape;588;p26"/>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589" name="Google Shape;589;p26"/>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6"/>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591" name="Google Shape;591;p26"/>
          <p:cNvSpPr/>
          <p:nvPr/>
        </p:nvSpPr>
        <p:spPr>
          <a:xfrm>
            <a:off x="109728"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6"/>
          <p:cNvSpPr/>
          <p:nvPr/>
        </p:nvSpPr>
        <p:spPr>
          <a:xfrm>
            <a:off x="109728" y="822960"/>
            <a:ext cx="1389900" cy="456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6"/>
          <p:cNvSpPr/>
          <p:nvPr/>
        </p:nvSpPr>
        <p:spPr>
          <a:xfrm>
            <a:off x="182880"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225</a:t>
            </a:r>
            <a:endParaRPr b="0" i="0" sz="1500" u="none" cap="none" strike="noStrike">
              <a:solidFill>
                <a:schemeClr val="dk1"/>
              </a:solidFill>
              <a:latin typeface="Calibri"/>
              <a:ea typeface="Calibri"/>
              <a:cs typeface="Calibri"/>
              <a:sym typeface="Calibri"/>
            </a:endParaRPr>
          </a:p>
        </p:txBody>
      </p:sp>
      <p:sp>
        <p:nvSpPr>
          <p:cNvPr id="594" name="Google Shape;594;p26"/>
          <p:cNvSpPr/>
          <p:nvPr/>
        </p:nvSpPr>
        <p:spPr>
          <a:xfrm>
            <a:off x="155448"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595" name="Google Shape;595;p26"/>
          <p:cNvSpPr/>
          <p:nvPr/>
        </p:nvSpPr>
        <p:spPr>
          <a:xfrm>
            <a:off x="155448"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-42.31%</a:t>
            </a:r>
            <a:endParaRPr b="1" sz="800">
              <a:solidFill>
                <a:srgbClr val="666666"/>
              </a:solidFill>
              <a:latin typeface="Calibri"/>
              <a:ea typeface="Calibri"/>
              <a:cs typeface="Calibri"/>
              <a:sym typeface="Calibri"/>
            </a:endParaRPr>
          </a:p>
        </p:txBody>
      </p:sp>
      <p:sp>
        <p:nvSpPr>
          <p:cNvPr id="596" name="Google Shape;596;p26"/>
          <p:cNvSpPr/>
          <p:nvPr/>
        </p:nvSpPr>
        <p:spPr>
          <a:xfrm>
            <a:off x="1600200"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6"/>
          <p:cNvSpPr/>
          <p:nvPr/>
        </p:nvSpPr>
        <p:spPr>
          <a:xfrm>
            <a:off x="1600200" y="822960"/>
            <a:ext cx="1389900" cy="456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6"/>
          <p:cNvSpPr/>
          <p:nvPr/>
        </p:nvSpPr>
        <p:spPr>
          <a:xfrm>
            <a:off x="1673352"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£22,922</a:t>
            </a:r>
            <a:endParaRPr b="0" i="0" sz="1500" u="none" cap="none" strike="noStrike">
              <a:solidFill>
                <a:schemeClr val="dk1"/>
              </a:solidFill>
              <a:latin typeface="Calibri"/>
              <a:ea typeface="Calibri"/>
              <a:cs typeface="Calibri"/>
              <a:sym typeface="Calibri"/>
            </a:endParaRPr>
          </a:p>
        </p:txBody>
      </p:sp>
      <p:sp>
        <p:nvSpPr>
          <p:cNvPr id="599" name="Google Shape;599;p26"/>
          <p:cNvSpPr/>
          <p:nvPr/>
        </p:nvSpPr>
        <p:spPr>
          <a:xfrm>
            <a:off x="1645920"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600" name="Google Shape;600;p26"/>
          <p:cNvSpPr/>
          <p:nvPr/>
        </p:nvSpPr>
        <p:spPr>
          <a:xfrm>
            <a:off x="1645920"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+18.04%</a:t>
            </a:r>
            <a:endParaRPr b="0" i="0" sz="800" u="none" cap="none" strike="noStrike">
              <a:solidFill>
                <a:schemeClr val="dk1"/>
              </a:solidFill>
              <a:latin typeface="Calibri"/>
              <a:ea typeface="Calibri"/>
              <a:cs typeface="Calibri"/>
              <a:sym typeface="Calibri"/>
            </a:endParaRPr>
          </a:p>
        </p:txBody>
      </p:sp>
      <p:sp>
        <p:nvSpPr>
          <p:cNvPr id="601" name="Google Shape;601;p26"/>
          <p:cNvSpPr/>
          <p:nvPr/>
        </p:nvSpPr>
        <p:spPr>
          <a:xfrm>
            <a:off x="3090672"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6"/>
          <p:cNvSpPr/>
          <p:nvPr/>
        </p:nvSpPr>
        <p:spPr>
          <a:xfrm>
            <a:off x="3090672" y="822960"/>
            <a:ext cx="1389900" cy="4560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6"/>
          <p:cNvSpPr/>
          <p:nvPr/>
        </p:nvSpPr>
        <p:spPr>
          <a:xfrm>
            <a:off x="3163824"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£101.88</a:t>
            </a:r>
            <a:endParaRPr b="0" i="0" sz="1500" u="none" cap="none" strike="noStrike">
              <a:solidFill>
                <a:schemeClr val="dk1"/>
              </a:solidFill>
              <a:latin typeface="Calibri"/>
              <a:ea typeface="Calibri"/>
              <a:cs typeface="Calibri"/>
              <a:sym typeface="Calibri"/>
            </a:endParaRPr>
          </a:p>
        </p:txBody>
      </p:sp>
      <p:sp>
        <p:nvSpPr>
          <p:cNvPr id="604" name="Google Shape;604;p26"/>
          <p:cNvSpPr/>
          <p:nvPr/>
        </p:nvSpPr>
        <p:spPr>
          <a:xfrm>
            <a:off x="3136392"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Blended CPL</a:t>
            </a:r>
            <a:endParaRPr b="0" i="0" sz="800" u="none" cap="none" strike="noStrike">
              <a:solidFill>
                <a:schemeClr val="dk1"/>
              </a:solidFill>
              <a:latin typeface="Calibri"/>
              <a:ea typeface="Calibri"/>
              <a:cs typeface="Calibri"/>
              <a:sym typeface="Calibri"/>
            </a:endParaRPr>
          </a:p>
        </p:txBody>
      </p:sp>
      <p:sp>
        <p:nvSpPr>
          <p:cNvPr id="605" name="Google Shape;605;p26"/>
          <p:cNvSpPr/>
          <p:nvPr/>
        </p:nvSpPr>
        <p:spPr>
          <a:xfrm>
            <a:off x="3136392"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ToY: </a:t>
            </a:r>
            <a:r>
              <a:rPr b="1" lang="en-US" sz="900">
                <a:solidFill>
                  <a:srgbClr val="E53E3E"/>
                </a:solidFill>
                <a:latin typeface="Calibri"/>
                <a:ea typeface="Calibri"/>
                <a:cs typeface="Calibri"/>
                <a:sym typeface="Calibri"/>
              </a:rPr>
              <a:t>+104.61%</a:t>
            </a:r>
            <a:endParaRPr b="0" i="0" sz="800" u="none" cap="none" strike="noStrike">
              <a:solidFill>
                <a:schemeClr val="dk1"/>
              </a:solidFill>
              <a:latin typeface="Calibri"/>
              <a:ea typeface="Calibri"/>
              <a:cs typeface="Calibri"/>
              <a:sym typeface="Calibri"/>
            </a:endParaRPr>
          </a:p>
        </p:txBody>
      </p:sp>
      <p:sp>
        <p:nvSpPr>
          <p:cNvPr id="606" name="Google Shape;606;p26"/>
          <p:cNvSpPr/>
          <p:nvPr/>
        </p:nvSpPr>
        <p:spPr>
          <a:xfrm>
            <a:off x="4581144"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6"/>
          <p:cNvSpPr/>
          <p:nvPr/>
        </p:nvSpPr>
        <p:spPr>
          <a:xfrm>
            <a:off x="4581144" y="822960"/>
            <a:ext cx="1389900" cy="4560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6"/>
          <p:cNvSpPr/>
          <p:nvPr/>
        </p:nvSpPr>
        <p:spPr>
          <a:xfrm>
            <a:off x="4654296"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1.48%</a:t>
            </a:r>
            <a:endParaRPr b="0" i="0" sz="1500" u="none" cap="none" strike="noStrike">
              <a:solidFill>
                <a:schemeClr val="dk1"/>
              </a:solidFill>
              <a:latin typeface="Calibri"/>
              <a:ea typeface="Calibri"/>
              <a:cs typeface="Calibri"/>
              <a:sym typeface="Calibri"/>
            </a:endParaRPr>
          </a:p>
        </p:txBody>
      </p:sp>
      <p:sp>
        <p:nvSpPr>
          <p:cNvPr id="609" name="Google Shape;609;p26"/>
          <p:cNvSpPr/>
          <p:nvPr/>
        </p:nvSpPr>
        <p:spPr>
          <a:xfrm>
            <a:off x="4626864"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610" name="Google Shape;610;p26"/>
          <p:cNvSpPr/>
          <p:nvPr/>
        </p:nvSpPr>
        <p:spPr>
          <a:xfrm>
            <a:off x="4626864"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+38.14%</a:t>
            </a:r>
            <a:endParaRPr b="1" sz="800">
              <a:solidFill>
                <a:srgbClr val="666666"/>
              </a:solidFill>
              <a:latin typeface="Calibri"/>
              <a:ea typeface="Calibri"/>
              <a:cs typeface="Calibri"/>
              <a:sym typeface="Calibri"/>
            </a:endParaRPr>
          </a:p>
        </p:txBody>
      </p:sp>
      <p:sp>
        <p:nvSpPr>
          <p:cNvPr id="611" name="Google Shape;611;p26"/>
          <p:cNvSpPr/>
          <p:nvPr/>
        </p:nvSpPr>
        <p:spPr>
          <a:xfrm>
            <a:off x="6071616"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6"/>
          <p:cNvSpPr/>
          <p:nvPr/>
        </p:nvSpPr>
        <p:spPr>
          <a:xfrm>
            <a:off x="6071616" y="822960"/>
            <a:ext cx="1389900" cy="4560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6"/>
          <p:cNvSpPr/>
          <p:nvPr/>
        </p:nvSpPr>
        <p:spPr>
          <a:xfrm>
            <a:off x="6144768"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15,154</a:t>
            </a:r>
            <a:endParaRPr b="0" i="0" sz="1500" u="none" cap="none" strike="noStrike">
              <a:solidFill>
                <a:schemeClr val="dk1"/>
              </a:solidFill>
              <a:latin typeface="Calibri"/>
              <a:ea typeface="Calibri"/>
              <a:cs typeface="Calibri"/>
              <a:sym typeface="Calibri"/>
            </a:endParaRPr>
          </a:p>
        </p:txBody>
      </p:sp>
      <p:sp>
        <p:nvSpPr>
          <p:cNvPr id="614" name="Google Shape;614;p26"/>
          <p:cNvSpPr/>
          <p:nvPr/>
        </p:nvSpPr>
        <p:spPr>
          <a:xfrm>
            <a:off x="6117336"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sp>
        <p:nvSpPr>
          <p:cNvPr id="615" name="Google Shape;615;p26"/>
          <p:cNvSpPr/>
          <p:nvPr/>
        </p:nvSpPr>
        <p:spPr>
          <a:xfrm>
            <a:off x="6117336"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-58.24%</a:t>
            </a:r>
            <a:endParaRPr sz="900">
              <a:solidFill>
                <a:schemeClr val="dk1"/>
              </a:solidFill>
              <a:latin typeface="Calibri"/>
              <a:ea typeface="Calibri"/>
              <a:cs typeface="Calibri"/>
              <a:sym typeface="Calibri"/>
            </a:endParaRPr>
          </a:p>
        </p:txBody>
      </p:sp>
      <p:sp>
        <p:nvSpPr>
          <p:cNvPr id="616" name="Google Shape;616;p26"/>
          <p:cNvSpPr/>
          <p:nvPr/>
        </p:nvSpPr>
        <p:spPr>
          <a:xfrm>
            <a:off x="7562088" y="822960"/>
            <a:ext cx="1389900" cy="96000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6"/>
          <p:cNvSpPr/>
          <p:nvPr/>
        </p:nvSpPr>
        <p:spPr>
          <a:xfrm>
            <a:off x="7562088" y="822960"/>
            <a:ext cx="1389900" cy="4560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6"/>
          <p:cNvSpPr/>
          <p:nvPr/>
        </p:nvSpPr>
        <p:spPr>
          <a:xfrm>
            <a:off x="7635240" y="914400"/>
            <a:ext cx="12435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0.76%</a:t>
            </a:r>
            <a:endParaRPr b="0" i="0" sz="1500" u="none" cap="none" strike="noStrike">
              <a:solidFill>
                <a:schemeClr val="dk1"/>
              </a:solidFill>
              <a:latin typeface="Calibri"/>
              <a:ea typeface="Calibri"/>
              <a:cs typeface="Calibri"/>
              <a:sym typeface="Calibri"/>
            </a:endParaRPr>
          </a:p>
        </p:txBody>
      </p:sp>
      <p:sp>
        <p:nvSpPr>
          <p:cNvPr id="619" name="Google Shape;619;p26"/>
          <p:cNvSpPr/>
          <p:nvPr/>
        </p:nvSpPr>
        <p:spPr>
          <a:xfrm>
            <a:off x="7607808"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620" name="Google Shape;620;p26"/>
          <p:cNvSpPr/>
          <p:nvPr/>
        </p:nvSpPr>
        <p:spPr>
          <a:xfrm>
            <a:off x="7607808"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lang="en-US" sz="800">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+19.37%</a:t>
            </a:r>
            <a:endParaRPr b="1" sz="800">
              <a:solidFill>
                <a:srgbClr val="666666"/>
              </a:solidFill>
              <a:latin typeface="Calibri"/>
              <a:ea typeface="Calibri"/>
              <a:cs typeface="Calibri"/>
              <a:sym typeface="Calibri"/>
            </a:endParaRPr>
          </a:p>
        </p:txBody>
      </p:sp>
      <p:sp>
        <p:nvSpPr>
          <p:cNvPr id="621" name="Google Shape;621;p26"/>
          <p:cNvSpPr/>
          <p:nvPr/>
        </p:nvSpPr>
        <p:spPr>
          <a:xfrm>
            <a:off x="137153" y="3493000"/>
            <a:ext cx="6263700" cy="14172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India Generic campaigns are the standout performer YoY with more than double the amount of leads from a 25% increase in budget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CVR have improved by 38% as a result of Generic </a:t>
            </a:r>
            <a:r>
              <a:rPr lang="en-US" sz="1000">
                <a:solidFill>
                  <a:srgbClr val="111111"/>
                </a:solidFill>
                <a:latin typeface="Calibri"/>
                <a:ea typeface="Calibri"/>
                <a:cs typeface="Calibri"/>
                <a:sym typeface="Calibri"/>
              </a:rPr>
              <a:t>performance</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Less investment in PMax this quarter has led to fewer clicks, but higher CTRs and CVR for this destination.</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Budget split between the campaign types can be adjusted further to funnel more spend to better performing Generic campaigns</a:t>
            </a:r>
            <a:endParaRPr b="0" i="0" sz="1000" u="none" cap="none" strike="noStrike">
              <a:solidFill>
                <a:schemeClr val="dk1"/>
              </a:solidFill>
              <a:latin typeface="Calibri"/>
              <a:ea typeface="Calibri"/>
              <a:cs typeface="Calibri"/>
              <a:sym typeface="Calibri"/>
            </a:endParaRPr>
          </a:p>
        </p:txBody>
      </p:sp>
      <p:graphicFrame>
        <p:nvGraphicFramePr>
          <p:cNvPr id="622" name="Google Shape;622;p26"/>
          <p:cNvGraphicFramePr/>
          <p:nvPr/>
        </p:nvGraphicFramePr>
        <p:xfrm>
          <a:off x="63910" y="2161897"/>
          <a:ext cx="3000000" cy="3000000"/>
        </p:xfrm>
        <a:graphic>
          <a:graphicData uri="http://schemas.openxmlformats.org/drawingml/2006/table">
            <a:tbl>
              <a:tblPr>
                <a:noFill/>
                <a:tableStyleId>{F01A925B-387E-4F20-950E-5FCF7B285F05}</a:tableStyleId>
              </a:tblPr>
              <a:tblGrid>
                <a:gridCol w="1463050"/>
                <a:gridCol w="1188725"/>
                <a:gridCol w="914400"/>
                <a:gridCol w="914400"/>
                <a:gridCol w="914400"/>
                <a:gridCol w="868675"/>
              </a:tblGrid>
              <a:tr h="101600">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Campaign Type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Sales Leads</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 Share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Lead Share</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CPL</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1A1A1A"/>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Generic</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£14,021.32 (+26%)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120 (+114%)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61.17%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53.33%</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£116.84</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Performance Max</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£4,893.30 (-25%)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71 (-77%)</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21.35%</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31.56%</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£68.92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2F2F2"/>
                    </a:solidFill>
                  </a:tcPr>
                </a:tc>
              </a:tr>
              <a:tr h="101600">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Demand Gen</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£4,007.86 (+12%)</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34 (+10%)</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17.48%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15.11%</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111"/>
                        </a:buClr>
                        <a:buSzPts val="800"/>
                        <a:buFont typeface="Calibri"/>
                        <a:buNone/>
                      </a:pPr>
                      <a:r>
                        <a:rPr lang="en-US" sz="800" u="none" cap="none" strike="noStrike">
                          <a:solidFill>
                            <a:srgbClr val="111111"/>
                          </a:solidFill>
                          <a:latin typeface="Calibri"/>
                          <a:ea typeface="Calibri"/>
                          <a:cs typeface="Calibri"/>
                          <a:sym typeface="Calibri"/>
                        </a:rPr>
                        <a:t>£117.88</a:t>
                      </a:r>
                      <a:endParaRPr sz="8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bl>
          </a:graphicData>
        </a:graphic>
      </p:graphicFrame>
      <p:pic>
        <p:nvPicPr>
          <p:cNvPr id="623" name="Google Shape;623;p26"/>
          <p:cNvPicPr preferRelativeResize="0"/>
          <p:nvPr/>
        </p:nvPicPr>
        <p:blipFill>
          <a:blip r:embed="rId3">
            <a:alphaModFix/>
          </a:blip>
          <a:stretch>
            <a:fillRect/>
          </a:stretch>
        </p:blipFill>
        <p:spPr>
          <a:xfrm>
            <a:off x="7122648" y="1830625"/>
            <a:ext cx="1774975" cy="3064025"/>
          </a:xfrm>
          <a:prstGeom prst="rect">
            <a:avLst/>
          </a:prstGeom>
          <a:noFill/>
          <a:ln>
            <a:noFill/>
          </a:ln>
        </p:spPr>
      </p:pic>
      <p:pic>
        <p:nvPicPr>
          <p:cNvPr id="624" name="Google Shape;624;p26"/>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27"/>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7"/>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7"/>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India Monthly Trend</a:t>
            </a:r>
            <a:endParaRPr b="0" i="0" sz="2000" u="none" cap="none" strike="noStrike">
              <a:solidFill>
                <a:schemeClr val="dk1"/>
              </a:solidFill>
              <a:latin typeface="Calibri"/>
              <a:ea typeface="Calibri"/>
              <a:cs typeface="Calibri"/>
              <a:sym typeface="Calibri"/>
            </a:endParaRPr>
          </a:p>
        </p:txBody>
      </p:sp>
      <p:sp>
        <p:nvSpPr>
          <p:cNvPr id="633" name="Google Shape;633;p27"/>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634" name="Google Shape;634;p27"/>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7"/>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636" name="Google Shape;636;p27" title="Screenshot 2026-04-22 143255.png"/>
          <p:cNvPicPr preferRelativeResize="0"/>
          <p:nvPr/>
        </p:nvPicPr>
        <p:blipFill>
          <a:blip r:embed="rId3">
            <a:alphaModFix/>
          </a:blip>
          <a:stretch>
            <a:fillRect/>
          </a:stretch>
        </p:blipFill>
        <p:spPr>
          <a:xfrm>
            <a:off x="3931750" y="1200001"/>
            <a:ext cx="5042875" cy="2953799"/>
          </a:xfrm>
          <a:prstGeom prst="rect">
            <a:avLst/>
          </a:prstGeom>
          <a:noFill/>
          <a:ln>
            <a:noFill/>
          </a:ln>
        </p:spPr>
      </p:pic>
      <p:pic>
        <p:nvPicPr>
          <p:cNvPr id="637" name="Google Shape;637;p27" title="Screenshot 2026-04-22 143329.png"/>
          <p:cNvPicPr preferRelativeResize="0"/>
          <p:nvPr/>
        </p:nvPicPr>
        <p:blipFill>
          <a:blip r:embed="rId4">
            <a:alphaModFix/>
          </a:blip>
          <a:stretch>
            <a:fillRect/>
          </a:stretch>
        </p:blipFill>
        <p:spPr>
          <a:xfrm>
            <a:off x="182875" y="1163625"/>
            <a:ext cx="3984550" cy="2893524"/>
          </a:xfrm>
          <a:prstGeom prst="rect">
            <a:avLst/>
          </a:prstGeom>
          <a:noFill/>
          <a:ln>
            <a:noFill/>
          </a:ln>
        </p:spPr>
      </p:pic>
      <p:pic>
        <p:nvPicPr>
          <p:cNvPr id="638" name="Google Shape;638;p27"/>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28"/>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8"/>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8"/>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Other (Destination) Summary + YoY</a:t>
            </a:r>
            <a:endParaRPr b="0" i="0" sz="2000" u="none" cap="none" strike="noStrike">
              <a:solidFill>
                <a:schemeClr val="dk1"/>
              </a:solidFill>
              <a:latin typeface="Calibri"/>
              <a:ea typeface="Calibri"/>
              <a:cs typeface="Calibri"/>
              <a:sym typeface="Calibri"/>
            </a:endParaRPr>
          </a:p>
        </p:txBody>
      </p:sp>
      <p:sp>
        <p:nvSpPr>
          <p:cNvPr id="647" name="Google Shape;647;p28"/>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648" name="Google Shape;648;p28"/>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8"/>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650" name="Google Shape;650;p28"/>
          <p:cNvSpPr/>
          <p:nvPr/>
        </p:nvSpPr>
        <p:spPr>
          <a:xfrm>
            <a:off x="10972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8"/>
          <p:cNvSpPr/>
          <p:nvPr/>
        </p:nvSpPr>
        <p:spPr>
          <a:xfrm>
            <a:off x="109728" y="822960"/>
            <a:ext cx="1389888" cy="4572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8"/>
          <p:cNvSpPr/>
          <p:nvPr/>
        </p:nvSpPr>
        <p:spPr>
          <a:xfrm>
            <a:off x="18288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321</a:t>
            </a:r>
            <a:endParaRPr b="0" i="0" sz="1500" u="none" cap="none" strike="noStrike">
              <a:solidFill>
                <a:schemeClr val="dk1"/>
              </a:solidFill>
              <a:latin typeface="Calibri"/>
              <a:ea typeface="Calibri"/>
              <a:cs typeface="Calibri"/>
              <a:sym typeface="Calibri"/>
            </a:endParaRPr>
          </a:p>
        </p:txBody>
      </p:sp>
      <p:sp>
        <p:nvSpPr>
          <p:cNvPr id="653" name="Google Shape;653;p28"/>
          <p:cNvSpPr/>
          <p:nvPr/>
        </p:nvSpPr>
        <p:spPr>
          <a:xfrm>
            <a:off x="1600200"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8"/>
          <p:cNvSpPr/>
          <p:nvPr/>
        </p:nvSpPr>
        <p:spPr>
          <a:xfrm>
            <a:off x="1600200" y="822960"/>
            <a:ext cx="1389888" cy="457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8"/>
          <p:cNvSpPr/>
          <p:nvPr/>
        </p:nvSpPr>
        <p:spPr>
          <a:xfrm>
            <a:off x="1673352"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£24,165</a:t>
            </a:r>
            <a:endParaRPr b="0" i="0" sz="1500" u="none" cap="none" strike="noStrike">
              <a:solidFill>
                <a:schemeClr val="dk1"/>
              </a:solidFill>
              <a:latin typeface="Calibri"/>
              <a:ea typeface="Calibri"/>
              <a:cs typeface="Calibri"/>
              <a:sym typeface="Calibri"/>
            </a:endParaRPr>
          </a:p>
        </p:txBody>
      </p:sp>
      <p:sp>
        <p:nvSpPr>
          <p:cNvPr id="656" name="Google Shape;656;p28"/>
          <p:cNvSpPr/>
          <p:nvPr/>
        </p:nvSpPr>
        <p:spPr>
          <a:xfrm>
            <a:off x="3090672"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8"/>
          <p:cNvSpPr/>
          <p:nvPr/>
        </p:nvSpPr>
        <p:spPr>
          <a:xfrm>
            <a:off x="3090672" y="822960"/>
            <a:ext cx="1389888" cy="45720"/>
          </a:xfrm>
          <a:prstGeom prst="rect">
            <a:avLst/>
          </a:prstGeom>
          <a:solidFill>
            <a:srgbClr val="1A8A4A"/>
          </a:solidFill>
          <a:ln cap="flat" cmpd="sng" w="12700">
            <a:solidFill>
              <a:srgbClr val="1A8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8"/>
          <p:cNvSpPr/>
          <p:nvPr/>
        </p:nvSpPr>
        <p:spPr>
          <a:xfrm>
            <a:off x="3163824"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£75.28</a:t>
            </a:r>
            <a:endParaRPr b="0" i="0" sz="1500" u="none" cap="none" strike="noStrike">
              <a:solidFill>
                <a:schemeClr val="dk1"/>
              </a:solidFill>
              <a:latin typeface="Calibri"/>
              <a:ea typeface="Calibri"/>
              <a:cs typeface="Calibri"/>
              <a:sym typeface="Calibri"/>
            </a:endParaRPr>
          </a:p>
        </p:txBody>
      </p:sp>
      <p:sp>
        <p:nvSpPr>
          <p:cNvPr id="659" name="Google Shape;659;p28"/>
          <p:cNvSpPr/>
          <p:nvPr/>
        </p:nvSpPr>
        <p:spPr>
          <a:xfrm>
            <a:off x="4581144"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8"/>
          <p:cNvSpPr/>
          <p:nvPr/>
        </p:nvSpPr>
        <p:spPr>
          <a:xfrm>
            <a:off x="4581144" y="822960"/>
            <a:ext cx="1389888" cy="4572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8"/>
          <p:cNvSpPr/>
          <p:nvPr/>
        </p:nvSpPr>
        <p:spPr>
          <a:xfrm>
            <a:off x="4654296"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6.57%</a:t>
            </a:r>
            <a:endParaRPr b="0" i="0" sz="1500" u="none" cap="none" strike="noStrike">
              <a:solidFill>
                <a:schemeClr val="dk1"/>
              </a:solidFill>
              <a:latin typeface="Calibri"/>
              <a:ea typeface="Calibri"/>
              <a:cs typeface="Calibri"/>
              <a:sym typeface="Calibri"/>
            </a:endParaRPr>
          </a:p>
        </p:txBody>
      </p:sp>
      <p:sp>
        <p:nvSpPr>
          <p:cNvPr id="662" name="Google Shape;662;p28"/>
          <p:cNvSpPr/>
          <p:nvPr/>
        </p:nvSpPr>
        <p:spPr>
          <a:xfrm>
            <a:off x="6071616"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8"/>
          <p:cNvSpPr/>
          <p:nvPr/>
        </p:nvSpPr>
        <p:spPr>
          <a:xfrm>
            <a:off x="6071616" y="822960"/>
            <a:ext cx="1389888" cy="45720"/>
          </a:xfrm>
          <a:prstGeom prst="rect">
            <a:avLst/>
          </a:prstGeom>
          <a:solidFill>
            <a:srgbClr val="A8121F"/>
          </a:solidFill>
          <a:ln cap="flat" cmpd="sng" w="12700">
            <a:solidFill>
              <a:srgbClr val="A81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8"/>
          <p:cNvSpPr/>
          <p:nvPr/>
        </p:nvSpPr>
        <p:spPr>
          <a:xfrm>
            <a:off x="6144768"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56,708</a:t>
            </a:r>
            <a:endParaRPr b="0" i="0" sz="1500" u="none" cap="none" strike="noStrike">
              <a:solidFill>
                <a:schemeClr val="dk1"/>
              </a:solidFill>
              <a:latin typeface="Calibri"/>
              <a:ea typeface="Calibri"/>
              <a:cs typeface="Calibri"/>
              <a:sym typeface="Calibri"/>
            </a:endParaRPr>
          </a:p>
        </p:txBody>
      </p:sp>
      <p:sp>
        <p:nvSpPr>
          <p:cNvPr id="665" name="Google Shape;665;p28"/>
          <p:cNvSpPr/>
          <p:nvPr/>
        </p:nvSpPr>
        <p:spPr>
          <a:xfrm>
            <a:off x="7562088" y="822960"/>
            <a:ext cx="1389888" cy="960120"/>
          </a:xfrm>
          <a:prstGeom prst="rect">
            <a:avLst/>
          </a:prstGeom>
          <a:solidFill>
            <a:srgbClr val="FFFFFF"/>
          </a:solidFill>
          <a:ln cap="flat" cmpd="sng" w="9525">
            <a:solidFill>
              <a:srgbClr val="E0E0E0"/>
            </a:solidFill>
            <a:prstDash val="solid"/>
            <a:round/>
            <a:headEnd len="sm" w="sm" type="none"/>
            <a:tailEnd len="sm" w="sm" type="none"/>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8"/>
          <p:cNvSpPr/>
          <p:nvPr/>
        </p:nvSpPr>
        <p:spPr>
          <a:xfrm>
            <a:off x="7562088" y="822960"/>
            <a:ext cx="1389888" cy="45720"/>
          </a:xfrm>
          <a:prstGeom prst="rect">
            <a:avLst/>
          </a:prstGeom>
          <a:solidFill>
            <a:srgbClr val="C67C00"/>
          </a:solidFill>
          <a:ln cap="flat" cmpd="sng" w="12700">
            <a:solidFill>
              <a:srgbClr val="C67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8"/>
          <p:cNvSpPr/>
          <p:nvPr/>
        </p:nvSpPr>
        <p:spPr>
          <a:xfrm>
            <a:off x="7635240" y="914400"/>
            <a:ext cx="1243584" cy="42245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500"/>
              <a:buFont typeface="Trebuchet MS"/>
              <a:buNone/>
            </a:pPr>
            <a:r>
              <a:rPr b="1" i="0" lang="en-US" sz="1500" u="none" cap="none" strike="noStrike">
                <a:solidFill>
                  <a:srgbClr val="111111"/>
                </a:solidFill>
                <a:latin typeface="Trebuchet MS"/>
                <a:ea typeface="Trebuchet MS"/>
                <a:cs typeface="Trebuchet MS"/>
                <a:sym typeface="Trebuchet MS"/>
              </a:rPr>
              <a:t>4.20%</a:t>
            </a:r>
            <a:endParaRPr b="0" i="0" sz="1500" u="none" cap="none" strike="noStrike">
              <a:solidFill>
                <a:schemeClr val="dk1"/>
              </a:solidFill>
              <a:latin typeface="Calibri"/>
              <a:ea typeface="Calibri"/>
              <a:cs typeface="Calibri"/>
              <a:sym typeface="Calibri"/>
            </a:endParaRPr>
          </a:p>
        </p:txBody>
      </p:sp>
      <p:sp>
        <p:nvSpPr>
          <p:cNvPr id="668" name="Google Shape;668;p28"/>
          <p:cNvSpPr/>
          <p:nvPr/>
        </p:nvSpPr>
        <p:spPr>
          <a:xfrm>
            <a:off x="7607808" y="1336853"/>
            <a:ext cx="12984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CTR</a:t>
            </a:r>
            <a:endParaRPr b="0" i="0" sz="800" u="none" cap="none" strike="noStrike">
              <a:solidFill>
                <a:schemeClr val="dk1"/>
              </a:solidFill>
              <a:latin typeface="Calibri"/>
              <a:ea typeface="Calibri"/>
              <a:cs typeface="Calibri"/>
              <a:sym typeface="Calibri"/>
            </a:endParaRPr>
          </a:p>
        </p:txBody>
      </p:sp>
      <p:sp>
        <p:nvSpPr>
          <p:cNvPr id="669" name="Google Shape;669;p28"/>
          <p:cNvSpPr/>
          <p:nvPr/>
        </p:nvSpPr>
        <p:spPr>
          <a:xfrm>
            <a:off x="137160" y="3493008"/>
            <a:ext cx="8869680" cy="7772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Leads from Other campaigns have decreased YoY</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There may be some discrepancy in the </a:t>
            </a:r>
            <a:r>
              <a:rPr lang="en-US" sz="1000">
                <a:solidFill>
                  <a:srgbClr val="111111"/>
                </a:solidFill>
                <a:latin typeface="Calibri"/>
                <a:ea typeface="Calibri"/>
                <a:cs typeface="Calibri"/>
                <a:sym typeface="Calibri"/>
              </a:rPr>
              <a:t>data</a:t>
            </a:r>
            <a:r>
              <a:rPr lang="en-US" sz="1000">
                <a:solidFill>
                  <a:srgbClr val="111111"/>
                </a:solidFill>
                <a:latin typeface="Calibri"/>
                <a:ea typeface="Calibri"/>
                <a:cs typeface="Calibri"/>
                <a:sym typeface="Calibri"/>
              </a:rPr>
              <a:t> with campaigns that are attributed to other, so this may not be a </a:t>
            </a:r>
            <a:r>
              <a:rPr lang="en-US" sz="1000">
                <a:solidFill>
                  <a:srgbClr val="111111"/>
                </a:solidFill>
                <a:latin typeface="Calibri"/>
                <a:ea typeface="Calibri"/>
                <a:cs typeface="Calibri"/>
                <a:sym typeface="Calibri"/>
              </a:rPr>
              <a:t>direct</a:t>
            </a:r>
            <a:r>
              <a:rPr lang="en-US" sz="1000">
                <a:solidFill>
                  <a:srgbClr val="111111"/>
                </a:solidFill>
                <a:latin typeface="Calibri"/>
                <a:ea typeface="Calibri"/>
                <a:cs typeface="Calibri"/>
                <a:sym typeface="Calibri"/>
              </a:rPr>
              <a:t> </a:t>
            </a:r>
            <a:r>
              <a:rPr lang="en-US" sz="1000">
                <a:solidFill>
                  <a:srgbClr val="111111"/>
                </a:solidFill>
                <a:latin typeface="Calibri"/>
                <a:ea typeface="Calibri"/>
                <a:cs typeface="Calibri"/>
                <a:sym typeface="Calibri"/>
              </a:rPr>
              <a:t>comparison</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The mix of campaigns in this category is likely to have changed</a:t>
            </a:r>
            <a:endParaRPr sz="1000">
              <a:solidFill>
                <a:srgbClr val="111111"/>
              </a:solidFill>
              <a:latin typeface="Calibri"/>
              <a:ea typeface="Calibri"/>
              <a:cs typeface="Calibri"/>
              <a:sym typeface="Calibri"/>
            </a:endParaRPr>
          </a:p>
          <a:p>
            <a:pPr indent="-342900" lvl="0" marL="342900" marR="0" rtl="0" algn="l">
              <a:spcBef>
                <a:spcPts val="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These are all Generic campaigns however, so the CPL of £75 is lower than most core destinations.</a:t>
            </a:r>
            <a:endParaRPr b="0" i="0" sz="1000" u="none" cap="none" strike="noStrike">
              <a:solidFill>
                <a:schemeClr val="dk1"/>
              </a:solidFill>
              <a:latin typeface="Calibri"/>
              <a:ea typeface="Calibri"/>
              <a:cs typeface="Calibri"/>
              <a:sym typeface="Calibri"/>
            </a:endParaRPr>
          </a:p>
        </p:txBody>
      </p:sp>
      <p:sp>
        <p:nvSpPr>
          <p:cNvPr id="670" name="Google Shape;670;p28"/>
          <p:cNvSpPr/>
          <p:nvPr/>
        </p:nvSpPr>
        <p:spPr>
          <a:xfrm>
            <a:off x="155448" y="15453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-32%</a:t>
            </a:r>
            <a:endParaRPr b="1" sz="800">
              <a:solidFill>
                <a:srgbClr val="666666"/>
              </a:solidFill>
              <a:latin typeface="Calibri"/>
              <a:ea typeface="Calibri"/>
              <a:cs typeface="Calibri"/>
              <a:sym typeface="Calibri"/>
            </a:endParaRPr>
          </a:p>
        </p:txBody>
      </p:sp>
      <p:sp>
        <p:nvSpPr>
          <p:cNvPr id="671" name="Google Shape;671;p28"/>
          <p:cNvSpPr/>
          <p:nvPr/>
        </p:nvSpPr>
        <p:spPr>
          <a:xfrm>
            <a:off x="1645948" y="153803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888888"/>
                </a:solidFill>
                <a:latin typeface="Calibri"/>
                <a:ea typeface="Calibri"/>
                <a:cs typeface="Calibri"/>
                <a:sym typeface="Calibri"/>
              </a:rPr>
              <a:t>+50%</a:t>
            </a:r>
            <a:endParaRPr b="1" sz="800">
              <a:solidFill>
                <a:srgbClr val="888888"/>
              </a:solidFill>
              <a:latin typeface="Calibri"/>
              <a:ea typeface="Calibri"/>
              <a:cs typeface="Calibri"/>
              <a:sym typeface="Calibri"/>
            </a:endParaRPr>
          </a:p>
        </p:txBody>
      </p:sp>
      <p:sp>
        <p:nvSpPr>
          <p:cNvPr id="672" name="Google Shape;672;p28"/>
          <p:cNvSpPr/>
          <p:nvPr/>
        </p:nvSpPr>
        <p:spPr>
          <a:xfrm>
            <a:off x="3136423" y="1509611"/>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+120%</a:t>
            </a:r>
            <a:endParaRPr b="1" sz="800">
              <a:solidFill>
                <a:srgbClr val="666666"/>
              </a:solidFill>
              <a:latin typeface="Calibri"/>
              <a:ea typeface="Calibri"/>
              <a:cs typeface="Calibri"/>
              <a:sym typeface="Calibri"/>
            </a:endParaRPr>
          </a:p>
        </p:txBody>
      </p:sp>
      <p:sp>
        <p:nvSpPr>
          <p:cNvPr id="673" name="Google Shape;673;p28"/>
          <p:cNvSpPr/>
          <p:nvPr/>
        </p:nvSpPr>
        <p:spPr>
          <a:xfrm>
            <a:off x="4649748" y="1509611"/>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-65%</a:t>
            </a:r>
            <a:endParaRPr b="1" sz="800">
              <a:solidFill>
                <a:srgbClr val="666666"/>
              </a:solidFill>
              <a:latin typeface="Calibri"/>
              <a:ea typeface="Calibri"/>
              <a:cs typeface="Calibri"/>
              <a:sym typeface="Calibri"/>
            </a:endParaRPr>
          </a:p>
        </p:txBody>
      </p:sp>
      <p:sp>
        <p:nvSpPr>
          <p:cNvPr id="674" name="Google Shape;674;p28"/>
          <p:cNvSpPr/>
          <p:nvPr/>
        </p:nvSpPr>
        <p:spPr>
          <a:xfrm>
            <a:off x="6117361" y="1509611"/>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10B981"/>
                </a:solidFill>
                <a:latin typeface="Calibri"/>
                <a:ea typeface="Calibri"/>
                <a:cs typeface="Calibri"/>
                <a:sym typeface="Calibri"/>
              </a:rPr>
              <a:t>+</a:t>
            </a:r>
            <a:r>
              <a:rPr b="1" lang="en-US" sz="900">
                <a:solidFill>
                  <a:srgbClr val="10B981"/>
                </a:solidFill>
                <a:latin typeface="Calibri"/>
                <a:ea typeface="Calibri"/>
                <a:cs typeface="Calibri"/>
                <a:sym typeface="Calibri"/>
              </a:rPr>
              <a:t>93%</a:t>
            </a:r>
            <a:endParaRPr b="1" sz="800">
              <a:solidFill>
                <a:srgbClr val="10B981"/>
              </a:solidFill>
              <a:latin typeface="Calibri"/>
              <a:ea typeface="Calibri"/>
              <a:cs typeface="Calibri"/>
              <a:sym typeface="Calibri"/>
            </a:endParaRPr>
          </a:p>
        </p:txBody>
      </p:sp>
      <p:sp>
        <p:nvSpPr>
          <p:cNvPr id="675" name="Google Shape;675;p28"/>
          <p:cNvSpPr/>
          <p:nvPr/>
        </p:nvSpPr>
        <p:spPr>
          <a:xfrm>
            <a:off x="7584973" y="1563486"/>
            <a:ext cx="1298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1" i="0" lang="en-US" sz="800" u="none" cap="none" strike="noStrike">
                <a:solidFill>
                  <a:srgbClr val="666666"/>
                </a:solidFill>
                <a:latin typeface="Calibri"/>
                <a:ea typeface="Calibri"/>
                <a:cs typeface="Calibri"/>
                <a:sym typeface="Calibri"/>
              </a:rPr>
              <a:t>YoY: </a:t>
            </a:r>
            <a:r>
              <a:rPr b="1" lang="en-US" sz="900">
                <a:solidFill>
                  <a:srgbClr val="E53E3E"/>
                </a:solidFill>
                <a:latin typeface="Calibri"/>
                <a:ea typeface="Calibri"/>
                <a:cs typeface="Calibri"/>
                <a:sym typeface="Calibri"/>
              </a:rPr>
              <a:t>-33%</a:t>
            </a:r>
            <a:endParaRPr b="1" sz="800">
              <a:solidFill>
                <a:srgbClr val="666666"/>
              </a:solidFill>
              <a:latin typeface="Calibri"/>
              <a:ea typeface="Calibri"/>
              <a:cs typeface="Calibri"/>
              <a:sym typeface="Calibri"/>
            </a:endParaRPr>
          </a:p>
        </p:txBody>
      </p:sp>
      <p:sp>
        <p:nvSpPr>
          <p:cNvPr id="676" name="Google Shape;676;p28"/>
          <p:cNvSpPr/>
          <p:nvPr/>
        </p:nvSpPr>
        <p:spPr>
          <a:xfrm>
            <a:off x="155448"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Leads</a:t>
            </a:r>
            <a:endParaRPr b="0" i="0" sz="800" u="none" cap="none" strike="noStrike">
              <a:solidFill>
                <a:schemeClr val="dk1"/>
              </a:solidFill>
              <a:latin typeface="Calibri"/>
              <a:ea typeface="Calibri"/>
              <a:cs typeface="Calibri"/>
              <a:sym typeface="Calibri"/>
            </a:endParaRPr>
          </a:p>
        </p:txBody>
      </p:sp>
      <p:sp>
        <p:nvSpPr>
          <p:cNvPr id="677" name="Google Shape;677;p28"/>
          <p:cNvSpPr/>
          <p:nvPr/>
        </p:nvSpPr>
        <p:spPr>
          <a:xfrm>
            <a:off x="1645920"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Spend</a:t>
            </a:r>
            <a:endParaRPr b="0" i="0" sz="800" u="none" cap="none" strike="noStrike">
              <a:solidFill>
                <a:schemeClr val="dk1"/>
              </a:solidFill>
              <a:latin typeface="Calibri"/>
              <a:ea typeface="Calibri"/>
              <a:cs typeface="Calibri"/>
              <a:sym typeface="Calibri"/>
            </a:endParaRPr>
          </a:p>
        </p:txBody>
      </p:sp>
      <p:sp>
        <p:nvSpPr>
          <p:cNvPr id="678" name="Google Shape;678;p28"/>
          <p:cNvSpPr/>
          <p:nvPr/>
        </p:nvSpPr>
        <p:spPr>
          <a:xfrm>
            <a:off x="3136392"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Blended CPL</a:t>
            </a:r>
            <a:endParaRPr b="0" i="0" sz="800" u="none" cap="none" strike="noStrike">
              <a:solidFill>
                <a:schemeClr val="dk1"/>
              </a:solidFill>
              <a:latin typeface="Calibri"/>
              <a:ea typeface="Calibri"/>
              <a:cs typeface="Calibri"/>
              <a:sym typeface="Calibri"/>
            </a:endParaRPr>
          </a:p>
        </p:txBody>
      </p:sp>
      <p:sp>
        <p:nvSpPr>
          <p:cNvPr id="679" name="Google Shape;679;p28"/>
          <p:cNvSpPr/>
          <p:nvPr/>
        </p:nvSpPr>
        <p:spPr>
          <a:xfrm>
            <a:off x="4626864"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CVR</a:t>
            </a:r>
            <a:endParaRPr b="0" i="0" sz="800" u="none" cap="none" strike="noStrike">
              <a:solidFill>
                <a:schemeClr val="dk1"/>
              </a:solidFill>
              <a:latin typeface="Calibri"/>
              <a:ea typeface="Calibri"/>
              <a:cs typeface="Calibri"/>
              <a:sym typeface="Calibri"/>
            </a:endParaRPr>
          </a:p>
        </p:txBody>
      </p:sp>
      <p:sp>
        <p:nvSpPr>
          <p:cNvPr id="680" name="Google Shape;680;p28"/>
          <p:cNvSpPr/>
          <p:nvPr/>
        </p:nvSpPr>
        <p:spPr>
          <a:xfrm>
            <a:off x="6117336" y="1336853"/>
            <a:ext cx="1298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Clicks</a:t>
            </a:r>
            <a:endParaRPr b="0" i="0" sz="800" u="none" cap="none" strike="noStrike">
              <a:solidFill>
                <a:schemeClr val="dk1"/>
              </a:solidFill>
              <a:latin typeface="Calibri"/>
              <a:ea typeface="Calibri"/>
              <a:cs typeface="Calibri"/>
              <a:sym typeface="Calibri"/>
            </a:endParaRPr>
          </a:p>
        </p:txBody>
      </p:sp>
      <p:pic>
        <p:nvPicPr>
          <p:cNvPr id="681" name="Google Shape;681;p28"/>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graphicFrame>
        <p:nvGraphicFramePr>
          <p:cNvPr id="682" name="Google Shape;682;p28"/>
          <p:cNvGraphicFramePr/>
          <p:nvPr/>
        </p:nvGraphicFramePr>
        <p:xfrm>
          <a:off x="155450" y="2011763"/>
          <a:ext cx="3000000" cy="3000000"/>
        </p:xfrm>
        <a:graphic>
          <a:graphicData uri="http://schemas.openxmlformats.org/drawingml/2006/table">
            <a:tbl>
              <a:tblPr>
                <a:noFill/>
                <a:tableStyleId>{F01A925B-387E-4F20-950E-5FCF7B285F05}</a:tableStyleId>
              </a:tblPr>
              <a:tblGrid>
                <a:gridCol w="548650"/>
                <a:gridCol w="1188725"/>
                <a:gridCol w="822950"/>
                <a:gridCol w="594350"/>
                <a:gridCol w="594350"/>
                <a:gridCol w="1143000"/>
                <a:gridCol w="685800"/>
                <a:gridCol w="685800"/>
                <a:gridCol w="594350"/>
              </a:tblGrid>
              <a:tr h="308600">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Month</a:t>
                      </a:r>
                      <a:endParaRPr sz="800" u="none" cap="none" strike="noStrike">
                        <a:latin typeface="Calibri"/>
                        <a:ea typeface="Calibri"/>
                        <a:cs typeface="Calibri"/>
                        <a:sym typeface="Calibri"/>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Impressions</a:t>
                      </a:r>
                      <a:endParaRPr sz="800" u="none" cap="none" strike="noStrike">
                        <a:latin typeface="Calibri"/>
                        <a:ea typeface="Calibri"/>
                        <a:cs typeface="Calibri"/>
                        <a:sym typeface="Calibri"/>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Clicks</a:t>
                      </a:r>
                      <a:endParaRPr sz="800" u="none" cap="none" strike="noStrike">
                        <a:latin typeface="Calibri"/>
                        <a:ea typeface="Calibri"/>
                        <a:cs typeface="Calibri"/>
                        <a:sym typeface="Calibri"/>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CTR</a:t>
                      </a:r>
                      <a:endParaRPr sz="800" u="none" cap="none" strike="noStrike">
                        <a:latin typeface="Calibri"/>
                        <a:ea typeface="Calibri"/>
                        <a:cs typeface="Calibri"/>
                        <a:sym typeface="Calibri"/>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CPC</a:t>
                      </a:r>
                      <a:endParaRPr sz="800" u="none" cap="none" strike="noStrike">
                        <a:latin typeface="Calibri"/>
                        <a:ea typeface="Calibri"/>
                        <a:cs typeface="Calibri"/>
                        <a:sym typeface="Calibri"/>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Cost</a:t>
                      </a:r>
                      <a:endParaRPr sz="800" u="none" cap="none" strike="noStrike">
                        <a:latin typeface="Calibri"/>
                        <a:ea typeface="Calibri"/>
                        <a:cs typeface="Calibri"/>
                        <a:sym typeface="Calibri"/>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Leads</a:t>
                      </a:r>
                      <a:endParaRPr sz="800" u="none" cap="none" strike="noStrike">
                        <a:latin typeface="Calibri"/>
                        <a:ea typeface="Calibri"/>
                        <a:cs typeface="Calibri"/>
                        <a:sym typeface="Calibri"/>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CPL</a:t>
                      </a:r>
                      <a:endParaRPr sz="800" u="none" cap="none" strike="noStrike">
                        <a:latin typeface="Calibri"/>
                        <a:ea typeface="Calibri"/>
                        <a:cs typeface="Calibri"/>
                        <a:sym typeface="Calibri"/>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latin typeface="Calibri"/>
                          <a:ea typeface="Calibri"/>
                          <a:cs typeface="Calibri"/>
                          <a:sym typeface="Calibri"/>
                        </a:rPr>
                        <a:t>CVR</a:t>
                      </a:r>
                      <a:endParaRPr sz="800" u="none" cap="none" strike="noStrike">
                        <a:latin typeface="Calibri"/>
                        <a:ea typeface="Calibri"/>
                        <a:cs typeface="Calibri"/>
                        <a:sym typeface="Calibri"/>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r>
              <a:tr h="308600">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Jan</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229,117</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4,888</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2.13%</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£1.36</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£6,659.76</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107</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£62.24</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2.19%</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r h="308600">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Feb</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515,335</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8,230</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1.60%</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£1.42</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£11,684.06</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142</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£82.28</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1.73%</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r h="308600">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Mar</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533,645</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6,830</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1.28%</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£0.85</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£5,820.69</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72</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£80.84</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latin typeface="Calibri"/>
                          <a:ea typeface="Calibri"/>
                          <a:cs typeface="Calibri"/>
                          <a:sym typeface="Calibri"/>
                        </a:rPr>
                        <a:t>1.05%</a:t>
                      </a:r>
                      <a:endParaRPr sz="8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29"/>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9"/>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9"/>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Other (Destination) </a:t>
            </a:r>
            <a:r>
              <a:rPr b="1" lang="en-US" sz="2000">
                <a:solidFill>
                  <a:srgbClr val="FFFFFF"/>
                </a:solidFill>
                <a:latin typeface="Trebuchet MS"/>
                <a:ea typeface="Trebuchet MS"/>
                <a:cs typeface="Trebuchet MS"/>
                <a:sym typeface="Trebuchet MS"/>
              </a:rPr>
              <a:t>Top 10 campaigns</a:t>
            </a:r>
            <a:endParaRPr b="0" i="0" sz="2000" u="none" cap="none" strike="noStrike">
              <a:solidFill>
                <a:schemeClr val="dk1"/>
              </a:solidFill>
              <a:latin typeface="Calibri"/>
              <a:ea typeface="Calibri"/>
              <a:cs typeface="Calibri"/>
              <a:sym typeface="Calibri"/>
            </a:endParaRPr>
          </a:p>
        </p:txBody>
      </p:sp>
      <p:sp>
        <p:nvSpPr>
          <p:cNvPr id="691" name="Google Shape;691;p29"/>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692" name="Google Shape;692;p29"/>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9"/>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pic>
        <p:nvPicPr>
          <p:cNvPr id="694" name="Google Shape;694;p29"/>
          <p:cNvPicPr preferRelativeResize="0"/>
          <p:nvPr/>
        </p:nvPicPr>
        <p:blipFill>
          <a:blip r:embed="rId3">
            <a:alphaModFix/>
          </a:blip>
          <a:stretch>
            <a:fillRect/>
          </a:stretch>
        </p:blipFill>
        <p:spPr>
          <a:xfrm>
            <a:off x="4625388" y="849950"/>
            <a:ext cx="4381454" cy="3924432"/>
          </a:xfrm>
          <a:prstGeom prst="rect">
            <a:avLst/>
          </a:prstGeom>
          <a:noFill/>
          <a:ln>
            <a:noFill/>
          </a:ln>
        </p:spPr>
      </p:pic>
      <p:pic>
        <p:nvPicPr>
          <p:cNvPr id="695" name="Google Shape;695;p29"/>
          <p:cNvPicPr preferRelativeResize="0"/>
          <p:nvPr/>
        </p:nvPicPr>
        <p:blipFill>
          <a:blip r:embed="rId4">
            <a:alphaModFix/>
          </a:blip>
          <a:stretch>
            <a:fillRect/>
          </a:stretch>
        </p:blipFill>
        <p:spPr>
          <a:xfrm>
            <a:off x="137167" y="882888"/>
            <a:ext cx="4313847" cy="3922568"/>
          </a:xfrm>
          <a:prstGeom prst="rect">
            <a:avLst/>
          </a:prstGeom>
          <a:noFill/>
          <a:ln>
            <a:noFill/>
          </a:ln>
        </p:spPr>
      </p:pic>
      <p:pic>
        <p:nvPicPr>
          <p:cNvPr id="696" name="Google Shape;696;p29"/>
          <p:cNvPicPr preferRelativeResize="0"/>
          <p:nvPr/>
        </p:nvPicPr>
        <p:blipFill>
          <a:blip r:embed="rId5">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30"/>
          <p:cNvSpPr/>
          <p:nvPr/>
        </p:nvSpPr>
        <p:spPr>
          <a:xfrm>
            <a:off x="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0"/>
          <p:cNvSpPr/>
          <p:nvPr/>
        </p:nvSpPr>
        <p:spPr>
          <a:xfrm>
            <a:off x="0" y="0"/>
            <a:ext cx="128016"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0"/>
          <p:cNvSpPr/>
          <p:nvPr/>
        </p:nvSpPr>
        <p:spPr>
          <a:xfrm>
            <a:off x="64004" y="2857699"/>
            <a:ext cx="9015900" cy="63900"/>
          </a:xfrm>
          <a:prstGeom prst="rect">
            <a:avLst/>
          </a:prstGeom>
          <a:solidFill>
            <a:srgbClr val="D01F2E">
              <a:alpha val="30196"/>
            </a:srgbClr>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0"/>
          <p:cNvSpPr/>
          <p:nvPr/>
        </p:nvSpPr>
        <p:spPr>
          <a:xfrm>
            <a:off x="914400" y="1840230"/>
            <a:ext cx="73152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i="0" lang="en-US" sz="3600" u="none" cap="none" strike="noStrike">
                <a:solidFill>
                  <a:srgbClr val="FFFFFF"/>
                </a:solidFill>
                <a:latin typeface="Trebuchet MS"/>
                <a:ea typeface="Trebuchet MS"/>
                <a:cs typeface="Trebuchet MS"/>
                <a:sym typeface="Trebuchet MS"/>
              </a:rPr>
              <a:t>Auction Insights</a:t>
            </a:r>
            <a:endParaRPr b="0" i="0" sz="3600" u="none" cap="none" strike="noStrike">
              <a:solidFill>
                <a:schemeClr val="dk1"/>
              </a:solidFill>
              <a:latin typeface="Calibri"/>
              <a:ea typeface="Calibri"/>
              <a:cs typeface="Calibri"/>
              <a:sym typeface="Calibri"/>
            </a:endParaRPr>
          </a:p>
        </p:txBody>
      </p:sp>
      <p:sp>
        <p:nvSpPr>
          <p:cNvPr id="706" name="Google Shape;706;p30"/>
          <p:cNvSpPr/>
          <p:nvPr/>
        </p:nvSpPr>
        <p:spPr>
          <a:xfrm>
            <a:off x="914400" y="316611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100"/>
              <a:buFont typeface="Calibri"/>
              <a:buNone/>
            </a:pPr>
            <a:r>
              <a:rPr b="0" i="0" lang="en-US" sz="1100" u="none" cap="none" strike="noStrike">
                <a:solidFill>
                  <a:srgbClr val="F5C6CB"/>
                </a:solidFill>
                <a:latin typeface="Calibri"/>
                <a:ea typeface="Calibri"/>
                <a:cs typeface="Calibri"/>
                <a:sym typeface="Calibri"/>
              </a:rPr>
              <a:t>Wendy Wu Tours | Q1 2026 | Summon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31"/>
          <p:cNvSpPr/>
          <p:nvPr/>
        </p:nvSpPr>
        <p:spPr>
          <a:xfrm>
            <a:off x="0" y="0"/>
            <a:ext cx="9144000" cy="713232"/>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1"/>
          <p:cNvSpPr/>
          <p:nvPr/>
        </p:nvSpPr>
        <p:spPr>
          <a:xfrm>
            <a:off x="0" y="0"/>
            <a:ext cx="64008" cy="713232"/>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1"/>
          <p:cNvSpPr/>
          <p:nvPr/>
        </p:nvSpPr>
        <p:spPr>
          <a:xfrm>
            <a:off x="182880" y="54864"/>
            <a:ext cx="6217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Non-Brand Auction Insights</a:t>
            </a:r>
            <a:endParaRPr b="0" i="0" sz="2000" u="none" cap="none" strike="noStrike">
              <a:solidFill>
                <a:schemeClr val="dk1"/>
              </a:solidFill>
              <a:latin typeface="Calibri"/>
              <a:ea typeface="Calibri"/>
              <a:cs typeface="Calibri"/>
              <a:sym typeface="Calibri"/>
            </a:endParaRPr>
          </a:p>
        </p:txBody>
      </p:sp>
      <p:sp>
        <p:nvSpPr>
          <p:cNvPr id="715" name="Google Shape;715;p31"/>
          <p:cNvSpPr/>
          <p:nvPr/>
        </p:nvSpPr>
        <p:spPr>
          <a:xfrm>
            <a:off x="182880" y="402336"/>
            <a:ext cx="6217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chemeClr val="dk1"/>
              </a:solidFill>
              <a:latin typeface="Calibri"/>
              <a:ea typeface="Calibri"/>
              <a:cs typeface="Calibri"/>
              <a:sym typeface="Calibri"/>
            </a:endParaRPr>
          </a:p>
        </p:txBody>
      </p:sp>
      <p:sp>
        <p:nvSpPr>
          <p:cNvPr id="716" name="Google Shape;716;p31"/>
          <p:cNvSpPr/>
          <p:nvPr/>
        </p:nvSpPr>
        <p:spPr>
          <a:xfrm>
            <a:off x="0" y="4942332"/>
            <a:ext cx="9144000" cy="201168"/>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1"/>
          <p:cNvSpPr/>
          <p:nvPr/>
        </p:nvSpPr>
        <p:spPr>
          <a:xfrm>
            <a:off x="182880" y="4951476"/>
            <a:ext cx="5486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chemeClr val="dk1"/>
              </a:solidFill>
              <a:latin typeface="Calibri"/>
              <a:ea typeface="Calibri"/>
              <a:cs typeface="Calibri"/>
              <a:sym typeface="Calibri"/>
            </a:endParaRPr>
          </a:p>
        </p:txBody>
      </p:sp>
      <p:sp>
        <p:nvSpPr>
          <p:cNvPr id="718" name="Google Shape;718;p31"/>
          <p:cNvSpPr/>
          <p:nvPr/>
        </p:nvSpPr>
        <p:spPr>
          <a:xfrm>
            <a:off x="6858000" y="3291840"/>
            <a:ext cx="21945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Source: Google Ads Auction Insights</a:t>
            </a:r>
            <a:endParaRPr b="0" i="0" sz="800" u="none" cap="none" strike="noStrike">
              <a:solidFill>
                <a:schemeClr val="dk1"/>
              </a:solidFill>
              <a:latin typeface="Calibri"/>
              <a:ea typeface="Calibri"/>
              <a:cs typeface="Calibri"/>
              <a:sym typeface="Calibri"/>
            </a:endParaRPr>
          </a:p>
        </p:txBody>
      </p:sp>
      <p:sp>
        <p:nvSpPr>
          <p:cNvPr id="719" name="Google Shape;719;p31"/>
          <p:cNvSpPr/>
          <p:nvPr/>
        </p:nvSpPr>
        <p:spPr>
          <a:xfrm>
            <a:off x="137160" y="3520440"/>
            <a:ext cx="8869680" cy="10972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Overall impression </a:t>
            </a:r>
            <a:r>
              <a:rPr lang="en-US" sz="1000">
                <a:solidFill>
                  <a:srgbClr val="111111"/>
                </a:solidFill>
                <a:latin typeface="Calibri"/>
                <a:ea typeface="Calibri"/>
                <a:cs typeface="Calibri"/>
                <a:sym typeface="Calibri"/>
              </a:rPr>
              <a:t>share</a:t>
            </a:r>
            <a:r>
              <a:rPr lang="en-US" sz="1000">
                <a:solidFill>
                  <a:srgbClr val="111111"/>
                </a:solidFill>
                <a:latin typeface="Calibri"/>
                <a:ea typeface="Calibri"/>
                <a:cs typeface="Calibri"/>
                <a:sym typeface="Calibri"/>
              </a:rPr>
              <a:t> for this quarter remains strong, we are in auctions with other highly relevant competitors</a:t>
            </a:r>
            <a:r>
              <a:rPr b="0" i="0" lang="en-US" sz="1000" u="none" cap="none" strike="noStrike">
                <a:solidFill>
                  <a:srgbClr val="111111"/>
                </a:solidFill>
                <a:latin typeface="Calibri"/>
                <a:ea typeface="Calibri"/>
                <a:cs typeface="Calibri"/>
                <a:sym typeface="Calibri"/>
              </a:rPr>
              <a:t>.</a:t>
            </a:r>
            <a:endParaRPr b="0" i="0" sz="1000" u="none" cap="none" strike="noStrike">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Audley &amp; Distant Journeys are our main competitors this quarter</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We are likely comparing against significantly higher budgets, you can see that we still have a fairly modest impression share, however that is impacted by our selecting targeting of age and terms within that grouping</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You can see that when we do appear our top of page is strong, but not too aggressively in absolute top to maximise our efficiency across the account</a:t>
            </a:r>
            <a:endParaRPr sz="1000">
              <a:solidFill>
                <a:srgbClr val="111111"/>
              </a:solidFill>
              <a:latin typeface="Calibri"/>
              <a:ea typeface="Calibri"/>
              <a:cs typeface="Calibri"/>
              <a:sym typeface="Calibri"/>
            </a:endParaRPr>
          </a:p>
        </p:txBody>
      </p:sp>
      <p:graphicFrame>
        <p:nvGraphicFramePr>
          <p:cNvPr id="720" name="Google Shape;720;p31"/>
          <p:cNvGraphicFramePr/>
          <p:nvPr/>
        </p:nvGraphicFramePr>
        <p:xfrm>
          <a:off x="182880" y="804672"/>
          <a:ext cx="3000000" cy="3000000"/>
        </p:xfrm>
        <a:graphic>
          <a:graphicData uri="http://schemas.openxmlformats.org/drawingml/2006/table">
            <a:tbl>
              <a:tblPr>
                <a:noFill/>
                <a:tableStyleId>{F01A925B-387E-4F20-950E-5FCF7B285F05}</a:tableStyleId>
              </a:tblPr>
              <a:tblGrid>
                <a:gridCol w="2757700"/>
                <a:gridCol w="1120300"/>
                <a:gridCol w="1120300"/>
                <a:gridCol w="947975"/>
                <a:gridCol w="947975"/>
                <a:gridCol w="775600"/>
                <a:gridCol w="947975"/>
              </a:tblGrid>
              <a:tr h="251875">
                <a:tc>
                  <a:txBody>
                    <a:bodyPr/>
                    <a:lstStyle/>
                    <a:p>
                      <a:pPr indent="0" lvl="0" marL="0" marR="0" rtl="0" algn="l">
                        <a:spcBef>
                          <a:spcPts val="0"/>
                        </a:spcBef>
                        <a:spcAft>
                          <a:spcPts val="0"/>
                        </a:spcAft>
                        <a:buClr>
                          <a:srgbClr val="FFFFFF"/>
                        </a:buClr>
                        <a:buSzPts val="750"/>
                        <a:buFont typeface="Calibri"/>
                        <a:buNone/>
                      </a:pPr>
                      <a:r>
                        <a:rPr b="1" lang="en-US" sz="750" u="none" cap="none" strike="noStrike">
                          <a:solidFill>
                            <a:srgbClr val="FFFFFF"/>
                          </a:solidFill>
                          <a:latin typeface="Calibri"/>
                          <a:ea typeface="Calibri"/>
                          <a:cs typeface="Calibri"/>
                          <a:sym typeface="Calibri"/>
                        </a:rPr>
                        <a:t>Domain</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750"/>
                        <a:buFont typeface="Calibri"/>
                        <a:buNone/>
                      </a:pPr>
                      <a:r>
                        <a:rPr b="1" lang="en-US" sz="750" u="none" cap="none" strike="noStrike">
                          <a:solidFill>
                            <a:srgbClr val="FFFFFF"/>
                          </a:solidFill>
                          <a:latin typeface="Calibri"/>
                          <a:ea typeface="Calibri"/>
                          <a:cs typeface="Calibri"/>
                          <a:sym typeface="Calibri"/>
                        </a:rPr>
                        <a:t>Imp. Share</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750"/>
                        <a:buFont typeface="Calibri"/>
                        <a:buNone/>
                      </a:pPr>
                      <a:r>
                        <a:rPr b="1" lang="en-US" sz="750" u="none" cap="none" strike="noStrike">
                          <a:solidFill>
                            <a:srgbClr val="FFFFFF"/>
                          </a:solidFill>
                          <a:latin typeface="Calibri"/>
                          <a:ea typeface="Calibri"/>
                          <a:cs typeface="Calibri"/>
                          <a:sym typeface="Calibri"/>
                        </a:rPr>
                        <a:t>Overlap Rate</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750"/>
                        <a:buFont typeface="Calibri"/>
                        <a:buNone/>
                      </a:pPr>
                      <a:r>
                        <a:rPr b="1" lang="en-US" sz="750" u="none" cap="none" strike="noStrike">
                          <a:solidFill>
                            <a:srgbClr val="FFFFFF"/>
                          </a:solidFill>
                          <a:latin typeface="Calibri"/>
                          <a:ea typeface="Calibri"/>
                          <a:cs typeface="Calibri"/>
                          <a:sym typeface="Calibri"/>
                        </a:rPr>
                        <a:t>Pos. Above</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750"/>
                        <a:buFont typeface="Calibri"/>
                        <a:buNone/>
                      </a:pPr>
                      <a:r>
                        <a:rPr b="1" lang="en-US" sz="750" u="none" cap="none" strike="noStrike">
                          <a:solidFill>
                            <a:srgbClr val="FFFFFF"/>
                          </a:solidFill>
                          <a:latin typeface="Calibri"/>
                          <a:ea typeface="Calibri"/>
                          <a:cs typeface="Calibri"/>
                          <a:sym typeface="Calibri"/>
                        </a:rPr>
                        <a:t>Top of Page</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750"/>
                        <a:buFont typeface="Calibri"/>
                        <a:buNone/>
                      </a:pPr>
                      <a:r>
                        <a:rPr b="1" lang="en-US" sz="750" u="none" cap="none" strike="noStrike">
                          <a:solidFill>
                            <a:srgbClr val="FFFFFF"/>
                          </a:solidFill>
                          <a:latin typeface="Calibri"/>
                          <a:ea typeface="Calibri"/>
                          <a:cs typeface="Calibri"/>
                          <a:sym typeface="Calibri"/>
                        </a:rPr>
                        <a:t>Abs. Top</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Clr>
                          <a:srgbClr val="FFFFFF"/>
                        </a:buClr>
                        <a:buSzPts val="750"/>
                        <a:buFont typeface="Calibri"/>
                        <a:buNone/>
                      </a:pPr>
                      <a:r>
                        <a:rPr b="1" lang="en-US" sz="750" u="none" cap="none" strike="noStrike">
                          <a:solidFill>
                            <a:srgbClr val="FFFFFF"/>
                          </a:solidFill>
                          <a:latin typeface="Calibri"/>
                          <a:ea typeface="Calibri"/>
                          <a:cs typeface="Calibri"/>
                          <a:sym typeface="Calibri"/>
                        </a:rPr>
                        <a:t>Outranking</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chemeClr val="dk1"/>
                    </a:solidFill>
                  </a:tcPr>
                </a:tc>
              </a:tr>
              <a:tr h="251875">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audleytravel.com</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26.6%</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42.0%</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63.6%</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75.6%</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38.0%</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8.7%</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51875">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distantjourneys.co.uk</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FFE4E6"/>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20.1%</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FFE4E6"/>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37.7%</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FFE4E6"/>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64.8%</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FFE4E6"/>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75.8%</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FFE4E6"/>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36.3%</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FFE4E6"/>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9.0%</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FFE4E6"/>
                      </a:solidFill>
                      <a:prstDash val="solid"/>
                      <a:round/>
                      <a:headEnd len="sm" w="sm" type="none"/>
                      <a:tailEnd len="sm" w="sm" type="none"/>
                    </a:lnB>
                    <a:solidFill>
                      <a:srgbClr val="F8FAFC"/>
                    </a:solidFill>
                  </a:tcPr>
                </a:tc>
              </a:tr>
              <a:tr h="251875">
                <a:tc>
                  <a:txBody>
                    <a:bodyPr/>
                    <a:lstStyle/>
                    <a:p>
                      <a:pPr indent="0" lvl="0" marL="0" marR="0" rtl="0" algn="l">
                        <a:spcBef>
                          <a:spcPts val="0"/>
                        </a:spcBef>
                        <a:spcAft>
                          <a:spcPts val="0"/>
                        </a:spcAft>
                        <a:buClr>
                          <a:srgbClr val="000000"/>
                        </a:buClr>
                        <a:buSzPts val="750"/>
                        <a:buFont typeface="Calibri"/>
                        <a:buNone/>
                      </a:pPr>
                      <a:r>
                        <a:rPr b="1" lang="en-US" sz="750" u="none" cap="none" strike="noStrike">
                          <a:solidFill>
                            <a:srgbClr val="000000"/>
                          </a:solidFill>
                          <a:latin typeface="Calibri"/>
                          <a:ea typeface="Calibri"/>
                          <a:cs typeface="Calibri"/>
                          <a:sym typeface="Calibri"/>
                        </a:rPr>
                        <a:t>you</a:t>
                      </a:r>
                      <a:endParaRPr sz="750" u="none" cap="none" strike="noStrike">
                        <a:latin typeface="Calibri"/>
                        <a:ea typeface="Calibri"/>
                        <a:cs typeface="Calibri"/>
                        <a:sym typeface="Calibri"/>
                      </a:endParaRPr>
                    </a:p>
                  </a:txBody>
                  <a:tcPr marT="45725" marB="45725" marR="91450" marL="91450">
                    <a:lnL cap="flat" cmpd="sng" w="9525">
                      <a:solidFill>
                        <a:srgbClr val="FFE4E6"/>
                      </a:solidFill>
                      <a:prstDash val="solid"/>
                      <a:round/>
                      <a:headEnd len="sm" w="sm" type="none"/>
                      <a:tailEnd len="sm" w="sm" type="none"/>
                    </a:lnL>
                    <a:lnR cap="flat" cmpd="sng" w="9525">
                      <a:solidFill>
                        <a:srgbClr val="FFE4E6"/>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FFE4E6"/>
                      </a:solidFill>
                      <a:prstDash val="solid"/>
                      <a:round/>
                      <a:headEnd len="sm" w="sm" type="none"/>
                      <a:tailEnd len="sm" w="sm" type="none"/>
                    </a:lnB>
                    <a:solidFill>
                      <a:srgbClr val="FFE4E6"/>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11.9%</a:t>
                      </a:r>
                      <a:endParaRPr sz="750" u="none" cap="none" strike="noStrike">
                        <a:latin typeface="Calibri"/>
                        <a:ea typeface="Calibri"/>
                        <a:cs typeface="Calibri"/>
                        <a:sym typeface="Calibri"/>
                      </a:endParaRPr>
                    </a:p>
                  </a:txBody>
                  <a:tcPr marT="45725" marB="45725" marR="91450" marL="91450">
                    <a:lnL cap="flat" cmpd="sng" w="9525">
                      <a:solidFill>
                        <a:srgbClr val="FFE4E6"/>
                      </a:solidFill>
                      <a:prstDash val="solid"/>
                      <a:round/>
                      <a:headEnd len="sm" w="sm" type="none"/>
                      <a:tailEnd len="sm" w="sm" type="none"/>
                    </a:lnL>
                    <a:lnR cap="flat" cmpd="sng" w="9525">
                      <a:solidFill>
                        <a:srgbClr val="FFE4E6"/>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FFE4E6"/>
                      </a:solidFill>
                      <a:prstDash val="solid"/>
                      <a:round/>
                      <a:headEnd len="sm" w="sm" type="none"/>
                      <a:tailEnd len="sm" w="sm" type="none"/>
                    </a:lnB>
                    <a:solidFill>
                      <a:srgbClr val="FFE4E6"/>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n/a</a:t>
                      </a:r>
                      <a:endParaRPr sz="750" u="none" cap="none" strike="noStrike">
                        <a:latin typeface="Calibri"/>
                        <a:ea typeface="Calibri"/>
                        <a:cs typeface="Calibri"/>
                        <a:sym typeface="Calibri"/>
                      </a:endParaRPr>
                    </a:p>
                  </a:txBody>
                  <a:tcPr marT="45725" marB="45725" marR="91450" marL="91450">
                    <a:lnL cap="flat" cmpd="sng" w="9525">
                      <a:solidFill>
                        <a:srgbClr val="FFE4E6"/>
                      </a:solidFill>
                      <a:prstDash val="solid"/>
                      <a:round/>
                      <a:headEnd len="sm" w="sm" type="none"/>
                      <a:tailEnd len="sm" w="sm" type="none"/>
                    </a:lnL>
                    <a:lnR cap="flat" cmpd="sng" w="9525">
                      <a:solidFill>
                        <a:srgbClr val="FFE4E6"/>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FFE4E6"/>
                      </a:solidFill>
                      <a:prstDash val="solid"/>
                      <a:round/>
                      <a:headEnd len="sm" w="sm" type="none"/>
                      <a:tailEnd len="sm" w="sm" type="none"/>
                    </a:lnB>
                    <a:solidFill>
                      <a:srgbClr val="FFE4E6"/>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n/a</a:t>
                      </a:r>
                      <a:endParaRPr sz="750" u="none" cap="none" strike="noStrike">
                        <a:latin typeface="Calibri"/>
                        <a:ea typeface="Calibri"/>
                        <a:cs typeface="Calibri"/>
                        <a:sym typeface="Calibri"/>
                      </a:endParaRPr>
                    </a:p>
                  </a:txBody>
                  <a:tcPr marT="45725" marB="45725" marR="91450" marL="91450">
                    <a:lnL cap="flat" cmpd="sng" w="9525">
                      <a:solidFill>
                        <a:srgbClr val="FFE4E6"/>
                      </a:solidFill>
                      <a:prstDash val="solid"/>
                      <a:round/>
                      <a:headEnd len="sm" w="sm" type="none"/>
                      <a:tailEnd len="sm" w="sm" type="none"/>
                    </a:lnL>
                    <a:lnR cap="flat" cmpd="sng" w="9525">
                      <a:solidFill>
                        <a:srgbClr val="FFE4E6"/>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FFE4E6"/>
                      </a:solidFill>
                      <a:prstDash val="solid"/>
                      <a:round/>
                      <a:headEnd len="sm" w="sm" type="none"/>
                      <a:tailEnd len="sm" w="sm" type="none"/>
                    </a:lnB>
                    <a:solidFill>
                      <a:srgbClr val="FFE4E6"/>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71.5%</a:t>
                      </a:r>
                      <a:endParaRPr sz="750" u="none" cap="none" strike="noStrike">
                        <a:latin typeface="Calibri"/>
                        <a:ea typeface="Calibri"/>
                        <a:cs typeface="Calibri"/>
                        <a:sym typeface="Calibri"/>
                      </a:endParaRPr>
                    </a:p>
                  </a:txBody>
                  <a:tcPr marT="45725" marB="45725" marR="91450" marL="91450">
                    <a:lnL cap="flat" cmpd="sng" w="9525">
                      <a:solidFill>
                        <a:srgbClr val="FFE4E6"/>
                      </a:solidFill>
                      <a:prstDash val="solid"/>
                      <a:round/>
                      <a:headEnd len="sm" w="sm" type="none"/>
                      <a:tailEnd len="sm" w="sm" type="none"/>
                    </a:lnL>
                    <a:lnR cap="flat" cmpd="sng" w="9525">
                      <a:solidFill>
                        <a:srgbClr val="FFE4E6"/>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FFE4E6"/>
                      </a:solidFill>
                      <a:prstDash val="solid"/>
                      <a:round/>
                      <a:headEnd len="sm" w="sm" type="none"/>
                      <a:tailEnd len="sm" w="sm" type="none"/>
                    </a:lnB>
                    <a:solidFill>
                      <a:srgbClr val="FFE4E6"/>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16.0%</a:t>
                      </a:r>
                      <a:endParaRPr sz="750" u="none" cap="none" strike="noStrike">
                        <a:latin typeface="Calibri"/>
                        <a:ea typeface="Calibri"/>
                        <a:cs typeface="Calibri"/>
                        <a:sym typeface="Calibri"/>
                      </a:endParaRPr>
                    </a:p>
                  </a:txBody>
                  <a:tcPr marT="45725" marB="45725" marR="91450" marL="91450">
                    <a:lnL cap="flat" cmpd="sng" w="9525">
                      <a:solidFill>
                        <a:srgbClr val="FFE4E6"/>
                      </a:solidFill>
                      <a:prstDash val="solid"/>
                      <a:round/>
                      <a:headEnd len="sm" w="sm" type="none"/>
                      <a:tailEnd len="sm" w="sm" type="none"/>
                    </a:lnL>
                    <a:lnR cap="flat" cmpd="sng" w="9525">
                      <a:solidFill>
                        <a:srgbClr val="FFE4E6"/>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FFE4E6"/>
                      </a:solidFill>
                      <a:prstDash val="solid"/>
                      <a:round/>
                      <a:headEnd len="sm" w="sm" type="none"/>
                      <a:tailEnd len="sm" w="sm" type="none"/>
                    </a:lnB>
                    <a:solidFill>
                      <a:srgbClr val="FFE4E6"/>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n/a</a:t>
                      </a:r>
                      <a:endParaRPr sz="750" u="none" cap="none" strike="noStrike">
                        <a:latin typeface="Calibri"/>
                        <a:ea typeface="Calibri"/>
                        <a:cs typeface="Calibri"/>
                        <a:sym typeface="Calibri"/>
                      </a:endParaRPr>
                    </a:p>
                  </a:txBody>
                  <a:tcPr marT="45725" marB="45725" marR="91450" marL="91450">
                    <a:lnL cap="flat" cmpd="sng" w="9525">
                      <a:solidFill>
                        <a:srgbClr val="FFE4E6"/>
                      </a:solidFill>
                      <a:prstDash val="solid"/>
                      <a:round/>
                      <a:headEnd len="sm" w="sm" type="none"/>
                      <a:tailEnd len="sm" w="sm" type="none"/>
                    </a:lnL>
                    <a:lnR cap="flat" cmpd="sng" w="9525">
                      <a:solidFill>
                        <a:srgbClr val="FFE4E6"/>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FFE4E6"/>
                      </a:solidFill>
                      <a:prstDash val="solid"/>
                      <a:round/>
                      <a:headEnd len="sm" w="sm" type="none"/>
                      <a:tailEnd len="sm" w="sm" type="none"/>
                    </a:lnB>
                    <a:solidFill>
                      <a:srgbClr val="FFE4E6"/>
                    </a:solidFill>
                  </a:tcPr>
                </a:tc>
              </a:tr>
              <a:tr h="251875">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rivieratravel.co.uk</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11.2%</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18.3%</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48.1%</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61.0%</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18.6%</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10.9%</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FFE4E6"/>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r h="251875">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exoticca.com</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10.7%</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22.9%</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50.5%</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73.4%</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19.3%</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10.5%</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51875">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travelbag.co.uk</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n/a</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7.0%</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48.4%</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69.0%</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17.5%</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11.5%</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r h="251875">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holidayarchitects.co.uk</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n/a</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6.1%</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48.9%</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66.9%</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14.7%</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11.6%</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51875">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iglucruise.com</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n/a</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11.2%</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58.0%</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73.8%</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34.0%</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Clr>
                          <a:srgbClr val="000000"/>
                        </a:buClr>
                        <a:buSzPts val="750"/>
                        <a:buFont typeface="Calibri"/>
                        <a:buNone/>
                      </a:pPr>
                      <a:r>
                        <a:rPr lang="en-US" sz="750" u="none" cap="none" strike="noStrike">
                          <a:solidFill>
                            <a:srgbClr val="000000"/>
                          </a:solidFill>
                          <a:latin typeface="Calibri"/>
                          <a:ea typeface="Calibri"/>
                          <a:cs typeface="Calibri"/>
                          <a:sym typeface="Calibri"/>
                        </a:rPr>
                        <a:t>11.1%</a:t>
                      </a:r>
                      <a:endParaRPr sz="75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8FAFC"/>
                    </a:solidFill>
                  </a:tcPr>
                </a:tc>
              </a:tr>
            </a:tbl>
          </a:graphicData>
        </a:graphic>
      </p:graphicFrame>
      <p:pic>
        <p:nvPicPr>
          <p:cNvPr id="721" name="Google Shape;721;p31"/>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32"/>
          <p:cNvSpPr/>
          <p:nvPr/>
        </p:nvSpPr>
        <p:spPr>
          <a:xfrm>
            <a:off x="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2"/>
          <p:cNvSpPr/>
          <p:nvPr/>
        </p:nvSpPr>
        <p:spPr>
          <a:xfrm>
            <a:off x="0"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2"/>
          <p:cNvSpPr/>
          <p:nvPr/>
        </p:nvSpPr>
        <p:spPr>
          <a:xfrm>
            <a:off x="128016" y="2934099"/>
            <a:ext cx="9015900" cy="639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2"/>
          <p:cNvSpPr/>
          <p:nvPr/>
        </p:nvSpPr>
        <p:spPr>
          <a:xfrm>
            <a:off x="914400"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Testing</a:t>
            </a:r>
            <a:endParaRPr b="0" i="0" sz="3600" u="none" cap="none" strike="noStrike">
              <a:solidFill>
                <a:srgbClr val="000000"/>
              </a:solidFill>
              <a:latin typeface="Calibri"/>
              <a:ea typeface="Calibri"/>
              <a:cs typeface="Calibri"/>
              <a:sym typeface="Calibri"/>
            </a:endParaRPr>
          </a:p>
        </p:txBody>
      </p:sp>
      <p:sp>
        <p:nvSpPr>
          <p:cNvPr id="731" name="Google Shape;731;p32"/>
          <p:cNvSpPr/>
          <p:nvPr/>
        </p:nvSpPr>
        <p:spPr>
          <a:xfrm>
            <a:off x="914400" y="316611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100"/>
              <a:buFont typeface="Calibri"/>
              <a:buNone/>
            </a:pPr>
            <a:r>
              <a:rPr b="0" i="0" lang="en-US" sz="1100" u="none" cap="none" strike="noStrike">
                <a:solidFill>
                  <a:srgbClr val="F5C6CB"/>
                </a:solidFill>
                <a:latin typeface="Calibri"/>
                <a:ea typeface="Calibri"/>
                <a:cs typeface="Calibri"/>
                <a:sym typeface="Calibri"/>
              </a:rPr>
              <a:t>Wendy Wu Tours | Q1 2026 | Summon</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33"/>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3"/>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3"/>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China AI Max 80% Test</a:t>
            </a:r>
            <a:endParaRPr b="0" i="0" sz="2000" u="none" cap="none" strike="noStrike">
              <a:solidFill>
                <a:srgbClr val="000000"/>
              </a:solidFill>
              <a:latin typeface="Calibri"/>
              <a:ea typeface="Calibri"/>
              <a:cs typeface="Calibri"/>
              <a:sym typeface="Calibri"/>
            </a:endParaRPr>
          </a:p>
        </p:txBody>
      </p:sp>
      <p:sp>
        <p:nvSpPr>
          <p:cNvPr id="740" name="Google Shape;740;p33"/>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rgbClr val="000000"/>
              </a:solidFill>
              <a:latin typeface="Calibri"/>
              <a:ea typeface="Calibri"/>
              <a:cs typeface="Calibri"/>
              <a:sym typeface="Calibri"/>
            </a:endParaRPr>
          </a:p>
        </p:txBody>
      </p:sp>
      <p:sp>
        <p:nvSpPr>
          <p:cNvPr id="741" name="Google Shape;741;p33"/>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3"/>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rgbClr val="000000"/>
              </a:solidFill>
              <a:latin typeface="Calibri"/>
              <a:ea typeface="Calibri"/>
              <a:cs typeface="Calibri"/>
              <a:sym typeface="Calibri"/>
            </a:endParaRPr>
          </a:p>
        </p:txBody>
      </p:sp>
      <p:sp>
        <p:nvSpPr>
          <p:cNvPr id="743" name="Google Shape;743;p33"/>
          <p:cNvSpPr/>
          <p:nvPr/>
        </p:nvSpPr>
        <p:spPr>
          <a:xfrm>
            <a:off x="182885" y="2927865"/>
            <a:ext cx="8869800" cy="1097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AI Max test for China was a continuation of the positive 50/50 test that was run in September November 2025.</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This 80/20 test continued to show that AI Max resulted in a 24% reduction in CPA and 29% reduction in CPC.</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AI Max has now been added to the China campaign as campaign wide setting and we are continuing to monitor search terms and expand negative keyword lists.</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To ensure control over ad copy and messaging text customisation and final URL expansion has been turned off.</a:t>
            </a:r>
            <a:endParaRPr sz="1000">
              <a:solidFill>
                <a:srgbClr val="111111"/>
              </a:solidFill>
              <a:latin typeface="Calibri"/>
              <a:ea typeface="Calibri"/>
              <a:cs typeface="Calibri"/>
              <a:sym typeface="Calibri"/>
            </a:endParaRPr>
          </a:p>
          <a:p>
            <a:pPr indent="-342900" lvl="0" marL="342900" marR="0" rtl="0" algn="l">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Next steps are to continue to monitor the performance of AI Max generated traffic to ensure that search terms do not become too broad and are still converting at a good CPA.</a:t>
            </a:r>
            <a:endParaRPr sz="1000">
              <a:solidFill>
                <a:srgbClr val="111111"/>
              </a:solidFill>
              <a:latin typeface="Calibri"/>
              <a:ea typeface="Calibri"/>
              <a:cs typeface="Calibri"/>
              <a:sym typeface="Calibri"/>
            </a:endParaRPr>
          </a:p>
        </p:txBody>
      </p:sp>
      <p:graphicFrame>
        <p:nvGraphicFramePr>
          <p:cNvPr id="744" name="Google Shape;744;p33"/>
          <p:cNvGraphicFramePr/>
          <p:nvPr/>
        </p:nvGraphicFramePr>
        <p:xfrm>
          <a:off x="182875" y="927288"/>
          <a:ext cx="3000000" cy="3000000"/>
        </p:xfrm>
        <a:graphic>
          <a:graphicData uri="http://schemas.openxmlformats.org/drawingml/2006/table">
            <a:tbl>
              <a:tblPr>
                <a:noFill/>
                <a:tableStyleId>{F01A925B-387E-4F20-950E-5FCF7B285F05}</a:tableStyleId>
              </a:tblPr>
              <a:tblGrid>
                <a:gridCol w="1638700"/>
                <a:gridCol w="1089475"/>
                <a:gridCol w="891400"/>
                <a:gridCol w="711300"/>
                <a:gridCol w="711300"/>
                <a:gridCol w="693325"/>
                <a:gridCol w="729350"/>
                <a:gridCol w="729350"/>
                <a:gridCol w="729350"/>
                <a:gridCol w="729350"/>
              </a:tblGrid>
              <a:tr h="105825">
                <a:tc>
                  <a:txBody>
                    <a:bodyPr/>
                    <a:lstStyle/>
                    <a:p>
                      <a:pPr indent="0" lvl="0" marL="0" rtl="0" algn="l">
                        <a:lnSpc>
                          <a:spcPct val="115000"/>
                        </a:lnSpc>
                        <a:spcBef>
                          <a:spcPts val="0"/>
                        </a:spcBef>
                        <a:spcAft>
                          <a:spcPts val="0"/>
                        </a:spcAft>
                        <a:buNone/>
                      </a:pPr>
                      <a:r>
                        <a:rPr b="1" lang="en-US" sz="900">
                          <a:latin typeface="Calibri"/>
                          <a:ea typeface="Calibri"/>
                          <a:cs typeface="Calibri"/>
                          <a:sym typeface="Calibri"/>
                        </a:rPr>
                        <a:t>Arm</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900">
                          <a:latin typeface="Calibri"/>
                          <a:ea typeface="Calibri"/>
                          <a:cs typeface="Calibri"/>
                          <a:sym typeface="Calibri"/>
                        </a:rPr>
                        <a:t>Impr.</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900">
                          <a:latin typeface="Calibri"/>
                          <a:ea typeface="Calibri"/>
                          <a:cs typeface="Calibri"/>
                          <a:sym typeface="Calibri"/>
                        </a:rPr>
                        <a:t>Clicks</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900">
                          <a:latin typeface="Calibri"/>
                          <a:ea typeface="Calibri"/>
                          <a:cs typeface="Calibri"/>
                          <a:sym typeface="Calibri"/>
                        </a:rPr>
                        <a:t>CTR</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900">
                          <a:latin typeface="Calibri"/>
                          <a:ea typeface="Calibri"/>
                          <a:cs typeface="Calibri"/>
                          <a:sym typeface="Calibri"/>
                        </a:rPr>
                        <a:t>Avg. CPC</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900">
                          <a:latin typeface="Calibri"/>
                          <a:ea typeface="Calibri"/>
                          <a:cs typeface="Calibri"/>
                          <a:sym typeface="Calibri"/>
                        </a:rPr>
                        <a:t>Cost</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900">
                          <a:latin typeface="Calibri"/>
                          <a:ea typeface="Calibri"/>
                          <a:cs typeface="Calibri"/>
                          <a:sym typeface="Calibri"/>
                        </a:rPr>
                        <a:t>Conversions</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900">
                          <a:latin typeface="Calibri"/>
                          <a:ea typeface="Calibri"/>
                          <a:cs typeface="Calibri"/>
                          <a:sym typeface="Calibri"/>
                        </a:rPr>
                        <a:t>Cost / conv.</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900">
                          <a:latin typeface="Calibri"/>
                          <a:ea typeface="Calibri"/>
                          <a:cs typeface="Calibri"/>
                          <a:sym typeface="Calibri"/>
                        </a:rPr>
                        <a:t>Conv. rate</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900">
                          <a:latin typeface="Calibri"/>
                          <a:ea typeface="Calibri"/>
                          <a:cs typeface="Calibri"/>
                          <a:sym typeface="Calibri"/>
                        </a:rPr>
                        <a:t>Conv. value</a:t>
                      </a:r>
                      <a:endParaRPr b="1"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lang="en-US" sz="900">
                          <a:latin typeface="Calibri"/>
                          <a:ea typeface="Calibri"/>
                          <a:cs typeface="Calibri"/>
                          <a:sym typeface="Calibri"/>
                        </a:rPr>
                        <a:t>Control (at 20% traffic split)</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3,506</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530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15.12%</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£3.36</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£1,779.22</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17.78</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£100.08</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3.35%</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20,962.00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4025">
                <a:tc>
                  <a:txBody>
                    <a:bodyPr/>
                    <a:lstStyle/>
                    <a:p>
                      <a:pPr indent="0" lvl="0" marL="0" rtl="0" algn="l">
                        <a:lnSpc>
                          <a:spcPct val="115000"/>
                        </a:lnSpc>
                        <a:spcBef>
                          <a:spcPts val="0"/>
                        </a:spcBef>
                        <a:spcAft>
                          <a:spcPts val="0"/>
                        </a:spcAft>
                        <a:buNone/>
                      </a:pPr>
                      <a:r>
                        <a:rPr lang="en-US" sz="900">
                          <a:latin typeface="Calibri"/>
                          <a:ea typeface="Calibri"/>
                          <a:cs typeface="Calibri"/>
                          <a:sym typeface="Calibri"/>
                        </a:rPr>
                        <a:t>Treatment (at 80% traffic split)</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37,766</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3,622</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9.59%</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£2.37</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£8,583.20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114</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£75.29</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3.15%</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31,651.80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5825">
                <a:tc>
                  <a:txBody>
                    <a:bodyPr/>
                    <a:lstStyle/>
                    <a:p>
                      <a:pPr indent="0" lvl="0" marL="0" rtl="0" algn="l">
                        <a:lnSpc>
                          <a:spcPct val="115000"/>
                        </a:lnSpc>
                        <a:spcBef>
                          <a:spcPts val="0"/>
                        </a:spcBef>
                        <a:spcAft>
                          <a:spcPts val="0"/>
                        </a:spcAft>
                        <a:buNone/>
                      </a:pPr>
                      <a:r>
                        <a:rPr lang="en-US" sz="900">
                          <a:latin typeface="Calibri"/>
                          <a:ea typeface="Calibri"/>
                          <a:cs typeface="Calibri"/>
                          <a:sym typeface="Calibri"/>
                        </a:rPr>
                        <a:t>Difference</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+34,260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+3,092</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-5.53%</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-£0.99</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+£6,803.98</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+96.23</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-£24.79</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-0.21%</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+10,689.80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5825">
                <a:tc>
                  <a:txBody>
                    <a:bodyPr/>
                    <a:lstStyle/>
                    <a:p>
                      <a:pPr indent="0" lvl="0" marL="0" rtl="0" algn="l">
                        <a:lnSpc>
                          <a:spcPct val="115000"/>
                        </a:lnSpc>
                        <a:spcBef>
                          <a:spcPts val="0"/>
                        </a:spcBef>
                        <a:spcAft>
                          <a:spcPts val="0"/>
                        </a:spcAft>
                        <a:buNone/>
                      </a:pPr>
                      <a:r>
                        <a:rPr lang="en-US" sz="900">
                          <a:latin typeface="Calibri"/>
                          <a:ea typeface="Calibri"/>
                          <a:cs typeface="Calibri"/>
                          <a:sym typeface="Calibri"/>
                        </a:rPr>
                        <a:t>Difference (%)</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1.693</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70.80%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-36.60%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-29.40%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20.60%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60.30%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-24.80%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-6.20%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-62.30%</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0425">
                <a:tc>
                  <a:txBody>
                    <a:bodyPr/>
                    <a:lstStyle/>
                    <a:p>
                      <a:pPr indent="0" lvl="0" marL="0" rtl="0" algn="l">
                        <a:lnSpc>
                          <a:spcPct val="115000"/>
                        </a:lnSpc>
                        <a:spcBef>
                          <a:spcPts val="0"/>
                        </a:spcBef>
                        <a:spcAft>
                          <a:spcPts val="0"/>
                        </a:spcAft>
                        <a:buNone/>
                      </a:pPr>
                      <a:r>
                        <a:rPr lang="en-US" sz="900">
                          <a:latin typeface="Calibri"/>
                          <a:ea typeface="Calibri"/>
                          <a:cs typeface="Calibri"/>
                          <a:sym typeface="Calibri"/>
                        </a:rPr>
                        <a:t>80% confid...</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[+160.2%, +178.4%]</a:t>
                      </a:r>
                      <a:endParaRPr sz="900">
                        <a:latin typeface="Calibri"/>
                        <a:ea typeface="Calibri"/>
                        <a:cs typeface="Calibri"/>
                        <a:sym typeface="Calibri"/>
                      </a:endParaRPr>
                    </a:p>
                    <a:p>
                      <a:pPr indent="0" lvl="0" marL="0" rtl="0" algn="r">
                        <a:lnSpc>
                          <a:spcPct val="115000"/>
                        </a:lnSpc>
                        <a:spcBef>
                          <a:spcPts val="0"/>
                        </a:spcBef>
                        <a:spcAft>
                          <a:spcPts val="0"/>
                        </a:spcAft>
                        <a:buNone/>
                      </a:pPr>
                      <a:r>
                        <a:rPr lang="en-US" sz="900">
                          <a:latin typeface="Calibri"/>
                          <a:ea typeface="Calibri"/>
                          <a:cs typeface="Calibri"/>
                          <a:sym typeface="Calibri"/>
                        </a:rPr>
                        <a:t>Stat. significant</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[+56.8%, +84.9%]</a:t>
                      </a:r>
                      <a:endParaRPr sz="900">
                        <a:latin typeface="Calibri"/>
                        <a:ea typeface="Calibri"/>
                        <a:cs typeface="Calibri"/>
                        <a:sym typeface="Calibri"/>
                      </a:endParaRPr>
                    </a:p>
                    <a:p>
                      <a:pPr indent="0" lvl="0" marL="0" rtl="0" algn="r">
                        <a:lnSpc>
                          <a:spcPct val="115000"/>
                        </a:lnSpc>
                        <a:spcBef>
                          <a:spcPts val="0"/>
                        </a:spcBef>
                        <a:spcAft>
                          <a:spcPts val="0"/>
                        </a:spcAft>
                        <a:buNone/>
                      </a:pPr>
                      <a:r>
                        <a:rPr lang="en-US" sz="900">
                          <a:latin typeface="Calibri"/>
                          <a:ea typeface="Calibri"/>
                          <a:cs typeface="Calibri"/>
                          <a:sym typeface="Calibri"/>
                        </a:rPr>
                        <a:t>Stat. significant</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[-40.9%, -32.2%]</a:t>
                      </a:r>
                      <a:endParaRPr sz="900">
                        <a:latin typeface="Calibri"/>
                        <a:ea typeface="Calibri"/>
                        <a:cs typeface="Calibri"/>
                        <a:sym typeface="Calibri"/>
                      </a:endParaRPr>
                    </a:p>
                    <a:p>
                      <a:pPr indent="0" lvl="0" marL="0" rtl="0" algn="r">
                        <a:lnSpc>
                          <a:spcPct val="115000"/>
                        </a:lnSpc>
                        <a:spcBef>
                          <a:spcPts val="0"/>
                        </a:spcBef>
                        <a:spcAft>
                          <a:spcPts val="0"/>
                        </a:spcAft>
                        <a:buNone/>
                      </a:pPr>
                      <a:r>
                        <a:rPr lang="en-US" sz="900">
                          <a:latin typeface="Calibri"/>
                          <a:ea typeface="Calibri"/>
                          <a:cs typeface="Calibri"/>
                          <a:sym typeface="Calibri"/>
                        </a:rPr>
                        <a:t>Stat. significant</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[-33.3%, -25.5%]</a:t>
                      </a:r>
                      <a:endParaRPr sz="900">
                        <a:latin typeface="Calibri"/>
                        <a:ea typeface="Calibri"/>
                        <a:cs typeface="Calibri"/>
                        <a:sym typeface="Calibri"/>
                      </a:endParaRPr>
                    </a:p>
                    <a:p>
                      <a:pPr indent="0" lvl="0" marL="0" rtl="0" algn="r">
                        <a:lnSpc>
                          <a:spcPct val="115000"/>
                        </a:lnSpc>
                        <a:spcBef>
                          <a:spcPts val="0"/>
                        </a:spcBef>
                        <a:spcAft>
                          <a:spcPts val="0"/>
                        </a:spcAft>
                        <a:buNone/>
                      </a:pPr>
                      <a:r>
                        <a:rPr lang="en-US" sz="900">
                          <a:latin typeface="Calibri"/>
                          <a:ea typeface="Calibri"/>
                          <a:cs typeface="Calibri"/>
                          <a:sym typeface="Calibri"/>
                        </a:rPr>
                        <a:t>Stat. significant</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[+9.4%, +31.8%]</a:t>
                      </a:r>
                      <a:endParaRPr sz="900">
                        <a:latin typeface="Calibri"/>
                        <a:ea typeface="Calibri"/>
                        <a:cs typeface="Calibri"/>
                        <a:sym typeface="Calibri"/>
                      </a:endParaRPr>
                    </a:p>
                    <a:p>
                      <a:pPr indent="0" lvl="0" marL="0" rtl="0" algn="r">
                        <a:lnSpc>
                          <a:spcPct val="115000"/>
                        </a:lnSpc>
                        <a:spcBef>
                          <a:spcPts val="0"/>
                        </a:spcBef>
                        <a:spcAft>
                          <a:spcPts val="0"/>
                        </a:spcAft>
                        <a:buNone/>
                      </a:pPr>
                      <a:r>
                        <a:rPr lang="en-US" sz="900">
                          <a:latin typeface="Calibri"/>
                          <a:ea typeface="Calibri"/>
                          <a:cs typeface="Calibri"/>
                          <a:sym typeface="Calibri"/>
                        </a:rPr>
                        <a:t>Stat. significant</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Not enough data</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Not enough data</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Not enough data</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900">
                          <a:latin typeface="Calibri"/>
                          <a:ea typeface="Calibri"/>
                          <a:cs typeface="Calibri"/>
                          <a:sym typeface="Calibri"/>
                        </a:rPr>
                        <a:t>Not enough data</a:t>
                      </a:r>
                      <a:endParaRPr sz="9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745" name="Google Shape;745;p33"/>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34"/>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China AI Max 80% Test</a:t>
            </a:r>
            <a:endParaRPr b="0" i="0" sz="2000" u="none" cap="none" strike="noStrike">
              <a:solidFill>
                <a:srgbClr val="000000"/>
              </a:solidFill>
              <a:latin typeface="Calibri"/>
              <a:ea typeface="Calibri"/>
              <a:cs typeface="Calibri"/>
              <a:sym typeface="Calibri"/>
            </a:endParaRPr>
          </a:p>
        </p:txBody>
      </p:sp>
      <p:sp>
        <p:nvSpPr>
          <p:cNvPr id="752" name="Google Shape;752;p34"/>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4"/>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4"/>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Core destinations ad copy test - China</a:t>
            </a:r>
            <a:endParaRPr b="0" i="0" sz="2000" u="none" cap="none" strike="noStrike">
              <a:solidFill>
                <a:srgbClr val="000000"/>
              </a:solidFill>
              <a:latin typeface="Calibri"/>
              <a:ea typeface="Calibri"/>
              <a:cs typeface="Calibri"/>
              <a:sym typeface="Calibri"/>
            </a:endParaRPr>
          </a:p>
        </p:txBody>
      </p:sp>
      <p:sp>
        <p:nvSpPr>
          <p:cNvPr id="755" name="Google Shape;755;p34"/>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rgbClr val="000000"/>
              </a:solidFill>
              <a:latin typeface="Calibri"/>
              <a:ea typeface="Calibri"/>
              <a:cs typeface="Calibri"/>
              <a:sym typeface="Calibri"/>
            </a:endParaRPr>
          </a:p>
        </p:txBody>
      </p:sp>
      <p:sp>
        <p:nvSpPr>
          <p:cNvPr id="756" name="Google Shape;756;p34"/>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4"/>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rgbClr val="000000"/>
              </a:solidFill>
              <a:latin typeface="Calibri"/>
              <a:ea typeface="Calibri"/>
              <a:cs typeface="Calibri"/>
              <a:sym typeface="Calibri"/>
            </a:endParaRPr>
          </a:p>
        </p:txBody>
      </p:sp>
      <p:sp>
        <p:nvSpPr>
          <p:cNvPr id="758" name="Google Shape;758;p34"/>
          <p:cNvSpPr/>
          <p:nvPr/>
        </p:nvSpPr>
        <p:spPr>
          <a:xfrm>
            <a:off x="6128075" y="1001250"/>
            <a:ext cx="2771700" cy="3089700"/>
          </a:xfrm>
          <a:prstGeom prst="rect">
            <a:avLst/>
          </a:prstGeom>
          <a:noFill/>
          <a:ln>
            <a:noFill/>
          </a:ln>
        </p:spPr>
        <p:txBody>
          <a:bodyPr anchorCtr="0" anchor="t" bIns="45700" lIns="91425" spcFirstLastPara="1" rIns="91425" wrap="square" tIns="45700">
            <a:noAutofit/>
          </a:bodyPr>
          <a:lstStyle/>
          <a:p>
            <a:pPr indent="-336550" lvl="0" marL="342900" marR="0" rtl="0" algn="l">
              <a:spcBef>
                <a:spcPts val="0"/>
              </a:spcBef>
              <a:spcAft>
                <a:spcPts val="0"/>
              </a:spcAft>
              <a:buClr>
                <a:srgbClr val="111111"/>
              </a:buClr>
              <a:buSzPts val="900"/>
              <a:buFont typeface="Calibri"/>
              <a:buChar char="•"/>
            </a:pPr>
            <a:r>
              <a:rPr b="1" lang="en-US" sz="900">
                <a:solidFill>
                  <a:srgbClr val="111111"/>
                </a:solidFill>
                <a:latin typeface="Calibri"/>
                <a:ea typeface="Calibri"/>
                <a:cs typeface="Calibri"/>
                <a:sym typeface="Calibri"/>
              </a:rPr>
              <a:t>New copy CTR of 12.72% is the standout result</a:t>
            </a:r>
            <a:r>
              <a:rPr lang="en-US" sz="900">
                <a:solidFill>
                  <a:srgbClr val="111111"/>
                </a:solidFill>
                <a:latin typeface="Calibri"/>
                <a:ea typeface="Calibri"/>
                <a:cs typeface="Calibri"/>
                <a:sym typeface="Calibri"/>
              </a:rPr>
              <a:t>. Product-specific headline copy ("China Tour Packages", escorted tours, prices from £2,690pp) is qualifying intent more effectively and driving 2x the click volume</a:t>
            </a:r>
            <a:br>
              <a:rPr lang="en-US" sz="900">
                <a:solidFill>
                  <a:srgbClr val="111111"/>
                </a:solidFill>
                <a:latin typeface="Calibri"/>
                <a:ea typeface="Calibri"/>
                <a:cs typeface="Calibri"/>
                <a:sym typeface="Calibri"/>
              </a:rPr>
            </a:br>
            <a:endParaRPr b="0" i="0" sz="900" u="none" cap="none" strike="noStrike">
              <a:solidFill>
                <a:srgbClr val="000000"/>
              </a:solidFill>
              <a:latin typeface="Calibri"/>
              <a:ea typeface="Calibri"/>
              <a:cs typeface="Calibri"/>
              <a:sym typeface="Calibri"/>
            </a:endParaRPr>
          </a:p>
          <a:p>
            <a:pPr indent="-336550" lvl="0" marL="342900" marR="0" rtl="0" algn="l">
              <a:spcBef>
                <a:spcPts val="300"/>
              </a:spcBef>
              <a:spcAft>
                <a:spcPts val="0"/>
              </a:spcAft>
              <a:buClr>
                <a:srgbClr val="111111"/>
              </a:buClr>
              <a:buSzPts val="900"/>
              <a:buFont typeface="Calibri"/>
              <a:buChar char="•"/>
            </a:pPr>
            <a:r>
              <a:rPr b="1" lang="en-US" sz="900">
                <a:solidFill>
                  <a:srgbClr val="111111"/>
                </a:solidFill>
                <a:latin typeface="Calibri"/>
                <a:ea typeface="Calibri"/>
                <a:cs typeface="Calibri"/>
                <a:sym typeface="Calibri"/>
              </a:rPr>
              <a:t>Control CPA of £57.88 vs £82.97</a:t>
            </a:r>
            <a:r>
              <a:rPr lang="en-US" sz="900">
                <a:solidFill>
                  <a:srgbClr val="111111"/>
                </a:solidFill>
                <a:latin typeface="Calibri"/>
                <a:ea typeface="Calibri"/>
                <a:cs typeface="Calibri"/>
                <a:sym typeface="Calibri"/>
              </a:rPr>
              <a:t> for new copy 30% more cost-efficient per conversion. CPC of £1.25 vs £2.23 is the primary driver; the control is acquiring clicks at nearly half the cost.</a:t>
            </a:r>
            <a:br>
              <a:rPr b="0" i="0" lang="en-US" sz="900" u="none" cap="none" strike="noStrike">
                <a:solidFill>
                  <a:srgbClr val="111111"/>
                </a:solidFill>
                <a:latin typeface="Calibri"/>
                <a:ea typeface="Calibri"/>
                <a:cs typeface="Calibri"/>
                <a:sym typeface="Calibri"/>
              </a:rPr>
            </a:br>
            <a:endParaRPr b="0" i="0" sz="900" u="none" cap="none" strike="noStrike">
              <a:solidFill>
                <a:srgbClr val="000000"/>
              </a:solidFill>
              <a:latin typeface="Calibri"/>
              <a:ea typeface="Calibri"/>
              <a:cs typeface="Calibri"/>
              <a:sym typeface="Calibri"/>
            </a:endParaRPr>
          </a:p>
          <a:p>
            <a:pPr indent="-336550" lvl="0" marL="342900" marR="0" rtl="0" algn="l">
              <a:spcBef>
                <a:spcPts val="300"/>
              </a:spcBef>
              <a:spcAft>
                <a:spcPts val="0"/>
              </a:spcAft>
              <a:buClr>
                <a:srgbClr val="111111"/>
              </a:buClr>
              <a:buSzPts val="900"/>
              <a:buFont typeface="Calibri"/>
              <a:buChar char="•"/>
            </a:pPr>
            <a:r>
              <a:rPr b="1" lang="en-US" sz="900">
                <a:solidFill>
                  <a:srgbClr val="111111"/>
                </a:solidFill>
                <a:latin typeface="Calibri"/>
                <a:ea typeface="Calibri"/>
                <a:cs typeface="Calibri"/>
                <a:sym typeface="Calibri"/>
              </a:rPr>
              <a:t>CVR Gap is narrow.</a:t>
            </a:r>
            <a:r>
              <a:rPr lang="en-US" sz="900">
                <a:solidFill>
                  <a:srgbClr val="111111"/>
                </a:solidFill>
                <a:latin typeface="Calibri"/>
                <a:ea typeface="Calibri"/>
                <a:cs typeface="Calibri"/>
                <a:sym typeface="Calibri"/>
              </a:rPr>
              <a:t> 2.69% new copy vs 2.15% control. The higher CPA for new copy is almost entirely a CPC problem, not a landing page or offer problem. Both ads convert at comparable rates once a user lands on site.</a:t>
            </a:r>
            <a:br>
              <a:rPr lang="en-US" sz="900">
                <a:solidFill>
                  <a:srgbClr val="111111"/>
                </a:solidFill>
                <a:latin typeface="Calibri"/>
                <a:ea typeface="Calibri"/>
                <a:cs typeface="Calibri"/>
                <a:sym typeface="Calibri"/>
              </a:rPr>
            </a:br>
            <a:endParaRPr sz="900">
              <a:solidFill>
                <a:srgbClr val="111111"/>
              </a:solidFill>
              <a:latin typeface="Calibri"/>
              <a:ea typeface="Calibri"/>
              <a:cs typeface="Calibri"/>
              <a:sym typeface="Calibri"/>
            </a:endParaRPr>
          </a:p>
          <a:p>
            <a:pPr indent="-336550" lvl="0" marL="342900" marR="0" rtl="0" algn="l">
              <a:spcBef>
                <a:spcPts val="300"/>
              </a:spcBef>
              <a:spcAft>
                <a:spcPts val="0"/>
              </a:spcAft>
              <a:buClr>
                <a:srgbClr val="111111"/>
              </a:buClr>
              <a:buSzPts val="900"/>
              <a:buFont typeface="Calibri"/>
              <a:buChar char="•"/>
            </a:pPr>
            <a:r>
              <a:rPr b="1" lang="en-US" sz="900">
                <a:solidFill>
                  <a:srgbClr val="111111"/>
                </a:solidFill>
                <a:latin typeface="Calibri"/>
                <a:ea typeface="Calibri"/>
                <a:cs typeface="Calibri"/>
                <a:sym typeface="Calibri"/>
              </a:rPr>
              <a:t>Next Step - </a:t>
            </a:r>
            <a:r>
              <a:rPr lang="en-US" sz="900">
                <a:solidFill>
                  <a:srgbClr val="111111"/>
                </a:solidFill>
                <a:latin typeface="Calibri"/>
                <a:ea typeface="Calibri"/>
                <a:cs typeface="Calibri"/>
                <a:sym typeface="Calibri"/>
              </a:rPr>
              <a:t>Keep both ads active and force an equal spend split for a further 3–4 weeks. The new copy has a meaningful CTR advantage worth preserving. If after equal-spend running the new copy CPA does not close to within ~10% of the control, revert to the control as primary and use the new copy headlines as RSA asset variants only rather than a standalone ad.</a:t>
            </a:r>
            <a:br>
              <a:rPr lang="en-US" sz="900">
                <a:solidFill>
                  <a:srgbClr val="111111"/>
                </a:solidFill>
                <a:latin typeface="Calibri"/>
                <a:ea typeface="Calibri"/>
                <a:cs typeface="Calibri"/>
                <a:sym typeface="Calibri"/>
              </a:rPr>
            </a:br>
            <a:endParaRPr b="0" i="0" sz="900" u="none" cap="none" strike="noStrike">
              <a:solidFill>
                <a:srgbClr val="000000"/>
              </a:solidFill>
              <a:latin typeface="Calibri"/>
              <a:ea typeface="Calibri"/>
              <a:cs typeface="Calibri"/>
              <a:sym typeface="Calibri"/>
            </a:endParaRPr>
          </a:p>
        </p:txBody>
      </p:sp>
      <p:graphicFrame>
        <p:nvGraphicFramePr>
          <p:cNvPr id="759" name="Google Shape;759;p34"/>
          <p:cNvGraphicFramePr/>
          <p:nvPr/>
        </p:nvGraphicFramePr>
        <p:xfrm>
          <a:off x="127300" y="1001250"/>
          <a:ext cx="3000000" cy="3000000"/>
        </p:xfrm>
        <a:graphic>
          <a:graphicData uri="http://schemas.openxmlformats.org/drawingml/2006/table">
            <a:tbl>
              <a:tblPr>
                <a:noFill/>
                <a:tableStyleId>{F01A925B-387E-4F20-950E-5FCF7B285F05}</a:tableStyleId>
              </a:tblPr>
              <a:tblGrid>
                <a:gridCol w="980625"/>
                <a:gridCol w="828475"/>
                <a:gridCol w="749550"/>
                <a:gridCol w="303725"/>
                <a:gridCol w="828475"/>
                <a:gridCol w="524125"/>
                <a:gridCol w="1431475"/>
              </a:tblGrid>
              <a:tr h="194625">
                <a:tc>
                  <a:txBody>
                    <a:bodyPr/>
                    <a:lstStyle/>
                    <a:p>
                      <a:pPr indent="0" lvl="0" marL="0" rtl="0" algn="l">
                        <a:lnSpc>
                          <a:spcPct val="115000"/>
                        </a:lnSpc>
                        <a:spcBef>
                          <a:spcPts val="0"/>
                        </a:spcBef>
                        <a:spcAft>
                          <a:spcPts val="0"/>
                        </a:spcAft>
                        <a:buNone/>
                      </a:pPr>
                      <a:r>
                        <a:rPr b="1" lang="en-US" sz="900">
                          <a:solidFill>
                            <a:srgbClr val="FFFFFF"/>
                          </a:solidFill>
                          <a:latin typeface="Calibri"/>
                          <a:ea typeface="Calibri"/>
                          <a:cs typeface="Calibri"/>
                          <a:sym typeface="Calibri"/>
                        </a:rPr>
                        <a:t>Metric</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A2744"/>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New Copy Test</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F5FA6"/>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Delta vs Control</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A2744"/>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A2744"/>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Control · Spring Sale</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27622A"/>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Winner</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A2744"/>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Notes</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A2744"/>
                    </a:solidFill>
                  </a:tcPr>
                </a:tc>
              </a:tr>
              <a:tr h="250975">
                <a:tc>
                  <a:txBody>
                    <a:bodyPr/>
                    <a:lstStyle/>
                    <a:p>
                      <a:pPr indent="0" lvl="0" marL="0" rtl="0" algn="l">
                        <a:lnSpc>
                          <a:spcPct val="115000"/>
                        </a:lnSpc>
                        <a:spcBef>
                          <a:spcPts val="0"/>
                        </a:spcBef>
                        <a:spcAft>
                          <a:spcPts val="0"/>
                        </a:spcAft>
                        <a:buNone/>
                      </a:pPr>
                      <a:r>
                        <a:rPr b="1" lang="en-US" sz="900">
                          <a:solidFill>
                            <a:srgbClr val="444441"/>
                          </a:solidFill>
                          <a:latin typeface="Calibri"/>
                          <a:ea typeface="Calibri"/>
                          <a:cs typeface="Calibri"/>
                          <a:sym typeface="Calibri"/>
                        </a:rPr>
                        <a:t>Impressions</a:t>
                      </a:r>
                      <a:endParaRPr b="1" sz="9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7F7F5"/>
                    </a:solidFill>
                  </a:tcPr>
                </a:tc>
                <a:tc>
                  <a:txBody>
                    <a:bodyPr/>
                    <a:lstStyle/>
                    <a:p>
                      <a:pPr indent="0" lvl="0" marL="0" rtl="0" algn="ctr">
                        <a:lnSpc>
                          <a:spcPct val="115000"/>
                        </a:lnSpc>
                        <a:spcBef>
                          <a:spcPts val="0"/>
                        </a:spcBef>
                        <a:spcAft>
                          <a:spcPts val="0"/>
                        </a:spcAft>
                        <a:buNone/>
                      </a:pPr>
                      <a:r>
                        <a:rPr b="1" lang="en-US" sz="900">
                          <a:solidFill>
                            <a:srgbClr val="0C447C"/>
                          </a:solidFill>
                          <a:latin typeface="Calibri"/>
                          <a:ea typeface="Calibri"/>
                          <a:cs typeface="Calibri"/>
                          <a:sym typeface="Calibri"/>
                        </a:rPr>
                        <a:t>8,760</a:t>
                      </a:r>
                      <a:endParaRPr b="1" sz="900">
                        <a:solidFill>
                          <a:srgbClr val="0C447C"/>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6F1FB"/>
                    </a:solidFill>
                  </a:tcPr>
                </a:tc>
                <a:tc>
                  <a:txBody>
                    <a:bodyPr/>
                    <a:lstStyle/>
                    <a:p>
                      <a:pPr indent="0" lvl="0" marL="0" rtl="0" algn="ctr">
                        <a:lnSpc>
                          <a:spcPct val="115000"/>
                        </a:lnSpc>
                        <a:spcBef>
                          <a:spcPts val="0"/>
                        </a:spcBef>
                        <a:spcAft>
                          <a:spcPts val="0"/>
                        </a:spcAft>
                        <a:buNone/>
                      </a:pPr>
                      <a:r>
                        <a:rPr lang="en-US" sz="900">
                          <a:solidFill>
                            <a:srgbClr val="3B6D11"/>
                          </a:solidFill>
                          <a:latin typeface="Calibri"/>
                          <a:ea typeface="Calibri"/>
                          <a:cs typeface="Calibri"/>
                          <a:sym typeface="Calibri"/>
                        </a:rPr>
                        <a:t>+63%</a:t>
                      </a:r>
                      <a:endParaRPr sz="900">
                        <a:solidFill>
                          <a:srgbClr val="3B6D1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AF3DE"/>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b">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5,373</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New Copy</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F5FA6"/>
                    </a:solidFill>
                  </a:tcPr>
                </a:tc>
                <a:tc>
                  <a:txBody>
                    <a:bodyPr/>
                    <a:lstStyle/>
                    <a:p>
                      <a:pPr indent="0" lvl="0" marL="0" rtl="0" algn="l">
                        <a:lnSpc>
                          <a:spcPct val="115000"/>
                        </a:lnSpc>
                        <a:spcBef>
                          <a:spcPts val="0"/>
                        </a:spcBef>
                        <a:spcAft>
                          <a:spcPts val="0"/>
                        </a:spcAft>
                        <a:buNone/>
                      </a:pPr>
                      <a:r>
                        <a:rPr lang="en-US" sz="800">
                          <a:solidFill>
                            <a:srgbClr val="444441"/>
                          </a:solidFill>
                          <a:latin typeface="Calibri"/>
                          <a:ea typeface="Calibri"/>
                          <a:cs typeface="Calibri"/>
                          <a:sym typeface="Calibri"/>
                        </a:rPr>
                        <a:t>New copy captured significantly more auction volume</a:t>
                      </a:r>
                      <a:endParaRPr sz="8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AFAF8"/>
                    </a:solidFill>
                  </a:tcPr>
                </a:tc>
              </a:tr>
              <a:tr h="194625">
                <a:tc>
                  <a:txBody>
                    <a:bodyPr/>
                    <a:lstStyle/>
                    <a:p>
                      <a:pPr indent="0" lvl="0" marL="0" rtl="0" algn="l">
                        <a:lnSpc>
                          <a:spcPct val="115000"/>
                        </a:lnSpc>
                        <a:spcBef>
                          <a:spcPts val="0"/>
                        </a:spcBef>
                        <a:spcAft>
                          <a:spcPts val="0"/>
                        </a:spcAft>
                        <a:buNone/>
                      </a:pPr>
                      <a:r>
                        <a:rPr b="1" lang="en-US" sz="900">
                          <a:solidFill>
                            <a:srgbClr val="444441"/>
                          </a:solidFill>
                          <a:latin typeface="Calibri"/>
                          <a:ea typeface="Calibri"/>
                          <a:cs typeface="Calibri"/>
                          <a:sym typeface="Calibri"/>
                        </a:rPr>
                        <a:t>Clicks</a:t>
                      </a:r>
                      <a:endParaRPr b="1" sz="9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7F7F5"/>
                    </a:solidFill>
                  </a:tcPr>
                </a:tc>
                <a:tc>
                  <a:txBody>
                    <a:bodyPr/>
                    <a:lstStyle/>
                    <a:p>
                      <a:pPr indent="0" lvl="0" marL="0" rtl="0" algn="ctr">
                        <a:lnSpc>
                          <a:spcPct val="115000"/>
                        </a:lnSpc>
                        <a:spcBef>
                          <a:spcPts val="0"/>
                        </a:spcBef>
                        <a:spcAft>
                          <a:spcPts val="0"/>
                        </a:spcAft>
                        <a:buNone/>
                      </a:pPr>
                      <a:r>
                        <a:rPr b="1" lang="en-US" sz="900">
                          <a:solidFill>
                            <a:srgbClr val="0C447C"/>
                          </a:solidFill>
                          <a:latin typeface="Calibri"/>
                          <a:ea typeface="Calibri"/>
                          <a:cs typeface="Calibri"/>
                          <a:sym typeface="Calibri"/>
                        </a:rPr>
                        <a:t>1,114</a:t>
                      </a:r>
                      <a:endParaRPr b="1" sz="900">
                        <a:solidFill>
                          <a:srgbClr val="0C447C"/>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6F1FB"/>
                    </a:solidFill>
                  </a:tcPr>
                </a:tc>
                <a:tc>
                  <a:txBody>
                    <a:bodyPr/>
                    <a:lstStyle/>
                    <a:p>
                      <a:pPr indent="0" lvl="0" marL="0" rtl="0" algn="ctr">
                        <a:lnSpc>
                          <a:spcPct val="115000"/>
                        </a:lnSpc>
                        <a:spcBef>
                          <a:spcPts val="0"/>
                        </a:spcBef>
                        <a:spcAft>
                          <a:spcPts val="0"/>
                        </a:spcAft>
                        <a:buNone/>
                      </a:pPr>
                      <a:r>
                        <a:rPr lang="en-US" sz="900">
                          <a:solidFill>
                            <a:srgbClr val="3B6D11"/>
                          </a:solidFill>
                          <a:latin typeface="Calibri"/>
                          <a:ea typeface="Calibri"/>
                          <a:cs typeface="Calibri"/>
                          <a:sym typeface="Calibri"/>
                        </a:rPr>
                        <a:t>+112%</a:t>
                      </a:r>
                      <a:endParaRPr sz="900">
                        <a:solidFill>
                          <a:srgbClr val="3B6D1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AF3DE"/>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b">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526</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New Copy</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F5FA6"/>
                    </a:solidFill>
                  </a:tcPr>
                </a:tc>
                <a:tc>
                  <a:txBody>
                    <a:bodyPr/>
                    <a:lstStyle/>
                    <a:p>
                      <a:pPr indent="0" lvl="0" marL="0" rtl="0" algn="l">
                        <a:lnSpc>
                          <a:spcPct val="115000"/>
                        </a:lnSpc>
                        <a:spcBef>
                          <a:spcPts val="0"/>
                        </a:spcBef>
                        <a:spcAft>
                          <a:spcPts val="0"/>
                        </a:spcAft>
                        <a:buNone/>
                      </a:pPr>
                      <a:r>
                        <a:rPr lang="en-US" sz="800">
                          <a:solidFill>
                            <a:srgbClr val="444441"/>
                          </a:solidFill>
                          <a:latin typeface="Calibri"/>
                          <a:ea typeface="Calibri"/>
                          <a:cs typeface="Calibri"/>
                          <a:sym typeface="Calibri"/>
                        </a:rPr>
                        <a:t>2x more clicks — higher CTR driving volume</a:t>
                      </a:r>
                      <a:endParaRPr sz="8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AFAF8"/>
                    </a:solidFill>
                  </a:tcPr>
                </a:tc>
              </a:tr>
              <a:tr h="250975">
                <a:tc>
                  <a:txBody>
                    <a:bodyPr/>
                    <a:lstStyle/>
                    <a:p>
                      <a:pPr indent="0" lvl="0" marL="0" rtl="0" algn="l">
                        <a:lnSpc>
                          <a:spcPct val="115000"/>
                        </a:lnSpc>
                        <a:spcBef>
                          <a:spcPts val="0"/>
                        </a:spcBef>
                        <a:spcAft>
                          <a:spcPts val="0"/>
                        </a:spcAft>
                        <a:buNone/>
                      </a:pPr>
                      <a:r>
                        <a:rPr b="1" lang="en-US" sz="900">
                          <a:solidFill>
                            <a:srgbClr val="444441"/>
                          </a:solidFill>
                          <a:latin typeface="Calibri"/>
                          <a:ea typeface="Calibri"/>
                          <a:cs typeface="Calibri"/>
                          <a:sym typeface="Calibri"/>
                        </a:rPr>
                        <a:t>CTR</a:t>
                      </a:r>
                      <a:endParaRPr b="1" sz="9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7F7F5"/>
                    </a:solidFill>
                  </a:tcPr>
                </a:tc>
                <a:tc>
                  <a:txBody>
                    <a:bodyPr/>
                    <a:lstStyle/>
                    <a:p>
                      <a:pPr indent="0" lvl="0" marL="0" rtl="0" algn="ctr">
                        <a:lnSpc>
                          <a:spcPct val="115000"/>
                        </a:lnSpc>
                        <a:spcBef>
                          <a:spcPts val="0"/>
                        </a:spcBef>
                        <a:spcAft>
                          <a:spcPts val="0"/>
                        </a:spcAft>
                        <a:buNone/>
                      </a:pPr>
                      <a:r>
                        <a:rPr b="1" lang="en-US" sz="900">
                          <a:solidFill>
                            <a:srgbClr val="0C447C"/>
                          </a:solidFill>
                          <a:latin typeface="Calibri"/>
                          <a:ea typeface="Calibri"/>
                          <a:cs typeface="Calibri"/>
                          <a:sym typeface="Calibri"/>
                        </a:rPr>
                        <a:t>12.72%</a:t>
                      </a:r>
                      <a:endParaRPr b="1" sz="900">
                        <a:solidFill>
                          <a:srgbClr val="0C447C"/>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6F1FB"/>
                    </a:solidFill>
                  </a:tcPr>
                </a:tc>
                <a:tc>
                  <a:txBody>
                    <a:bodyPr/>
                    <a:lstStyle/>
                    <a:p>
                      <a:pPr indent="0" lvl="0" marL="0" rtl="0" algn="ctr">
                        <a:lnSpc>
                          <a:spcPct val="115000"/>
                        </a:lnSpc>
                        <a:spcBef>
                          <a:spcPts val="0"/>
                        </a:spcBef>
                        <a:spcAft>
                          <a:spcPts val="0"/>
                        </a:spcAft>
                        <a:buNone/>
                      </a:pPr>
                      <a:r>
                        <a:rPr lang="en-US" sz="900">
                          <a:solidFill>
                            <a:srgbClr val="3B6D11"/>
                          </a:solidFill>
                          <a:latin typeface="Calibri"/>
                          <a:ea typeface="Calibri"/>
                          <a:cs typeface="Calibri"/>
                          <a:sym typeface="Calibri"/>
                        </a:rPr>
                        <a:t>+2.93pp</a:t>
                      </a:r>
                      <a:endParaRPr sz="900">
                        <a:solidFill>
                          <a:srgbClr val="3B6D1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AF3DE"/>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b">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9.79%</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New Copy</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F5FA6"/>
                    </a:solidFill>
                  </a:tcPr>
                </a:tc>
                <a:tc>
                  <a:txBody>
                    <a:bodyPr/>
                    <a:lstStyle/>
                    <a:p>
                      <a:pPr indent="0" lvl="0" marL="0" rtl="0" algn="l">
                        <a:lnSpc>
                          <a:spcPct val="115000"/>
                        </a:lnSpc>
                        <a:spcBef>
                          <a:spcPts val="0"/>
                        </a:spcBef>
                        <a:spcAft>
                          <a:spcPts val="0"/>
                        </a:spcAft>
                        <a:buNone/>
                      </a:pPr>
                      <a:r>
                        <a:rPr lang="en-US" sz="800">
                          <a:solidFill>
                            <a:srgbClr val="444441"/>
                          </a:solidFill>
                          <a:latin typeface="Calibri"/>
                          <a:ea typeface="Calibri"/>
                          <a:cs typeface="Calibri"/>
                          <a:sym typeface="Calibri"/>
                        </a:rPr>
                        <a:t>Strongest signal for new copy; product-specific H1 working</a:t>
                      </a:r>
                      <a:endParaRPr sz="8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AFAF8"/>
                    </a:solidFill>
                  </a:tcPr>
                </a:tc>
              </a:tr>
              <a:tr h="174150">
                <a:tc>
                  <a:txBody>
                    <a:bodyPr/>
                    <a:lstStyle/>
                    <a:p>
                      <a:pPr indent="0" lvl="0" marL="0" rtl="0" algn="l">
                        <a:lnSpc>
                          <a:spcPct val="115000"/>
                        </a:lnSpc>
                        <a:spcBef>
                          <a:spcPts val="0"/>
                        </a:spcBef>
                        <a:spcAft>
                          <a:spcPts val="0"/>
                        </a:spcAft>
                        <a:buNone/>
                      </a:pPr>
                      <a:r>
                        <a:rPr b="1" lang="en-US" sz="900">
                          <a:solidFill>
                            <a:srgbClr val="444441"/>
                          </a:solidFill>
                          <a:latin typeface="Calibri"/>
                          <a:ea typeface="Calibri"/>
                          <a:cs typeface="Calibri"/>
                          <a:sym typeface="Calibri"/>
                        </a:rPr>
                        <a:t>Avg. CPC</a:t>
                      </a:r>
                      <a:endParaRPr b="1" sz="9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7F7F5"/>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£2.23</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lang="en-US" sz="900">
                          <a:solidFill>
                            <a:srgbClr val="A32D2D"/>
                          </a:solidFill>
                          <a:latin typeface="Calibri"/>
                          <a:ea typeface="Calibri"/>
                          <a:cs typeface="Calibri"/>
                          <a:sym typeface="Calibri"/>
                        </a:rPr>
                        <a:t>+78%</a:t>
                      </a:r>
                      <a:endParaRPr sz="900">
                        <a:solidFill>
                          <a:srgbClr val="A32D2D"/>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CEBEB"/>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b">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US" sz="900">
                          <a:solidFill>
                            <a:srgbClr val="0C447C"/>
                          </a:solidFill>
                          <a:latin typeface="Calibri"/>
                          <a:ea typeface="Calibri"/>
                          <a:cs typeface="Calibri"/>
                          <a:sym typeface="Calibri"/>
                        </a:rPr>
                        <a:t>£1.25</a:t>
                      </a:r>
                      <a:endParaRPr b="1" sz="900">
                        <a:solidFill>
                          <a:srgbClr val="0C447C"/>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6F1FB"/>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Control</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27622A"/>
                    </a:solidFill>
                  </a:tcPr>
                </a:tc>
                <a:tc>
                  <a:txBody>
                    <a:bodyPr/>
                    <a:lstStyle/>
                    <a:p>
                      <a:pPr indent="0" lvl="0" marL="0" rtl="0" algn="l">
                        <a:lnSpc>
                          <a:spcPct val="115000"/>
                        </a:lnSpc>
                        <a:spcBef>
                          <a:spcPts val="0"/>
                        </a:spcBef>
                        <a:spcAft>
                          <a:spcPts val="0"/>
                        </a:spcAft>
                        <a:buNone/>
                      </a:pPr>
                      <a:r>
                        <a:rPr lang="en-US" sz="800">
                          <a:solidFill>
                            <a:srgbClr val="444441"/>
                          </a:solidFill>
                          <a:latin typeface="Calibri"/>
                          <a:ea typeface="Calibri"/>
                          <a:cs typeface="Calibri"/>
                          <a:sym typeface="Calibri"/>
                        </a:rPr>
                        <a:t>Control nearly half the CPC, key efficiency advantage</a:t>
                      </a:r>
                      <a:endParaRPr sz="8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AFAF8"/>
                    </a:solidFill>
                  </a:tcPr>
                </a:tc>
              </a:tr>
              <a:tr h="250975">
                <a:tc>
                  <a:txBody>
                    <a:bodyPr/>
                    <a:lstStyle/>
                    <a:p>
                      <a:pPr indent="0" lvl="0" marL="0" rtl="0" algn="l">
                        <a:lnSpc>
                          <a:spcPct val="115000"/>
                        </a:lnSpc>
                        <a:spcBef>
                          <a:spcPts val="0"/>
                        </a:spcBef>
                        <a:spcAft>
                          <a:spcPts val="0"/>
                        </a:spcAft>
                        <a:buNone/>
                      </a:pPr>
                      <a:r>
                        <a:rPr b="1" lang="en-US" sz="900">
                          <a:solidFill>
                            <a:srgbClr val="444441"/>
                          </a:solidFill>
                          <a:latin typeface="Calibri"/>
                          <a:ea typeface="Calibri"/>
                          <a:cs typeface="Calibri"/>
                          <a:sym typeface="Calibri"/>
                        </a:rPr>
                        <a:t>Conversions</a:t>
                      </a:r>
                      <a:endParaRPr b="1" sz="9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7F7F5"/>
                    </a:solidFill>
                  </a:tcPr>
                </a:tc>
                <a:tc>
                  <a:txBody>
                    <a:bodyPr/>
                    <a:lstStyle/>
                    <a:p>
                      <a:pPr indent="0" lvl="0" marL="0" rtl="0" algn="ctr">
                        <a:lnSpc>
                          <a:spcPct val="115000"/>
                        </a:lnSpc>
                        <a:spcBef>
                          <a:spcPts val="0"/>
                        </a:spcBef>
                        <a:spcAft>
                          <a:spcPts val="0"/>
                        </a:spcAft>
                        <a:buNone/>
                      </a:pPr>
                      <a:r>
                        <a:rPr b="1" lang="en-US" sz="900">
                          <a:solidFill>
                            <a:srgbClr val="0C447C"/>
                          </a:solidFill>
                          <a:latin typeface="Calibri"/>
                          <a:ea typeface="Calibri"/>
                          <a:cs typeface="Calibri"/>
                          <a:sym typeface="Calibri"/>
                        </a:rPr>
                        <a:t>30.00</a:t>
                      </a:r>
                      <a:endParaRPr b="1" sz="900">
                        <a:solidFill>
                          <a:srgbClr val="0C447C"/>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6F1FB"/>
                    </a:solidFill>
                  </a:tcPr>
                </a:tc>
                <a:tc>
                  <a:txBody>
                    <a:bodyPr/>
                    <a:lstStyle/>
                    <a:p>
                      <a:pPr indent="0" lvl="0" marL="0" rtl="0" algn="ctr">
                        <a:lnSpc>
                          <a:spcPct val="115000"/>
                        </a:lnSpc>
                        <a:spcBef>
                          <a:spcPts val="0"/>
                        </a:spcBef>
                        <a:spcAft>
                          <a:spcPts val="0"/>
                        </a:spcAft>
                        <a:buNone/>
                      </a:pPr>
                      <a:r>
                        <a:rPr lang="en-US" sz="900">
                          <a:solidFill>
                            <a:srgbClr val="3B6D11"/>
                          </a:solidFill>
                          <a:latin typeface="Calibri"/>
                          <a:ea typeface="Calibri"/>
                          <a:cs typeface="Calibri"/>
                          <a:sym typeface="Calibri"/>
                        </a:rPr>
                        <a:t>+165%</a:t>
                      </a:r>
                      <a:endParaRPr sz="900">
                        <a:solidFill>
                          <a:srgbClr val="3B6D1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AF3DE"/>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b">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11.33</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New Copy</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F5FA6"/>
                    </a:solidFill>
                  </a:tcPr>
                </a:tc>
                <a:tc>
                  <a:txBody>
                    <a:bodyPr/>
                    <a:lstStyle/>
                    <a:p>
                      <a:pPr indent="0" lvl="0" marL="0" rtl="0" algn="l">
                        <a:lnSpc>
                          <a:spcPct val="115000"/>
                        </a:lnSpc>
                        <a:spcBef>
                          <a:spcPts val="0"/>
                        </a:spcBef>
                        <a:spcAft>
                          <a:spcPts val="0"/>
                        </a:spcAft>
                        <a:buNone/>
                      </a:pPr>
                      <a:r>
                        <a:rPr lang="en-US" sz="800">
                          <a:solidFill>
                            <a:srgbClr val="444441"/>
                          </a:solidFill>
                          <a:latin typeface="Calibri"/>
                          <a:ea typeface="Calibri"/>
                          <a:cs typeface="Calibri"/>
                          <a:sym typeface="Calibri"/>
                        </a:rPr>
                        <a:t>~3x more conversions; partly a function of higher spend</a:t>
                      </a:r>
                      <a:endParaRPr sz="8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AFAF8"/>
                    </a:solidFill>
                  </a:tcPr>
                </a:tc>
              </a:tr>
              <a:tr h="250975">
                <a:tc>
                  <a:txBody>
                    <a:bodyPr/>
                    <a:lstStyle/>
                    <a:p>
                      <a:pPr indent="0" lvl="0" marL="0" rtl="0" algn="l">
                        <a:lnSpc>
                          <a:spcPct val="115000"/>
                        </a:lnSpc>
                        <a:spcBef>
                          <a:spcPts val="0"/>
                        </a:spcBef>
                        <a:spcAft>
                          <a:spcPts val="0"/>
                        </a:spcAft>
                        <a:buNone/>
                      </a:pPr>
                      <a:r>
                        <a:rPr b="1" lang="en-US" sz="900">
                          <a:solidFill>
                            <a:srgbClr val="444441"/>
                          </a:solidFill>
                          <a:latin typeface="Calibri"/>
                          <a:ea typeface="Calibri"/>
                          <a:cs typeface="Calibri"/>
                          <a:sym typeface="Calibri"/>
                        </a:rPr>
                        <a:t>CPA</a:t>
                      </a:r>
                      <a:endParaRPr b="1" sz="9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7F7F5"/>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£82.97</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lang="en-US" sz="900">
                          <a:solidFill>
                            <a:srgbClr val="A32D2D"/>
                          </a:solidFill>
                          <a:latin typeface="Calibri"/>
                          <a:ea typeface="Calibri"/>
                          <a:cs typeface="Calibri"/>
                          <a:sym typeface="Calibri"/>
                        </a:rPr>
                        <a:t>+43%</a:t>
                      </a:r>
                      <a:endParaRPr sz="900">
                        <a:solidFill>
                          <a:srgbClr val="A32D2D"/>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CEBEB"/>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b">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US" sz="900">
                          <a:solidFill>
                            <a:srgbClr val="0C447C"/>
                          </a:solidFill>
                          <a:latin typeface="Calibri"/>
                          <a:ea typeface="Calibri"/>
                          <a:cs typeface="Calibri"/>
                          <a:sym typeface="Calibri"/>
                        </a:rPr>
                        <a:t>£57.88</a:t>
                      </a:r>
                      <a:endParaRPr b="1" sz="900">
                        <a:solidFill>
                          <a:srgbClr val="0C447C"/>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6F1FB"/>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Control</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27622A"/>
                    </a:solidFill>
                  </a:tcPr>
                </a:tc>
                <a:tc>
                  <a:txBody>
                    <a:bodyPr/>
                    <a:lstStyle/>
                    <a:p>
                      <a:pPr indent="0" lvl="0" marL="0" rtl="0" algn="l">
                        <a:lnSpc>
                          <a:spcPct val="115000"/>
                        </a:lnSpc>
                        <a:spcBef>
                          <a:spcPts val="0"/>
                        </a:spcBef>
                        <a:spcAft>
                          <a:spcPts val="0"/>
                        </a:spcAft>
                        <a:buNone/>
                      </a:pPr>
                      <a:r>
                        <a:rPr lang="en-US" sz="800">
                          <a:solidFill>
                            <a:srgbClr val="444441"/>
                          </a:solidFill>
                          <a:latin typeface="Calibri"/>
                          <a:ea typeface="Calibri"/>
                          <a:cs typeface="Calibri"/>
                          <a:sym typeface="Calibri"/>
                        </a:rPr>
                        <a:t>Control £25.09 cheaper per conv. - CPC differential is the cause</a:t>
                      </a:r>
                      <a:endParaRPr sz="8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AFAF8"/>
                    </a:solidFill>
                  </a:tcPr>
                </a:tc>
              </a:tr>
              <a:tr h="250975">
                <a:tc>
                  <a:txBody>
                    <a:bodyPr/>
                    <a:lstStyle/>
                    <a:p>
                      <a:pPr indent="0" lvl="0" marL="0" rtl="0" algn="l">
                        <a:lnSpc>
                          <a:spcPct val="115000"/>
                        </a:lnSpc>
                        <a:spcBef>
                          <a:spcPts val="0"/>
                        </a:spcBef>
                        <a:spcAft>
                          <a:spcPts val="0"/>
                        </a:spcAft>
                        <a:buNone/>
                      </a:pPr>
                      <a:r>
                        <a:rPr b="1" lang="en-US" sz="900">
                          <a:solidFill>
                            <a:srgbClr val="444441"/>
                          </a:solidFill>
                          <a:latin typeface="Calibri"/>
                          <a:ea typeface="Calibri"/>
                          <a:cs typeface="Calibri"/>
                          <a:sym typeface="Calibri"/>
                        </a:rPr>
                        <a:t>Conv. rate</a:t>
                      </a:r>
                      <a:endParaRPr b="1" sz="9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7F7F5"/>
                    </a:solidFill>
                  </a:tcPr>
                </a:tc>
                <a:tc>
                  <a:txBody>
                    <a:bodyPr/>
                    <a:lstStyle/>
                    <a:p>
                      <a:pPr indent="0" lvl="0" marL="0" rtl="0" algn="ctr">
                        <a:lnSpc>
                          <a:spcPct val="115000"/>
                        </a:lnSpc>
                        <a:spcBef>
                          <a:spcPts val="0"/>
                        </a:spcBef>
                        <a:spcAft>
                          <a:spcPts val="0"/>
                        </a:spcAft>
                        <a:buNone/>
                      </a:pPr>
                      <a:r>
                        <a:rPr b="1" lang="en-US" sz="900">
                          <a:solidFill>
                            <a:srgbClr val="0C447C"/>
                          </a:solidFill>
                          <a:latin typeface="Calibri"/>
                          <a:ea typeface="Calibri"/>
                          <a:cs typeface="Calibri"/>
                          <a:sym typeface="Calibri"/>
                        </a:rPr>
                        <a:t>2.69%</a:t>
                      </a:r>
                      <a:endParaRPr b="1" sz="900">
                        <a:solidFill>
                          <a:srgbClr val="0C447C"/>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6F1FB"/>
                    </a:solidFill>
                  </a:tcPr>
                </a:tc>
                <a:tc>
                  <a:txBody>
                    <a:bodyPr/>
                    <a:lstStyle/>
                    <a:p>
                      <a:pPr indent="0" lvl="0" marL="0" rtl="0" algn="ctr">
                        <a:lnSpc>
                          <a:spcPct val="115000"/>
                        </a:lnSpc>
                        <a:spcBef>
                          <a:spcPts val="0"/>
                        </a:spcBef>
                        <a:spcAft>
                          <a:spcPts val="0"/>
                        </a:spcAft>
                        <a:buNone/>
                      </a:pPr>
                      <a:r>
                        <a:rPr lang="en-US" sz="900">
                          <a:solidFill>
                            <a:srgbClr val="3B6D11"/>
                          </a:solidFill>
                          <a:latin typeface="Calibri"/>
                          <a:ea typeface="Calibri"/>
                          <a:cs typeface="Calibri"/>
                          <a:sym typeface="Calibri"/>
                        </a:rPr>
                        <a:t>+0.54pp</a:t>
                      </a:r>
                      <a:endParaRPr sz="900">
                        <a:solidFill>
                          <a:srgbClr val="3B6D1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AF3DE"/>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b">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2.15%</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New Copy</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F5FA6"/>
                    </a:solidFill>
                  </a:tcPr>
                </a:tc>
                <a:tc>
                  <a:txBody>
                    <a:bodyPr/>
                    <a:lstStyle/>
                    <a:p>
                      <a:pPr indent="0" lvl="0" marL="0" rtl="0" algn="l">
                        <a:lnSpc>
                          <a:spcPct val="115000"/>
                        </a:lnSpc>
                        <a:spcBef>
                          <a:spcPts val="0"/>
                        </a:spcBef>
                        <a:spcAft>
                          <a:spcPts val="0"/>
                        </a:spcAft>
                        <a:buNone/>
                      </a:pPr>
                      <a:r>
                        <a:rPr lang="en-US" sz="800">
                          <a:solidFill>
                            <a:srgbClr val="444441"/>
                          </a:solidFill>
                          <a:latin typeface="Calibri"/>
                          <a:ea typeface="Calibri"/>
                          <a:cs typeface="Calibri"/>
                          <a:sym typeface="Calibri"/>
                        </a:rPr>
                        <a:t>Marginal gap - both ads convert at comparable rates on-site</a:t>
                      </a:r>
                      <a:endParaRPr sz="8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AFAF8"/>
                    </a:solidFill>
                  </a:tcPr>
                </a:tc>
              </a:tr>
              <a:tr h="250975">
                <a:tc>
                  <a:txBody>
                    <a:bodyPr/>
                    <a:lstStyle/>
                    <a:p>
                      <a:pPr indent="0" lvl="0" marL="0" rtl="0" algn="l">
                        <a:lnSpc>
                          <a:spcPct val="115000"/>
                        </a:lnSpc>
                        <a:spcBef>
                          <a:spcPts val="0"/>
                        </a:spcBef>
                        <a:spcAft>
                          <a:spcPts val="0"/>
                        </a:spcAft>
                        <a:buNone/>
                      </a:pPr>
                      <a:r>
                        <a:rPr b="1" lang="en-US" sz="900">
                          <a:solidFill>
                            <a:srgbClr val="444441"/>
                          </a:solidFill>
                          <a:latin typeface="Calibri"/>
                          <a:ea typeface="Calibri"/>
                          <a:cs typeface="Calibri"/>
                          <a:sym typeface="Calibri"/>
                        </a:rPr>
                        <a:t>Spend</a:t>
                      </a:r>
                      <a:endParaRPr b="1" sz="9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7F7F5"/>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£2,489</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lang="en-US" sz="900">
                          <a:solidFill>
                            <a:srgbClr val="3B6D11"/>
                          </a:solidFill>
                          <a:latin typeface="Calibri"/>
                          <a:ea typeface="Calibri"/>
                          <a:cs typeface="Calibri"/>
                          <a:sym typeface="Calibri"/>
                        </a:rPr>
                        <a:t>4.6x</a:t>
                      </a:r>
                      <a:endParaRPr sz="900">
                        <a:solidFill>
                          <a:srgbClr val="3B6D1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AF3DE"/>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b">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£656</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N/A</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888780"/>
                    </a:solidFill>
                  </a:tcPr>
                </a:tc>
                <a:tc>
                  <a:txBody>
                    <a:bodyPr/>
                    <a:lstStyle/>
                    <a:p>
                      <a:pPr indent="0" lvl="0" marL="0" rtl="0" algn="l">
                        <a:lnSpc>
                          <a:spcPct val="115000"/>
                        </a:lnSpc>
                        <a:spcBef>
                          <a:spcPts val="0"/>
                        </a:spcBef>
                        <a:spcAft>
                          <a:spcPts val="0"/>
                        </a:spcAft>
                        <a:buNone/>
                      </a:pPr>
                      <a:r>
                        <a:rPr lang="en-US" sz="800">
                          <a:solidFill>
                            <a:srgbClr val="444441"/>
                          </a:solidFill>
                          <a:latin typeface="Calibri"/>
                          <a:ea typeface="Calibri"/>
                          <a:cs typeface="Calibri"/>
                          <a:sym typeface="Calibri"/>
                        </a:rPr>
                        <a:t>Unequal split — limits statistical confidence of this test</a:t>
                      </a:r>
                      <a:endParaRPr sz="8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AFAF8"/>
                    </a:solidFill>
                  </a:tcPr>
                </a:tc>
              </a:tr>
              <a:tr h="250975">
                <a:tc>
                  <a:txBody>
                    <a:bodyPr/>
                    <a:lstStyle/>
                    <a:p>
                      <a:pPr indent="0" lvl="0" marL="0" rtl="0" algn="l">
                        <a:lnSpc>
                          <a:spcPct val="115000"/>
                        </a:lnSpc>
                        <a:spcBef>
                          <a:spcPts val="0"/>
                        </a:spcBef>
                        <a:spcAft>
                          <a:spcPts val="0"/>
                        </a:spcAft>
                        <a:buNone/>
                      </a:pPr>
                      <a:r>
                        <a:rPr b="1" lang="en-US" sz="900">
                          <a:solidFill>
                            <a:srgbClr val="444441"/>
                          </a:solidFill>
                          <a:latin typeface="Calibri"/>
                          <a:ea typeface="Calibri"/>
                          <a:cs typeface="Calibri"/>
                          <a:sym typeface="Calibri"/>
                        </a:rPr>
                        <a:t>Ad strength</a:t>
                      </a:r>
                      <a:endParaRPr b="1" sz="9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7F7F5"/>
                    </a:solidFill>
                  </a:tcPr>
                </a:tc>
                <a:tc>
                  <a:txBody>
                    <a:bodyPr/>
                    <a:lstStyle/>
                    <a:p>
                      <a:pPr indent="0" lvl="0" marL="0" rtl="0" algn="ctr">
                        <a:lnSpc>
                          <a:spcPct val="115000"/>
                        </a:lnSpc>
                        <a:spcBef>
                          <a:spcPts val="0"/>
                        </a:spcBef>
                        <a:spcAft>
                          <a:spcPts val="0"/>
                        </a:spcAft>
                        <a:buNone/>
                      </a:pPr>
                      <a:r>
                        <a:rPr b="1" lang="en-US" sz="900">
                          <a:solidFill>
                            <a:srgbClr val="0C447C"/>
                          </a:solidFill>
                          <a:latin typeface="Calibri"/>
                          <a:ea typeface="Calibri"/>
                          <a:cs typeface="Calibri"/>
                          <a:sym typeface="Calibri"/>
                        </a:rPr>
                        <a:t>Good</a:t>
                      </a:r>
                      <a:endParaRPr b="1" sz="900">
                        <a:solidFill>
                          <a:srgbClr val="0C447C"/>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6F1FB"/>
                    </a:solidFill>
                  </a:tcPr>
                </a:tc>
                <a:tc>
                  <a:txBody>
                    <a:bodyPr/>
                    <a:lstStyle/>
                    <a:p>
                      <a:pPr indent="0" lvl="0" marL="0" rtl="0" algn="ctr">
                        <a:lnSpc>
                          <a:spcPct val="115000"/>
                        </a:lnSpc>
                        <a:spcBef>
                          <a:spcPts val="0"/>
                        </a:spcBef>
                        <a:spcAft>
                          <a:spcPts val="0"/>
                        </a:spcAft>
                        <a:buNone/>
                      </a:pPr>
                      <a:r>
                        <a:rPr lang="en-US" sz="900">
                          <a:solidFill>
                            <a:srgbClr val="3B6D11"/>
                          </a:solidFill>
                          <a:latin typeface="Calibri"/>
                          <a:ea typeface="Calibri"/>
                          <a:cs typeface="Calibri"/>
                          <a:sym typeface="Calibri"/>
                        </a:rPr>
                        <a:t>—</a:t>
                      </a:r>
                      <a:endParaRPr sz="900">
                        <a:solidFill>
                          <a:srgbClr val="3B6D1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EAF3DE"/>
                    </a:solidFill>
                  </a:tcPr>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19050" marB="19050" marR="28575" marL="28575" anchor="b">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US" sz="900">
                          <a:solidFill>
                            <a:srgbClr val="5F5E5A"/>
                          </a:solidFill>
                          <a:latin typeface="Calibri"/>
                          <a:ea typeface="Calibri"/>
                          <a:cs typeface="Calibri"/>
                          <a:sym typeface="Calibri"/>
                        </a:rPr>
                        <a:t>Poor</a:t>
                      </a:r>
                      <a:endParaRPr b="1" sz="900">
                        <a:solidFill>
                          <a:srgbClr val="5F5E5A"/>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1EFE8"/>
                    </a:solidFill>
                  </a:tcPr>
                </a:tc>
                <a:tc>
                  <a:txBody>
                    <a:bodyPr/>
                    <a:lstStyle/>
                    <a:p>
                      <a:pPr indent="0" lvl="0" marL="0" rtl="0" algn="ctr">
                        <a:lnSpc>
                          <a:spcPct val="115000"/>
                        </a:lnSpc>
                        <a:spcBef>
                          <a:spcPts val="0"/>
                        </a:spcBef>
                        <a:spcAft>
                          <a:spcPts val="0"/>
                        </a:spcAft>
                        <a:buNone/>
                      </a:pPr>
                      <a:r>
                        <a:rPr b="1" lang="en-US" sz="900">
                          <a:solidFill>
                            <a:srgbClr val="FFFFFF"/>
                          </a:solidFill>
                          <a:latin typeface="Calibri"/>
                          <a:ea typeface="Calibri"/>
                          <a:cs typeface="Calibri"/>
                          <a:sym typeface="Calibri"/>
                        </a:rPr>
                        <a:t>New Copy</a:t>
                      </a:r>
                      <a:endParaRPr b="1" sz="900">
                        <a:solidFill>
                          <a:srgbClr val="FFFFFF"/>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1F5FA6"/>
                    </a:solidFill>
                  </a:tcPr>
                </a:tc>
                <a:tc>
                  <a:txBody>
                    <a:bodyPr/>
                    <a:lstStyle/>
                    <a:p>
                      <a:pPr indent="0" lvl="0" marL="0" rtl="0" algn="l">
                        <a:lnSpc>
                          <a:spcPct val="115000"/>
                        </a:lnSpc>
                        <a:spcBef>
                          <a:spcPts val="0"/>
                        </a:spcBef>
                        <a:spcAft>
                          <a:spcPts val="0"/>
                        </a:spcAft>
                        <a:buNone/>
                      </a:pPr>
                      <a:r>
                        <a:rPr lang="en-US" sz="800">
                          <a:solidFill>
                            <a:srgbClr val="444441"/>
                          </a:solidFill>
                          <a:latin typeface="Calibri"/>
                          <a:ea typeface="Calibri"/>
                          <a:cs typeface="Calibri"/>
                          <a:sym typeface="Calibri"/>
                        </a:rPr>
                        <a:t>Control strength low due to H1/H2 pins for offer messaging</a:t>
                      </a:r>
                      <a:endParaRPr sz="800">
                        <a:solidFill>
                          <a:srgbClr val="444441"/>
                        </a:solidFill>
                        <a:latin typeface="Calibri"/>
                        <a:ea typeface="Calibri"/>
                        <a:cs typeface="Calibri"/>
                        <a:sym typeface="Calibri"/>
                      </a:endParaRPr>
                    </a:p>
                  </a:txBody>
                  <a:tcPr marT="19050" marB="19050" marR="28575" marL="28575" anchor="ctr">
                    <a:lnL cap="flat" cmpd="sng" w="9525">
                      <a:solidFill>
                        <a:srgbClr val="DADAD5"/>
                      </a:solidFill>
                      <a:prstDash val="solid"/>
                      <a:round/>
                      <a:headEnd len="sm" w="sm" type="none"/>
                      <a:tailEnd len="sm" w="sm" type="none"/>
                    </a:lnL>
                    <a:lnR cap="flat" cmpd="sng" w="9525">
                      <a:solidFill>
                        <a:srgbClr val="DADAD5"/>
                      </a:solidFill>
                      <a:prstDash val="solid"/>
                      <a:round/>
                      <a:headEnd len="sm" w="sm" type="none"/>
                      <a:tailEnd len="sm" w="sm" type="none"/>
                    </a:lnR>
                    <a:lnT cap="flat" cmpd="sng" w="9525">
                      <a:solidFill>
                        <a:srgbClr val="DADAD5"/>
                      </a:solidFill>
                      <a:prstDash val="solid"/>
                      <a:round/>
                      <a:headEnd len="sm" w="sm" type="none"/>
                      <a:tailEnd len="sm" w="sm" type="none"/>
                    </a:lnT>
                    <a:lnB cap="flat" cmpd="sng" w="9525">
                      <a:solidFill>
                        <a:srgbClr val="DADAD5"/>
                      </a:solidFill>
                      <a:prstDash val="solid"/>
                      <a:round/>
                      <a:headEnd len="sm" w="sm" type="none"/>
                      <a:tailEnd len="sm" w="sm" type="none"/>
                    </a:lnB>
                    <a:solidFill>
                      <a:srgbClr val="FAFAF8"/>
                    </a:solidFill>
                  </a:tcPr>
                </a:tc>
              </a:tr>
            </a:tbl>
          </a:graphicData>
        </a:graphic>
      </p:graphicFrame>
      <p:pic>
        <p:nvPicPr>
          <p:cNvPr id="760" name="Google Shape;760;p34"/>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35"/>
          <p:cNvSpPr/>
          <p:nvPr/>
        </p:nvSpPr>
        <p:spPr>
          <a:xfrm>
            <a:off x="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5"/>
          <p:cNvSpPr/>
          <p:nvPr/>
        </p:nvSpPr>
        <p:spPr>
          <a:xfrm>
            <a:off x="0"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5"/>
          <p:cNvSpPr/>
          <p:nvPr/>
        </p:nvSpPr>
        <p:spPr>
          <a:xfrm>
            <a:off x="128016" y="2934099"/>
            <a:ext cx="9015900" cy="639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5"/>
          <p:cNvSpPr/>
          <p:nvPr/>
        </p:nvSpPr>
        <p:spPr>
          <a:xfrm>
            <a:off x="914400"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Other Updates</a:t>
            </a:r>
            <a:endParaRPr b="0" i="0" sz="3600" u="none" cap="none" strike="noStrike">
              <a:solidFill>
                <a:srgbClr val="000000"/>
              </a:solidFill>
              <a:latin typeface="Calibri"/>
              <a:ea typeface="Calibri"/>
              <a:cs typeface="Calibri"/>
              <a:sym typeface="Calibri"/>
            </a:endParaRPr>
          </a:p>
        </p:txBody>
      </p:sp>
      <p:sp>
        <p:nvSpPr>
          <p:cNvPr id="770" name="Google Shape;770;p35"/>
          <p:cNvSpPr/>
          <p:nvPr/>
        </p:nvSpPr>
        <p:spPr>
          <a:xfrm>
            <a:off x="914400" y="316611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100"/>
              <a:buFont typeface="Calibri"/>
              <a:buNone/>
            </a:pPr>
            <a:r>
              <a:rPr b="0" i="0" lang="en-US" sz="1100" u="none" cap="none" strike="noStrike">
                <a:solidFill>
                  <a:srgbClr val="F5C6CB"/>
                </a:solidFill>
                <a:latin typeface="Calibri"/>
                <a:ea typeface="Calibri"/>
                <a:cs typeface="Calibri"/>
                <a:sym typeface="Calibri"/>
              </a:rPr>
              <a:t>Wendy Wu Tours | Q1 2026 | Summon</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36"/>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China AI Max 80% Test</a:t>
            </a:r>
            <a:endParaRPr b="0" i="0" sz="2000" u="none" cap="none" strike="noStrike">
              <a:solidFill>
                <a:srgbClr val="000000"/>
              </a:solidFill>
              <a:latin typeface="Calibri"/>
              <a:ea typeface="Calibri"/>
              <a:cs typeface="Calibri"/>
              <a:sym typeface="Calibri"/>
            </a:endParaRPr>
          </a:p>
        </p:txBody>
      </p:sp>
      <p:sp>
        <p:nvSpPr>
          <p:cNvPr id="777" name="Google Shape;777;p36"/>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6"/>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6"/>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lang="en-US" sz="2000">
                <a:solidFill>
                  <a:srgbClr val="FFFFFF"/>
                </a:solidFill>
                <a:latin typeface="Trebuchet MS"/>
                <a:ea typeface="Trebuchet MS"/>
                <a:cs typeface="Trebuchet MS"/>
                <a:sym typeface="Trebuchet MS"/>
              </a:rPr>
              <a:t>Ad Monitor Now Live</a:t>
            </a:r>
            <a:endParaRPr b="0" i="0" sz="2000" u="none" cap="none" strike="noStrike">
              <a:solidFill>
                <a:srgbClr val="000000"/>
              </a:solidFill>
              <a:latin typeface="Calibri"/>
              <a:ea typeface="Calibri"/>
              <a:cs typeface="Calibri"/>
              <a:sym typeface="Calibri"/>
            </a:endParaRPr>
          </a:p>
        </p:txBody>
      </p:sp>
      <p:sp>
        <p:nvSpPr>
          <p:cNvPr id="780" name="Google Shape;780;p36"/>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lang="en-US" sz="1000">
                <a:solidFill>
                  <a:srgbClr val="F5C6CB"/>
                </a:solidFill>
                <a:latin typeface="Calibri"/>
                <a:ea typeface="Calibri"/>
                <a:cs typeface="Calibri"/>
                <a:sym typeface="Calibri"/>
              </a:rPr>
              <a:t>Tracking competitor changes in real time</a:t>
            </a:r>
            <a:endParaRPr b="0" i="0" sz="1000" u="none" cap="none" strike="noStrike">
              <a:solidFill>
                <a:srgbClr val="000000"/>
              </a:solidFill>
              <a:latin typeface="Calibri"/>
              <a:ea typeface="Calibri"/>
              <a:cs typeface="Calibri"/>
              <a:sym typeface="Calibri"/>
            </a:endParaRPr>
          </a:p>
        </p:txBody>
      </p:sp>
      <p:sp>
        <p:nvSpPr>
          <p:cNvPr id="781" name="Google Shape;781;p36"/>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6"/>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rgbClr val="000000"/>
              </a:solidFill>
              <a:latin typeface="Calibri"/>
              <a:ea typeface="Calibri"/>
              <a:cs typeface="Calibri"/>
              <a:sym typeface="Calibri"/>
            </a:endParaRPr>
          </a:p>
        </p:txBody>
      </p:sp>
      <p:sp>
        <p:nvSpPr>
          <p:cNvPr id="783" name="Google Shape;783;p36"/>
          <p:cNvSpPr/>
          <p:nvPr/>
        </p:nvSpPr>
        <p:spPr>
          <a:xfrm>
            <a:off x="6128075" y="1001250"/>
            <a:ext cx="2771700" cy="3089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300"/>
              </a:spcBef>
              <a:spcAft>
                <a:spcPts val="0"/>
              </a:spcAft>
              <a:buNone/>
            </a:pPr>
            <a:r>
              <a:rPr lang="en-US" sz="1000">
                <a:solidFill>
                  <a:srgbClr val="111111"/>
                </a:solidFill>
                <a:latin typeface="Calibri"/>
                <a:ea typeface="Calibri"/>
                <a:cs typeface="Calibri"/>
                <a:sym typeface="Calibri"/>
              </a:rPr>
              <a:t>In a fast moving competitor landscape, we wanted to provide an easy solution to </a:t>
            </a:r>
            <a:r>
              <a:rPr lang="en-US" sz="1000">
                <a:solidFill>
                  <a:srgbClr val="111111"/>
                </a:solidFill>
                <a:latin typeface="Calibri"/>
                <a:ea typeface="Calibri"/>
                <a:cs typeface="Calibri"/>
                <a:sym typeface="Calibri"/>
              </a:rPr>
              <a:t>monitor</a:t>
            </a:r>
            <a:r>
              <a:rPr lang="en-US" sz="1000">
                <a:solidFill>
                  <a:srgbClr val="111111"/>
                </a:solidFill>
                <a:latin typeface="Calibri"/>
                <a:ea typeface="Calibri"/>
                <a:cs typeface="Calibri"/>
                <a:sym typeface="Calibri"/>
              </a:rPr>
              <a:t> competitor offers</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rPr lang="en-US" sz="1000">
                <a:solidFill>
                  <a:srgbClr val="111111"/>
                </a:solidFill>
                <a:latin typeface="Calibri"/>
                <a:ea typeface="Calibri"/>
                <a:cs typeface="Calibri"/>
                <a:sym typeface="Calibri"/>
              </a:rPr>
              <a:t>So we created the Ad Monitor tool</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rPr lang="en-US" sz="1000">
                <a:solidFill>
                  <a:srgbClr val="111111"/>
                </a:solidFill>
                <a:latin typeface="Calibri"/>
                <a:ea typeface="Calibri"/>
                <a:cs typeface="Calibri"/>
                <a:sym typeface="Calibri"/>
              </a:rPr>
              <a:t>The platform currently includes separate views for:</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342900" lvl="0" marL="342900" marR="0" rtl="0" algn="l">
              <a:lnSpc>
                <a:spcPct val="100000"/>
              </a:lnSpc>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Ads monitoring</a:t>
            </a:r>
            <a:endParaRPr sz="1000">
              <a:solidFill>
                <a:srgbClr val="111111"/>
              </a:solidFill>
              <a:latin typeface="Calibri"/>
              <a:ea typeface="Calibri"/>
              <a:cs typeface="Calibri"/>
              <a:sym typeface="Calibri"/>
            </a:endParaRPr>
          </a:p>
          <a:p>
            <a:pPr indent="-342900" lvl="0" marL="342900" marR="0" rtl="0" algn="l">
              <a:lnSpc>
                <a:spcPct val="100000"/>
              </a:lnSpc>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Live prices / offers</a:t>
            </a:r>
            <a:endParaRPr sz="1000">
              <a:solidFill>
                <a:srgbClr val="111111"/>
              </a:solidFill>
              <a:latin typeface="Calibri"/>
              <a:ea typeface="Calibri"/>
              <a:cs typeface="Calibri"/>
              <a:sym typeface="Calibri"/>
            </a:endParaRPr>
          </a:p>
          <a:p>
            <a:pPr indent="-342900" lvl="0" marL="342900" marR="0" rtl="0" algn="l">
              <a:lnSpc>
                <a:spcPct val="100000"/>
              </a:lnSpc>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Marketing offers</a:t>
            </a:r>
            <a:endParaRPr sz="1000">
              <a:solidFill>
                <a:srgbClr val="111111"/>
              </a:solidFill>
              <a:latin typeface="Calibri"/>
              <a:ea typeface="Calibri"/>
              <a:cs typeface="Calibri"/>
              <a:sym typeface="Calibri"/>
            </a:endParaRPr>
          </a:p>
          <a:p>
            <a:pPr indent="-342900" lvl="0" marL="342900" marR="0" rtl="0" algn="l">
              <a:lnSpc>
                <a:spcPct val="100000"/>
              </a:lnSpc>
              <a:spcBef>
                <a:spcPts val="300"/>
              </a:spcBef>
              <a:spcAft>
                <a:spcPts val="0"/>
              </a:spcAft>
              <a:buClr>
                <a:srgbClr val="111111"/>
              </a:buClr>
              <a:buSzPts val="1000"/>
              <a:buFont typeface="Calibri"/>
              <a:buChar char="•"/>
            </a:pPr>
            <a:r>
              <a:rPr lang="en-US" sz="1000">
                <a:solidFill>
                  <a:srgbClr val="111111"/>
                </a:solidFill>
                <a:latin typeface="Calibri"/>
                <a:ea typeface="Calibri"/>
                <a:cs typeface="Calibri"/>
                <a:sym typeface="Calibri"/>
              </a:rPr>
              <a:t>Notification</a:t>
            </a:r>
            <a:endParaRPr sz="1000">
              <a:solidFill>
                <a:srgbClr val="111111"/>
              </a:solidFill>
              <a:latin typeface="Calibri"/>
              <a:ea typeface="Calibri"/>
              <a:cs typeface="Calibri"/>
              <a:sym typeface="Calibri"/>
            </a:endParaRPr>
          </a:p>
          <a:p>
            <a:pPr indent="0" lvl="0" marL="45720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rPr lang="en-US" sz="1000">
                <a:solidFill>
                  <a:srgbClr val="111111"/>
                </a:solidFill>
                <a:latin typeface="Calibri"/>
                <a:ea typeface="Calibri"/>
                <a:cs typeface="Calibri"/>
                <a:sym typeface="Calibri"/>
              </a:rPr>
              <a:t>This is used by us internally. but we hope it will also prove a useful </a:t>
            </a:r>
            <a:r>
              <a:rPr lang="en-US" sz="1000">
                <a:solidFill>
                  <a:srgbClr val="111111"/>
                </a:solidFill>
                <a:latin typeface="Calibri"/>
                <a:ea typeface="Calibri"/>
                <a:cs typeface="Calibri"/>
                <a:sym typeface="Calibri"/>
              </a:rPr>
              <a:t>resources</a:t>
            </a:r>
            <a:r>
              <a:rPr lang="en-US" sz="1000">
                <a:solidFill>
                  <a:srgbClr val="111111"/>
                </a:solidFill>
                <a:latin typeface="Calibri"/>
                <a:ea typeface="Calibri"/>
                <a:cs typeface="Calibri"/>
                <a:sym typeface="Calibri"/>
              </a:rPr>
              <a:t> for the business too</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rPr lang="en-US" sz="1200" u="sng">
                <a:solidFill>
                  <a:srgbClr val="339CFF"/>
                </a:solidFill>
                <a:hlinkClick r:id="rId3">
                  <a:extLst>
                    <a:ext uri="{A12FA001-AC4F-418D-AE19-62706E023703}">
                      <ahyp:hlinkClr val="tx"/>
                    </a:ext>
                  </a:extLst>
                </a:hlinkClick>
              </a:rPr>
              <a:t>https://wwt-uk-monitor.vercel.app/</a:t>
            </a:r>
            <a:endParaRPr sz="1000">
              <a:solidFill>
                <a:srgbClr val="111111"/>
              </a:solidFill>
              <a:latin typeface="Calibri"/>
              <a:ea typeface="Calibri"/>
              <a:cs typeface="Calibri"/>
              <a:sym typeface="Calibri"/>
            </a:endParaRPr>
          </a:p>
          <a:p>
            <a:pPr indent="0" lvl="0" marL="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a:p>
            <a:pPr indent="0" lvl="0" marL="457200" marR="0" rtl="0" algn="l">
              <a:lnSpc>
                <a:spcPct val="100000"/>
              </a:lnSpc>
              <a:spcBef>
                <a:spcPts val="300"/>
              </a:spcBef>
              <a:spcAft>
                <a:spcPts val="0"/>
              </a:spcAft>
              <a:buNone/>
            </a:pPr>
            <a:r>
              <a:t/>
            </a:r>
            <a:endParaRPr sz="1000">
              <a:solidFill>
                <a:srgbClr val="111111"/>
              </a:solidFill>
              <a:latin typeface="Calibri"/>
              <a:ea typeface="Calibri"/>
              <a:cs typeface="Calibri"/>
              <a:sym typeface="Calibri"/>
            </a:endParaRPr>
          </a:p>
        </p:txBody>
      </p:sp>
      <p:pic>
        <p:nvPicPr>
          <p:cNvPr id="784" name="Google Shape;784;p36"/>
          <p:cNvPicPr preferRelativeResize="0"/>
          <p:nvPr/>
        </p:nvPicPr>
        <p:blipFill>
          <a:blip r:embed="rId4">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pic>
        <p:nvPicPr>
          <p:cNvPr id="785" name="Google Shape;785;p36"/>
          <p:cNvPicPr preferRelativeResize="0"/>
          <p:nvPr/>
        </p:nvPicPr>
        <p:blipFill>
          <a:blip r:embed="rId5">
            <a:alphaModFix/>
          </a:blip>
          <a:stretch>
            <a:fillRect/>
          </a:stretch>
        </p:blipFill>
        <p:spPr>
          <a:xfrm>
            <a:off x="152400" y="865500"/>
            <a:ext cx="5823275" cy="386228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37"/>
          <p:cNvSpPr/>
          <p:nvPr/>
        </p:nvSpPr>
        <p:spPr>
          <a:xfrm>
            <a:off x="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7"/>
          <p:cNvSpPr/>
          <p:nvPr/>
        </p:nvSpPr>
        <p:spPr>
          <a:xfrm>
            <a:off x="0" y="0"/>
            <a:ext cx="128100"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7"/>
          <p:cNvSpPr/>
          <p:nvPr/>
        </p:nvSpPr>
        <p:spPr>
          <a:xfrm>
            <a:off x="64041" y="2917099"/>
            <a:ext cx="9015900" cy="63900"/>
          </a:xfrm>
          <a:prstGeom prst="rect">
            <a:avLst/>
          </a:prstGeom>
          <a:solidFill>
            <a:srgbClr val="D01F2E">
              <a:alpha val="30199"/>
            </a:srgbClr>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7"/>
          <p:cNvSpPr/>
          <p:nvPr/>
        </p:nvSpPr>
        <p:spPr>
          <a:xfrm>
            <a:off x="914400" y="1840230"/>
            <a:ext cx="7315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Next Steps</a:t>
            </a:r>
            <a:endParaRPr b="0" i="0" sz="3600" u="none" cap="none" strike="noStrike">
              <a:solidFill>
                <a:schemeClr val="dk1"/>
              </a:solidFill>
              <a:latin typeface="Calibri"/>
              <a:ea typeface="Calibri"/>
              <a:cs typeface="Calibri"/>
              <a:sym typeface="Calibri"/>
            </a:endParaRPr>
          </a:p>
        </p:txBody>
      </p:sp>
      <p:sp>
        <p:nvSpPr>
          <p:cNvPr id="795" name="Google Shape;795;p37"/>
          <p:cNvSpPr/>
          <p:nvPr/>
        </p:nvSpPr>
        <p:spPr>
          <a:xfrm>
            <a:off x="914400" y="316611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100"/>
              <a:buFont typeface="Calibri"/>
              <a:buNone/>
            </a:pPr>
            <a:r>
              <a:rPr b="0" i="0" lang="en-US" sz="1100" u="none" cap="none" strike="noStrike">
                <a:solidFill>
                  <a:srgbClr val="F5C6CB"/>
                </a:solidFill>
                <a:latin typeface="Calibri"/>
                <a:ea typeface="Calibri"/>
                <a:cs typeface="Calibri"/>
                <a:sym typeface="Calibri"/>
              </a:rPr>
              <a:t>Wendy Wu Tours | Q1 2026 | Summon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38"/>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8"/>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8"/>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Next Steps f</a:t>
            </a:r>
            <a:r>
              <a:rPr b="1" lang="en-US" sz="2000">
                <a:solidFill>
                  <a:srgbClr val="FFFFFF"/>
                </a:solidFill>
                <a:latin typeface="Trebuchet MS"/>
                <a:ea typeface="Trebuchet MS"/>
                <a:cs typeface="Trebuchet MS"/>
                <a:sym typeface="Trebuchet MS"/>
              </a:rPr>
              <a:t>or Q2</a:t>
            </a:r>
            <a:endParaRPr b="0" i="0" sz="2000" u="none" cap="none" strike="noStrike">
              <a:solidFill>
                <a:srgbClr val="000000"/>
              </a:solidFill>
              <a:latin typeface="Calibri"/>
              <a:ea typeface="Calibri"/>
              <a:cs typeface="Calibri"/>
              <a:sym typeface="Calibri"/>
            </a:endParaRPr>
          </a:p>
        </p:txBody>
      </p:sp>
      <p:sp>
        <p:nvSpPr>
          <p:cNvPr id="804" name="Google Shape;804;p38"/>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rgbClr val="000000"/>
              </a:solidFill>
              <a:latin typeface="Calibri"/>
              <a:ea typeface="Calibri"/>
              <a:cs typeface="Calibri"/>
              <a:sym typeface="Calibri"/>
            </a:endParaRPr>
          </a:p>
        </p:txBody>
      </p:sp>
      <p:sp>
        <p:nvSpPr>
          <p:cNvPr id="805" name="Google Shape;805;p38"/>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8"/>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rgbClr val="000000"/>
              </a:solidFill>
              <a:latin typeface="Calibri"/>
              <a:ea typeface="Calibri"/>
              <a:cs typeface="Calibri"/>
              <a:sym typeface="Calibri"/>
            </a:endParaRPr>
          </a:p>
        </p:txBody>
      </p:sp>
      <p:sp>
        <p:nvSpPr>
          <p:cNvPr id="807" name="Google Shape;807;p38"/>
          <p:cNvSpPr/>
          <p:nvPr/>
        </p:nvSpPr>
        <p:spPr>
          <a:xfrm>
            <a:off x="1505462" y="1070712"/>
            <a:ext cx="2984700" cy="1684800"/>
          </a:xfrm>
          <a:prstGeom prst="rect">
            <a:avLst/>
          </a:prstGeom>
          <a:solidFill>
            <a:srgbClr val="FFFFFF"/>
          </a:solidFill>
          <a:ln cap="flat" cmpd="sng" w="10025">
            <a:solidFill>
              <a:srgbClr val="E0E0E0"/>
            </a:solidFill>
            <a:prstDash val="solid"/>
            <a:round/>
            <a:headEnd len="sm" w="sm" type="none"/>
            <a:tailEnd len="sm" w="sm" type="none"/>
          </a:ln>
          <a:effectLst>
            <a:outerShdw blurRad="106978" rotWithShape="0" algn="bl" dir="8100000" dist="26744">
              <a:srgbClr val="000000">
                <a:alpha val="10199"/>
              </a:srgbClr>
            </a:outerShdw>
          </a:effectLst>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08" name="Google Shape;808;p38"/>
          <p:cNvSpPr/>
          <p:nvPr/>
        </p:nvSpPr>
        <p:spPr>
          <a:xfrm>
            <a:off x="1505462" y="1070712"/>
            <a:ext cx="2984700" cy="48000"/>
          </a:xfrm>
          <a:prstGeom prst="rect">
            <a:avLst/>
          </a:prstGeom>
          <a:solidFill>
            <a:srgbClr val="D01F2E"/>
          </a:solidFill>
          <a:ln cap="flat" cmpd="sng" w="13375">
            <a:solidFill>
              <a:srgbClr val="D01F2E"/>
            </a:solidFill>
            <a:prstDash val="solid"/>
            <a:round/>
            <a:headEnd len="sm" w="sm" type="none"/>
            <a:tailEnd len="sm" w="sm" type="none"/>
          </a:ln>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09" name="Google Shape;809;p38"/>
          <p:cNvSpPr/>
          <p:nvPr/>
        </p:nvSpPr>
        <p:spPr>
          <a:xfrm>
            <a:off x="1620998" y="1186248"/>
            <a:ext cx="275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8"/>
              <a:buFont typeface="Trebuchet MS"/>
              <a:buNone/>
            </a:pPr>
            <a:r>
              <a:rPr b="1" lang="en-US" sz="1158">
                <a:solidFill>
                  <a:srgbClr val="1A1A1A"/>
                </a:solidFill>
                <a:latin typeface="Trebuchet MS"/>
                <a:ea typeface="Trebuchet MS"/>
                <a:cs typeface="Trebuchet MS"/>
                <a:sym typeface="Trebuchet MS"/>
              </a:rPr>
              <a:t>Continue ad copy test</a:t>
            </a:r>
            <a:endParaRPr b="0" i="0" sz="1158" u="none" cap="none" strike="noStrike">
              <a:solidFill>
                <a:srgbClr val="000000"/>
              </a:solidFill>
              <a:latin typeface="Calibri"/>
              <a:ea typeface="Calibri"/>
              <a:cs typeface="Calibri"/>
              <a:sym typeface="Calibri"/>
            </a:endParaRPr>
          </a:p>
        </p:txBody>
      </p:sp>
      <p:sp>
        <p:nvSpPr>
          <p:cNvPr id="810" name="Google Shape;810;p38"/>
          <p:cNvSpPr/>
          <p:nvPr/>
        </p:nvSpPr>
        <p:spPr>
          <a:xfrm>
            <a:off x="1620998" y="1600253"/>
            <a:ext cx="2753400" cy="105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Ad copy tests so far are inconclusive, so adjustments will be made to the tests and this will run for another month</a:t>
            </a:r>
            <a:r>
              <a:rPr b="0" i="0" lang="en-US" sz="1000" u="none" cap="none" strike="noStrike">
                <a:solidFill>
                  <a:srgbClr val="666666"/>
                </a:solidFill>
                <a:latin typeface="Calibri"/>
                <a:ea typeface="Calibri"/>
                <a:cs typeface="Calibri"/>
                <a:sym typeface="Calibri"/>
              </a:rPr>
              <a:t>. Upon </a:t>
            </a:r>
            <a:r>
              <a:rPr lang="en-US" sz="1000">
                <a:solidFill>
                  <a:srgbClr val="666666"/>
                </a:solidFill>
                <a:latin typeface="Calibri"/>
                <a:ea typeface="Calibri"/>
                <a:cs typeface="Calibri"/>
                <a:sym typeface="Calibri"/>
              </a:rPr>
              <a:t>completion</a:t>
            </a:r>
            <a:r>
              <a:rPr b="0" i="0" lang="en-US" sz="1000" u="none" cap="none" strike="noStrike">
                <a:solidFill>
                  <a:srgbClr val="666666"/>
                </a:solidFill>
                <a:latin typeface="Calibri"/>
                <a:ea typeface="Calibri"/>
                <a:cs typeface="Calibri"/>
                <a:sym typeface="Calibri"/>
              </a:rPr>
              <a:t> of this </a:t>
            </a:r>
            <a:r>
              <a:rPr lang="en-US" sz="1000">
                <a:solidFill>
                  <a:srgbClr val="666666"/>
                </a:solidFill>
                <a:latin typeface="Calibri"/>
                <a:ea typeface="Calibri"/>
                <a:cs typeface="Calibri"/>
                <a:sym typeface="Calibri"/>
              </a:rPr>
              <a:t>test</a:t>
            </a:r>
            <a:r>
              <a:rPr b="0" i="0" lang="en-US" sz="1000" u="none" cap="none" strike="noStrike">
                <a:solidFill>
                  <a:srgbClr val="666666"/>
                </a:solidFill>
                <a:latin typeface="Calibri"/>
                <a:ea typeface="Calibri"/>
                <a:cs typeface="Calibri"/>
                <a:sym typeface="Calibri"/>
              </a:rPr>
              <a:t> we can roll out the learnings to all campaigns</a:t>
            </a:r>
            <a:r>
              <a:rPr lang="en-US" sz="1000">
                <a:solidFill>
                  <a:srgbClr val="666666"/>
                </a:solidFill>
                <a:latin typeface="Calibri"/>
                <a:ea typeface="Calibri"/>
                <a:cs typeface="Calibri"/>
                <a:sym typeface="Calibri"/>
              </a:rPr>
              <a:t>.</a:t>
            </a:r>
            <a:endParaRPr b="0" i="0" sz="1000" u="none" cap="none" strike="noStrike">
              <a:solidFill>
                <a:srgbClr val="000000"/>
              </a:solidFill>
              <a:latin typeface="Calibri"/>
              <a:ea typeface="Calibri"/>
              <a:cs typeface="Calibri"/>
              <a:sym typeface="Calibri"/>
            </a:endParaRPr>
          </a:p>
        </p:txBody>
      </p:sp>
      <p:sp>
        <p:nvSpPr>
          <p:cNvPr id="811" name="Google Shape;811;p38"/>
          <p:cNvSpPr/>
          <p:nvPr/>
        </p:nvSpPr>
        <p:spPr>
          <a:xfrm>
            <a:off x="4653824" y="1070712"/>
            <a:ext cx="2984700" cy="1684800"/>
          </a:xfrm>
          <a:prstGeom prst="rect">
            <a:avLst/>
          </a:prstGeom>
          <a:solidFill>
            <a:srgbClr val="FFFFFF"/>
          </a:solidFill>
          <a:ln cap="flat" cmpd="sng" w="10025">
            <a:solidFill>
              <a:srgbClr val="E0E0E0"/>
            </a:solidFill>
            <a:prstDash val="solid"/>
            <a:round/>
            <a:headEnd len="sm" w="sm" type="none"/>
            <a:tailEnd len="sm" w="sm" type="none"/>
          </a:ln>
          <a:effectLst>
            <a:outerShdw blurRad="106978" rotWithShape="0" algn="bl" dir="8100000" dist="26744">
              <a:srgbClr val="000000">
                <a:alpha val="10199"/>
              </a:srgbClr>
            </a:outerShdw>
          </a:effectLst>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12" name="Google Shape;812;p38"/>
          <p:cNvSpPr/>
          <p:nvPr/>
        </p:nvSpPr>
        <p:spPr>
          <a:xfrm>
            <a:off x="4653824" y="1070712"/>
            <a:ext cx="2984700" cy="48000"/>
          </a:xfrm>
          <a:prstGeom prst="rect">
            <a:avLst/>
          </a:prstGeom>
          <a:solidFill>
            <a:srgbClr val="D01F2E"/>
          </a:solidFill>
          <a:ln cap="flat" cmpd="sng" w="13375">
            <a:solidFill>
              <a:srgbClr val="D01F2E"/>
            </a:solidFill>
            <a:prstDash val="solid"/>
            <a:round/>
            <a:headEnd len="sm" w="sm" type="none"/>
            <a:tailEnd len="sm" w="sm" type="none"/>
          </a:ln>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13" name="Google Shape;813;p38"/>
          <p:cNvSpPr/>
          <p:nvPr/>
        </p:nvSpPr>
        <p:spPr>
          <a:xfrm>
            <a:off x="4769360" y="1186248"/>
            <a:ext cx="275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8"/>
              <a:buFont typeface="Trebuchet MS"/>
              <a:buNone/>
            </a:pPr>
            <a:r>
              <a:rPr b="1" lang="en-US" sz="1158">
                <a:solidFill>
                  <a:srgbClr val="1A1A1A"/>
                </a:solidFill>
                <a:latin typeface="Trebuchet MS"/>
                <a:ea typeface="Trebuchet MS"/>
                <a:cs typeface="Trebuchet MS"/>
                <a:sym typeface="Trebuchet MS"/>
              </a:rPr>
              <a:t>GTM audit and tracking</a:t>
            </a:r>
            <a:endParaRPr b="0" i="0" sz="1158" u="none" cap="none" strike="noStrike">
              <a:solidFill>
                <a:srgbClr val="000000"/>
              </a:solidFill>
              <a:latin typeface="Calibri"/>
              <a:ea typeface="Calibri"/>
              <a:cs typeface="Calibri"/>
              <a:sym typeface="Calibri"/>
            </a:endParaRPr>
          </a:p>
        </p:txBody>
      </p:sp>
      <p:sp>
        <p:nvSpPr>
          <p:cNvPr id="814" name="Google Shape;814;p38"/>
          <p:cNvSpPr/>
          <p:nvPr/>
        </p:nvSpPr>
        <p:spPr>
          <a:xfrm>
            <a:off x="4769360" y="1600253"/>
            <a:ext cx="2753400" cy="105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Make updates to GTM set up to ensure accurate tracking and set up and test native tracking for purchases and form fills in Google Ads. Accurate data continues to be the most important factor in ensuring Google’s bidding algorithm works efficently</a:t>
            </a:r>
            <a:endParaRPr b="0" i="0" sz="1000" u="none" cap="none" strike="noStrike">
              <a:solidFill>
                <a:srgbClr val="000000"/>
              </a:solidFill>
              <a:latin typeface="Calibri"/>
              <a:ea typeface="Calibri"/>
              <a:cs typeface="Calibri"/>
              <a:sym typeface="Calibri"/>
            </a:endParaRPr>
          </a:p>
        </p:txBody>
      </p:sp>
      <p:sp>
        <p:nvSpPr>
          <p:cNvPr id="815" name="Google Shape;815;p38"/>
          <p:cNvSpPr/>
          <p:nvPr/>
        </p:nvSpPr>
        <p:spPr>
          <a:xfrm>
            <a:off x="4653838" y="2871147"/>
            <a:ext cx="2984700" cy="1684800"/>
          </a:xfrm>
          <a:prstGeom prst="rect">
            <a:avLst/>
          </a:prstGeom>
          <a:solidFill>
            <a:srgbClr val="FFFFFF"/>
          </a:solidFill>
          <a:ln cap="flat" cmpd="sng" w="10025">
            <a:solidFill>
              <a:srgbClr val="E0E0E0"/>
            </a:solidFill>
            <a:prstDash val="solid"/>
            <a:round/>
            <a:headEnd len="sm" w="sm" type="none"/>
            <a:tailEnd len="sm" w="sm" type="none"/>
          </a:ln>
          <a:effectLst>
            <a:outerShdw blurRad="106978" rotWithShape="0" algn="bl" dir="8100000" dist="26744">
              <a:srgbClr val="000000">
                <a:alpha val="10199"/>
              </a:srgbClr>
            </a:outerShdw>
          </a:effectLst>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16" name="Google Shape;816;p38"/>
          <p:cNvSpPr/>
          <p:nvPr/>
        </p:nvSpPr>
        <p:spPr>
          <a:xfrm>
            <a:off x="4653838" y="2871147"/>
            <a:ext cx="2984700" cy="48000"/>
          </a:xfrm>
          <a:prstGeom prst="rect">
            <a:avLst/>
          </a:prstGeom>
          <a:solidFill>
            <a:srgbClr val="D01F2E"/>
          </a:solidFill>
          <a:ln cap="flat" cmpd="sng" w="13375">
            <a:solidFill>
              <a:srgbClr val="D01F2E"/>
            </a:solidFill>
            <a:prstDash val="solid"/>
            <a:round/>
            <a:headEnd len="sm" w="sm" type="none"/>
            <a:tailEnd len="sm" w="sm" type="none"/>
          </a:ln>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17" name="Google Shape;817;p38"/>
          <p:cNvSpPr/>
          <p:nvPr/>
        </p:nvSpPr>
        <p:spPr>
          <a:xfrm>
            <a:off x="4769374" y="2986684"/>
            <a:ext cx="275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8"/>
              <a:buFont typeface="Trebuchet MS"/>
              <a:buNone/>
            </a:pPr>
            <a:r>
              <a:rPr b="1" lang="en-US" sz="1158">
                <a:solidFill>
                  <a:srgbClr val="1A1A1A"/>
                </a:solidFill>
                <a:latin typeface="Trebuchet MS"/>
                <a:ea typeface="Trebuchet MS"/>
                <a:cs typeface="Trebuchet MS"/>
                <a:sym typeface="Trebuchet MS"/>
              </a:rPr>
              <a:t>AI Max	 Development</a:t>
            </a:r>
            <a:endParaRPr b="0" i="0" sz="1158" u="none" cap="none" strike="noStrike">
              <a:solidFill>
                <a:srgbClr val="000000"/>
              </a:solidFill>
              <a:latin typeface="Calibri"/>
              <a:ea typeface="Calibri"/>
              <a:cs typeface="Calibri"/>
              <a:sym typeface="Calibri"/>
            </a:endParaRPr>
          </a:p>
        </p:txBody>
      </p:sp>
      <p:sp>
        <p:nvSpPr>
          <p:cNvPr id="818" name="Google Shape;818;p38"/>
          <p:cNvSpPr/>
          <p:nvPr/>
        </p:nvSpPr>
        <p:spPr>
          <a:xfrm>
            <a:off x="4769374" y="3400688"/>
            <a:ext cx="2753400" cy="105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Continue to monitor the performance of AI Max generated traffic to ensure that search terms do not become too broad and are still converting at a good CPA. Consider turning off this setting if this is not proven.</a:t>
            </a:r>
            <a:endParaRPr b="0" i="0" sz="1000" u="none" cap="none" strike="noStrike">
              <a:solidFill>
                <a:srgbClr val="000000"/>
              </a:solidFill>
              <a:latin typeface="Calibri"/>
              <a:ea typeface="Calibri"/>
              <a:cs typeface="Calibri"/>
              <a:sym typeface="Calibri"/>
            </a:endParaRPr>
          </a:p>
        </p:txBody>
      </p:sp>
      <p:sp>
        <p:nvSpPr>
          <p:cNvPr id="819" name="Google Shape;819;p38"/>
          <p:cNvSpPr/>
          <p:nvPr/>
        </p:nvSpPr>
        <p:spPr>
          <a:xfrm>
            <a:off x="1505462" y="2900035"/>
            <a:ext cx="2984700" cy="1684800"/>
          </a:xfrm>
          <a:prstGeom prst="rect">
            <a:avLst/>
          </a:prstGeom>
          <a:solidFill>
            <a:srgbClr val="FFFFFF"/>
          </a:solidFill>
          <a:ln cap="flat" cmpd="sng" w="10025">
            <a:solidFill>
              <a:srgbClr val="E0E0E0"/>
            </a:solidFill>
            <a:prstDash val="solid"/>
            <a:round/>
            <a:headEnd len="sm" w="sm" type="none"/>
            <a:tailEnd len="sm" w="sm" type="none"/>
          </a:ln>
          <a:effectLst>
            <a:outerShdw blurRad="106978" rotWithShape="0" algn="bl" dir="8100000" dist="26744">
              <a:srgbClr val="000000">
                <a:alpha val="10199"/>
              </a:srgbClr>
            </a:outerShdw>
          </a:effectLst>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20" name="Google Shape;820;p38"/>
          <p:cNvSpPr/>
          <p:nvPr/>
        </p:nvSpPr>
        <p:spPr>
          <a:xfrm>
            <a:off x="1505462" y="2900035"/>
            <a:ext cx="2984700" cy="48000"/>
          </a:xfrm>
          <a:prstGeom prst="rect">
            <a:avLst/>
          </a:prstGeom>
          <a:solidFill>
            <a:srgbClr val="D01F2E"/>
          </a:solidFill>
          <a:ln cap="flat" cmpd="sng" w="13375">
            <a:solidFill>
              <a:srgbClr val="D01F2E"/>
            </a:solidFill>
            <a:prstDash val="solid"/>
            <a:round/>
            <a:headEnd len="sm" w="sm" type="none"/>
            <a:tailEnd len="sm" w="sm" type="none"/>
          </a:ln>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21" name="Google Shape;821;p38"/>
          <p:cNvSpPr/>
          <p:nvPr/>
        </p:nvSpPr>
        <p:spPr>
          <a:xfrm>
            <a:off x="1620998" y="3015571"/>
            <a:ext cx="275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8"/>
              <a:buFont typeface="Trebuchet MS"/>
              <a:buNone/>
            </a:pPr>
            <a:r>
              <a:rPr b="1" lang="en-US" sz="1158">
                <a:solidFill>
                  <a:srgbClr val="1A1A1A"/>
                </a:solidFill>
                <a:latin typeface="Trebuchet MS"/>
                <a:ea typeface="Trebuchet MS"/>
                <a:cs typeface="Trebuchet MS"/>
                <a:sym typeface="Trebuchet MS"/>
              </a:rPr>
              <a:t>New landing page test</a:t>
            </a:r>
            <a:endParaRPr b="0" i="0" sz="1158" u="none" cap="none" strike="noStrike">
              <a:solidFill>
                <a:srgbClr val="000000"/>
              </a:solidFill>
              <a:latin typeface="Calibri"/>
              <a:ea typeface="Calibri"/>
              <a:cs typeface="Calibri"/>
              <a:sym typeface="Calibri"/>
            </a:endParaRPr>
          </a:p>
        </p:txBody>
      </p:sp>
      <p:sp>
        <p:nvSpPr>
          <p:cNvPr id="822" name="Google Shape;822;p38"/>
          <p:cNvSpPr/>
          <p:nvPr/>
        </p:nvSpPr>
        <p:spPr>
          <a:xfrm>
            <a:off x="1620998" y="3429575"/>
            <a:ext cx="2753400" cy="105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Once above ad copy test is concluded, set up experiment to test Holidays vs Tours landing pages.</a:t>
            </a:r>
            <a:endParaRPr b="0" i="0" sz="1000" u="none" cap="none" strike="noStrike">
              <a:solidFill>
                <a:srgbClr val="000000"/>
              </a:solidFill>
              <a:latin typeface="Calibri"/>
              <a:ea typeface="Calibri"/>
              <a:cs typeface="Calibri"/>
              <a:sym typeface="Calibri"/>
            </a:endParaRPr>
          </a:p>
        </p:txBody>
      </p:sp>
      <p:pic>
        <p:nvPicPr>
          <p:cNvPr id="823" name="Google Shape;823;p38"/>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39"/>
          <p:cNvSpPr/>
          <p:nvPr/>
        </p:nvSpPr>
        <p:spPr>
          <a:xfrm>
            <a:off x="0" y="0"/>
            <a:ext cx="9144000" cy="7131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9"/>
          <p:cNvSpPr/>
          <p:nvPr/>
        </p:nvSpPr>
        <p:spPr>
          <a:xfrm>
            <a:off x="0" y="0"/>
            <a:ext cx="63900" cy="7131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9"/>
          <p:cNvSpPr/>
          <p:nvPr/>
        </p:nvSpPr>
        <p:spPr>
          <a:xfrm>
            <a:off x="182880" y="54864"/>
            <a:ext cx="6217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Next Steps f</a:t>
            </a:r>
            <a:r>
              <a:rPr b="1" lang="en-US" sz="2000">
                <a:solidFill>
                  <a:srgbClr val="FFFFFF"/>
                </a:solidFill>
                <a:latin typeface="Trebuchet MS"/>
                <a:ea typeface="Trebuchet MS"/>
                <a:cs typeface="Trebuchet MS"/>
                <a:sym typeface="Trebuchet MS"/>
              </a:rPr>
              <a:t>or Q2</a:t>
            </a:r>
            <a:endParaRPr b="0" i="0" sz="2000" u="none" cap="none" strike="noStrike">
              <a:solidFill>
                <a:srgbClr val="000000"/>
              </a:solidFill>
              <a:latin typeface="Calibri"/>
              <a:ea typeface="Calibri"/>
              <a:cs typeface="Calibri"/>
              <a:sym typeface="Calibri"/>
            </a:endParaRPr>
          </a:p>
        </p:txBody>
      </p:sp>
      <p:sp>
        <p:nvSpPr>
          <p:cNvPr id="832" name="Google Shape;832;p39"/>
          <p:cNvSpPr/>
          <p:nvPr/>
        </p:nvSpPr>
        <p:spPr>
          <a:xfrm>
            <a:off x="182880" y="402336"/>
            <a:ext cx="6217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000"/>
              <a:buFont typeface="Calibri"/>
              <a:buNone/>
            </a:pPr>
            <a:r>
              <a:rPr b="0" i="0" lang="en-US" sz="1000" u="none" cap="none" strike="noStrike">
                <a:solidFill>
                  <a:srgbClr val="F5C6CB"/>
                </a:solidFill>
                <a:latin typeface="Calibri"/>
                <a:ea typeface="Calibri"/>
                <a:cs typeface="Calibri"/>
                <a:sym typeface="Calibri"/>
              </a:rPr>
              <a:t>Q1 2026 (Jan – Mar 2026)</a:t>
            </a:r>
            <a:endParaRPr b="0" i="0" sz="1000" u="none" cap="none" strike="noStrike">
              <a:solidFill>
                <a:srgbClr val="000000"/>
              </a:solidFill>
              <a:latin typeface="Calibri"/>
              <a:ea typeface="Calibri"/>
              <a:cs typeface="Calibri"/>
              <a:sym typeface="Calibri"/>
            </a:endParaRPr>
          </a:p>
        </p:txBody>
      </p:sp>
      <p:sp>
        <p:nvSpPr>
          <p:cNvPr id="833" name="Google Shape;833;p39"/>
          <p:cNvSpPr/>
          <p:nvPr/>
        </p:nvSpPr>
        <p:spPr>
          <a:xfrm>
            <a:off x="0" y="4942332"/>
            <a:ext cx="9144000" cy="2013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9"/>
          <p:cNvSpPr/>
          <p:nvPr/>
        </p:nvSpPr>
        <p:spPr>
          <a:xfrm>
            <a:off x="182880" y="4951476"/>
            <a:ext cx="5486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0E0"/>
              </a:buClr>
              <a:buSzPts val="800"/>
              <a:buFont typeface="Calibri"/>
              <a:buNone/>
            </a:pPr>
            <a:r>
              <a:rPr b="0" i="0" lang="en-US" sz="800" u="none" cap="none" strike="noStrike">
                <a:solidFill>
                  <a:srgbClr val="E0E0E0"/>
                </a:solidFill>
                <a:latin typeface="Calibri"/>
                <a:ea typeface="Calibri"/>
                <a:cs typeface="Calibri"/>
                <a:sym typeface="Calibri"/>
              </a:rPr>
              <a:t>Q1 2026 | Summon Digital | Confidential</a:t>
            </a:r>
            <a:endParaRPr b="0" i="0" sz="800" u="none" cap="none" strike="noStrike">
              <a:solidFill>
                <a:srgbClr val="000000"/>
              </a:solidFill>
              <a:latin typeface="Calibri"/>
              <a:ea typeface="Calibri"/>
              <a:cs typeface="Calibri"/>
              <a:sym typeface="Calibri"/>
            </a:endParaRPr>
          </a:p>
        </p:txBody>
      </p:sp>
      <p:sp>
        <p:nvSpPr>
          <p:cNvPr id="835" name="Google Shape;835;p39"/>
          <p:cNvSpPr/>
          <p:nvPr/>
        </p:nvSpPr>
        <p:spPr>
          <a:xfrm>
            <a:off x="223837" y="900962"/>
            <a:ext cx="2984700" cy="1684800"/>
          </a:xfrm>
          <a:prstGeom prst="rect">
            <a:avLst/>
          </a:prstGeom>
          <a:solidFill>
            <a:srgbClr val="FFFFFF"/>
          </a:solidFill>
          <a:ln cap="flat" cmpd="sng" w="10025">
            <a:solidFill>
              <a:srgbClr val="E0E0E0"/>
            </a:solidFill>
            <a:prstDash val="solid"/>
            <a:round/>
            <a:headEnd len="sm" w="sm" type="none"/>
            <a:tailEnd len="sm" w="sm" type="none"/>
          </a:ln>
          <a:effectLst>
            <a:outerShdw blurRad="106978" rotWithShape="0" algn="bl" dir="8100000" dist="26744">
              <a:srgbClr val="000000">
                <a:alpha val="10199"/>
              </a:srgbClr>
            </a:outerShdw>
          </a:effectLst>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36" name="Google Shape;836;p39"/>
          <p:cNvSpPr/>
          <p:nvPr/>
        </p:nvSpPr>
        <p:spPr>
          <a:xfrm>
            <a:off x="223837" y="900962"/>
            <a:ext cx="2984700" cy="48000"/>
          </a:xfrm>
          <a:prstGeom prst="rect">
            <a:avLst/>
          </a:prstGeom>
          <a:solidFill>
            <a:srgbClr val="D01F2E"/>
          </a:solidFill>
          <a:ln cap="flat" cmpd="sng" w="13375">
            <a:solidFill>
              <a:srgbClr val="D01F2E"/>
            </a:solidFill>
            <a:prstDash val="solid"/>
            <a:round/>
            <a:headEnd len="sm" w="sm" type="none"/>
            <a:tailEnd len="sm" w="sm" type="none"/>
          </a:ln>
        </p:spPr>
        <p:txBody>
          <a:bodyPr anchorCtr="0" anchor="ctr" bIns="96275" lIns="96275" spcFirstLastPara="1" rIns="96275" wrap="square" tIns="96275">
            <a:noAutofit/>
          </a:bodyPr>
          <a:lstStyle/>
          <a:p>
            <a:pPr indent="0" lvl="0" marL="0" rtl="0" algn="l">
              <a:spcBef>
                <a:spcPts val="0"/>
              </a:spcBef>
              <a:spcAft>
                <a:spcPts val="0"/>
              </a:spcAft>
              <a:buNone/>
            </a:pPr>
            <a:r>
              <a:t/>
            </a:r>
            <a:endParaRPr/>
          </a:p>
        </p:txBody>
      </p:sp>
      <p:sp>
        <p:nvSpPr>
          <p:cNvPr id="837" name="Google Shape;837;p39"/>
          <p:cNvSpPr/>
          <p:nvPr/>
        </p:nvSpPr>
        <p:spPr>
          <a:xfrm>
            <a:off x="339373" y="1016498"/>
            <a:ext cx="275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8"/>
              <a:buFont typeface="Trebuchet MS"/>
              <a:buNone/>
            </a:pPr>
            <a:r>
              <a:rPr b="1" lang="en-US" sz="1158">
                <a:solidFill>
                  <a:srgbClr val="1A1A1A"/>
                </a:solidFill>
                <a:latin typeface="Trebuchet MS"/>
                <a:ea typeface="Trebuchet MS"/>
                <a:cs typeface="Trebuchet MS"/>
                <a:sym typeface="Trebuchet MS"/>
              </a:rPr>
              <a:t>Live price inclusion in ads</a:t>
            </a:r>
            <a:endParaRPr b="0" i="0" sz="1158" u="none" cap="none" strike="noStrike">
              <a:solidFill>
                <a:srgbClr val="000000"/>
              </a:solidFill>
              <a:latin typeface="Calibri"/>
              <a:ea typeface="Calibri"/>
              <a:cs typeface="Calibri"/>
              <a:sym typeface="Calibri"/>
            </a:endParaRPr>
          </a:p>
        </p:txBody>
      </p:sp>
      <p:sp>
        <p:nvSpPr>
          <p:cNvPr id="838" name="Google Shape;838;p39"/>
          <p:cNvSpPr/>
          <p:nvPr/>
        </p:nvSpPr>
        <p:spPr>
          <a:xfrm>
            <a:off x="339373" y="1430503"/>
            <a:ext cx="2753400" cy="1059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000"/>
              <a:buFont typeface="Calibri"/>
              <a:buNone/>
            </a:pPr>
            <a:r>
              <a:rPr lang="en-US" sz="1000">
                <a:solidFill>
                  <a:srgbClr val="666666"/>
                </a:solidFill>
                <a:latin typeface="Calibri"/>
                <a:ea typeface="Calibri"/>
                <a:cs typeface="Calibri"/>
                <a:sym typeface="Calibri"/>
              </a:rPr>
              <a:t>Using data from the API we can begin to use Price Customisers in our ads to ensure up-to-date pricing is maintained without having to make manual changes.</a:t>
            </a:r>
            <a:endParaRPr b="0" i="0" sz="1000" u="none" cap="none" strike="noStrike">
              <a:solidFill>
                <a:srgbClr val="000000"/>
              </a:solidFill>
              <a:latin typeface="Calibri"/>
              <a:ea typeface="Calibri"/>
              <a:cs typeface="Calibri"/>
              <a:sym typeface="Calibri"/>
            </a:endParaRPr>
          </a:p>
        </p:txBody>
      </p:sp>
      <p:pic>
        <p:nvPicPr>
          <p:cNvPr id="839" name="Google Shape;839;p39"/>
          <p:cNvPicPr preferRelativeResize="0"/>
          <p:nvPr/>
        </p:nvPicPr>
        <p:blipFill>
          <a:blip r:embed="rId3">
            <a:alphaModFix/>
          </a:blip>
          <a:stretch>
            <a:fillRect/>
          </a:stretch>
        </p:blipFill>
        <p:spPr>
          <a:xfrm>
            <a:off x="7098849" y="78878"/>
            <a:ext cx="1853125" cy="555475"/>
          </a:xfrm>
          <a:prstGeom prst="rect">
            <a:avLst/>
          </a:prstGeom>
          <a:solidFill>
            <a:srgbClr val="1A1A1A"/>
          </a:solidFill>
          <a:ln cap="flat" cmpd="sng" w="12700">
            <a:solidFill>
              <a:srgbClr val="1A1A1A"/>
            </a:solidFill>
            <a:prstDash val="solid"/>
            <a:round/>
            <a:headEnd len="sm" w="sm" type="none"/>
            <a:tailEnd len="sm" w="sm" type="none"/>
          </a:ln>
        </p:spPr>
      </p:pic>
      <p:pic>
        <p:nvPicPr>
          <p:cNvPr id="840" name="Google Shape;840;p39"/>
          <p:cNvPicPr preferRelativeResize="0"/>
          <p:nvPr/>
        </p:nvPicPr>
        <p:blipFill>
          <a:blip r:embed="rId4">
            <a:alphaModFix/>
          </a:blip>
          <a:stretch>
            <a:fillRect/>
          </a:stretch>
        </p:blipFill>
        <p:spPr>
          <a:xfrm>
            <a:off x="3774376" y="1526200"/>
            <a:ext cx="4999375" cy="2091100"/>
          </a:xfrm>
          <a:prstGeom prst="rect">
            <a:avLst/>
          </a:prstGeom>
          <a:noFill/>
          <a:ln>
            <a:noFill/>
          </a:ln>
        </p:spPr>
      </p:pic>
      <p:pic>
        <p:nvPicPr>
          <p:cNvPr id="841" name="Google Shape;841;p39"/>
          <p:cNvPicPr preferRelativeResize="0"/>
          <p:nvPr/>
        </p:nvPicPr>
        <p:blipFill>
          <a:blip r:embed="rId5">
            <a:alphaModFix/>
          </a:blip>
          <a:stretch>
            <a:fillRect/>
          </a:stretch>
        </p:blipFill>
        <p:spPr>
          <a:xfrm>
            <a:off x="231288" y="2828476"/>
            <a:ext cx="2969773" cy="15417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40"/>
          <p:cNvSpPr/>
          <p:nvPr/>
        </p:nvSpPr>
        <p:spPr>
          <a:xfrm>
            <a:off x="0" y="0"/>
            <a:ext cx="9144000" cy="514350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0"/>
          <p:cNvSpPr/>
          <p:nvPr/>
        </p:nvSpPr>
        <p:spPr>
          <a:xfrm>
            <a:off x="0" y="0"/>
            <a:ext cx="164592" cy="5143500"/>
          </a:xfrm>
          <a:prstGeom prst="rect">
            <a:avLst/>
          </a:prstGeom>
          <a:solidFill>
            <a:srgbClr val="D01F2E"/>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0"/>
          <p:cNvSpPr/>
          <p:nvPr/>
        </p:nvSpPr>
        <p:spPr>
          <a:xfrm>
            <a:off x="164592" y="2535174"/>
            <a:ext cx="8979408" cy="64008"/>
          </a:xfrm>
          <a:prstGeom prst="rect">
            <a:avLst/>
          </a:prstGeom>
          <a:solidFill>
            <a:srgbClr val="D01F2E">
              <a:alpha val="30196"/>
            </a:srgbClr>
          </a:solidFill>
          <a:ln cap="flat" cmpd="sng" w="12700">
            <a:solidFill>
              <a:srgbClr val="D01F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0"/>
          <p:cNvSpPr/>
          <p:nvPr/>
        </p:nvSpPr>
        <p:spPr>
          <a:xfrm>
            <a:off x="914400" y="1371600"/>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Trebuchet MS"/>
              <a:buNone/>
            </a:pPr>
            <a:r>
              <a:rPr b="1" i="0" lang="en-US" sz="3800" u="none" cap="none" strike="noStrike">
                <a:solidFill>
                  <a:srgbClr val="FFFFFF"/>
                </a:solidFill>
                <a:latin typeface="Trebuchet MS"/>
                <a:ea typeface="Trebuchet MS"/>
                <a:cs typeface="Trebuchet MS"/>
                <a:sym typeface="Trebuchet MS"/>
              </a:rPr>
              <a:t>Thank You</a:t>
            </a:r>
            <a:endParaRPr b="0" i="0" sz="3800" u="none" cap="none" strike="noStrike">
              <a:solidFill>
                <a:schemeClr val="dk1"/>
              </a:solidFill>
              <a:latin typeface="Calibri"/>
              <a:ea typeface="Calibri"/>
              <a:cs typeface="Calibri"/>
              <a:sym typeface="Calibri"/>
            </a:endParaRPr>
          </a:p>
        </p:txBody>
      </p:sp>
      <p:sp>
        <p:nvSpPr>
          <p:cNvPr id="851" name="Google Shape;851;p40"/>
          <p:cNvSpPr/>
          <p:nvPr/>
        </p:nvSpPr>
        <p:spPr>
          <a:xfrm>
            <a:off x="914400" y="25146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6CB"/>
              </a:buClr>
              <a:buSzPts val="1300"/>
              <a:buFont typeface="Calibri"/>
              <a:buNone/>
            </a:pPr>
            <a:r>
              <a:rPr b="0" i="0" lang="en-US" sz="1300" u="none" cap="none" strike="noStrike">
                <a:solidFill>
                  <a:srgbClr val="F5C6CB"/>
                </a:solidFill>
                <a:latin typeface="Calibri"/>
                <a:ea typeface="Calibri"/>
                <a:cs typeface="Calibri"/>
                <a:sym typeface="Calibri"/>
              </a:rPr>
              <a:t>Wendy Wu Tours | Q1 2026 PPC Report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C6CB"/>
              </a:buClr>
              <a:buSzPts val="1300"/>
              <a:buFont typeface="Calibri"/>
              <a:buNone/>
            </a:pPr>
            <a:r>
              <a:rPr b="0" i="0" lang="en-US" sz="1300" u="none" cap="none" strike="noStrike">
                <a:solidFill>
                  <a:srgbClr val="F5C6CB"/>
                </a:solidFill>
                <a:latin typeface="Calibri"/>
                <a:ea typeface="Calibri"/>
                <a:cs typeface="Calibri"/>
                <a:sym typeface="Calibri"/>
              </a:rPr>
              <a:t>Prepared by Summon</a:t>
            </a:r>
            <a:endParaRPr b="0" i="0" sz="1300" u="none" cap="none" strike="noStrike">
              <a:solidFill>
                <a:schemeClr val="dk1"/>
              </a:solidFill>
              <a:latin typeface="Calibri"/>
              <a:ea typeface="Calibri"/>
              <a:cs typeface="Calibri"/>
              <a:sym typeface="Calibri"/>
            </a:endParaRPr>
          </a:p>
        </p:txBody>
      </p:sp>
      <p:sp>
        <p:nvSpPr>
          <p:cNvPr id="852" name="Google Shape;852;p40"/>
          <p:cNvSpPr/>
          <p:nvPr/>
        </p:nvSpPr>
        <p:spPr>
          <a:xfrm>
            <a:off x="914400" y="459486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900"/>
              <a:buFont typeface="Calibri"/>
              <a:buNone/>
            </a:pPr>
            <a:r>
              <a:rPr b="0" i="0" lang="en-US" sz="900" u="none" cap="none" strike="noStrike">
                <a:solidFill>
                  <a:srgbClr val="666666"/>
                </a:solidFill>
                <a:latin typeface="Calibri"/>
                <a:ea typeface="Calibri"/>
                <a:cs typeface="Calibri"/>
                <a:sym typeface="Calibri"/>
              </a:rPr>
              <a:t>Q1 2026 | Summon Digital | Confidential</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