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DF3505-38A5-434D-8F48-6208D5C3FBA5}">
  <a:tblStyle styleId="{F6DF3505-38A5-434D-8F48-6208D5C3FB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0" y="0"/>
            <a:ext cx="45720" cy="514350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640080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OLYMPIC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HOLIDAYS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14884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Q1 2026 Performance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651760"/>
            <a:ext cx="146304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January – March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Prepared by Summon Digital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92240" y="9144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PAID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92240" y="11704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92240" y="192024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£382,746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92240" y="23225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92240" y="2724912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215.8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92240" y="312724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92240" y="3529584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£338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92240" y="39319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Olympic Holidays Trends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Brand search interest · GB · YoY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804672"/>
            <a:ext cx="530352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804672"/>
            <a:ext cx="32918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82880" y="3840480"/>
            <a:ext cx="2743200" cy="658368"/>
          </a:xfrm>
          <a:prstGeom prst="rect">
            <a:avLst/>
          </a:prstGeom>
          <a:solidFill>
            <a:srgbClr val="FFF0F2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82880" y="3840480"/>
            <a:ext cx="274320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9260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Jan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9260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2296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73736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-13%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108960" y="3840480"/>
            <a:ext cx="2743200" cy="658368"/>
          </a:xfrm>
          <a:prstGeom prst="rect">
            <a:avLst/>
          </a:prstGeom>
          <a:solidFill>
            <a:srgbClr val="F0FFF5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108960" y="3840480"/>
            <a:ext cx="2743200" cy="45720"/>
          </a:xfrm>
          <a:prstGeom prst="rect">
            <a:avLst/>
          </a:prstGeom>
          <a:solidFill>
            <a:srgbClr val="1A7A3C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21868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Feb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21868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74904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66344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+17%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035040" y="3840480"/>
            <a:ext cx="2743200" cy="658368"/>
          </a:xfrm>
          <a:prstGeom prst="rect">
            <a:avLst/>
          </a:prstGeom>
          <a:solidFill>
            <a:srgbClr val="FFF0F2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035040" y="3840480"/>
            <a:ext cx="274320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14476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14476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67512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58952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-29%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82880" y="4590288"/>
            <a:ext cx="87782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182880" y="4590288"/>
            <a:ext cx="54864" cy="38404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47472" y="4681728"/>
            <a:ext cx="8549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Jan 2026 (13) is below Jan 2025 (15), aligned with the broader YoY revenue decline seen in paid search.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Feb 2026 (14) is the only Q1 month to outperform the prior year, recovering above Feb 2025 (12).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 2026 (10) is the weakest Q1 month in both years and fell -29% vs Mar 2025 (14), mirroring the CPA pressure in the same period.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Brand search peaked at 17 in Jul–Aug 2025; the Q1 2026 range of 10–14 sits at the lower end of the annual cycle.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Holidays to Greece Trends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Category search interest · GB · YoY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804672"/>
            <a:ext cx="530352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804672"/>
            <a:ext cx="32918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182880" y="3840480"/>
            <a:ext cx="2743200" cy="658368"/>
          </a:xfrm>
          <a:prstGeom prst="rect">
            <a:avLst/>
          </a:prstGeom>
          <a:solidFill>
            <a:srgbClr val="F0FFF5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82880" y="3840480"/>
            <a:ext cx="2743200" cy="45720"/>
          </a:xfrm>
          <a:prstGeom prst="rect">
            <a:avLst/>
          </a:prstGeom>
          <a:solidFill>
            <a:srgbClr val="1A7A3C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29260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Jan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9260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2296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66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73736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+14%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108960" y="3840480"/>
            <a:ext cx="2743200" cy="658368"/>
          </a:xfrm>
          <a:prstGeom prst="rect">
            <a:avLst/>
          </a:prstGeom>
          <a:solidFill>
            <a:srgbClr val="F0FFF5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108960" y="3840480"/>
            <a:ext cx="2743200" cy="45720"/>
          </a:xfrm>
          <a:prstGeom prst="rect">
            <a:avLst/>
          </a:prstGeom>
          <a:solidFill>
            <a:srgbClr val="1A7A3C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1868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Feb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1868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74904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52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6344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35040" y="3840480"/>
            <a:ext cx="2743200" cy="658368"/>
          </a:xfrm>
          <a:prstGeom prst="rect">
            <a:avLst/>
          </a:prstGeom>
          <a:solidFill>
            <a:srgbClr val="F0FFF5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035040" y="3840480"/>
            <a:ext cx="2743200" cy="45720"/>
          </a:xfrm>
          <a:prstGeom prst="rect">
            <a:avLst/>
          </a:prstGeom>
          <a:solidFill>
            <a:srgbClr val="1A7A3C"/>
          </a:solidFill>
          <a:ln cap="flat" cmpd="sng" w="12700">
            <a:solidFill>
              <a:srgbClr val="1A7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144768" y="389534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144768" y="4050792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675120" y="4133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vs 56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589520" y="4050792"/>
            <a:ext cx="1051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82880" y="4590288"/>
            <a:ext cx="877824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82880" y="4590288"/>
            <a:ext cx="54864" cy="38404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47472" y="4681728"/>
            <a:ext cx="8549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Jan 2026 (75) is the highest index in the entire dataset — up +14% on Jan 2025 (66), signalling strong early-year intent.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Feb 2026 (54) and Mar 2026 (57) both edge above their prior-year equivalents, making Q1 2026 a consistently stronger period for Greece search demand.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three Q1 2026 months outperform Q1 2025, which contrasts with the Olympic Holidays brand trend and highlights category-level demand growth despite paid search revenue decline.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Olympic Holidays | Q1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82880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82880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274320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256032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£382,746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56032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256032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-49.3%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659636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659636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1751076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732788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215.8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732788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732788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-43.5%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136392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136392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227832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209544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£338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209544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 per purchase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9544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+29.6%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613148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613148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704588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686300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£72,932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86300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Total spend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686300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-26.9%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089904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089904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181344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AOV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163056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£1,774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163056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Avg order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163056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-10.2%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566660" y="777240"/>
            <a:ext cx="1417320" cy="12070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566660" y="777240"/>
            <a:ext cx="141732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658100" y="86868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COST/ATC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639812" y="1024128"/>
            <a:ext cx="12710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639812" y="1481328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 per add-to-cart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639812" y="1746504"/>
            <a:ext cx="1271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+102.6% YoY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82880" y="2084832"/>
            <a:ext cx="877824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82880" y="2084832"/>
            <a:ext cx="54864" cy="283464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47472" y="2157984"/>
            <a:ext cx="8549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47472" y="2414016"/>
            <a:ext cx="8549640" cy="24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Q1 2026 delivered £382,746 revenue from 215.8 purchases on £72,932 spend.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Quarter efficiency closed at £338 CPA, £31 cost per ATC, and £1,774 AOV.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Jan 2026 was the strongest revenue month, while Jan 2026 recorded the most efficient CPA.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Versus Q1 2025, revenue moved -49.3%, cost moved -26.9%, and purchases moved -43.5%.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Auction Insights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Competitor landscape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7"/>
          <p:cNvGraphicFramePr/>
          <p:nvPr/>
        </p:nvGraphicFramePr>
        <p:xfrm>
          <a:off x="182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737350"/>
                <a:gridCol w="868675"/>
                <a:gridCol w="868675"/>
                <a:gridCol w="822950"/>
                <a:gridCol w="822950"/>
                <a:gridCol w="822950"/>
                <a:gridCol w="822950"/>
              </a:tblGrid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Domain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Imp. Share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Overlap Rate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Pos. Above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of Page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Abs. Top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Outranking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jet2holidays.com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80.3%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41.9%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tui.co.uk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77.6%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loveholidays.com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easyjet.com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63.5%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89.5%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24.6%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booking.com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19.9%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thomascook.com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65.7%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7.6%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4.9%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 (Olympic)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78.2%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AED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teletextholidays.co.uk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55.6%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onthebeach.co.uk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6.1%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51.5%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81.9%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airbnb.co.uk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6.8%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14.4%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firstchoice.co.uk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52.7%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5.0%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7"/>
          <p:cNvSpPr/>
          <p:nvPr/>
        </p:nvSpPr>
        <p:spPr>
          <a:xfrm>
            <a:off x="182880" y="3429000"/>
            <a:ext cx="8778240" cy="1536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82880" y="3429000"/>
            <a:ext cx="54864" cy="153619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47472" y="3520440"/>
            <a:ext cx="8549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jet2holidays.com had the highest impression share at 55.8% and highest overlap rate at 50.0%.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jet2holidays.com had the highest position-above rate at 80.3% and absolute top-of-page rate at 41.9%.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Average top-of-page pressure across competitors was 78.7%.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teletextholidays.co.uk had the highest outranking share at 5.1%.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Our own impression share value was unavailable; competitor pressure is read from surrounding auction metrics.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Performance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Olympic Holidays | Q1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8"/>
          <p:cNvGraphicFramePr/>
          <p:nvPr/>
        </p:nvGraphicFramePr>
        <p:xfrm>
          <a:off x="18288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463050"/>
                <a:gridCol w="1554475"/>
                <a:gridCol w="1371600"/>
                <a:gridCol w="1188725"/>
                <a:gridCol w="1188725"/>
                <a:gridCol w="1188725"/>
              </a:tblGrid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Purchases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Cost/ATC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£205,977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£27,347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£237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£81,535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£27,342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£604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7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£95,234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£18,243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2029968"/>
            <a:ext cx="4206240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029968"/>
            <a:ext cx="438912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182880" y="4544568"/>
            <a:ext cx="8778240" cy="4297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82880" y="4544568"/>
            <a:ext cx="54864" cy="4297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47472" y="4636008"/>
            <a:ext cx="8549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Revenue moved -53.8% from Jan 2026 (£205,977) to Mar 2026 (£95,234). Jan figure is derived from the quarter total minus Feb and Mar.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Spend moved -33.3% over the same period (£27,347 → £18,243), while purchases fell -52.2% (115.3 → 55.2).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moved from £237 in Jan to a Feb peak of £604, recovering to £330 in Mar. Quarter average CPA was £338.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Add-to-cart volume reached 2,353.5, with quarter cost per ATC at £31.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YoY Matched-Month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Matched months versus prior-year quarter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82880" y="777240"/>
            <a:ext cx="8778240" cy="347472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C2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20040" y="786384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5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4500"/>
                </a:solidFill>
                <a:latin typeface="Calibri"/>
                <a:ea typeface="Calibri"/>
                <a:cs typeface="Calibri"/>
                <a:sym typeface="Calibri"/>
              </a:rPr>
              <a:t>⚠  Partial coverage: 1 of 3 months matched. YoY changes reflect January only, not the full quarter.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9"/>
          <p:cNvGraphicFramePr/>
          <p:nvPr/>
        </p:nvGraphicFramePr>
        <p:xfrm>
          <a:off x="274320" y="1207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508750"/>
                <a:gridCol w="1188725"/>
                <a:gridCol w="1143000"/>
                <a:gridCol w="1097275"/>
              </a:tblGrid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 2025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 2026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£187,875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£95,234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-49.3%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£24,941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£18,243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-26.9%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Purchases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-43.5%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to Cart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1398.3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504.9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-63.9%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£331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+29.6%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per ATC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7A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7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+102.6%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3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AOV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£1,922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£1,726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3183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318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-10.2%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4960" y="1207008"/>
            <a:ext cx="3566160" cy="269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82880" y="4005072"/>
            <a:ext cx="877824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82880" y="4005072"/>
            <a:ext cx="54864" cy="9601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47472" y="4096512"/>
            <a:ext cx="85496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comparison covers 1 of 3 month(s) in the quarter.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Revenue was -49.3% versus Q1 2025; spend was -26.9% and purchases were -43.5% on matched months.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moved +29.6%, cost per ATC moved +102.6%, and AOV moved -10.2%.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 of Period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Latest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228600" y="804672"/>
            <a:ext cx="3429000" cy="3337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228600" y="804672"/>
            <a:ext cx="3429000" cy="54864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65760" y="877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Feb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13167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828800" y="131673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£81,535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5760" y="1810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828800" y="181051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£27,342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365760" y="23042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828800" y="23042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45.3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65760" y="2798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828800" y="279806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£604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365760" y="3291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Cost/ATC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828800" y="32918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£41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212080" y="804672"/>
            <a:ext cx="3429000" cy="3337560"/>
          </a:xfrm>
          <a:prstGeom prst="rect">
            <a:avLst/>
          </a:prstGeom>
          <a:solidFill>
            <a:srgbClr val="FFF5F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5212080" y="804672"/>
            <a:ext cx="3429000" cy="54864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349240" y="8778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31837"/>
                </a:solidFill>
                <a:latin typeface="Calibri"/>
                <a:ea typeface="Calibri"/>
                <a:cs typeface="Calibri"/>
                <a:sym typeface="Calibri"/>
              </a:rPr>
              <a:t>Mar 2026  ← Latest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5349240" y="131673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812280" y="131673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£95,234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349240" y="18105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812280" y="181051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£18,243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349240" y="230428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812280" y="23042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55.2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349240" y="279806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812280" y="279806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£331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349240" y="3291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Cost/ATC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812280" y="32918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749040" y="85953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Feb→Mar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749040" y="13167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+16.8%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74904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-33.3%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3749040" y="23042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+21.9%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749040" y="2798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-45.2%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749040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7A3C"/>
                </a:solidFill>
                <a:latin typeface="Calibri"/>
                <a:ea typeface="Calibri"/>
                <a:cs typeface="Calibri"/>
                <a:sym typeface="Calibri"/>
              </a:rPr>
              <a:t>-12.2%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82880" y="4224528"/>
            <a:ext cx="877824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82880" y="4224528"/>
            <a:ext cx="54864" cy="74980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47472" y="4315968"/>
            <a:ext cx="85496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 2026 revenue was £95,234 versus £81,535 in Feb 2026.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Spend moved from £27,342 to £18,243, while purchases moved from 45.3 to 55.2.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improved from £604 to £331.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 per ATC moved from £41 to £36.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Performance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Cost and revenue share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11"/>
          <p:cNvGraphicFramePr/>
          <p:nvPr/>
        </p:nvGraphicFramePr>
        <p:xfrm>
          <a:off x="182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143000"/>
                <a:gridCol w="859525"/>
                <a:gridCol w="731525"/>
                <a:gridCol w="731525"/>
                <a:gridCol w="731525"/>
                <a:gridCol w="704100"/>
                <a:gridCol w="704100"/>
                <a:gridCol w="704100"/>
                <a:gridCol w="685800"/>
                <a:gridCol w="685800"/>
              </a:tblGrid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Purchases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to Cart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Cost/ATC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AOV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 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£263,193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£11,531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148.4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1338.1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£78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£1,773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15.8%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68.8%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£86,135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£49,952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755.5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£1,020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£1,759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68.5%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22.5%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Performance Max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£29,841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£10,173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209.3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£614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£1,800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7.8%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£3,577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£1,955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7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Demand Gen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£1,276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26.3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£49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3" name="Google Shape;2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2514600"/>
            <a:ext cx="3200400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2514600"/>
            <a:ext cx="320040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6766560" y="2514600"/>
            <a:ext cx="2194560" cy="2423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766560" y="2514600"/>
            <a:ext cx="54864" cy="242316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931152" y="2606040"/>
            <a:ext cx="1965960" cy="2258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Brand drove the largest revenue share at 68.8% with £78 CPA.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Generic carried the highest cost share at 68.5% of spend.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Generic was the least efficient campaign type on quarter CPA at £1,020.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Brand delivered 68.8% of revenue, while Generic accounted for 68.5% of spend.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Generic Performance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Olympic Holidays | Q1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2"/>
          <p:cNvGraphicFramePr/>
          <p:nvPr/>
        </p:nvGraphicFramePr>
        <p:xfrm>
          <a:off x="182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188725"/>
                <a:gridCol w="1097275"/>
                <a:gridCol w="1005850"/>
                <a:gridCol w="1005850"/>
                <a:gridCol w="1005850"/>
                <a:gridCol w="914400"/>
                <a:gridCol w="914400"/>
                <a:gridCol w="9144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Purchases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to Cart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Cost/ATC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AOV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£39,175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£19,264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337.0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£821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£1,670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£21,104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£19,195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228.5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£1,516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£1,667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 2026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£25,856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£11,493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£895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£2,013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2029968"/>
            <a:ext cx="4206240" cy="2240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029968"/>
            <a:ext cx="4389120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182880" y="4352544"/>
            <a:ext cx="877824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182880" y="4352544"/>
            <a:ext cx="54864" cy="62179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347472" y="4443984"/>
            <a:ext cx="8549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Generic delivered £86,135 revenue from £49,952 spend at £1,020 CPA.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Jan 2026 was the strongest generic revenue month in the quarter.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Jan 2026 to Mar 2026, generic revenue moved -34.0% and CPA moved +9.0%.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1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Generic add-to-cart volume totalled 755.5, with £66 cost per ATC and £1,759 AOV.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201168" y="0"/>
            <a:ext cx="6400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ATC Analysis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201168" y="0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Add to cart and cost per ATC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13"/>
          <p:cNvGraphicFramePr/>
          <p:nvPr/>
        </p:nvGraphicFramePr>
        <p:xfrm>
          <a:off x="182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{F6DF3505-38A5-434D-8F48-6208D5C3FBA5}</a:tableStyleId>
              </a:tblPr>
              <a:tblGrid>
                <a:gridCol w="1463050"/>
                <a:gridCol w="1188725"/>
                <a:gridCol w="1188725"/>
                <a:gridCol w="1188725"/>
              </a:tblGrid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to Cart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per ATC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Purchases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 2026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1176.1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£23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 2026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672.6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F0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 2026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504.9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£36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3"/>
          <p:cNvSpPr/>
          <p:nvPr/>
        </p:nvSpPr>
        <p:spPr>
          <a:xfrm>
            <a:off x="5029200" y="777240"/>
            <a:ext cx="182880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5029200" y="777240"/>
            <a:ext cx="182880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5120640" y="8686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TOTAL ATC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102352" y="1024128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2,353.5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102352" y="1481328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Q1 2026 volume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040880" y="777240"/>
            <a:ext cx="19202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7040880" y="777240"/>
            <a:ext cx="192024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132320" y="86868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COST PER ATC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7114032" y="1024128"/>
            <a:ext cx="177393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7114032" y="1481328"/>
            <a:ext cx="1773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Quarter average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2103120"/>
            <a:ext cx="420624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103120"/>
            <a:ext cx="438912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182880" y="4517136"/>
            <a:ext cx="87782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182880" y="4517136"/>
            <a:ext cx="54864" cy="5029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347472" y="4608576"/>
            <a:ext cx="85496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Add-to-cart volume moved -57.1% from Jan 2026 to Mar 2026.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 per ATC moved +55.4% across the same period.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quarter delivered 2353.5 total add-to-cart actions from £72,932 spend.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Purchases totalled 215.8, providing the downstream conversion context for ATC performance.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