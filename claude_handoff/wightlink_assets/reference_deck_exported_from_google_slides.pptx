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Paul Henderso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518D24D-EAA6-41D1-AC2E-21A0FAADA655}">
  <a:tblStyle styleId="{A518D24D-EAA6-41D1-AC2E-21A0FAADA65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28T13:48:16.023">
    <p:pos x="6000" y="0"/>
    <p:text>@jordan@summon.co Spend red. It's neutral. Key thing is how this compares to generics, what should we change if anything, results inflation probably unnecessary for this slide. Dicovery is a good point, but tighten by saying its always going to lose the winners as performers are added to gens
_Assigned to jordan@summon.co_</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 name="Google Shape;3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 name="Google Shape;3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 name="Google Shape;7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d9f279a0fd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g3d9f279a0fd_0_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g3d9f279a0fd_0_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d9f279a0fd_0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g3d9f279a0fd_0_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g3d9f279a0fd_0_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d9f279a0fd_0_7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g3d9f279a0fd_0_7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g3d9f279a0fd_0_7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d9f279a0fd_0_6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g3d9f279a0fd_0_6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g3d9f279a0fd_0_6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9a5b273029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g39a5b273029_0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g39a5b273029_0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 name="Google Shape;38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1" name="Google Shape;40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d9f279a0fd_0_3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 name="Google Shape;445;g3d9f279a0fd_0_3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g3d9f279a0fd_0_3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d9f279a0fd_0_3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9" name="Google Shape;459;g3d9f279a0fd_0_3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0" name="Google Shape;460;g3d9f279a0fd_0_3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d9f279a0fd_0_1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6" name="Google Shape;476;g3d9f279a0fd_0_1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7" name="Google Shape;477;g3d9f279a0fd_0_1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d9f279a0fd_0_1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1" name="Google Shape;491;g3d9f279a0fd_0_1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2" name="Google Shape;492;g3d9f279a0fd_0_1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3d9f279a0fd_0_5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8" name="Google Shape;578;g3d9f279a0fd_0_5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9" name="Google Shape;579;g3d9f279a0fd_0_5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d9f279a0fd_0_1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2" name="Google Shape;622;g3d9f279a0fd_0_1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3" name="Google Shape;623;g3d9f279a0fd_0_1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3d9f279a0fd_0_1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1" name="Google Shape;641;g3d9f279a0fd_0_1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2" name="Google Shape;642;g3d9f279a0fd_0_1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d9f279a0fd_0_2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8" name="Google Shape;668;g3d9f279a0fd_0_2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9" name="Google Shape;669;g3d9f279a0fd_0_2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3d9f279a0fd_0_2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7" name="Google Shape;687;g3d9f279a0fd_0_2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8" name="Google Shape;688;g3d9f279a0fd_0_2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9a5b273029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2" name="Google Shape;702;g39a5b273029_0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3" name="Google Shape;703;g39a5b273029_0_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4.png"/><Relationship Id="rId10" Type="http://schemas.openxmlformats.org/officeDocument/2006/relationships/image" Target="../media/image3.png"/><Relationship Id="rId9" Type="http://schemas.openxmlformats.org/officeDocument/2006/relationships/image" Target="../media/image19.png"/><Relationship Id="rId5" Type="http://schemas.openxmlformats.org/officeDocument/2006/relationships/image" Target="../media/image7.png"/><Relationship Id="rId6" Type="http://schemas.openxmlformats.org/officeDocument/2006/relationships/image" Target="../media/image15.png"/><Relationship Id="rId7" Type="http://schemas.openxmlformats.org/officeDocument/2006/relationships/image" Target="../media/image5.png"/><Relationship Id="rId8"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comments" Target="../comments/comment1.xml"/><Relationship Id="rId4" Type="http://schemas.openxmlformats.org/officeDocument/2006/relationships/image" Target="../media/image18.png"/><Relationship Id="rId5"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6.png"/><Relationship Id="rId4" Type="http://schemas.openxmlformats.org/officeDocument/2006/relationships/image" Target="../media/image20.png"/><Relationship Id="rId5" Type="http://schemas.openxmlformats.org/officeDocument/2006/relationships/image" Target="../media/image12.png"/><Relationship Id="rId6" Type="http://schemas.openxmlformats.org/officeDocument/2006/relationships/image" Target="../media/image17.png"/><Relationship Id="rId7"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hyperlink" Target="https://ad-transparency-hub.vercel.app/" TargetMode="External"/><Relationship Id="rId4" Type="http://schemas.openxmlformats.org/officeDocument/2006/relationships/image" Target="../media/image4.png"/><Relationship Id="rId5"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1C1C"/>
        </a:solidFill>
      </p:bgPr>
    </p:bg>
    <p:spTree>
      <p:nvGrpSpPr>
        <p:cNvPr id="15" name="Shape 15"/>
        <p:cNvGrpSpPr/>
        <p:nvPr/>
      </p:nvGrpSpPr>
      <p:grpSpPr>
        <a:xfrm>
          <a:off x="0" y="0"/>
          <a:ext cx="0" cy="0"/>
          <a:chOff x="0" y="0"/>
          <a:chExt cx="0" cy="0"/>
        </a:xfrm>
      </p:grpSpPr>
      <p:sp>
        <p:nvSpPr>
          <p:cNvPr id="16" name="Google Shape;16;p3"/>
          <p:cNvSpPr/>
          <p:nvPr/>
        </p:nvSpPr>
        <p:spPr>
          <a:xfrm>
            <a:off x="411480" y="1005840"/>
            <a:ext cx="51206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Calibri"/>
              <a:buNone/>
            </a:pPr>
            <a:r>
              <a:rPr b="1" i="0" lang="en-US" sz="4400" u="none" cap="none" strike="noStrike">
                <a:solidFill>
                  <a:srgbClr val="FFFFFF"/>
                </a:solidFill>
                <a:latin typeface="Calibri"/>
                <a:ea typeface="Calibri"/>
                <a:cs typeface="Calibri"/>
                <a:sym typeface="Calibri"/>
              </a:rPr>
              <a:t>Wightlink</a:t>
            </a:r>
            <a:endParaRPr b="0" i="0" sz="4400" u="none" cap="none" strike="noStrike">
              <a:solidFill>
                <a:schemeClr val="dk1"/>
              </a:solidFill>
              <a:latin typeface="Calibri"/>
              <a:ea typeface="Calibri"/>
              <a:cs typeface="Calibri"/>
              <a:sym typeface="Calibri"/>
            </a:endParaRPr>
          </a:p>
        </p:txBody>
      </p:sp>
      <p:sp>
        <p:nvSpPr>
          <p:cNvPr id="17" name="Google Shape;17;p3"/>
          <p:cNvSpPr/>
          <p:nvPr/>
        </p:nvSpPr>
        <p:spPr>
          <a:xfrm>
            <a:off x="411480" y="1783080"/>
            <a:ext cx="51206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2200"/>
              <a:buFont typeface="Calibri"/>
              <a:buNone/>
            </a:pPr>
            <a:r>
              <a:rPr b="0" i="0" lang="en-US" sz="2200" u="none" cap="none" strike="noStrike">
                <a:solidFill>
                  <a:srgbClr val="CCCCCC"/>
                </a:solidFill>
                <a:latin typeface="Calibri"/>
                <a:ea typeface="Calibri"/>
                <a:cs typeface="Calibri"/>
                <a:sym typeface="Calibri"/>
              </a:rPr>
              <a:t>Financial Year Review</a:t>
            </a:r>
            <a:endParaRPr b="0" i="0" sz="2200" u="none" cap="none" strike="noStrike">
              <a:solidFill>
                <a:schemeClr val="dk1"/>
              </a:solidFill>
              <a:latin typeface="Calibri"/>
              <a:ea typeface="Calibri"/>
              <a:cs typeface="Calibri"/>
              <a:sym typeface="Calibri"/>
            </a:endParaRPr>
          </a:p>
        </p:txBody>
      </p:sp>
      <p:sp>
        <p:nvSpPr>
          <p:cNvPr id="18" name="Google Shape;18;p3"/>
          <p:cNvSpPr/>
          <p:nvPr/>
        </p:nvSpPr>
        <p:spPr>
          <a:xfrm>
            <a:off x="411480" y="2377440"/>
            <a:ext cx="4663440" cy="54864"/>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411480" y="2487168"/>
            <a:ext cx="51206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300"/>
              <a:buFont typeface="Calibri"/>
              <a:buNone/>
            </a:pPr>
            <a:r>
              <a:rPr b="0" i="0" lang="en-US" sz="1300" u="none" cap="none" strike="noStrike">
                <a:solidFill>
                  <a:srgbClr val="C0392B"/>
                </a:solidFill>
                <a:latin typeface="Calibri"/>
                <a:ea typeface="Calibri"/>
                <a:cs typeface="Calibri"/>
                <a:sym typeface="Calibri"/>
              </a:rPr>
              <a:t>FY 2025/26 (Apr 2025 – Mar 2026)</a:t>
            </a:r>
            <a:endParaRPr b="0" i="0" sz="1300" u="none" cap="none" strike="noStrike">
              <a:solidFill>
                <a:schemeClr val="dk1"/>
              </a:solidFill>
              <a:latin typeface="Calibri"/>
              <a:ea typeface="Calibri"/>
              <a:cs typeface="Calibri"/>
              <a:sym typeface="Calibri"/>
            </a:endParaRPr>
          </a:p>
        </p:txBody>
      </p:sp>
      <p:sp>
        <p:nvSpPr>
          <p:cNvPr id="20" name="Google Shape;20;p3"/>
          <p:cNvSpPr/>
          <p:nvPr/>
        </p:nvSpPr>
        <p:spPr>
          <a:xfrm>
            <a:off x="411480" y="310896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77777"/>
              </a:buClr>
              <a:buSzPts val="1000"/>
              <a:buFont typeface="Calibri"/>
              <a:buNone/>
            </a:pPr>
            <a:r>
              <a:rPr b="0" i="0" lang="en-US" sz="1000" u="none" cap="none" strike="noStrike">
                <a:solidFill>
                  <a:srgbClr val="777777"/>
                </a:solidFill>
                <a:latin typeface="Calibri"/>
                <a:ea typeface="Calibri"/>
                <a:cs typeface="Calibri"/>
                <a:sym typeface="Calibri"/>
              </a:rPr>
              <a:t>Prepared by Summon</a:t>
            </a:r>
            <a:endParaRPr b="0" i="0" sz="1000" u="none" cap="none" strike="noStrike">
              <a:solidFill>
                <a:schemeClr val="dk1"/>
              </a:solidFill>
              <a:latin typeface="Calibri"/>
              <a:ea typeface="Calibri"/>
              <a:cs typeface="Calibri"/>
              <a:sym typeface="Calibri"/>
            </a:endParaRPr>
          </a:p>
        </p:txBody>
      </p:sp>
      <p:sp>
        <p:nvSpPr>
          <p:cNvPr id="21" name="Google Shape;21;p3"/>
          <p:cNvSpPr/>
          <p:nvPr/>
        </p:nvSpPr>
        <p:spPr>
          <a:xfrm>
            <a:off x="5852160" y="228600"/>
            <a:ext cx="3017520" cy="1078992"/>
          </a:xfrm>
          <a:prstGeom prst="rect">
            <a:avLst/>
          </a:prstGeom>
          <a:solidFill>
            <a:srgbClr val="2A2A2A"/>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a:off x="5852160" y="338328"/>
            <a:ext cx="30175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155,485</a:t>
            </a:r>
            <a:endParaRPr b="0" i="0" sz="2600" u="none" cap="none" strike="noStrike">
              <a:solidFill>
                <a:schemeClr val="dk1"/>
              </a:solidFill>
              <a:latin typeface="Calibri"/>
              <a:ea typeface="Calibri"/>
              <a:cs typeface="Calibri"/>
              <a:sym typeface="Calibri"/>
            </a:endParaRPr>
          </a:p>
        </p:txBody>
      </p:sp>
      <p:sp>
        <p:nvSpPr>
          <p:cNvPr id="23" name="Google Shape;23;p3"/>
          <p:cNvSpPr/>
          <p:nvPr/>
        </p:nvSpPr>
        <p:spPr>
          <a:xfrm>
            <a:off x="5852160" y="886968"/>
            <a:ext cx="30175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CCCCC"/>
              </a:buClr>
              <a:buSzPts val="1100"/>
              <a:buFont typeface="Calibri"/>
              <a:buNone/>
            </a:pPr>
            <a:r>
              <a:rPr b="0" i="0" lang="en-US" sz="1100" u="none" cap="none" strike="noStrike">
                <a:solidFill>
                  <a:srgbClr val="CCCCCC"/>
                </a:solidFill>
                <a:latin typeface="Calibri"/>
                <a:ea typeface="Calibri"/>
                <a:cs typeface="Calibri"/>
                <a:sym typeface="Calibri"/>
              </a:rPr>
              <a:t>Total Purchases</a:t>
            </a:r>
            <a:endParaRPr b="0" i="0" sz="1100" u="none" cap="none" strike="noStrike">
              <a:solidFill>
                <a:schemeClr val="dk1"/>
              </a:solidFill>
              <a:latin typeface="Calibri"/>
              <a:ea typeface="Calibri"/>
              <a:cs typeface="Calibri"/>
              <a:sym typeface="Calibri"/>
            </a:endParaRPr>
          </a:p>
        </p:txBody>
      </p:sp>
      <p:sp>
        <p:nvSpPr>
          <p:cNvPr id="24" name="Google Shape;24;p3"/>
          <p:cNvSpPr/>
          <p:nvPr/>
        </p:nvSpPr>
        <p:spPr>
          <a:xfrm>
            <a:off x="5852160" y="1435608"/>
            <a:ext cx="3017520" cy="1078992"/>
          </a:xfrm>
          <a:prstGeom prst="rect">
            <a:avLst/>
          </a:prstGeom>
          <a:solidFill>
            <a:srgbClr val="2A2A2A"/>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5852160" y="1545336"/>
            <a:ext cx="30175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£259,615</a:t>
            </a:r>
            <a:endParaRPr b="0" i="0" sz="2600" u="none" cap="none" strike="noStrike">
              <a:solidFill>
                <a:schemeClr val="dk1"/>
              </a:solidFill>
              <a:latin typeface="Calibri"/>
              <a:ea typeface="Calibri"/>
              <a:cs typeface="Calibri"/>
              <a:sym typeface="Calibri"/>
            </a:endParaRPr>
          </a:p>
        </p:txBody>
      </p:sp>
      <p:sp>
        <p:nvSpPr>
          <p:cNvPr id="26" name="Google Shape;26;p3"/>
          <p:cNvSpPr/>
          <p:nvPr/>
        </p:nvSpPr>
        <p:spPr>
          <a:xfrm>
            <a:off x="5852160" y="2093976"/>
            <a:ext cx="30175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CCCCC"/>
              </a:buClr>
              <a:buSzPts val="1100"/>
              <a:buFont typeface="Calibri"/>
              <a:buNone/>
            </a:pPr>
            <a:r>
              <a:rPr b="0" i="0" lang="en-US" sz="1100" u="none" cap="none" strike="noStrike">
                <a:solidFill>
                  <a:srgbClr val="CCCCCC"/>
                </a:solidFill>
                <a:latin typeface="Calibri"/>
                <a:ea typeface="Calibri"/>
                <a:cs typeface="Calibri"/>
                <a:sym typeface="Calibri"/>
              </a:rPr>
              <a:t>Total Spend</a:t>
            </a:r>
            <a:endParaRPr b="0" i="0" sz="1100" u="none" cap="none" strike="noStrike">
              <a:solidFill>
                <a:schemeClr val="dk1"/>
              </a:solidFill>
              <a:latin typeface="Calibri"/>
              <a:ea typeface="Calibri"/>
              <a:cs typeface="Calibri"/>
              <a:sym typeface="Calibri"/>
            </a:endParaRPr>
          </a:p>
        </p:txBody>
      </p:sp>
      <p:sp>
        <p:nvSpPr>
          <p:cNvPr id="27" name="Google Shape;27;p3"/>
          <p:cNvSpPr/>
          <p:nvPr/>
        </p:nvSpPr>
        <p:spPr>
          <a:xfrm>
            <a:off x="5852160" y="2642616"/>
            <a:ext cx="3017520" cy="1078992"/>
          </a:xfrm>
          <a:prstGeom prst="rect">
            <a:avLst/>
          </a:prstGeom>
          <a:solidFill>
            <a:srgbClr val="2A2A2A"/>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a:off x="5852160" y="2752344"/>
            <a:ext cx="30175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53.31</a:t>
            </a:r>
            <a:endParaRPr b="0" i="0" sz="2600" u="none" cap="none" strike="noStrike">
              <a:solidFill>
                <a:schemeClr val="dk1"/>
              </a:solidFill>
              <a:latin typeface="Calibri"/>
              <a:ea typeface="Calibri"/>
              <a:cs typeface="Calibri"/>
              <a:sym typeface="Calibri"/>
            </a:endParaRPr>
          </a:p>
        </p:txBody>
      </p:sp>
      <p:sp>
        <p:nvSpPr>
          <p:cNvPr id="29" name="Google Shape;29;p3"/>
          <p:cNvSpPr/>
          <p:nvPr/>
        </p:nvSpPr>
        <p:spPr>
          <a:xfrm>
            <a:off x="5852160" y="3300984"/>
            <a:ext cx="30175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CCCCC"/>
              </a:buClr>
              <a:buSzPts val="1100"/>
              <a:buFont typeface="Calibri"/>
              <a:buNone/>
            </a:pPr>
            <a:r>
              <a:rPr b="0" i="0" lang="en-US" sz="1100" u="none" cap="none" strike="noStrike">
                <a:solidFill>
                  <a:srgbClr val="CCCCCC"/>
                </a:solidFill>
                <a:latin typeface="Calibri"/>
                <a:ea typeface="Calibri"/>
                <a:cs typeface="Calibri"/>
                <a:sym typeface="Calibri"/>
              </a:rPr>
              <a:t>Full-Year ROAS</a:t>
            </a:r>
            <a:endParaRPr b="0" i="0" sz="1100" u="none" cap="none" strike="noStrike">
              <a:solidFill>
                <a:schemeClr val="dk1"/>
              </a:solidFill>
              <a:latin typeface="Calibri"/>
              <a:ea typeface="Calibri"/>
              <a:cs typeface="Calibri"/>
              <a:sym typeface="Calibri"/>
            </a:endParaRPr>
          </a:p>
        </p:txBody>
      </p:sp>
      <p:sp>
        <p:nvSpPr>
          <p:cNvPr id="30" name="Google Shape;30;p3"/>
          <p:cNvSpPr/>
          <p:nvPr/>
        </p:nvSpPr>
        <p:spPr>
          <a:xfrm>
            <a:off x="5852160" y="3849624"/>
            <a:ext cx="3017520" cy="1078992"/>
          </a:xfrm>
          <a:prstGeom prst="rect">
            <a:avLst/>
          </a:prstGeom>
          <a:solidFill>
            <a:srgbClr val="2A2A2A"/>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a:off x="5852160" y="3959352"/>
            <a:ext cx="30175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£13,839,790</a:t>
            </a:r>
            <a:endParaRPr b="0" i="0" sz="2600" u="none" cap="none" strike="noStrike">
              <a:solidFill>
                <a:schemeClr val="dk1"/>
              </a:solidFill>
              <a:latin typeface="Calibri"/>
              <a:ea typeface="Calibri"/>
              <a:cs typeface="Calibri"/>
              <a:sym typeface="Calibri"/>
            </a:endParaRPr>
          </a:p>
        </p:txBody>
      </p:sp>
      <p:sp>
        <p:nvSpPr>
          <p:cNvPr id="32" name="Google Shape;32;p3"/>
          <p:cNvSpPr/>
          <p:nvPr/>
        </p:nvSpPr>
        <p:spPr>
          <a:xfrm>
            <a:off x="5852160" y="4507992"/>
            <a:ext cx="30175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CCCCC"/>
              </a:buClr>
              <a:buSzPts val="1100"/>
              <a:buFont typeface="Calibri"/>
              <a:buNone/>
            </a:pPr>
            <a:r>
              <a:rPr b="0" i="0" lang="en-US" sz="1100" u="none" cap="none" strike="noStrike">
                <a:solidFill>
                  <a:srgbClr val="CCCCCC"/>
                </a:solidFill>
                <a:latin typeface="Calibri"/>
                <a:ea typeface="Calibri"/>
                <a:cs typeface="Calibri"/>
                <a:sym typeface="Calibri"/>
              </a:rPr>
              <a:t>Total Revenue</a:t>
            </a:r>
            <a:endParaRPr b="0" i="0" sz="1100" u="none" cap="none" strike="noStrike">
              <a:solidFill>
                <a:schemeClr val="dk1"/>
              </a:solidFill>
              <a:latin typeface="Calibri"/>
              <a:ea typeface="Calibri"/>
              <a:cs typeface="Calibri"/>
              <a:sym typeface="Calibri"/>
            </a:endParaRPr>
          </a:p>
        </p:txBody>
      </p:sp>
      <p:sp>
        <p:nvSpPr>
          <p:cNvPr id="33" name="Google Shape;33;p3"/>
          <p:cNvSpPr/>
          <p:nvPr/>
        </p:nvSpPr>
        <p:spPr>
          <a:xfrm>
            <a:off x="411480" y="4800600"/>
            <a:ext cx="83210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900"/>
              <a:buFont typeface="Calibri"/>
              <a:buNone/>
            </a:pPr>
            <a:r>
              <a:rPr b="0" i="0" lang="en-US" sz="900" u="none" cap="none" strike="noStrike">
                <a:solidFill>
                  <a:srgbClr val="555555"/>
                </a:solidFill>
                <a:latin typeface="Calibri"/>
                <a:ea typeface="Calibri"/>
                <a:cs typeface="Calibri"/>
                <a:sym typeface="Calibri"/>
              </a:rPr>
              <a:t>Wightlink  |  FY 2025/26  |  Confidential</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p4"/>
          <p:cNvSpPr/>
          <p:nvPr/>
        </p:nvSpPr>
        <p:spPr>
          <a:xfrm>
            <a:off x="0" y="0"/>
            <a:ext cx="9144000" cy="868680"/>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320040" y="45720"/>
            <a:ext cx="80467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What We'll Cover Today</a:t>
            </a:r>
            <a:endParaRPr b="0" i="0" sz="2200" u="none" cap="none" strike="noStrike">
              <a:solidFill>
                <a:schemeClr val="dk1"/>
              </a:solidFill>
              <a:latin typeface="Calibri"/>
              <a:ea typeface="Calibri"/>
              <a:cs typeface="Calibri"/>
              <a:sym typeface="Calibri"/>
            </a:endParaRPr>
          </a:p>
        </p:txBody>
      </p:sp>
      <p:sp>
        <p:nvSpPr>
          <p:cNvPr id="41" name="Google Shape;41;p4"/>
          <p:cNvSpPr/>
          <p:nvPr/>
        </p:nvSpPr>
        <p:spPr>
          <a:xfrm>
            <a:off x="320040" y="521208"/>
            <a:ext cx="8046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000"/>
              <a:buFont typeface="Calibri"/>
              <a:buNone/>
            </a:pPr>
            <a:r>
              <a:rPr b="0" i="0" lang="en-US" sz="1000" u="none" cap="none" strike="noStrike">
                <a:solidFill>
                  <a:srgbClr val="CCCCCC"/>
                </a:solidFill>
                <a:latin typeface="Calibri"/>
                <a:ea typeface="Calibri"/>
                <a:cs typeface="Calibri"/>
                <a:sym typeface="Calibri"/>
              </a:rPr>
              <a:t>FY 2025/26 (Apr 2025 - Mar 2026)</a:t>
            </a:r>
            <a:endParaRPr b="0" i="0" sz="1000" u="none" cap="none" strike="noStrike">
              <a:solidFill>
                <a:schemeClr val="dk1"/>
              </a:solidFill>
              <a:latin typeface="Calibri"/>
              <a:ea typeface="Calibri"/>
              <a:cs typeface="Calibri"/>
              <a:sym typeface="Calibri"/>
            </a:endParaRPr>
          </a:p>
        </p:txBody>
      </p:sp>
      <p:sp>
        <p:nvSpPr>
          <p:cNvPr id="42" name="Google Shape;42;p4"/>
          <p:cNvSpPr/>
          <p:nvPr/>
        </p:nvSpPr>
        <p:spPr>
          <a:xfrm>
            <a:off x="0" y="868680"/>
            <a:ext cx="9144000" cy="36576"/>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a:off x="0" y="4910328"/>
            <a:ext cx="9144000" cy="233172"/>
          </a:xfrm>
          <a:prstGeom prst="rect">
            <a:avLst/>
          </a:prstGeom>
          <a:solidFill>
            <a:srgbClr val="1C1C1C"/>
          </a:solidFill>
          <a:ln cap="flat" cmpd="sng" w="12700">
            <a:solidFill>
              <a:srgbClr val="1C1C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320040" y="4919472"/>
            <a:ext cx="8503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00"/>
              <a:buFont typeface="Calibri"/>
              <a:buNone/>
            </a:pPr>
            <a:r>
              <a:rPr b="0" i="0" lang="en-US" sz="800" u="none" cap="none" strike="noStrike">
                <a:solidFill>
                  <a:srgbClr val="888888"/>
                </a:solidFill>
                <a:latin typeface="Calibri"/>
                <a:ea typeface="Calibri"/>
                <a:cs typeface="Calibri"/>
                <a:sym typeface="Calibri"/>
              </a:rPr>
              <a:t>FY 2025/26  |  Wightlink  |  Confidential</a:t>
            </a:r>
            <a:endParaRPr b="0" i="0" sz="800" u="none" cap="none" strike="noStrike">
              <a:solidFill>
                <a:schemeClr val="dk1"/>
              </a:solidFill>
              <a:latin typeface="Calibri"/>
              <a:ea typeface="Calibri"/>
              <a:cs typeface="Calibri"/>
              <a:sym typeface="Calibri"/>
            </a:endParaRPr>
          </a:p>
        </p:txBody>
      </p:sp>
      <p:sp>
        <p:nvSpPr>
          <p:cNvPr id="45" name="Google Shape;45;p4"/>
          <p:cNvSpPr/>
          <p:nvPr/>
        </p:nvSpPr>
        <p:spPr>
          <a:xfrm>
            <a:off x="320045" y="1079000"/>
            <a:ext cx="31800" cy="10059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a:off x="475488" y="1124712"/>
            <a:ext cx="6402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121"/>
              </a:buClr>
              <a:buSzPts val="2400"/>
              <a:buFont typeface="Calibri"/>
              <a:buNone/>
            </a:pPr>
            <a:r>
              <a:rPr b="1" i="0" lang="en-US" sz="2400" u="none" cap="none" strike="noStrike">
                <a:solidFill>
                  <a:srgbClr val="212121"/>
                </a:solidFill>
                <a:latin typeface="Calibri"/>
                <a:ea typeface="Calibri"/>
                <a:cs typeface="Calibri"/>
                <a:sym typeface="Calibri"/>
              </a:rPr>
              <a:t>1</a:t>
            </a:r>
            <a:endParaRPr b="0" i="0" sz="2400" u="none" cap="none" strike="noStrike">
              <a:solidFill>
                <a:schemeClr val="dk1"/>
              </a:solidFill>
              <a:latin typeface="Calibri"/>
              <a:ea typeface="Calibri"/>
              <a:cs typeface="Calibri"/>
              <a:sym typeface="Calibri"/>
            </a:endParaRPr>
          </a:p>
        </p:txBody>
      </p:sp>
      <p:sp>
        <p:nvSpPr>
          <p:cNvPr id="47" name="Google Shape;47;p4"/>
          <p:cNvSpPr/>
          <p:nvPr/>
        </p:nvSpPr>
        <p:spPr>
          <a:xfrm>
            <a:off x="475493" y="1517900"/>
            <a:ext cx="3259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121"/>
              </a:buClr>
              <a:buSzPts val="1400"/>
              <a:buFont typeface="Calibri"/>
              <a:buNone/>
            </a:pPr>
            <a:r>
              <a:rPr b="1" i="0" lang="en-US" sz="1400" u="none" cap="none" strike="noStrike">
                <a:solidFill>
                  <a:srgbClr val="212121"/>
                </a:solidFill>
                <a:latin typeface="Calibri"/>
                <a:ea typeface="Calibri"/>
                <a:cs typeface="Calibri"/>
                <a:sym typeface="Calibri"/>
              </a:rPr>
              <a:t>Trends</a:t>
            </a:r>
            <a:endParaRPr b="0" i="0" sz="1400" u="none" cap="none" strike="noStrike">
              <a:solidFill>
                <a:schemeClr val="dk1"/>
              </a:solidFill>
              <a:latin typeface="Calibri"/>
              <a:ea typeface="Calibri"/>
              <a:cs typeface="Calibri"/>
              <a:sym typeface="Calibri"/>
            </a:endParaRPr>
          </a:p>
        </p:txBody>
      </p:sp>
      <p:sp>
        <p:nvSpPr>
          <p:cNvPr id="48" name="Google Shape;48;p4"/>
          <p:cNvSpPr/>
          <p:nvPr/>
        </p:nvSpPr>
        <p:spPr>
          <a:xfrm>
            <a:off x="320044" y="2286000"/>
            <a:ext cx="31800" cy="10059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a:off x="475492" y="2366013"/>
            <a:ext cx="7665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121"/>
              </a:buClr>
              <a:buSzPts val="2400"/>
              <a:buFont typeface="Calibri"/>
              <a:buNone/>
            </a:pPr>
            <a:r>
              <a:rPr b="1" lang="en-US" sz="2400">
                <a:solidFill>
                  <a:srgbClr val="212121"/>
                </a:solidFill>
                <a:latin typeface="Calibri"/>
                <a:ea typeface="Calibri"/>
                <a:cs typeface="Calibri"/>
                <a:sym typeface="Calibri"/>
              </a:rPr>
              <a:t>3</a:t>
            </a:r>
            <a:endParaRPr b="0" i="0" sz="2400" u="none" cap="none" strike="noStrike">
              <a:solidFill>
                <a:schemeClr val="dk1"/>
              </a:solidFill>
              <a:latin typeface="Calibri"/>
              <a:ea typeface="Calibri"/>
              <a:cs typeface="Calibri"/>
              <a:sym typeface="Calibri"/>
            </a:endParaRPr>
          </a:p>
        </p:txBody>
      </p:sp>
      <p:sp>
        <p:nvSpPr>
          <p:cNvPr id="50" name="Google Shape;50;p4"/>
          <p:cNvSpPr/>
          <p:nvPr/>
        </p:nvSpPr>
        <p:spPr>
          <a:xfrm>
            <a:off x="479650" y="2914529"/>
            <a:ext cx="3392400" cy="201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212121"/>
              </a:buClr>
              <a:buSzPts val="1400"/>
              <a:buFont typeface="Calibri"/>
              <a:buNone/>
            </a:pPr>
            <a:r>
              <a:rPr b="1" lang="en-US">
                <a:solidFill>
                  <a:srgbClr val="212121"/>
                </a:solidFill>
                <a:latin typeface="Calibri"/>
                <a:ea typeface="Calibri"/>
                <a:cs typeface="Calibri"/>
                <a:sym typeface="Calibri"/>
              </a:rPr>
              <a:t>Performance</a:t>
            </a:r>
            <a:endParaRPr>
              <a:solidFill>
                <a:schemeClr val="dk1"/>
              </a:solidFill>
              <a:latin typeface="Calibri"/>
              <a:ea typeface="Calibri"/>
              <a:cs typeface="Calibri"/>
              <a:sym typeface="Calibri"/>
            </a:endParaRPr>
          </a:p>
          <a:p>
            <a:pPr indent="0" lvl="0" marL="0" marR="0" rtl="0" algn="l">
              <a:spcBef>
                <a:spcPts val="0"/>
              </a:spcBef>
              <a:spcAft>
                <a:spcPts val="0"/>
              </a:spcAft>
              <a:buClr>
                <a:srgbClr val="212121"/>
              </a:buClr>
              <a:buSzPts val="1400"/>
              <a:buFont typeface="Calibri"/>
              <a:buNone/>
            </a:pPr>
            <a:r>
              <a:t/>
            </a:r>
            <a:endParaRPr b="1">
              <a:solidFill>
                <a:srgbClr val="212121"/>
              </a:solidFill>
              <a:latin typeface="Calibri"/>
              <a:ea typeface="Calibri"/>
              <a:cs typeface="Calibri"/>
              <a:sym typeface="Calibri"/>
            </a:endParaRPr>
          </a:p>
        </p:txBody>
      </p:sp>
      <p:sp>
        <p:nvSpPr>
          <p:cNvPr id="51" name="Google Shape;51;p4"/>
          <p:cNvSpPr/>
          <p:nvPr/>
        </p:nvSpPr>
        <p:spPr>
          <a:xfrm>
            <a:off x="320044" y="3291837"/>
            <a:ext cx="3711600" cy="18300"/>
          </a:xfrm>
          <a:prstGeom prst="rect">
            <a:avLst/>
          </a:prstGeom>
          <a:solidFill>
            <a:srgbClr val="E0E0E0"/>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5112344" y="1108125"/>
            <a:ext cx="31800" cy="10059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a:off x="5265092" y="1121800"/>
            <a:ext cx="7665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121"/>
              </a:buClr>
              <a:buSzPts val="2400"/>
              <a:buFont typeface="Calibri"/>
              <a:buNone/>
            </a:pPr>
            <a:r>
              <a:rPr b="1" i="0" lang="en-US" sz="2400" u="none" cap="none" strike="noStrike">
                <a:solidFill>
                  <a:srgbClr val="212121"/>
                </a:solidFill>
                <a:latin typeface="Calibri"/>
                <a:ea typeface="Calibri"/>
                <a:cs typeface="Calibri"/>
                <a:sym typeface="Calibri"/>
              </a:rPr>
              <a:t>2</a:t>
            </a:r>
            <a:endParaRPr b="0" i="0" sz="2400" u="none" cap="none" strike="noStrike">
              <a:solidFill>
                <a:schemeClr val="dk1"/>
              </a:solidFill>
              <a:latin typeface="Calibri"/>
              <a:ea typeface="Calibri"/>
              <a:cs typeface="Calibri"/>
              <a:sym typeface="Calibri"/>
            </a:endParaRPr>
          </a:p>
        </p:txBody>
      </p:sp>
      <p:sp>
        <p:nvSpPr>
          <p:cNvPr id="54" name="Google Shape;54;p4"/>
          <p:cNvSpPr/>
          <p:nvPr/>
        </p:nvSpPr>
        <p:spPr>
          <a:xfrm>
            <a:off x="5271940" y="1533411"/>
            <a:ext cx="3392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121"/>
              </a:buClr>
              <a:buSzPts val="1400"/>
              <a:buFont typeface="Calibri"/>
              <a:buNone/>
            </a:pPr>
            <a:r>
              <a:rPr b="1" i="0" lang="en-US" sz="1400" u="none" cap="none" strike="noStrike">
                <a:solidFill>
                  <a:srgbClr val="212121"/>
                </a:solidFill>
                <a:latin typeface="Calibri"/>
                <a:ea typeface="Calibri"/>
                <a:cs typeface="Calibri"/>
                <a:sym typeface="Calibri"/>
              </a:rPr>
              <a:t>Auction Insights</a:t>
            </a:r>
            <a:endParaRPr b="0" i="0" sz="1400" u="none" cap="none" strike="noStrike">
              <a:solidFill>
                <a:schemeClr val="dk1"/>
              </a:solidFill>
              <a:latin typeface="Calibri"/>
              <a:ea typeface="Calibri"/>
              <a:cs typeface="Calibri"/>
              <a:sym typeface="Calibri"/>
            </a:endParaRPr>
          </a:p>
        </p:txBody>
      </p:sp>
      <p:sp>
        <p:nvSpPr>
          <p:cNvPr id="55" name="Google Shape;55;p4"/>
          <p:cNvSpPr/>
          <p:nvPr/>
        </p:nvSpPr>
        <p:spPr>
          <a:xfrm>
            <a:off x="5112344" y="2113962"/>
            <a:ext cx="3711600" cy="18300"/>
          </a:xfrm>
          <a:prstGeom prst="rect">
            <a:avLst/>
          </a:prstGeom>
          <a:solidFill>
            <a:srgbClr val="E0E0E0"/>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4"/>
          <p:cNvSpPr/>
          <p:nvPr/>
        </p:nvSpPr>
        <p:spPr>
          <a:xfrm>
            <a:off x="5112344" y="2340350"/>
            <a:ext cx="31800" cy="10059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a:off x="5265092" y="2354025"/>
            <a:ext cx="7665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121"/>
              </a:buClr>
              <a:buSzPts val="2400"/>
              <a:buFont typeface="Calibri"/>
              <a:buNone/>
            </a:pPr>
            <a:r>
              <a:rPr b="1" lang="en-US" sz="2400">
                <a:solidFill>
                  <a:srgbClr val="212121"/>
                </a:solidFill>
                <a:latin typeface="Calibri"/>
                <a:ea typeface="Calibri"/>
                <a:cs typeface="Calibri"/>
                <a:sym typeface="Calibri"/>
              </a:rPr>
              <a:t>4</a:t>
            </a:r>
            <a:endParaRPr b="0" i="0" sz="2400" u="none" cap="none" strike="noStrike">
              <a:solidFill>
                <a:schemeClr val="dk1"/>
              </a:solidFill>
              <a:latin typeface="Calibri"/>
              <a:ea typeface="Calibri"/>
              <a:cs typeface="Calibri"/>
              <a:sym typeface="Calibri"/>
            </a:endParaRPr>
          </a:p>
        </p:txBody>
      </p:sp>
      <p:sp>
        <p:nvSpPr>
          <p:cNvPr id="58" name="Google Shape;58;p4"/>
          <p:cNvSpPr/>
          <p:nvPr/>
        </p:nvSpPr>
        <p:spPr>
          <a:xfrm>
            <a:off x="5271940" y="2765636"/>
            <a:ext cx="3392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121"/>
              </a:buClr>
              <a:buSzPts val="1400"/>
              <a:buFont typeface="Calibri"/>
              <a:buNone/>
            </a:pPr>
            <a:r>
              <a:rPr b="1" lang="en-US">
                <a:solidFill>
                  <a:srgbClr val="212121"/>
                </a:solidFill>
                <a:latin typeface="Calibri"/>
                <a:ea typeface="Calibri"/>
                <a:cs typeface="Calibri"/>
                <a:sym typeface="Calibri"/>
              </a:rPr>
              <a:t>Testing</a:t>
            </a:r>
            <a:endParaRPr b="0" i="0" sz="1400" u="none" cap="none" strike="noStrike">
              <a:solidFill>
                <a:schemeClr val="dk1"/>
              </a:solidFill>
              <a:latin typeface="Calibri"/>
              <a:ea typeface="Calibri"/>
              <a:cs typeface="Calibri"/>
              <a:sym typeface="Calibri"/>
            </a:endParaRPr>
          </a:p>
        </p:txBody>
      </p:sp>
      <p:sp>
        <p:nvSpPr>
          <p:cNvPr id="59" name="Google Shape;59;p4"/>
          <p:cNvSpPr/>
          <p:nvPr/>
        </p:nvSpPr>
        <p:spPr>
          <a:xfrm>
            <a:off x="5112344" y="3346187"/>
            <a:ext cx="3711600" cy="18300"/>
          </a:xfrm>
          <a:prstGeom prst="rect">
            <a:avLst/>
          </a:prstGeom>
          <a:solidFill>
            <a:srgbClr val="E0E0E0"/>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4"/>
          <p:cNvSpPr/>
          <p:nvPr/>
        </p:nvSpPr>
        <p:spPr>
          <a:xfrm>
            <a:off x="320044" y="3505575"/>
            <a:ext cx="31800" cy="10059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a:off x="472792" y="3519250"/>
            <a:ext cx="7665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121"/>
              </a:buClr>
              <a:buSzPts val="2400"/>
              <a:buFont typeface="Calibri"/>
              <a:buNone/>
            </a:pPr>
            <a:r>
              <a:rPr b="1" lang="en-US" sz="2400">
                <a:solidFill>
                  <a:srgbClr val="212121"/>
                </a:solidFill>
                <a:latin typeface="Calibri"/>
                <a:ea typeface="Calibri"/>
                <a:cs typeface="Calibri"/>
                <a:sym typeface="Calibri"/>
              </a:rPr>
              <a:t>5</a:t>
            </a:r>
            <a:endParaRPr b="0" i="0" sz="2400" u="none" cap="none" strike="noStrike">
              <a:solidFill>
                <a:schemeClr val="dk1"/>
              </a:solidFill>
              <a:latin typeface="Calibri"/>
              <a:ea typeface="Calibri"/>
              <a:cs typeface="Calibri"/>
              <a:sym typeface="Calibri"/>
            </a:endParaRPr>
          </a:p>
        </p:txBody>
      </p:sp>
      <p:sp>
        <p:nvSpPr>
          <p:cNvPr id="62" name="Google Shape;62;p4"/>
          <p:cNvSpPr/>
          <p:nvPr/>
        </p:nvSpPr>
        <p:spPr>
          <a:xfrm>
            <a:off x="479640" y="3930861"/>
            <a:ext cx="3392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121"/>
              </a:buClr>
              <a:buSzPts val="1400"/>
              <a:buFont typeface="Calibri"/>
              <a:buNone/>
            </a:pPr>
            <a:r>
              <a:rPr b="1" lang="en-US">
                <a:solidFill>
                  <a:srgbClr val="212121"/>
                </a:solidFill>
                <a:latin typeface="Calibri"/>
                <a:ea typeface="Calibri"/>
                <a:cs typeface="Calibri"/>
                <a:sym typeface="Calibri"/>
              </a:rPr>
              <a:t>Next Steps</a:t>
            </a:r>
            <a:endParaRPr b="0" i="0" sz="1400" u="none" cap="none" strike="noStrike">
              <a:solidFill>
                <a:schemeClr val="dk1"/>
              </a:solidFill>
              <a:latin typeface="Calibri"/>
              <a:ea typeface="Calibri"/>
              <a:cs typeface="Calibri"/>
              <a:sym typeface="Calibri"/>
            </a:endParaRPr>
          </a:p>
        </p:txBody>
      </p:sp>
      <p:sp>
        <p:nvSpPr>
          <p:cNvPr id="63" name="Google Shape;63;p4"/>
          <p:cNvSpPr/>
          <p:nvPr/>
        </p:nvSpPr>
        <p:spPr>
          <a:xfrm>
            <a:off x="320044" y="4511412"/>
            <a:ext cx="3711600" cy="18300"/>
          </a:xfrm>
          <a:prstGeom prst="rect">
            <a:avLst/>
          </a:prstGeom>
          <a:solidFill>
            <a:srgbClr val="E0E0E0"/>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4"/>
          <p:cNvSpPr/>
          <p:nvPr/>
        </p:nvSpPr>
        <p:spPr>
          <a:xfrm>
            <a:off x="5112344" y="3463863"/>
            <a:ext cx="31800" cy="10059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4"/>
          <p:cNvSpPr/>
          <p:nvPr/>
        </p:nvSpPr>
        <p:spPr>
          <a:xfrm>
            <a:off x="5265092" y="3477538"/>
            <a:ext cx="7665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121"/>
              </a:buClr>
              <a:buSzPts val="2400"/>
              <a:buFont typeface="Calibri"/>
              <a:buNone/>
            </a:pPr>
            <a:r>
              <a:rPr b="1" lang="en-US" sz="2400">
                <a:solidFill>
                  <a:srgbClr val="212121"/>
                </a:solidFill>
                <a:latin typeface="Calibri"/>
                <a:ea typeface="Calibri"/>
                <a:cs typeface="Calibri"/>
                <a:sym typeface="Calibri"/>
              </a:rPr>
              <a:t>6</a:t>
            </a:r>
            <a:endParaRPr b="0" i="0" sz="2400" u="none" cap="none" strike="noStrike">
              <a:solidFill>
                <a:schemeClr val="dk1"/>
              </a:solidFill>
              <a:latin typeface="Calibri"/>
              <a:ea typeface="Calibri"/>
              <a:cs typeface="Calibri"/>
              <a:sym typeface="Calibri"/>
            </a:endParaRPr>
          </a:p>
        </p:txBody>
      </p:sp>
      <p:sp>
        <p:nvSpPr>
          <p:cNvPr id="66" name="Google Shape;66;p4"/>
          <p:cNvSpPr/>
          <p:nvPr/>
        </p:nvSpPr>
        <p:spPr>
          <a:xfrm>
            <a:off x="5271940" y="3889148"/>
            <a:ext cx="3392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121"/>
              </a:buClr>
              <a:buSzPts val="1400"/>
              <a:buFont typeface="Calibri"/>
              <a:buNone/>
            </a:pPr>
            <a:r>
              <a:rPr b="1" lang="en-US">
                <a:solidFill>
                  <a:srgbClr val="212121"/>
                </a:solidFill>
                <a:latin typeface="Calibri"/>
                <a:ea typeface="Calibri"/>
                <a:cs typeface="Calibri"/>
                <a:sym typeface="Calibri"/>
              </a:rPr>
              <a:t>Other Updates</a:t>
            </a:r>
            <a:endParaRPr b="0" i="0" sz="1400" u="none" cap="none" strike="noStrike">
              <a:solidFill>
                <a:schemeClr val="dk1"/>
              </a:solidFill>
              <a:latin typeface="Calibri"/>
              <a:ea typeface="Calibri"/>
              <a:cs typeface="Calibri"/>
              <a:sym typeface="Calibri"/>
            </a:endParaRPr>
          </a:p>
        </p:txBody>
      </p:sp>
      <p:sp>
        <p:nvSpPr>
          <p:cNvPr id="67" name="Google Shape;67;p4"/>
          <p:cNvSpPr/>
          <p:nvPr/>
        </p:nvSpPr>
        <p:spPr>
          <a:xfrm>
            <a:off x="5112344" y="4469787"/>
            <a:ext cx="3711600" cy="18300"/>
          </a:xfrm>
          <a:prstGeom prst="rect">
            <a:avLst/>
          </a:prstGeom>
          <a:solidFill>
            <a:srgbClr val="E0E0E0"/>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4"/>
          <p:cNvSpPr/>
          <p:nvPr/>
        </p:nvSpPr>
        <p:spPr>
          <a:xfrm>
            <a:off x="320044" y="2086900"/>
            <a:ext cx="3711600" cy="18300"/>
          </a:xfrm>
          <a:prstGeom prst="rect">
            <a:avLst/>
          </a:prstGeom>
          <a:solidFill>
            <a:srgbClr val="E0E0E0"/>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9" name="Google Shape;69;p4"/>
          <p:cNvPicPr preferRelativeResize="0"/>
          <p:nvPr/>
        </p:nvPicPr>
        <p:blipFill>
          <a:blip r:embed="rId3">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1C1C"/>
        </a:solidFill>
      </p:bgPr>
    </p:bg>
    <p:spTree>
      <p:nvGrpSpPr>
        <p:cNvPr id="74" name="Shape 74"/>
        <p:cNvGrpSpPr/>
        <p:nvPr/>
      </p:nvGrpSpPr>
      <p:grpSpPr>
        <a:xfrm>
          <a:off x="0" y="0"/>
          <a:ext cx="0" cy="0"/>
          <a:chOff x="0" y="0"/>
          <a:chExt cx="0" cy="0"/>
        </a:xfrm>
      </p:grpSpPr>
      <p:sp>
        <p:nvSpPr>
          <p:cNvPr id="75" name="Google Shape;75;p5"/>
          <p:cNvSpPr/>
          <p:nvPr/>
        </p:nvSpPr>
        <p:spPr>
          <a:xfrm>
            <a:off x="326805" y="1463040"/>
            <a:ext cx="7772400" cy="13716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000"/>
              <a:buFont typeface="Calibri"/>
              <a:buNone/>
            </a:pPr>
            <a:r>
              <a:rPr b="1" lang="en-US" sz="4000">
                <a:solidFill>
                  <a:srgbClr val="FFFFFF"/>
                </a:solidFill>
                <a:latin typeface="Calibri"/>
                <a:ea typeface="Calibri"/>
                <a:cs typeface="Calibri"/>
                <a:sym typeface="Calibri"/>
              </a:rPr>
              <a:t>Testing</a:t>
            </a:r>
            <a:endParaRPr b="0" i="0" sz="4000" u="none" cap="none" strike="noStrike">
              <a:solidFill>
                <a:schemeClr val="dk1"/>
              </a:solidFill>
              <a:latin typeface="Calibri"/>
              <a:ea typeface="Calibri"/>
              <a:cs typeface="Calibri"/>
              <a:sym typeface="Calibri"/>
            </a:endParaRPr>
          </a:p>
        </p:txBody>
      </p:sp>
      <p:sp>
        <p:nvSpPr>
          <p:cNvPr id="76" name="Google Shape;76;p5"/>
          <p:cNvSpPr/>
          <p:nvPr/>
        </p:nvSpPr>
        <p:spPr>
          <a:xfrm>
            <a:off x="-84675" y="3090672"/>
            <a:ext cx="9144000" cy="732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
          <p:cNvSpPr/>
          <p:nvPr/>
        </p:nvSpPr>
        <p:spPr>
          <a:xfrm>
            <a:off x="-84675" y="3200400"/>
            <a:ext cx="9144000" cy="36600"/>
          </a:xfrm>
          <a:prstGeom prst="rect">
            <a:avLst/>
          </a:prstGeom>
          <a:solidFill>
            <a:srgbClr val="922B21"/>
          </a:solidFill>
          <a:ln cap="flat" cmpd="sng" w="12700">
            <a:solidFill>
              <a:srgbClr val="922B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5"/>
          <p:cNvSpPr/>
          <p:nvPr/>
        </p:nvSpPr>
        <p:spPr>
          <a:xfrm>
            <a:off x="326805" y="3310128"/>
            <a:ext cx="77724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200"/>
              <a:buFont typeface="Calibri"/>
              <a:buNone/>
            </a:pPr>
            <a:r>
              <a:rPr b="0" i="0" lang="en-US" sz="1200" u="none" cap="none" strike="noStrike">
                <a:solidFill>
                  <a:srgbClr val="C0392B"/>
                </a:solidFill>
                <a:latin typeface="Calibri"/>
                <a:ea typeface="Calibri"/>
                <a:cs typeface="Calibri"/>
                <a:sym typeface="Calibri"/>
              </a:rPr>
              <a:t>Wightlink  |  FY 2025/26  |  Summon</a:t>
            </a:r>
            <a:endParaRPr b="0" i="0" sz="1200" u="none" cap="none" strike="noStrike">
              <a:solidFill>
                <a:schemeClr val="dk1"/>
              </a:solidFill>
              <a:latin typeface="Calibri"/>
              <a:ea typeface="Calibri"/>
              <a:cs typeface="Calibri"/>
              <a:sym typeface="Calibri"/>
            </a:endParaRPr>
          </a:p>
        </p:txBody>
      </p:sp>
      <p:sp>
        <p:nvSpPr>
          <p:cNvPr id="79" name="Google Shape;79;p5"/>
          <p:cNvSpPr/>
          <p:nvPr/>
        </p:nvSpPr>
        <p:spPr>
          <a:xfrm>
            <a:off x="-57625" y="0"/>
            <a:ext cx="9144000" cy="51435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5"/>
          <p:cNvSpPr/>
          <p:nvPr/>
        </p:nvSpPr>
        <p:spPr>
          <a:xfrm>
            <a:off x="-84650" y="0"/>
            <a:ext cx="128100" cy="51435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5"/>
          <p:cNvSpPr/>
          <p:nvPr/>
        </p:nvSpPr>
        <p:spPr>
          <a:xfrm>
            <a:off x="43366" y="2934099"/>
            <a:ext cx="9015900" cy="639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5"/>
          <p:cNvSpPr/>
          <p:nvPr/>
        </p:nvSpPr>
        <p:spPr>
          <a:xfrm>
            <a:off x="829750" y="1840230"/>
            <a:ext cx="7315200" cy="128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Trebuchet MS"/>
              <a:buNone/>
            </a:pPr>
            <a:r>
              <a:rPr b="1" lang="en-US" sz="3600">
                <a:solidFill>
                  <a:srgbClr val="FFFFFF"/>
                </a:solidFill>
                <a:latin typeface="Trebuchet MS"/>
                <a:ea typeface="Trebuchet MS"/>
                <a:cs typeface="Trebuchet MS"/>
                <a:sym typeface="Trebuchet MS"/>
              </a:rPr>
              <a:t>Trends</a:t>
            </a:r>
            <a:endParaRPr b="0" i="0" sz="3600" u="none" cap="none" strike="noStrike">
              <a:solidFill>
                <a:srgbClr val="000000"/>
              </a:solidFill>
              <a:latin typeface="Calibri"/>
              <a:ea typeface="Calibri"/>
              <a:cs typeface="Calibri"/>
              <a:sym typeface="Calibri"/>
            </a:endParaRPr>
          </a:p>
        </p:txBody>
      </p:sp>
      <p:sp>
        <p:nvSpPr>
          <p:cNvPr id="83" name="Google Shape;83;p5"/>
          <p:cNvSpPr/>
          <p:nvPr/>
        </p:nvSpPr>
        <p:spPr>
          <a:xfrm>
            <a:off x="829750" y="3166110"/>
            <a:ext cx="7315200" cy="32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C0392B"/>
              </a:buClr>
              <a:buSzPts val="1200"/>
              <a:buFont typeface="Calibri"/>
              <a:buNone/>
            </a:pPr>
            <a:r>
              <a:rPr lang="en-US" sz="1100">
                <a:solidFill>
                  <a:srgbClr val="F5C6CB"/>
                </a:solidFill>
                <a:latin typeface="Calibri"/>
                <a:ea typeface="Calibri"/>
                <a:cs typeface="Calibri"/>
                <a:sym typeface="Calibri"/>
              </a:rPr>
              <a:t>Wightlink  |  FY 2025/26  |  Summon</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F5C6CB"/>
              </a:buClr>
              <a:buSzPts val="1100"/>
              <a:buFont typeface="Calibri"/>
              <a:buNone/>
            </a:pPr>
            <a:r>
              <a:t/>
            </a:r>
            <a:endParaRPr sz="1100">
              <a:solidFill>
                <a:srgbClr val="F5C6CB"/>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 name="Shape 88"/>
        <p:cNvGrpSpPr/>
        <p:nvPr/>
      </p:nvGrpSpPr>
      <p:grpSpPr>
        <a:xfrm>
          <a:off x="0" y="0"/>
          <a:ext cx="0" cy="0"/>
          <a:chOff x="0" y="0"/>
          <a:chExt cx="0" cy="0"/>
        </a:xfrm>
      </p:grpSpPr>
      <p:sp>
        <p:nvSpPr>
          <p:cNvPr id="89" name="Google Shape;89;p6"/>
          <p:cNvSpPr/>
          <p:nvPr/>
        </p:nvSpPr>
        <p:spPr>
          <a:xfrm>
            <a:off x="0" y="0"/>
            <a:ext cx="9144000" cy="868680"/>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6"/>
          <p:cNvSpPr/>
          <p:nvPr/>
        </p:nvSpPr>
        <p:spPr>
          <a:xfrm>
            <a:off x="320040" y="45720"/>
            <a:ext cx="80467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Google Trends – Isle Of Wight Ferry</a:t>
            </a:r>
            <a:endParaRPr b="0" i="0" sz="2200" u="none" cap="none" strike="noStrike">
              <a:solidFill>
                <a:schemeClr val="dk1"/>
              </a:solidFill>
              <a:latin typeface="Calibri"/>
              <a:ea typeface="Calibri"/>
              <a:cs typeface="Calibri"/>
              <a:sym typeface="Calibri"/>
            </a:endParaRPr>
          </a:p>
        </p:txBody>
      </p:sp>
      <p:sp>
        <p:nvSpPr>
          <p:cNvPr id="91" name="Google Shape;91;p6"/>
          <p:cNvSpPr/>
          <p:nvPr/>
        </p:nvSpPr>
        <p:spPr>
          <a:xfrm>
            <a:off x="320040" y="521208"/>
            <a:ext cx="8046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000"/>
              <a:buFont typeface="Calibri"/>
              <a:buNone/>
            </a:pPr>
            <a:r>
              <a:rPr b="0" i="0" lang="en-US" sz="1000" u="none" cap="none" strike="noStrike">
                <a:solidFill>
                  <a:srgbClr val="CCCCCC"/>
                </a:solidFill>
                <a:latin typeface="Calibri"/>
                <a:ea typeface="Calibri"/>
                <a:cs typeface="Calibri"/>
                <a:sym typeface="Calibri"/>
              </a:rPr>
              <a:t>FY 2025/26 (Apr 2025 - Mar 2026)</a:t>
            </a:r>
            <a:endParaRPr b="0" i="0" sz="1000" u="none" cap="none" strike="noStrike">
              <a:solidFill>
                <a:schemeClr val="dk1"/>
              </a:solidFill>
              <a:latin typeface="Calibri"/>
              <a:ea typeface="Calibri"/>
              <a:cs typeface="Calibri"/>
              <a:sym typeface="Calibri"/>
            </a:endParaRPr>
          </a:p>
        </p:txBody>
      </p:sp>
      <p:sp>
        <p:nvSpPr>
          <p:cNvPr id="92" name="Google Shape;92;p6"/>
          <p:cNvSpPr/>
          <p:nvPr/>
        </p:nvSpPr>
        <p:spPr>
          <a:xfrm>
            <a:off x="0" y="868680"/>
            <a:ext cx="9144000" cy="36576"/>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6"/>
          <p:cNvSpPr/>
          <p:nvPr/>
        </p:nvSpPr>
        <p:spPr>
          <a:xfrm>
            <a:off x="0" y="4910328"/>
            <a:ext cx="9144000" cy="233172"/>
          </a:xfrm>
          <a:prstGeom prst="rect">
            <a:avLst/>
          </a:prstGeom>
          <a:solidFill>
            <a:srgbClr val="1C1C1C"/>
          </a:solidFill>
          <a:ln cap="flat" cmpd="sng" w="12700">
            <a:solidFill>
              <a:srgbClr val="1C1C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6"/>
          <p:cNvSpPr/>
          <p:nvPr/>
        </p:nvSpPr>
        <p:spPr>
          <a:xfrm>
            <a:off x="320040" y="4919472"/>
            <a:ext cx="8503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00"/>
              <a:buFont typeface="Calibri"/>
              <a:buNone/>
            </a:pPr>
            <a:r>
              <a:rPr b="0" i="0" lang="en-US" sz="800" u="none" cap="none" strike="noStrike">
                <a:solidFill>
                  <a:srgbClr val="888888"/>
                </a:solidFill>
                <a:latin typeface="Calibri"/>
                <a:ea typeface="Calibri"/>
                <a:cs typeface="Calibri"/>
                <a:sym typeface="Calibri"/>
              </a:rPr>
              <a:t>FY 2025/26  |  Wightlink  |  Confidential</a:t>
            </a:r>
            <a:endParaRPr b="0" i="0" sz="800" u="none" cap="none" strike="noStrike">
              <a:solidFill>
                <a:schemeClr val="dk1"/>
              </a:solidFill>
              <a:latin typeface="Calibri"/>
              <a:ea typeface="Calibri"/>
              <a:cs typeface="Calibri"/>
              <a:sym typeface="Calibri"/>
            </a:endParaRPr>
          </a:p>
        </p:txBody>
      </p:sp>
      <p:sp>
        <p:nvSpPr>
          <p:cNvPr id="95" name="Google Shape;95;p6"/>
          <p:cNvSpPr/>
          <p:nvPr/>
        </p:nvSpPr>
        <p:spPr>
          <a:xfrm>
            <a:off x="7360555" y="4606045"/>
            <a:ext cx="1463100" cy="201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8888"/>
              </a:buClr>
              <a:buSzPts val="800"/>
              <a:buFont typeface="Calibri"/>
              <a:buNone/>
            </a:pPr>
            <a:r>
              <a:rPr b="0" i="0" lang="en-US" sz="800" u="none" cap="none" strike="noStrike">
                <a:solidFill>
                  <a:srgbClr val="888888"/>
                </a:solidFill>
                <a:latin typeface="Calibri"/>
                <a:ea typeface="Calibri"/>
                <a:cs typeface="Calibri"/>
                <a:sym typeface="Calibri"/>
              </a:rPr>
              <a:t>Source: Google Trends</a:t>
            </a:r>
            <a:endParaRPr b="0" i="0" sz="800" u="none" cap="none" strike="noStrike">
              <a:solidFill>
                <a:schemeClr val="dk1"/>
              </a:solidFill>
              <a:latin typeface="Calibri"/>
              <a:ea typeface="Calibri"/>
              <a:cs typeface="Calibri"/>
              <a:sym typeface="Calibri"/>
            </a:endParaRPr>
          </a:p>
        </p:txBody>
      </p:sp>
      <p:sp>
        <p:nvSpPr>
          <p:cNvPr id="96" name="Google Shape;96;p6"/>
          <p:cNvSpPr/>
          <p:nvPr/>
        </p:nvSpPr>
        <p:spPr>
          <a:xfrm>
            <a:off x="7016750" y="1587463"/>
            <a:ext cx="1806900" cy="2336400"/>
          </a:xfrm>
          <a:prstGeom prst="rect">
            <a:avLst/>
          </a:prstGeom>
          <a:noFill/>
          <a:ln>
            <a:noFill/>
          </a:ln>
        </p:spPr>
        <p:txBody>
          <a:bodyPr anchorCtr="0" anchor="ctr" bIns="0" lIns="0" spcFirstLastPara="1" rIns="0" wrap="square" tIns="0">
            <a:noAutofit/>
          </a:bodyPr>
          <a:lstStyle/>
          <a:p>
            <a:pPr indent="-295275" lvl="0" marL="457200" marR="0" rtl="0" algn="l">
              <a:spcBef>
                <a:spcPts val="0"/>
              </a:spcBef>
              <a:spcAft>
                <a:spcPts val="0"/>
              </a:spcAft>
              <a:buClr>
                <a:srgbClr val="1C1C1C"/>
              </a:buClr>
              <a:buSzPts val="1050"/>
              <a:buFont typeface="Calibri"/>
              <a:buChar char="●"/>
            </a:pPr>
            <a:r>
              <a:rPr lang="en-US" sz="1050">
                <a:solidFill>
                  <a:srgbClr val="1C1C1C"/>
                </a:solidFill>
                <a:latin typeface="Calibri"/>
                <a:ea typeface="Calibri"/>
                <a:cs typeface="Calibri"/>
                <a:sym typeface="Calibri"/>
              </a:rPr>
              <a:t>Brand search interest has followed approximately the same pattern </a:t>
            </a:r>
            <a:r>
              <a:rPr lang="en-US" sz="1050">
                <a:solidFill>
                  <a:srgbClr val="1C1C1C"/>
                </a:solidFill>
                <a:latin typeface="Calibri"/>
                <a:ea typeface="Calibri"/>
                <a:cs typeface="Calibri"/>
                <a:sym typeface="Calibri"/>
              </a:rPr>
              <a:t>as</a:t>
            </a:r>
            <a:r>
              <a:rPr lang="en-US" sz="1050">
                <a:solidFill>
                  <a:srgbClr val="1C1C1C"/>
                </a:solidFill>
                <a:latin typeface="Calibri"/>
                <a:ea typeface="Calibri"/>
                <a:cs typeface="Calibri"/>
                <a:sym typeface="Calibri"/>
              </a:rPr>
              <a:t> the </a:t>
            </a:r>
            <a:r>
              <a:rPr lang="en-US" sz="1050">
                <a:solidFill>
                  <a:srgbClr val="1C1C1C"/>
                </a:solidFill>
                <a:latin typeface="Calibri"/>
                <a:ea typeface="Calibri"/>
                <a:cs typeface="Calibri"/>
                <a:sym typeface="Calibri"/>
              </a:rPr>
              <a:t>previous</a:t>
            </a:r>
            <a:r>
              <a:rPr lang="en-US" sz="1050">
                <a:solidFill>
                  <a:srgbClr val="1C1C1C"/>
                </a:solidFill>
                <a:latin typeface="Calibri"/>
                <a:ea typeface="Calibri"/>
                <a:cs typeface="Calibri"/>
                <a:sym typeface="Calibri"/>
              </a:rPr>
              <a:t> year, with peaks in August</a:t>
            </a:r>
            <a:br>
              <a:rPr lang="en-US" sz="1050">
                <a:solidFill>
                  <a:srgbClr val="1C1C1C"/>
                </a:solidFill>
                <a:latin typeface="Calibri"/>
                <a:ea typeface="Calibri"/>
                <a:cs typeface="Calibri"/>
                <a:sym typeface="Calibri"/>
              </a:rPr>
            </a:br>
            <a:endParaRPr sz="1050">
              <a:solidFill>
                <a:srgbClr val="1C1C1C"/>
              </a:solidFill>
              <a:latin typeface="Calibri"/>
              <a:ea typeface="Calibri"/>
              <a:cs typeface="Calibri"/>
              <a:sym typeface="Calibri"/>
            </a:endParaRPr>
          </a:p>
          <a:p>
            <a:pPr indent="-295275" lvl="0" marL="457200" marR="0" rtl="0" algn="l">
              <a:spcBef>
                <a:spcPts val="0"/>
              </a:spcBef>
              <a:spcAft>
                <a:spcPts val="0"/>
              </a:spcAft>
              <a:buClr>
                <a:srgbClr val="1C1C1C"/>
              </a:buClr>
              <a:buSzPts val="1050"/>
              <a:buFont typeface="Calibri"/>
              <a:buChar char="●"/>
            </a:pPr>
            <a:r>
              <a:rPr lang="en-US" sz="1050">
                <a:solidFill>
                  <a:srgbClr val="1C1C1C"/>
                </a:solidFill>
                <a:latin typeface="Calibri"/>
                <a:ea typeface="Calibri"/>
                <a:cs typeface="Calibri"/>
                <a:sym typeface="Calibri"/>
              </a:rPr>
              <a:t>Search volume in early 2024 was higher than 2025, but they have become more similar as the year progressed.</a:t>
            </a:r>
            <a:endParaRPr sz="1050">
              <a:solidFill>
                <a:srgbClr val="1C1C1C"/>
              </a:solidFill>
              <a:latin typeface="Calibri"/>
              <a:ea typeface="Calibri"/>
              <a:cs typeface="Calibri"/>
              <a:sym typeface="Calibri"/>
            </a:endParaRPr>
          </a:p>
          <a:p>
            <a:pPr indent="0" lvl="0" marL="0" marR="0" rtl="0" algn="l">
              <a:spcBef>
                <a:spcPts val="0"/>
              </a:spcBef>
              <a:spcAft>
                <a:spcPts val="0"/>
              </a:spcAft>
              <a:buClr>
                <a:srgbClr val="1C1C1C"/>
              </a:buClr>
              <a:buSzPts val="1050"/>
              <a:buFont typeface="Calibri"/>
              <a:buNone/>
            </a:pPr>
            <a:r>
              <a:t/>
            </a:r>
            <a:endParaRPr sz="1050">
              <a:solidFill>
                <a:srgbClr val="1C1C1C"/>
              </a:solidFill>
              <a:latin typeface="Calibri"/>
              <a:ea typeface="Calibri"/>
              <a:cs typeface="Calibri"/>
              <a:sym typeface="Calibri"/>
            </a:endParaRPr>
          </a:p>
        </p:txBody>
      </p:sp>
      <p:sp>
        <p:nvSpPr>
          <p:cNvPr id="97" name="Google Shape;97;p6"/>
          <p:cNvSpPr/>
          <p:nvPr/>
        </p:nvSpPr>
        <p:spPr>
          <a:xfrm>
            <a:off x="0" y="0"/>
            <a:ext cx="9144000" cy="868800"/>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6"/>
          <p:cNvSpPr/>
          <p:nvPr/>
        </p:nvSpPr>
        <p:spPr>
          <a:xfrm>
            <a:off x="320040" y="45720"/>
            <a:ext cx="80466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Google Trends – Wightlink</a:t>
            </a:r>
            <a:endParaRPr b="0" i="0" sz="2200" u="none" cap="none" strike="noStrike">
              <a:solidFill>
                <a:srgbClr val="000000"/>
              </a:solidFill>
              <a:latin typeface="Calibri"/>
              <a:ea typeface="Calibri"/>
              <a:cs typeface="Calibri"/>
              <a:sym typeface="Calibri"/>
            </a:endParaRPr>
          </a:p>
        </p:txBody>
      </p:sp>
      <p:sp>
        <p:nvSpPr>
          <p:cNvPr id="99" name="Google Shape;99;p6"/>
          <p:cNvSpPr/>
          <p:nvPr/>
        </p:nvSpPr>
        <p:spPr>
          <a:xfrm>
            <a:off x="320040" y="521208"/>
            <a:ext cx="8046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000"/>
              <a:buFont typeface="Calibri"/>
              <a:buNone/>
            </a:pPr>
            <a:r>
              <a:rPr b="0" i="0" lang="en-US" sz="1000" u="none" cap="none" strike="noStrike">
                <a:solidFill>
                  <a:srgbClr val="CCCCCC"/>
                </a:solidFill>
                <a:latin typeface="Calibri"/>
                <a:ea typeface="Calibri"/>
                <a:cs typeface="Calibri"/>
                <a:sym typeface="Calibri"/>
              </a:rPr>
              <a:t>FY 2025/26 vs FY 2024/25  |  Source: Google Trends (GB)</a:t>
            </a:r>
            <a:endParaRPr b="0" i="0" sz="1000" u="none" cap="none" strike="noStrike">
              <a:solidFill>
                <a:srgbClr val="000000"/>
              </a:solidFill>
              <a:latin typeface="Calibri"/>
              <a:ea typeface="Calibri"/>
              <a:cs typeface="Calibri"/>
              <a:sym typeface="Calibri"/>
            </a:endParaRPr>
          </a:p>
        </p:txBody>
      </p:sp>
      <p:sp>
        <p:nvSpPr>
          <p:cNvPr id="100" name="Google Shape;100;p6"/>
          <p:cNvSpPr/>
          <p:nvPr/>
        </p:nvSpPr>
        <p:spPr>
          <a:xfrm>
            <a:off x="0" y="868680"/>
            <a:ext cx="9144000" cy="366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6"/>
          <p:cNvSpPr/>
          <p:nvPr/>
        </p:nvSpPr>
        <p:spPr>
          <a:xfrm>
            <a:off x="0" y="4910328"/>
            <a:ext cx="9144000" cy="233100"/>
          </a:xfrm>
          <a:prstGeom prst="rect">
            <a:avLst/>
          </a:prstGeom>
          <a:solidFill>
            <a:srgbClr val="1C1C1C"/>
          </a:solidFill>
          <a:ln cap="flat" cmpd="sng" w="12700">
            <a:solidFill>
              <a:srgbClr val="1C1C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a:off x="320040" y="4919472"/>
            <a:ext cx="85038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00"/>
              <a:buFont typeface="Calibri"/>
              <a:buNone/>
            </a:pPr>
            <a:r>
              <a:rPr b="0" i="0" lang="en-US" sz="800" u="none" cap="none" strike="noStrike">
                <a:solidFill>
                  <a:srgbClr val="888888"/>
                </a:solidFill>
                <a:latin typeface="Calibri"/>
                <a:ea typeface="Calibri"/>
                <a:cs typeface="Calibri"/>
                <a:sym typeface="Calibri"/>
              </a:rPr>
              <a:t>FY 2025/26  |  Wightlink  |  Confidential</a:t>
            </a:r>
            <a:endParaRPr b="0" i="0" sz="800" u="none" cap="none" strike="noStrike">
              <a:solidFill>
                <a:srgbClr val="000000"/>
              </a:solidFill>
              <a:latin typeface="Calibri"/>
              <a:ea typeface="Calibri"/>
              <a:cs typeface="Calibri"/>
              <a:sym typeface="Calibri"/>
            </a:endParaRPr>
          </a:p>
        </p:txBody>
      </p:sp>
      <p:pic>
        <p:nvPicPr>
          <p:cNvPr id="103" name="Google Shape;103;p6"/>
          <p:cNvPicPr preferRelativeResize="0"/>
          <p:nvPr/>
        </p:nvPicPr>
        <p:blipFill>
          <a:blip r:embed="rId3">
            <a:alphaModFix/>
          </a:blip>
          <a:stretch>
            <a:fillRect/>
          </a:stretch>
        </p:blipFill>
        <p:spPr>
          <a:xfrm>
            <a:off x="32576" y="944126"/>
            <a:ext cx="6583956" cy="3791462"/>
          </a:xfrm>
          <a:prstGeom prst="rect">
            <a:avLst/>
          </a:prstGeom>
          <a:noFill/>
          <a:ln>
            <a:noFill/>
          </a:ln>
        </p:spPr>
      </p:pic>
      <p:pic>
        <p:nvPicPr>
          <p:cNvPr id="104" name="Google Shape;104;p6"/>
          <p:cNvPicPr preferRelativeResize="0"/>
          <p:nvPr/>
        </p:nvPicPr>
        <p:blipFill>
          <a:blip r:embed="rId4">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7"/>
          <p:cNvSpPr/>
          <p:nvPr/>
        </p:nvSpPr>
        <p:spPr>
          <a:xfrm>
            <a:off x="0" y="0"/>
            <a:ext cx="9144000" cy="868800"/>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7"/>
          <p:cNvSpPr/>
          <p:nvPr/>
        </p:nvSpPr>
        <p:spPr>
          <a:xfrm>
            <a:off x="320040" y="45720"/>
            <a:ext cx="80466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Google Trends – Isle Of Wight Ferry</a:t>
            </a:r>
            <a:endParaRPr b="0" i="0" sz="2200" u="none" cap="none" strike="noStrike">
              <a:solidFill>
                <a:schemeClr val="dk1"/>
              </a:solidFill>
              <a:latin typeface="Calibri"/>
              <a:ea typeface="Calibri"/>
              <a:cs typeface="Calibri"/>
              <a:sym typeface="Calibri"/>
            </a:endParaRPr>
          </a:p>
        </p:txBody>
      </p:sp>
      <p:sp>
        <p:nvSpPr>
          <p:cNvPr id="112" name="Google Shape;112;p7"/>
          <p:cNvSpPr/>
          <p:nvPr/>
        </p:nvSpPr>
        <p:spPr>
          <a:xfrm>
            <a:off x="320040" y="521208"/>
            <a:ext cx="8046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000"/>
              <a:buFont typeface="Calibri"/>
              <a:buNone/>
            </a:pPr>
            <a:r>
              <a:rPr b="0" i="0" lang="en-US" sz="1000" u="none" cap="none" strike="noStrike">
                <a:solidFill>
                  <a:srgbClr val="CCCCCC"/>
                </a:solidFill>
                <a:latin typeface="Calibri"/>
                <a:ea typeface="Calibri"/>
                <a:cs typeface="Calibri"/>
                <a:sym typeface="Calibri"/>
              </a:rPr>
              <a:t>FY 2025/26 (Apr 2025 - Mar 2026)</a:t>
            </a:r>
            <a:endParaRPr b="0" i="0" sz="1000" u="none" cap="none" strike="noStrike">
              <a:solidFill>
                <a:schemeClr val="dk1"/>
              </a:solidFill>
              <a:latin typeface="Calibri"/>
              <a:ea typeface="Calibri"/>
              <a:cs typeface="Calibri"/>
              <a:sym typeface="Calibri"/>
            </a:endParaRPr>
          </a:p>
        </p:txBody>
      </p:sp>
      <p:sp>
        <p:nvSpPr>
          <p:cNvPr id="113" name="Google Shape;113;p7"/>
          <p:cNvSpPr/>
          <p:nvPr/>
        </p:nvSpPr>
        <p:spPr>
          <a:xfrm>
            <a:off x="0" y="868680"/>
            <a:ext cx="9144000" cy="366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7"/>
          <p:cNvSpPr/>
          <p:nvPr/>
        </p:nvSpPr>
        <p:spPr>
          <a:xfrm>
            <a:off x="0" y="4910328"/>
            <a:ext cx="9144000" cy="233100"/>
          </a:xfrm>
          <a:prstGeom prst="rect">
            <a:avLst/>
          </a:prstGeom>
          <a:solidFill>
            <a:srgbClr val="1C1C1C"/>
          </a:solidFill>
          <a:ln cap="flat" cmpd="sng" w="12700">
            <a:solidFill>
              <a:srgbClr val="1C1C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7"/>
          <p:cNvSpPr/>
          <p:nvPr/>
        </p:nvSpPr>
        <p:spPr>
          <a:xfrm>
            <a:off x="320040" y="4919472"/>
            <a:ext cx="85038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00"/>
              <a:buFont typeface="Calibri"/>
              <a:buNone/>
            </a:pPr>
            <a:r>
              <a:rPr b="0" i="0" lang="en-US" sz="800" u="none" cap="none" strike="noStrike">
                <a:solidFill>
                  <a:srgbClr val="888888"/>
                </a:solidFill>
                <a:latin typeface="Calibri"/>
                <a:ea typeface="Calibri"/>
                <a:cs typeface="Calibri"/>
                <a:sym typeface="Calibri"/>
              </a:rPr>
              <a:t>FY 2025/26  |  Wightlink  |  Confidential</a:t>
            </a:r>
            <a:endParaRPr b="0" i="0" sz="800" u="none" cap="none" strike="noStrike">
              <a:solidFill>
                <a:schemeClr val="dk1"/>
              </a:solidFill>
              <a:latin typeface="Calibri"/>
              <a:ea typeface="Calibri"/>
              <a:cs typeface="Calibri"/>
              <a:sym typeface="Calibri"/>
            </a:endParaRPr>
          </a:p>
        </p:txBody>
      </p:sp>
      <p:sp>
        <p:nvSpPr>
          <p:cNvPr id="116" name="Google Shape;116;p7"/>
          <p:cNvSpPr/>
          <p:nvPr/>
        </p:nvSpPr>
        <p:spPr>
          <a:xfrm>
            <a:off x="0" y="0"/>
            <a:ext cx="9144000" cy="868800"/>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7"/>
          <p:cNvSpPr/>
          <p:nvPr/>
        </p:nvSpPr>
        <p:spPr>
          <a:xfrm>
            <a:off x="320040" y="45720"/>
            <a:ext cx="80466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Google Trends – Wightlink</a:t>
            </a:r>
            <a:endParaRPr b="0" i="0" sz="2200" u="none" cap="none" strike="noStrike">
              <a:solidFill>
                <a:srgbClr val="000000"/>
              </a:solidFill>
              <a:latin typeface="Calibri"/>
              <a:ea typeface="Calibri"/>
              <a:cs typeface="Calibri"/>
              <a:sym typeface="Calibri"/>
            </a:endParaRPr>
          </a:p>
        </p:txBody>
      </p:sp>
      <p:sp>
        <p:nvSpPr>
          <p:cNvPr id="118" name="Google Shape;118;p7"/>
          <p:cNvSpPr/>
          <p:nvPr/>
        </p:nvSpPr>
        <p:spPr>
          <a:xfrm>
            <a:off x="320040" y="521208"/>
            <a:ext cx="8046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000"/>
              <a:buFont typeface="Calibri"/>
              <a:buNone/>
            </a:pPr>
            <a:r>
              <a:rPr b="0" i="0" lang="en-US" sz="1000" u="none" cap="none" strike="noStrike">
                <a:solidFill>
                  <a:srgbClr val="CCCCCC"/>
                </a:solidFill>
                <a:latin typeface="Calibri"/>
                <a:ea typeface="Calibri"/>
                <a:cs typeface="Calibri"/>
                <a:sym typeface="Calibri"/>
              </a:rPr>
              <a:t>FY 2025/26 vs FY 2024/25  |  Source: Google Trends (GB)</a:t>
            </a:r>
            <a:endParaRPr b="0" i="0" sz="1000" u="none" cap="none" strike="noStrike">
              <a:solidFill>
                <a:srgbClr val="000000"/>
              </a:solidFill>
              <a:latin typeface="Calibri"/>
              <a:ea typeface="Calibri"/>
              <a:cs typeface="Calibri"/>
              <a:sym typeface="Calibri"/>
            </a:endParaRPr>
          </a:p>
        </p:txBody>
      </p:sp>
      <p:sp>
        <p:nvSpPr>
          <p:cNvPr id="119" name="Google Shape;119;p7"/>
          <p:cNvSpPr/>
          <p:nvPr/>
        </p:nvSpPr>
        <p:spPr>
          <a:xfrm>
            <a:off x="0" y="868680"/>
            <a:ext cx="9144000" cy="366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7"/>
          <p:cNvSpPr/>
          <p:nvPr/>
        </p:nvSpPr>
        <p:spPr>
          <a:xfrm>
            <a:off x="0" y="4910328"/>
            <a:ext cx="9144000" cy="233100"/>
          </a:xfrm>
          <a:prstGeom prst="rect">
            <a:avLst/>
          </a:prstGeom>
          <a:solidFill>
            <a:srgbClr val="1C1C1C"/>
          </a:solidFill>
          <a:ln cap="flat" cmpd="sng" w="12700">
            <a:solidFill>
              <a:srgbClr val="1C1C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7"/>
          <p:cNvSpPr/>
          <p:nvPr/>
        </p:nvSpPr>
        <p:spPr>
          <a:xfrm>
            <a:off x="320040" y="4919472"/>
            <a:ext cx="85038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00"/>
              <a:buFont typeface="Calibri"/>
              <a:buNone/>
            </a:pPr>
            <a:r>
              <a:rPr b="0" i="0" lang="en-US" sz="800" u="none" cap="none" strike="noStrike">
                <a:solidFill>
                  <a:srgbClr val="888888"/>
                </a:solidFill>
                <a:latin typeface="Calibri"/>
                <a:ea typeface="Calibri"/>
                <a:cs typeface="Calibri"/>
                <a:sym typeface="Calibri"/>
              </a:rPr>
              <a:t>FY 2025/26  |  Wightlink  |  Confidential</a:t>
            </a:r>
            <a:endParaRPr b="0" i="0" sz="800" u="none" cap="none" strike="noStrike">
              <a:solidFill>
                <a:srgbClr val="000000"/>
              </a:solidFill>
              <a:latin typeface="Calibri"/>
              <a:ea typeface="Calibri"/>
              <a:cs typeface="Calibri"/>
              <a:sym typeface="Calibri"/>
            </a:endParaRPr>
          </a:p>
        </p:txBody>
      </p:sp>
      <p:sp>
        <p:nvSpPr>
          <p:cNvPr id="122" name="Google Shape;122;p7"/>
          <p:cNvSpPr/>
          <p:nvPr/>
        </p:nvSpPr>
        <p:spPr>
          <a:xfrm>
            <a:off x="7044690" y="4561518"/>
            <a:ext cx="1874400" cy="164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8888"/>
              </a:buClr>
              <a:buSzPts val="800"/>
              <a:buFont typeface="Calibri"/>
              <a:buNone/>
            </a:pPr>
            <a:r>
              <a:rPr b="0" i="1" lang="en-US" sz="800" u="none" cap="none" strike="noStrike">
                <a:solidFill>
                  <a:srgbClr val="888888"/>
                </a:solidFill>
                <a:latin typeface="Calibri"/>
                <a:ea typeface="Calibri"/>
                <a:cs typeface="Calibri"/>
                <a:sym typeface="Calibri"/>
              </a:rPr>
              <a:t>Source: Google Trends</a:t>
            </a:r>
            <a:endParaRPr b="0" i="0" sz="800" u="none" cap="none" strike="noStrike">
              <a:solidFill>
                <a:srgbClr val="000000"/>
              </a:solidFill>
              <a:latin typeface="Calibri"/>
              <a:ea typeface="Calibri"/>
              <a:cs typeface="Calibri"/>
              <a:sym typeface="Calibri"/>
            </a:endParaRPr>
          </a:p>
        </p:txBody>
      </p:sp>
      <p:sp>
        <p:nvSpPr>
          <p:cNvPr id="123" name="Google Shape;123;p7"/>
          <p:cNvSpPr/>
          <p:nvPr/>
        </p:nvSpPr>
        <p:spPr>
          <a:xfrm>
            <a:off x="0" y="0"/>
            <a:ext cx="9144000" cy="868800"/>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7"/>
          <p:cNvSpPr/>
          <p:nvPr/>
        </p:nvSpPr>
        <p:spPr>
          <a:xfrm>
            <a:off x="320040" y="45720"/>
            <a:ext cx="80466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Google Trends – Isle of Wight Ferry</a:t>
            </a:r>
            <a:endParaRPr b="0" i="0" sz="2200" u="none" cap="none" strike="noStrike">
              <a:solidFill>
                <a:srgbClr val="000000"/>
              </a:solidFill>
              <a:latin typeface="Calibri"/>
              <a:ea typeface="Calibri"/>
              <a:cs typeface="Calibri"/>
              <a:sym typeface="Calibri"/>
            </a:endParaRPr>
          </a:p>
        </p:txBody>
      </p:sp>
      <p:sp>
        <p:nvSpPr>
          <p:cNvPr id="125" name="Google Shape;125;p7"/>
          <p:cNvSpPr/>
          <p:nvPr/>
        </p:nvSpPr>
        <p:spPr>
          <a:xfrm>
            <a:off x="320040" y="521208"/>
            <a:ext cx="8046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000"/>
              <a:buFont typeface="Calibri"/>
              <a:buNone/>
            </a:pPr>
            <a:r>
              <a:rPr b="0" i="0" lang="en-US" sz="1000" u="none" cap="none" strike="noStrike">
                <a:solidFill>
                  <a:srgbClr val="CCCCCC"/>
                </a:solidFill>
                <a:latin typeface="Calibri"/>
                <a:ea typeface="Calibri"/>
                <a:cs typeface="Calibri"/>
                <a:sym typeface="Calibri"/>
              </a:rPr>
              <a:t>FY 2025/26 vs FY 2024/25  |  Source: Google Trends (GB)</a:t>
            </a:r>
            <a:endParaRPr b="0" i="0" sz="1000" u="none" cap="none" strike="noStrike">
              <a:solidFill>
                <a:srgbClr val="000000"/>
              </a:solidFill>
              <a:latin typeface="Calibri"/>
              <a:ea typeface="Calibri"/>
              <a:cs typeface="Calibri"/>
              <a:sym typeface="Calibri"/>
            </a:endParaRPr>
          </a:p>
        </p:txBody>
      </p:sp>
      <p:sp>
        <p:nvSpPr>
          <p:cNvPr id="126" name="Google Shape;126;p7"/>
          <p:cNvSpPr/>
          <p:nvPr/>
        </p:nvSpPr>
        <p:spPr>
          <a:xfrm>
            <a:off x="0" y="868680"/>
            <a:ext cx="9144000" cy="366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7" name="Google Shape;127;p7"/>
          <p:cNvPicPr preferRelativeResize="0"/>
          <p:nvPr/>
        </p:nvPicPr>
        <p:blipFill>
          <a:blip r:embed="rId3">
            <a:alphaModFix/>
          </a:blip>
          <a:stretch>
            <a:fillRect/>
          </a:stretch>
        </p:blipFill>
        <p:spPr>
          <a:xfrm>
            <a:off x="119100" y="1036250"/>
            <a:ext cx="6470373" cy="3736924"/>
          </a:xfrm>
          <a:prstGeom prst="rect">
            <a:avLst/>
          </a:prstGeom>
          <a:noFill/>
          <a:ln>
            <a:noFill/>
          </a:ln>
        </p:spPr>
      </p:pic>
      <p:sp>
        <p:nvSpPr>
          <p:cNvPr id="128" name="Google Shape;128;p7"/>
          <p:cNvSpPr/>
          <p:nvPr/>
        </p:nvSpPr>
        <p:spPr>
          <a:xfrm>
            <a:off x="6949450" y="1652788"/>
            <a:ext cx="1874400" cy="2336400"/>
          </a:xfrm>
          <a:prstGeom prst="rect">
            <a:avLst/>
          </a:prstGeom>
          <a:noFill/>
          <a:ln>
            <a:noFill/>
          </a:ln>
        </p:spPr>
        <p:txBody>
          <a:bodyPr anchorCtr="0" anchor="ctr" bIns="0" lIns="0" spcFirstLastPara="1" rIns="0" wrap="square" tIns="0">
            <a:noAutofit/>
          </a:bodyPr>
          <a:lstStyle/>
          <a:p>
            <a:pPr indent="-295275" lvl="0" marL="457200" marR="0" rtl="0" algn="l">
              <a:spcBef>
                <a:spcPts val="0"/>
              </a:spcBef>
              <a:spcAft>
                <a:spcPts val="0"/>
              </a:spcAft>
              <a:buClr>
                <a:srgbClr val="1C1C1C"/>
              </a:buClr>
              <a:buSzPts val="1050"/>
              <a:buFont typeface="Calibri"/>
              <a:buChar char="●"/>
            </a:pPr>
            <a:r>
              <a:rPr lang="en-US" sz="1050">
                <a:solidFill>
                  <a:srgbClr val="1C1C1C"/>
                </a:solidFill>
                <a:latin typeface="Calibri"/>
                <a:ea typeface="Calibri"/>
                <a:cs typeface="Calibri"/>
                <a:sym typeface="Calibri"/>
              </a:rPr>
              <a:t>The same can be seen for ‘isle of wight ferry’ searches with </a:t>
            </a:r>
            <a:r>
              <a:rPr lang="en-US" sz="1050">
                <a:solidFill>
                  <a:srgbClr val="1C1C1C"/>
                </a:solidFill>
                <a:latin typeface="Calibri"/>
                <a:ea typeface="Calibri"/>
                <a:cs typeface="Calibri"/>
                <a:sym typeface="Calibri"/>
              </a:rPr>
              <a:t>volume</a:t>
            </a:r>
            <a:r>
              <a:rPr lang="en-US" sz="1050">
                <a:solidFill>
                  <a:srgbClr val="1C1C1C"/>
                </a:solidFill>
                <a:latin typeface="Calibri"/>
                <a:ea typeface="Calibri"/>
                <a:cs typeface="Calibri"/>
                <a:sym typeface="Calibri"/>
              </a:rPr>
              <a:t> the previous year being very slightly higher than early 2025, but following the same pattern </a:t>
            </a:r>
            <a:r>
              <a:rPr lang="en-US" sz="1050">
                <a:solidFill>
                  <a:srgbClr val="1C1C1C"/>
                </a:solidFill>
                <a:latin typeface="Calibri"/>
                <a:ea typeface="Calibri"/>
                <a:cs typeface="Calibri"/>
                <a:sym typeface="Calibri"/>
              </a:rPr>
              <a:t>throughout</a:t>
            </a:r>
            <a:r>
              <a:rPr lang="en-US" sz="1050">
                <a:solidFill>
                  <a:srgbClr val="1C1C1C"/>
                </a:solidFill>
                <a:latin typeface="Calibri"/>
                <a:ea typeface="Calibri"/>
                <a:cs typeface="Calibri"/>
                <a:sym typeface="Calibri"/>
              </a:rPr>
              <a:t> the year</a:t>
            </a:r>
            <a:br>
              <a:rPr lang="en-US" sz="1050">
                <a:solidFill>
                  <a:srgbClr val="1C1C1C"/>
                </a:solidFill>
                <a:latin typeface="Calibri"/>
                <a:ea typeface="Calibri"/>
                <a:cs typeface="Calibri"/>
                <a:sym typeface="Calibri"/>
              </a:rPr>
            </a:br>
            <a:endParaRPr sz="1050">
              <a:solidFill>
                <a:srgbClr val="1C1C1C"/>
              </a:solidFill>
              <a:latin typeface="Calibri"/>
              <a:ea typeface="Calibri"/>
              <a:cs typeface="Calibri"/>
              <a:sym typeface="Calibri"/>
            </a:endParaRPr>
          </a:p>
          <a:p>
            <a:pPr indent="0" lvl="0" marL="0" marR="0" rtl="0" algn="l">
              <a:spcBef>
                <a:spcPts val="0"/>
              </a:spcBef>
              <a:spcAft>
                <a:spcPts val="0"/>
              </a:spcAft>
              <a:buClr>
                <a:srgbClr val="1C1C1C"/>
              </a:buClr>
              <a:buSzPts val="1050"/>
              <a:buFont typeface="Calibri"/>
              <a:buNone/>
            </a:pPr>
            <a:r>
              <a:t/>
            </a:r>
            <a:endParaRPr sz="1050">
              <a:solidFill>
                <a:srgbClr val="1C1C1C"/>
              </a:solidFill>
              <a:latin typeface="Calibri"/>
              <a:ea typeface="Calibri"/>
              <a:cs typeface="Calibri"/>
              <a:sym typeface="Calibri"/>
            </a:endParaRPr>
          </a:p>
        </p:txBody>
      </p:sp>
      <p:pic>
        <p:nvPicPr>
          <p:cNvPr id="129" name="Google Shape;129;p7"/>
          <p:cNvPicPr preferRelativeResize="0"/>
          <p:nvPr/>
        </p:nvPicPr>
        <p:blipFill>
          <a:blip r:embed="rId4">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 name="Shape 134"/>
        <p:cNvGrpSpPr/>
        <p:nvPr/>
      </p:nvGrpSpPr>
      <p:grpSpPr>
        <a:xfrm>
          <a:off x="0" y="0"/>
          <a:ext cx="0" cy="0"/>
          <a:chOff x="0" y="0"/>
          <a:chExt cx="0" cy="0"/>
        </a:xfrm>
      </p:grpSpPr>
      <p:sp>
        <p:nvSpPr>
          <p:cNvPr id="135" name="Google Shape;135;p8"/>
          <p:cNvSpPr/>
          <p:nvPr/>
        </p:nvSpPr>
        <p:spPr>
          <a:xfrm>
            <a:off x="0" y="0"/>
            <a:ext cx="9144000" cy="868800"/>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8"/>
          <p:cNvSpPr/>
          <p:nvPr/>
        </p:nvSpPr>
        <p:spPr>
          <a:xfrm>
            <a:off x="320040" y="45720"/>
            <a:ext cx="80466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Google Trends – Isle Of Wight Ferry</a:t>
            </a:r>
            <a:endParaRPr b="0" i="0" sz="2200" u="none" cap="none" strike="noStrike">
              <a:solidFill>
                <a:schemeClr val="dk1"/>
              </a:solidFill>
              <a:latin typeface="Calibri"/>
              <a:ea typeface="Calibri"/>
              <a:cs typeface="Calibri"/>
              <a:sym typeface="Calibri"/>
            </a:endParaRPr>
          </a:p>
        </p:txBody>
      </p:sp>
      <p:sp>
        <p:nvSpPr>
          <p:cNvPr id="137" name="Google Shape;137;p8"/>
          <p:cNvSpPr/>
          <p:nvPr/>
        </p:nvSpPr>
        <p:spPr>
          <a:xfrm>
            <a:off x="320040" y="521208"/>
            <a:ext cx="8046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000"/>
              <a:buFont typeface="Calibri"/>
              <a:buNone/>
            </a:pPr>
            <a:r>
              <a:rPr b="0" i="0" lang="en-US" sz="1000" u="none" cap="none" strike="noStrike">
                <a:solidFill>
                  <a:srgbClr val="CCCCCC"/>
                </a:solidFill>
                <a:latin typeface="Calibri"/>
                <a:ea typeface="Calibri"/>
                <a:cs typeface="Calibri"/>
                <a:sym typeface="Calibri"/>
              </a:rPr>
              <a:t>FY 2025/26 (Apr 2025 - Mar 2026)</a:t>
            </a:r>
            <a:endParaRPr b="0" i="0" sz="1000" u="none" cap="none" strike="noStrike">
              <a:solidFill>
                <a:schemeClr val="dk1"/>
              </a:solidFill>
              <a:latin typeface="Calibri"/>
              <a:ea typeface="Calibri"/>
              <a:cs typeface="Calibri"/>
              <a:sym typeface="Calibri"/>
            </a:endParaRPr>
          </a:p>
        </p:txBody>
      </p:sp>
      <p:sp>
        <p:nvSpPr>
          <p:cNvPr id="138" name="Google Shape;138;p8"/>
          <p:cNvSpPr/>
          <p:nvPr/>
        </p:nvSpPr>
        <p:spPr>
          <a:xfrm>
            <a:off x="0" y="868680"/>
            <a:ext cx="9144000" cy="366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8"/>
          <p:cNvSpPr/>
          <p:nvPr/>
        </p:nvSpPr>
        <p:spPr>
          <a:xfrm>
            <a:off x="7508655" y="4698770"/>
            <a:ext cx="1463100" cy="201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88888"/>
              </a:buClr>
              <a:buSzPts val="800"/>
              <a:buFont typeface="Calibri"/>
              <a:buNone/>
            </a:pPr>
            <a:r>
              <a:rPr b="0" i="0" lang="en-US" sz="800" u="none" cap="none" strike="noStrike">
                <a:solidFill>
                  <a:srgbClr val="888888"/>
                </a:solidFill>
                <a:latin typeface="Calibri"/>
                <a:ea typeface="Calibri"/>
                <a:cs typeface="Calibri"/>
                <a:sym typeface="Calibri"/>
              </a:rPr>
              <a:t>Source: Google Trends</a:t>
            </a:r>
            <a:endParaRPr b="0" i="0" sz="800" u="none" cap="none" strike="noStrike">
              <a:solidFill>
                <a:schemeClr val="dk1"/>
              </a:solidFill>
              <a:latin typeface="Calibri"/>
              <a:ea typeface="Calibri"/>
              <a:cs typeface="Calibri"/>
              <a:sym typeface="Calibri"/>
            </a:endParaRPr>
          </a:p>
        </p:txBody>
      </p:sp>
      <p:sp>
        <p:nvSpPr>
          <p:cNvPr id="140" name="Google Shape;140;p8"/>
          <p:cNvSpPr/>
          <p:nvPr/>
        </p:nvSpPr>
        <p:spPr>
          <a:xfrm>
            <a:off x="0" y="0"/>
            <a:ext cx="9144000" cy="868800"/>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8"/>
          <p:cNvSpPr/>
          <p:nvPr/>
        </p:nvSpPr>
        <p:spPr>
          <a:xfrm>
            <a:off x="320040" y="45720"/>
            <a:ext cx="80466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Google Trends – Wightlink</a:t>
            </a:r>
            <a:endParaRPr b="0" i="0" sz="2200" u="none" cap="none" strike="noStrike">
              <a:solidFill>
                <a:srgbClr val="000000"/>
              </a:solidFill>
              <a:latin typeface="Calibri"/>
              <a:ea typeface="Calibri"/>
              <a:cs typeface="Calibri"/>
              <a:sym typeface="Calibri"/>
            </a:endParaRPr>
          </a:p>
        </p:txBody>
      </p:sp>
      <p:sp>
        <p:nvSpPr>
          <p:cNvPr id="142" name="Google Shape;142;p8"/>
          <p:cNvSpPr/>
          <p:nvPr/>
        </p:nvSpPr>
        <p:spPr>
          <a:xfrm>
            <a:off x="320040" y="521208"/>
            <a:ext cx="8046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000"/>
              <a:buFont typeface="Calibri"/>
              <a:buNone/>
            </a:pPr>
            <a:r>
              <a:rPr b="0" i="0" lang="en-US" sz="1000" u="none" cap="none" strike="noStrike">
                <a:solidFill>
                  <a:srgbClr val="CCCCCC"/>
                </a:solidFill>
                <a:latin typeface="Calibri"/>
                <a:ea typeface="Calibri"/>
                <a:cs typeface="Calibri"/>
                <a:sym typeface="Calibri"/>
              </a:rPr>
              <a:t>FY 2025/26 vs FY 2024/25  |  Source: Google Trends (GB)</a:t>
            </a:r>
            <a:endParaRPr b="0" i="0" sz="1000" u="none" cap="none" strike="noStrike">
              <a:solidFill>
                <a:srgbClr val="000000"/>
              </a:solidFill>
              <a:latin typeface="Calibri"/>
              <a:ea typeface="Calibri"/>
              <a:cs typeface="Calibri"/>
              <a:sym typeface="Calibri"/>
            </a:endParaRPr>
          </a:p>
        </p:txBody>
      </p:sp>
      <p:sp>
        <p:nvSpPr>
          <p:cNvPr id="143" name="Google Shape;143;p8"/>
          <p:cNvSpPr/>
          <p:nvPr/>
        </p:nvSpPr>
        <p:spPr>
          <a:xfrm>
            <a:off x="0" y="868680"/>
            <a:ext cx="9144000" cy="366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
          <p:cNvSpPr/>
          <p:nvPr/>
        </p:nvSpPr>
        <p:spPr>
          <a:xfrm>
            <a:off x="0" y="0"/>
            <a:ext cx="9144000" cy="868800"/>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8"/>
          <p:cNvSpPr/>
          <p:nvPr/>
        </p:nvSpPr>
        <p:spPr>
          <a:xfrm>
            <a:off x="320040" y="45720"/>
            <a:ext cx="80466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Google Trends – Isle of Wight Holidays</a:t>
            </a:r>
            <a:endParaRPr b="0" i="0" sz="2200" u="none" cap="none" strike="noStrike">
              <a:solidFill>
                <a:srgbClr val="000000"/>
              </a:solidFill>
              <a:latin typeface="Calibri"/>
              <a:ea typeface="Calibri"/>
              <a:cs typeface="Calibri"/>
              <a:sym typeface="Calibri"/>
            </a:endParaRPr>
          </a:p>
        </p:txBody>
      </p:sp>
      <p:sp>
        <p:nvSpPr>
          <p:cNvPr id="146" name="Google Shape;146;p8"/>
          <p:cNvSpPr/>
          <p:nvPr/>
        </p:nvSpPr>
        <p:spPr>
          <a:xfrm>
            <a:off x="320040" y="521208"/>
            <a:ext cx="8046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000"/>
              <a:buFont typeface="Calibri"/>
              <a:buNone/>
            </a:pPr>
            <a:r>
              <a:rPr b="0" i="0" lang="en-US" sz="1000" u="none" cap="none" strike="noStrike">
                <a:solidFill>
                  <a:srgbClr val="CCCCCC"/>
                </a:solidFill>
                <a:latin typeface="Calibri"/>
                <a:ea typeface="Calibri"/>
                <a:cs typeface="Calibri"/>
                <a:sym typeface="Calibri"/>
              </a:rPr>
              <a:t>FY 2025/26 vs FY 2024/25  |  Source: Google Trends (GB)</a:t>
            </a:r>
            <a:endParaRPr b="0" i="0" sz="1000" u="none" cap="none" strike="noStrike">
              <a:solidFill>
                <a:srgbClr val="000000"/>
              </a:solidFill>
              <a:latin typeface="Calibri"/>
              <a:ea typeface="Calibri"/>
              <a:cs typeface="Calibri"/>
              <a:sym typeface="Calibri"/>
            </a:endParaRPr>
          </a:p>
        </p:txBody>
      </p:sp>
      <p:sp>
        <p:nvSpPr>
          <p:cNvPr id="147" name="Google Shape;147;p8"/>
          <p:cNvSpPr/>
          <p:nvPr/>
        </p:nvSpPr>
        <p:spPr>
          <a:xfrm>
            <a:off x="0" y="868680"/>
            <a:ext cx="9144000" cy="366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8" name="Google Shape;148;p8"/>
          <p:cNvPicPr preferRelativeResize="0"/>
          <p:nvPr/>
        </p:nvPicPr>
        <p:blipFill>
          <a:blip r:embed="rId3">
            <a:alphaModFix/>
          </a:blip>
          <a:stretch>
            <a:fillRect/>
          </a:stretch>
        </p:blipFill>
        <p:spPr>
          <a:xfrm>
            <a:off x="242025" y="1043975"/>
            <a:ext cx="6720898" cy="3856100"/>
          </a:xfrm>
          <a:prstGeom prst="rect">
            <a:avLst/>
          </a:prstGeom>
          <a:noFill/>
          <a:ln>
            <a:noFill/>
          </a:ln>
        </p:spPr>
      </p:pic>
      <p:sp>
        <p:nvSpPr>
          <p:cNvPr id="149" name="Google Shape;149;p8"/>
          <p:cNvSpPr/>
          <p:nvPr/>
        </p:nvSpPr>
        <p:spPr>
          <a:xfrm>
            <a:off x="6900300" y="1967350"/>
            <a:ext cx="2018700" cy="2336400"/>
          </a:xfrm>
          <a:prstGeom prst="rect">
            <a:avLst/>
          </a:prstGeom>
          <a:noFill/>
          <a:ln>
            <a:noFill/>
          </a:ln>
        </p:spPr>
        <p:txBody>
          <a:bodyPr anchorCtr="0" anchor="ctr" bIns="0" lIns="0" spcFirstLastPara="1" rIns="0" wrap="square" tIns="0">
            <a:noAutofit/>
          </a:bodyPr>
          <a:lstStyle/>
          <a:p>
            <a:pPr indent="-295275" lvl="0" marL="457200" marR="0" rtl="0" algn="l">
              <a:spcBef>
                <a:spcPts val="0"/>
              </a:spcBef>
              <a:spcAft>
                <a:spcPts val="0"/>
              </a:spcAft>
              <a:buClr>
                <a:srgbClr val="1C1C1C"/>
              </a:buClr>
              <a:buSzPts val="1050"/>
              <a:buFont typeface="Calibri"/>
              <a:buChar char="●"/>
            </a:pPr>
            <a:r>
              <a:rPr lang="en-US" sz="1050">
                <a:solidFill>
                  <a:srgbClr val="1C1C1C"/>
                </a:solidFill>
                <a:latin typeface="Calibri"/>
                <a:ea typeface="Calibri"/>
                <a:cs typeface="Calibri"/>
                <a:sym typeface="Calibri"/>
              </a:rPr>
              <a:t>Considering the potential uplift in UK based holidays this year it is also interesting to look at ‘isle of wight holidays’ as a more generic term.</a:t>
            </a:r>
            <a:br>
              <a:rPr lang="en-US" sz="1050">
                <a:solidFill>
                  <a:srgbClr val="1C1C1C"/>
                </a:solidFill>
                <a:latin typeface="Calibri"/>
                <a:ea typeface="Calibri"/>
                <a:cs typeface="Calibri"/>
                <a:sym typeface="Calibri"/>
              </a:rPr>
            </a:br>
            <a:endParaRPr sz="1050">
              <a:solidFill>
                <a:srgbClr val="1C1C1C"/>
              </a:solidFill>
              <a:latin typeface="Calibri"/>
              <a:ea typeface="Calibri"/>
              <a:cs typeface="Calibri"/>
              <a:sym typeface="Calibri"/>
            </a:endParaRPr>
          </a:p>
          <a:p>
            <a:pPr indent="-295275" lvl="0" marL="457200" marR="0" rtl="0" algn="l">
              <a:spcBef>
                <a:spcPts val="0"/>
              </a:spcBef>
              <a:spcAft>
                <a:spcPts val="0"/>
              </a:spcAft>
              <a:buClr>
                <a:srgbClr val="1C1C1C"/>
              </a:buClr>
              <a:buSzPts val="1050"/>
              <a:buFont typeface="Calibri"/>
              <a:buChar char="●"/>
            </a:pPr>
            <a:r>
              <a:rPr lang="en-US" sz="1050">
                <a:solidFill>
                  <a:srgbClr val="1C1C1C"/>
                </a:solidFill>
                <a:latin typeface="Calibri"/>
                <a:ea typeface="Calibri"/>
                <a:cs typeface="Calibri"/>
                <a:sym typeface="Calibri"/>
              </a:rPr>
              <a:t>We can see a peak in April 2025 and then a general trend of more search volume the </a:t>
            </a:r>
            <a:r>
              <a:rPr lang="en-US" sz="1050">
                <a:solidFill>
                  <a:srgbClr val="1C1C1C"/>
                </a:solidFill>
                <a:latin typeface="Calibri"/>
                <a:ea typeface="Calibri"/>
                <a:cs typeface="Calibri"/>
                <a:sym typeface="Calibri"/>
              </a:rPr>
              <a:t>previous</a:t>
            </a:r>
            <a:r>
              <a:rPr lang="en-US" sz="1050">
                <a:solidFill>
                  <a:srgbClr val="1C1C1C"/>
                </a:solidFill>
                <a:latin typeface="Calibri"/>
                <a:ea typeface="Calibri"/>
                <a:cs typeface="Calibri"/>
                <a:sym typeface="Calibri"/>
              </a:rPr>
              <a:t> year for the majority of the other months</a:t>
            </a:r>
            <a:br>
              <a:rPr lang="en-US" sz="1050">
                <a:solidFill>
                  <a:srgbClr val="1C1C1C"/>
                </a:solidFill>
                <a:latin typeface="Calibri"/>
                <a:ea typeface="Calibri"/>
                <a:cs typeface="Calibri"/>
                <a:sym typeface="Calibri"/>
              </a:rPr>
            </a:br>
            <a:endParaRPr sz="1050">
              <a:solidFill>
                <a:srgbClr val="1C1C1C"/>
              </a:solidFill>
              <a:latin typeface="Calibri"/>
              <a:ea typeface="Calibri"/>
              <a:cs typeface="Calibri"/>
              <a:sym typeface="Calibri"/>
            </a:endParaRPr>
          </a:p>
          <a:p>
            <a:pPr indent="-295275" lvl="0" marL="457200" marR="0" rtl="0" algn="l">
              <a:spcBef>
                <a:spcPts val="0"/>
              </a:spcBef>
              <a:spcAft>
                <a:spcPts val="0"/>
              </a:spcAft>
              <a:buClr>
                <a:srgbClr val="1C1C1C"/>
              </a:buClr>
              <a:buSzPts val="1050"/>
              <a:buFont typeface="Calibri"/>
              <a:buChar char="●"/>
            </a:pPr>
            <a:r>
              <a:rPr lang="en-US" sz="1050">
                <a:solidFill>
                  <a:srgbClr val="1C1C1C"/>
                </a:solidFill>
                <a:latin typeface="Calibri"/>
                <a:ea typeface="Calibri"/>
                <a:cs typeface="Calibri"/>
                <a:sym typeface="Calibri"/>
              </a:rPr>
              <a:t>This switches in March 2026 when we can see search volume start to </a:t>
            </a:r>
            <a:r>
              <a:rPr lang="en-US" sz="1050">
                <a:solidFill>
                  <a:srgbClr val="1C1C1C"/>
                </a:solidFill>
                <a:latin typeface="Calibri"/>
                <a:ea typeface="Calibri"/>
                <a:cs typeface="Calibri"/>
                <a:sym typeface="Calibri"/>
              </a:rPr>
              <a:t>increase</a:t>
            </a:r>
            <a:r>
              <a:rPr lang="en-US" sz="1050">
                <a:solidFill>
                  <a:srgbClr val="1C1C1C"/>
                </a:solidFill>
                <a:latin typeface="Calibri"/>
                <a:ea typeface="Calibri"/>
                <a:cs typeface="Calibri"/>
                <a:sym typeface="Calibri"/>
              </a:rPr>
              <a:t> </a:t>
            </a:r>
            <a:r>
              <a:rPr lang="en-US" sz="1050">
                <a:solidFill>
                  <a:srgbClr val="1C1C1C"/>
                </a:solidFill>
                <a:latin typeface="Calibri"/>
                <a:ea typeface="Calibri"/>
                <a:cs typeface="Calibri"/>
                <a:sym typeface="Calibri"/>
              </a:rPr>
              <a:t>compared</a:t>
            </a:r>
            <a:r>
              <a:rPr lang="en-US" sz="1050">
                <a:solidFill>
                  <a:srgbClr val="1C1C1C"/>
                </a:solidFill>
                <a:latin typeface="Calibri"/>
                <a:ea typeface="Calibri"/>
                <a:cs typeface="Calibri"/>
                <a:sym typeface="Calibri"/>
              </a:rPr>
              <a:t> to the previous year</a:t>
            </a:r>
            <a:endParaRPr sz="1050">
              <a:solidFill>
                <a:srgbClr val="1C1C1C"/>
              </a:solidFill>
              <a:latin typeface="Calibri"/>
              <a:ea typeface="Calibri"/>
              <a:cs typeface="Calibri"/>
              <a:sym typeface="Calibri"/>
            </a:endParaRPr>
          </a:p>
          <a:p>
            <a:pPr indent="0" lvl="0" marL="0" marR="0" rtl="0" algn="l">
              <a:spcBef>
                <a:spcPts val="0"/>
              </a:spcBef>
              <a:spcAft>
                <a:spcPts val="0"/>
              </a:spcAft>
              <a:buNone/>
            </a:pPr>
            <a:r>
              <a:t/>
            </a:r>
            <a:endParaRPr sz="1050">
              <a:solidFill>
                <a:srgbClr val="1C1C1C"/>
              </a:solidFill>
              <a:latin typeface="Calibri"/>
              <a:ea typeface="Calibri"/>
              <a:cs typeface="Calibri"/>
              <a:sym typeface="Calibri"/>
            </a:endParaRPr>
          </a:p>
          <a:p>
            <a:pPr indent="0" lvl="0" marL="0" marR="0" rtl="0" algn="l">
              <a:spcBef>
                <a:spcPts val="0"/>
              </a:spcBef>
              <a:spcAft>
                <a:spcPts val="0"/>
              </a:spcAft>
              <a:buNone/>
            </a:pPr>
            <a:br>
              <a:rPr lang="en-US" sz="1050">
                <a:solidFill>
                  <a:srgbClr val="1C1C1C"/>
                </a:solidFill>
                <a:latin typeface="Calibri"/>
                <a:ea typeface="Calibri"/>
                <a:cs typeface="Calibri"/>
                <a:sym typeface="Calibri"/>
              </a:rPr>
            </a:br>
            <a:endParaRPr sz="1050">
              <a:solidFill>
                <a:srgbClr val="1C1C1C"/>
              </a:solidFill>
              <a:latin typeface="Calibri"/>
              <a:ea typeface="Calibri"/>
              <a:cs typeface="Calibri"/>
              <a:sym typeface="Calibri"/>
            </a:endParaRPr>
          </a:p>
          <a:p>
            <a:pPr indent="0" lvl="0" marL="0" marR="0" rtl="0" algn="l">
              <a:spcBef>
                <a:spcPts val="0"/>
              </a:spcBef>
              <a:spcAft>
                <a:spcPts val="0"/>
              </a:spcAft>
              <a:buClr>
                <a:srgbClr val="1C1C1C"/>
              </a:buClr>
              <a:buSzPts val="1050"/>
              <a:buFont typeface="Calibri"/>
              <a:buNone/>
            </a:pPr>
            <a:r>
              <a:t/>
            </a:r>
            <a:endParaRPr sz="1050">
              <a:solidFill>
                <a:srgbClr val="1C1C1C"/>
              </a:solidFill>
              <a:latin typeface="Calibri"/>
              <a:ea typeface="Calibri"/>
              <a:cs typeface="Calibri"/>
              <a:sym typeface="Calibri"/>
            </a:endParaRPr>
          </a:p>
        </p:txBody>
      </p:sp>
      <p:pic>
        <p:nvPicPr>
          <p:cNvPr id="150" name="Google Shape;150;p8"/>
          <p:cNvPicPr preferRelativeResize="0"/>
          <p:nvPr/>
        </p:nvPicPr>
        <p:blipFill>
          <a:blip r:embed="rId4">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1C1C"/>
        </a:solidFill>
      </p:bgPr>
    </p:bg>
    <p:spTree>
      <p:nvGrpSpPr>
        <p:cNvPr id="155" name="Shape 155"/>
        <p:cNvGrpSpPr/>
        <p:nvPr/>
      </p:nvGrpSpPr>
      <p:grpSpPr>
        <a:xfrm>
          <a:off x="0" y="0"/>
          <a:ext cx="0" cy="0"/>
          <a:chOff x="0" y="0"/>
          <a:chExt cx="0" cy="0"/>
        </a:xfrm>
      </p:grpSpPr>
      <p:sp>
        <p:nvSpPr>
          <p:cNvPr id="156" name="Google Shape;156;p9"/>
          <p:cNvSpPr/>
          <p:nvPr/>
        </p:nvSpPr>
        <p:spPr>
          <a:xfrm>
            <a:off x="326805" y="1463040"/>
            <a:ext cx="7772400" cy="13716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000"/>
              <a:buFont typeface="Calibri"/>
              <a:buNone/>
            </a:pPr>
            <a:r>
              <a:rPr b="1" lang="en-US" sz="4000">
                <a:solidFill>
                  <a:srgbClr val="FFFFFF"/>
                </a:solidFill>
                <a:latin typeface="Calibri"/>
                <a:ea typeface="Calibri"/>
                <a:cs typeface="Calibri"/>
                <a:sym typeface="Calibri"/>
              </a:rPr>
              <a:t>Testing</a:t>
            </a:r>
            <a:endParaRPr b="0" i="0" sz="4000" u="none" cap="none" strike="noStrike">
              <a:solidFill>
                <a:schemeClr val="dk1"/>
              </a:solidFill>
              <a:latin typeface="Calibri"/>
              <a:ea typeface="Calibri"/>
              <a:cs typeface="Calibri"/>
              <a:sym typeface="Calibri"/>
            </a:endParaRPr>
          </a:p>
        </p:txBody>
      </p:sp>
      <p:sp>
        <p:nvSpPr>
          <p:cNvPr id="157" name="Google Shape;157;p9"/>
          <p:cNvSpPr/>
          <p:nvPr/>
        </p:nvSpPr>
        <p:spPr>
          <a:xfrm>
            <a:off x="-84675" y="3090672"/>
            <a:ext cx="9144000" cy="732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9"/>
          <p:cNvSpPr/>
          <p:nvPr/>
        </p:nvSpPr>
        <p:spPr>
          <a:xfrm>
            <a:off x="-84675" y="3200400"/>
            <a:ext cx="9144000" cy="36600"/>
          </a:xfrm>
          <a:prstGeom prst="rect">
            <a:avLst/>
          </a:prstGeom>
          <a:solidFill>
            <a:srgbClr val="922B21"/>
          </a:solidFill>
          <a:ln cap="flat" cmpd="sng" w="12700">
            <a:solidFill>
              <a:srgbClr val="922B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9"/>
          <p:cNvSpPr/>
          <p:nvPr/>
        </p:nvSpPr>
        <p:spPr>
          <a:xfrm>
            <a:off x="326805" y="3310128"/>
            <a:ext cx="77724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200"/>
              <a:buFont typeface="Calibri"/>
              <a:buNone/>
            </a:pPr>
            <a:r>
              <a:rPr b="0" i="0" lang="en-US" sz="1200" u="none" cap="none" strike="noStrike">
                <a:solidFill>
                  <a:srgbClr val="C0392B"/>
                </a:solidFill>
                <a:latin typeface="Calibri"/>
                <a:ea typeface="Calibri"/>
                <a:cs typeface="Calibri"/>
                <a:sym typeface="Calibri"/>
              </a:rPr>
              <a:t>Wightlink  |  FY 2025/26  |  Summon</a:t>
            </a:r>
            <a:endParaRPr b="0" i="0" sz="1200" u="none" cap="none" strike="noStrike">
              <a:solidFill>
                <a:schemeClr val="dk1"/>
              </a:solidFill>
              <a:latin typeface="Calibri"/>
              <a:ea typeface="Calibri"/>
              <a:cs typeface="Calibri"/>
              <a:sym typeface="Calibri"/>
            </a:endParaRPr>
          </a:p>
        </p:txBody>
      </p:sp>
      <p:sp>
        <p:nvSpPr>
          <p:cNvPr id="160" name="Google Shape;160;p9"/>
          <p:cNvSpPr/>
          <p:nvPr/>
        </p:nvSpPr>
        <p:spPr>
          <a:xfrm>
            <a:off x="-57625" y="0"/>
            <a:ext cx="9144000" cy="51435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9"/>
          <p:cNvSpPr/>
          <p:nvPr/>
        </p:nvSpPr>
        <p:spPr>
          <a:xfrm>
            <a:off x="-84650" y="0"/>
            <a:ext cx="128100" cy="51435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9"/>
          <p:cNvSpPr/>
          <p:nvPr/>
        </p:nvSpPr>
        <p:spPr>
          <a:xfrm>
            <a:off x="43366" y="2934099"/>
            <a:ext cx="9015900" cy="639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9"/>
          <p:cNvSpPr/>
          <p:nvPr/>
        </p:nvSpPr>
        <p:spPr>
          <a:xfrm>
            <a:off x="829750" y="1840230"/>
            <a:ext cx="7315200" cy="128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Trebuchet MS"/>
              <a:buNone/>
            </a:pPr>
            <a:r>
              <a:rPr b="1" lang="en-US" sz="3600">
                <a:solidFill>
                  <a:srgbClr val="FFFFFF"/>
                </a:solidFill>
                <a:latin typeface="Trebuchet MS"/>
                <a:ea typeface="Trebuchet MS"/>
                <a:cs typeface="Trebuchet MS"/>
                <a:sym typeface="Trebuchet MS"/>
              </a:rPr>
              <a:t>Auction</a:t>
            </a:r>
            <a:r>
              <a:rPr b="1" lang="en-US" sz="3600">
                <a:solidFill>
                  <a:srgbClr val="FFFFFF"/>
                </a:solidFill>
                <a:latin typeface="Trebuchet MS"/>
                <a:ea typeface="Trebuchet MS"/>
                <a:cs typeface="Trebuchet MS"/>
                <a:sym typeface="Trebuchet MS"/>
              </a:rPr>
              <a:t> Insights</a:t>
            </a:r>
            <a:endParaRPr b="0" i="0" sz="3600" u="none" cap="none" strike="noStrike">
              <a:solidFill>
                <a:srgbClr val="000000"/>
              </a:solidFill>
              <a:latin typeface="Calibri"/>
              <a:ea typeface="Calibri"/>
              <a:cs typeface="Calibri"/>
              <a:sym typeface="Calibri"/>
            </a:endParaRPr>
          </a:p>
        </p:txBody>
      </p:sp>
      <p:sp>
        <p:nvSpPr>
          <p:cNvPr id="164" name="Google Shape;164;p9"/>
          <p:cNvSpPr/>
          <p:nvPr/>
        </p:nvSpPr>
        <p:spPr>
          <a:xfrm>
            <a:off x="829750" y="3166110"/>
            <a:ext cx="7315200" cy="32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C0392B"/>
              </a:buClr>
              <a:buSzPts val="1200"/>
              <a:buFont typeface="Calibri"/>
              <a:buNone/>
            </a:pPr>
            <a:r>
              <a:rPr lang="en-US" sz="1100">
                <a:solidFill>
                  <a:srgbClr val="F5C6CB"/>
                </a:solidFill>
                <a:latin typeface="Calibri"/>
                <a:ea typeface="Calibri"/>
                <a:cs typeface="Calibri"/>
                <a:sym typeface="Calibri"/>
              </a:rPr>
              <a:t>Wightlink  |  FY 2025/26  |  Summon</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F5C6CB"/>
              </a:buClr>
              <a:buSzPts val="1100"/>
              <a:buFont typeface="Calibri"/>
              <a:buNone/>
            </a:pPr>
            <a:r>
              <a:t/>
            </a:r>
            <a:endParaRPr sz="1100">
              <a:solidFill>
                <a:srgbClr val="F5C6CB"/>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9" name="Shape 169"/>
        <p:cNvGrpSpPr/>
        <p:nvPr/>
      </p:nvGrpSpPr>
      <p:grpSpPr>
        <a:xfrm>
          <a:off x="0" y="0"/>
          <a:ext cx="0" cy="0"/>
          <a:chOff x="0" y="0"/>
          <a:chExt cx="0" cy="0"/>
        </a:xfrm>
      </p:grpSpPr>
      <p:sp>
        <p:nvSpPr>
          <p:cNvPr id="170" name="Google Shape;170;p10"/>
          <p:cNvSpPr/>
          <p:nvPr/>
        </p:nvSpPr>
        <p:spPr>
          <a:xfrm>
            <a:off x="0" y="0"/>
            <a:ext cx="9144000" cy="868680"/>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0"/>
          <p:cNvSpPr/>
          <p:nvPr/>
        </p:nvSpPr>
        <p:spPr>
          <a:xfrm>
            <a:off x="320040" y="45720"/>
            <a:ext cx="80467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Auction Insights – Generic</a:t>
            </a:r>
            <a:endParaRPr b="0" i="0" sz="2200" u="none" cap="none" strike="noStrike">
              <a:solidFill>
                <a:schemeClr val="dk1"/>
              </a:solidFill>
              <a:latin typeface="Calibri"/>
              <a:ea typeface="Calibri"/>
              <a:cs typeface="Calibri"/>
              <a:sym typeface="Calibri"/>
            </a:endParaRPr>
          </a:p>
        </p:txBody>
      </p:sp>
      <p:sp>
        <p:nvSpPr>
          <p:cNvPr id="172" name="Google Shape;172;p10"/>
          <p:cNvSpPr/>
          <p:nvPr/>
        </p:nvSpPr>
        <p:spPr>
          <a:xfrm>
            <a:off x="320040" y="521208"/>
            <a:ext cx="8046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000"/>
              <a:buFont typeface="Calibri"/>
              <a:buNone/>
            </a:pPr>
            <a:r>
              <a:rPr b="0" i="0" lang="en-US" sz="1000" u="none" cap="none" strike="noStrike">
                <a:solidFill>
                  <a:srgbClr val="CCCCCC"/>
                </a:solidFill>
                <a:latin typeface="Calibri"/>
                <a:ea typeface="Calibri"/>
                <a:cs typeface="Calibri"/>
                <a:sym typeface="Calibri"/>
              </a:rPr>
              <a:t>FY 2025/26 (Apr 2025 - Mar 2026)</a:t>
            </a:r>
            <a:endParaRPr b="0" i="0" sz="1000" u="none" cap="none" strike="noStrike">
              <a:solidFill>
                <a:schemeClr val="dk1"/>
              </a:solidFill>
              <a:latin typeface="Calibri"/>
              <a:ea typeface="Calibri"/>
              <a:cs typeface="Calibri"/>
              <a:sym typeface="Calibri"/>
            </a:endParaRPr>
          </a:p>
        </p:txBody>
      </p:sp>
      <p:sp>
        <p:nvSpPr>
          <p:cNvPr id="173" name="Google Shape;173;p10"/>
          <p:cNvSpPr/>
          <p:nvPr/>
        </p:nvSpPr>
        <p:spPr>
          <a:xfrm>
            <a:off x="0" y="868680"/>
            <a:ext cx="9144000" cy="36576"/>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0"/>
          <p:cNvSpPr/>
          <p:nvPr/>
        </p:nvSpPr>
        <p:spPr>
          <a:xfrm>
            <a:off x="0" y="4910328"/>
            <a:ext cx="9144000" cy="233172"/>
          </a:xfrm>
          <a:prstGeom prst="rect">
            <a:avLst/>
          </a:prstGeom>
          <a:solidFill>
            <a:srgbClr val="1C1C1C"/>
          </a:solidFill>
          <a:ln cap="flat" cmpd="sng" w="12700">
            <a:solidFill>
              <a:srgbClr val="1C1C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0"/>
          <p:cNvSpPr/>
          <p:nvPr/>
        </p:nvSpPr>
        <p:spPr>
          <a:xfrm>
            <a:off x="320040" y="4919472"/>
            <a:ext cx="8503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00"/>
              <a:buFont typeface="Calibri"/>
              <a:buNone/>
            </a:pPr>
            <a:r>
              <a:rPr b="0" i="0" lang="en-US" sz="800" u="none" cap="none" strike="noStrike">
                <a:solidFill>
                  <a:srgbClr val="888888"/>
                </a:solidFill>
                <a:latin typeface="Calibri"/>
                <a:ea typeface="Calibri"/>
                <a:cs typeface="Calibri"/>
                <a:sym typeface="Calibri"/>
              </a:rPr>
              <a:t>FY 2025/26  |  Wightlink  |  Confidential</a:t>
            </a:r>
            <a:endParaRPr b="0" i="0" sz="800" u="none" cap="none" strike="noStrike">
              <a:solidFill>
                <a:schemeClr val="dk1"/>
              </a:solidFill>
              <a:latin typeface="Calibri"/>
              <a:ea typeface="Calibri"/>
              <a:cs typeface="Calibri"/>
              <a:sym typeface="Calibri"/>
            </a:endParaRPr>
          </a:p>
        </p:txBody>
      </p:sp>
      <p:graphicFrame>
        <p:nvGraphicFramePr>
          <p:cNvPr id="176" name="Google Shape;176;p10"/>
          <p:cNvGraphicFramePr/>
          <p:nvPr/>
        </p:nvGraphicFramePr>
        <p:xfrm>
          <a:off x="320040" y="987552"/>
          <a:ext cx="3000000" cy="3000000"/>
        </p:xfrm>
        <a:graphic>
          <a:graphicData uri="http://schemas.openxmlformats.org/drawingml/2006/table">
            <a:tbl>
              <a:tblPr>
                <a:noFill/>
                <a:tableStyleId>{A518D24D-EAA6-41D1-AC2E-21A0FAADA655}</a:tableStyleId>
              </a:tblPr>
              <a:tblGrid>
                <a:gridCol w="1920250"/>
                <a:gridCol w="960125"/>
                <a:gridCol w="868675"/>
                <a:gridCol w="914400"/>
                <a:gridCol w="960125"/>
                <a:gridCol w="960125"/>
                <a:gridCol w="960125"/>
              </a:tblGrid>
              <a:tr h="292600">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Domain</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Imp. Share</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Overlap</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Pos. Above</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Top of Page</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Abs. Top</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Outranking</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r>
              <a:tr h="292600">
                <a:tc>
                  <a:txBody>
                    <a:bodyPr/>
                    <a:lstStyle/>
                    <a:p>
                      <a:pPr indent="0" lvl="0" marL="0" marR="0" rtl="0" algn="l">
                        <a:spcBef>
                          <a:spcPts val="0"/>
                        </a:spcBef>
                        <a:spcAft>
                          <a:spcPts val="0"/>
                        </a:spcAft>
                        <a:buClr>
                          <a:srgbClr val="C0392B"/>
                        </a:buClr>
                        <a:buSzPts val="900"/>
                        <a:buFont typeface="Calibri"/>
                        <a:buNone/>
                      </a:pPr>
                      <a:r>
                        <a:rPr b="1" lang="en-US" sz="900" u="none" cap="none" strike="noStrike">
                          <a:solidFill>
                            <a:srgbClr val="C0392B"/>
                          </a:solidFill>
                          <a:latin typeface="Calibri"/>
                          <a:ea typeface="Calibri"/>
                          <a:cs typeface="Calibri"/>
                          <a:sym typeface="Calibri"/>
                        </a:rPr>
                        <a:t>Wightlink (You)</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0E8E8"/>
                    </a:solidFill>
                  </a:tcPr>
                </a:tc>
                <a:tc>
                  <a:txBody>
                    <a:bodyPr/>
                    <a:lstStyle/>
                    <a:p>
                      <a:pPr indent="0" lvl="0" marL="0" marR="0" rtl="0" algn="ctr">
                        <a:spcBef>
                          <a:spcPts val="0"/>
                        </a:spcBef>
                        <a:spcAft>
                          <a:spcPts val="0"/>
                        </a:spcAft>
                        <a:buClr>
                          <a:srgbClr val="1C1C1C"/>
                        </a:buClr>
                        <a:buSzPts val="900"/>
                        <a:buFont typeface="Calibri"/>
                        <a:buNone/>
                      </a:pPr>
                      <a:r>
                        <a:rPr b="1" lang="en-US" sz="900" u="none" cap="none" strike="noStrike">
                          <a:solidFill>
                            <a:srgbClr val="1C1C1C"/>
                          </a:solidFill>
                          <a:latin typeface="Calibri"/>
                          <a:ea typeface="Calibri"/>
                          <a:cs typeface="Calibri"/>
                          <a:sym typeface="Calibri"/>
                        </a:rPr>
                        <a:t>38.05%</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0E8E8"/>
                    </a:solidFill>
                  </a:tcPr>
                </a:tc>
                <a:tc>
                  <a:txBody>
                    <a:bodyPr/>
                    <a:lstStyle/>
                    <a:p>
                      <a:pPr indent="0" lvl="0" marL="0" marR="0" rtl="0" algn="ctr">
                        <a:spcBef>
                          <a:spcPts val="0"/>
                        </a:spcBef>
                        <a:spcAft>
                          <a:spcPts val="0"/>
                        </a:spcAft>
                        <a:buClr>
                          <a:srgbClr val="1C1C1C"/>
                        </a:buClr>
                        <a:buSzPts val="900"/>
                        <a:buFont typeface="Calibri"/>
                        <a:buNone/>
                      </a:pPr>
                      <a:r>
                        <a:rPr b="1" lang="en-US" sz="900" u="none" cap="none" strike="noStrike">
                          <a:solidFill>
                            <a:srgbClr val="1C1C1C"/>
                          </a:solidFill>
                          <a:latin typeface="Calibri"/>
                          <a:ea typeface="Calibri"/>
                          <a:cs typeface="Calibri"/>
                          <a:sym typeface="Calibri"/>
                        </a:rPr>
                        <a:t>--</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0E8E8"/>
                    </a:solidFill>
                  </a:tcPr>
                </a:tc>
                <a:tc>
                  <a:txBody>
                    <a:bodyPr/>
                    <a:lstStyle/>
                    <a:p>
                      <a:pPr indent="0" lvl="0" marL="0" marR="0" rtl="0" algn="ctr">
                        <a:spcBef>
                          <a:spcPts val="0"/>
                        </a:spcBef>
                        <a:spcAft>
                          <a:spcPts val="0"/>
                        </a:spcAft>
                        <a:buClr>
                          <a:srgbClr val="1C1C1C"/>
                        </a:buClr>
                        <a:buSzPts val="900"/>
                        <a:buFont typeface="Calibri"/>
                        <a:buNone/>
                      </a:pPr>
                      <a:r>
                        <a:rPr b="1" lang="en-US" sz="900" u="none" cap="none" strike="noStrike">
                          <a:solidFill>
                            <a:srgbClr val="1C1C1C"/>
                          </a:solidFill>
                          <a:latin typeface="Calibri"/>
                          <a:ea typeface="Calibri"/>
                          <a:cs typeface="Calibri"/>
                          <a:sym typeface="Calibri"/>
                        </a:rPr>
                        <a:t>--</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0E8E8"/>
                    </a:solidFill>
                  </a:tcPr>
                </a:tc>
                <a:tc>
                  <a:txBody>
                    <a:bodyPr/>
                    <a:lstStyle/>
                    <a:p>
                      <a:pPr indent="0" lvl="0" marL="0" marR="0" rtl="0" algn="ctr">
                        <a:spcBef>
                          <a:spcPts val="0"/>
                        </a:spcBef>
                        <a:spcAft>
                          <a:spcPts val="0"/>
                        </a:spcAft>
                        <a:buClr>
                          <a:srgbClr val="1C1C1C"/>
                        </a:buClr>
                        <a:buSzPts val="900"/>
                        <a:buFont typeface="Calibri"/>
                        <a:buNone/>
                      </a:pPr>
                      <a:r>
                        <a:rPr b="1" lang="en-US" sz="900" u="none" cap="none" strike="noStrike">
                          <a:solidFill>
                            <a:srgbClr val="1C1C1C"/>
                          </a:solidFill>
                          <a:latin typeface="Calibri"/>
                          <a:ea typeface="Calibri"/>
                          <a:cs typeface="Calibri"/>
                          <a:sym typeface="Calibri"/>
                        </a:rPr>
                        <a:t>89.84%</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0E8E8"/>
                    </a:solidFill>
                  </a:tcPr>
                </a:tc>
                <a:tc>
                  <a:txBody>
                    <a:bodyPr/>
                    <a:lstStyle/>
                    <a:p>
                      <a:pPr indent="0" lvl="0" marL="0" marR="0" rtl="0" algn="ctr">
                        <a:spcBef>
                          <a:spcPts val="0"/>
                        </a:spcBef>
                        <a:spcAft>
                          <a:spcPts val="0"/>
                        </a:spcAft>
                        <a:buClr>
                          <a:srgbClr val="1C1C1C"/>
                        </a:buClr>
                        <a:buSzPts val="900"/>
                        <a:buFont typeface="Calibri"/>
                        <a:buNone/>
                      </a:pPr>
                      <a:r>
                        <a:rPr b="1" lang="en-US" sz="900" u="none" cap="none" strike="noStrike">
                          <a:solidFill>
                            <a:srgbClr val="1C1C1C"/>
                          </a:solidFill>
                          <a:latin typeface="Calibri"/>
                          <a:ea typeface="Calibri"/>
                          <a:cs typeface="Calibri"/>
                          <a:sym typeface="Calibri"/>
                        </a:rPr>
                        <a:t>50.62%</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0E8E8"/>
                    </a:solidFill>
                  </a:tcPr>
                </a:tc>
                <a:tc>
                  <a:txBody>
                    <a:bodyPr/>
                    <a:lstStyle/>
                    <a:p>
                      <a:pPr indent="0" lvl="0" marL="0" marR="0" rtl="0" algn="ctr">
                        <a:spcBef>
                          <a:spcPts val="0"/>
                        </a:spcBef>
                        <a:spcAft>
                          <a:spcPts val="0"/>
                        </a:spcAft>
                        <a:buClr>
                          <a:srgbClr val="1C1C1C"/>
                        </a:buClr>
                        <a:buSzPts val="900"/>
                        <a:buFont typeface="Calibri"/>
                        <a:buNone/>
                      </a:pPr>
                      <a:r>
                        <a:rPr b="1" lang="en-US" sz="900" u="none" cap="none" strike="noStrike">
                          <a:solidFill>
                            <a:srgbClr val="1C1C1C"/>
                          </a:solidFill>
                          <a:latin typeface="Calibri"/>
                          <a:ea typeface="Calibri"/>
                          <a:cs typeface="Calibri"/>
                          <a:sym typeface="Calibri"/>
                        </a:rPr>
                        <a:t>--</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0E8E8"/>
                    </a:solidFill>
                  </a:tcPr>
                </a:tc>
              </a:tr>
              <a:tr h="292600">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directferries.co.uk</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29.44%</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rgbClr val="B7760D"/>
                        </a:buClr>
                        <a:buSzPts val="900"/>
                        <a:buFont typeface="Calibri"/>
                        <a:buNone/>
                      </a:pPr>
                      <a:r>
                        <a:rPr lang="en-US" sz="900" u="none" cap="none" strike="noStrike">
                          <a:solidFill>
                            <a:srgbClr val="B7760D"/>
                          </a:solidFill>
                          <a:latin typeface="Calibri"/>
                          <a:ea typeface="Calibri"/>
                          <a:cs typeface="Calibri"/>
                          <a:sym typeface="Calibri"/>
                        </a:rPr>
                        <a:t>49.44%</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44.79%</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86.40%</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31.29%</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29.62%</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r>
              <a:tr h="292600">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redfunnel.co.uk</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26.48%</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B7760D"/>
                        </a:buClr>
                        <a:buSzPts val="900"/>
                        <a:buFont typeface="Calibri"/>
                        <a:buNone/>
                      </a:pPr>
                      <a:r>
                        <a:rPr lang="en-US" sz="900" u="none" cap="none" strike="noStrike">
                          <a:solidFill>
                            <a:srgbClr val="B7760D"/>
                          </a:solidFill>
                          <a:latin typeface="Calibri"/>
                          <a:ea typeface="Calibri"/>
                          <a:cs typeface="Calibri"/>
                          <a:sym typeface="Calibri"/>
                        </a:rPr>
                        <a:t>44.85%</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46.40%</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87.63%</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36.68%</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30.13%</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292600">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openferry.com</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14.74%</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28.60%</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34.94%</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73.94%</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21.38%</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34.24%</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r>
              <a:tr h="292600">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awayresorts.co.uk</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&lt; 10%</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14.67%</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22.40%</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56.88%</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16.36%</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36.80%</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292600">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booking.com</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&lt; 10%</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2.45%</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59.40%</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74.84%</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29.64%</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37.49%</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r>
              <a:tr h="292600">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parkdeanresorts.co.uk</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&lt; 10%</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4.78%</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42.45%</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71.43%</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40.40%</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37.27%</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bl>
          </a:graphicData>
        </a:graphic>
      </p:graphicFrame>
      <p:sp>
        <p:nvSpPr>
          <p:cNvPr id="177" name="Google Shape;177;p10"/>
          <p:cNvSpPr/>
          <p:nvPr/>
        </p:nvSpPr>
        <p:spPr>
          <a:xfrm>
            <a:off x="320090" y="3410739"/>
            <a:ext cx="8503800" cy="1417200"/>
          </a:xfrm>
          <a:prstGeom prst="rect">
            <a:avLst/>
          </a:prstGeom>
          <a:noFill/>
          <a:ln>
            <a:noFill/>
          </a:ln>
        </p:spPr>
        <p:txBody>
          <a:bodyPr anchorCtr="0" anchor="t" bIns="45700" lIns="91425" spcFirstLastPara="1" rIns="91425" wrap="square" tIns="45700">
            <a:noAutofit/>
          </a:bodyPr>
          <a:lstStyle/>
          <a:p>
            <a:pPr indent="-127000" lvl="0" marL="127000" marR="0" rtl="0" algn="l">
              <a:spcBef>
                <a:spcPts val="0"/>
              </a:spcBef>
              <a:spcAft>
                <a:spcPts val="0"/>
              </a:spcAft>
              <a:buClr>
                <a:srgbClr val="1C1C1C"/>
              </a:buClr>
              <a:buSzPts val="1050"/>
              <a:buFont typeface="Calibri"/>
              <a:buChar char="•"/>
            </a:pPr>
            <a:r>
              <a:rPr b="0" i="0" lang="en-US" sz="1050" u="none" cap="none" strike="noStrike">
                <a:solidFill>
                  <a:srgbClr val="1C1C1C"/>
                </a:solidFill>
                <a:latin typeface="Calibri"/>
                <a:ea typeface="Calibri"/>
                <a:cs typeface="Calibri"/>
                <a:sym typeface="Calibri"/>
              </a:rPr>
              <a:t>Wightlink leads on impression share at 38.05%</a:t>
            </a:r>
            <a:r>
              <a:rPr lang="en-US" sz="1050">
                <a:solidFill>
                  <a:srgbClr val="1C1C1C"/>
                </a:solidFill>
                <a:latin typeface="Calibri"/>
                <a:ea typeface="Calibri"/>
                <a:cs typeface="Calibri"/>
                <a:sym typeface="Calibri"/>
              </a:rPr>
              <a:t>. </a:t>
            </a:r>
            <a:r>
              <a:rPr b="0" i="0" lang="en-US" sz="1050" u="none" cap="none" strike="noStrike">
                <a:solidFill>
                  <a:srgbClr val="1C1C1C"/>
                </a:solidFill>
                <a:latin typeface="Calibri"/>
                <a:ea typeface="Calibri"/>
                <a:cs typeface="Calibri"/>
                <a:sym typeface="Calibri"/>
              </a:rPr>
              <a:t>Our 89.84% top-of-page rate and 50.62% abs. top-of-page rate are strong across all campaign types.</a:t>
            </a:r>
            <a:endParaRPr b="0" i="0" sz="1050" u="none" cap="none" strike="noStrike">
              <a:solidFill>
                <a:srgbClr val="000000"/>
              </a:solidFill>
              <a:latin typeface="Calibri"/>
              <a:ea typeface="Calibri"/>
              <a:cs typeface="Calibri"/>
              <a:sym typeface="Calibri"/>
            </a:endParaRPr>
          </a:p>
          <a:p>
            <a:pPr indent="-127000" lvl="0" marL="127000" marR="0" rtl="0" algn="l">
              <a:spcBef>
                <a:spcPts val="300"/>
              </a:spcBef>
              <a:spcAft>
                <a:spcPts val="0"/>
              </a:spcAft>
              <a:buClr>
                <a:srgbClr val="1C1C1C"/>
              </a:buClr>
              <a:buSzPts val="1050"/>
              <a:buFont typeface="Calibri"/>
              <a:buChar char="•"/>
            </a:pPr>
            <a:r>
              <a:rPr b="0" i="0" lang="en-US" sz="1050" u="none" cap="none" strike="noStrike">
                <a:solidFill>
                  <a:srgbClr val="1C1C1C"/>
                </a:solidFill>
                <a:latin typeface="Calibri"/>
                <a:ea typeface="Calibri"/>
                <a:cs typeface="Calibri"/>
                <a:sym typeface="Calibri"/>
              </a:rPr>
              <a:t>directferries.co.uk and redfunnel.co.uk each appear in around 45–49% of our auctions. Despite this, our position above rate is competitive</a:t>
            </a:r>
            <a:endParaRPr b="0" i="0" sz="1050" u="none" cap="none" strike="noStrike">
              <a:solidFill>
                <a:srgbClr val="000000"/>
              </a:solidFill>
              <a:latin typeface="Calibri"/>
              <a:ea typeface="Calibri"/>
              <a:cs typeface="Calibri"/>
              <a:sym typeface="Calibri"/>
            </a:endParaRPr>
          </a:p>
          <a:p>
            <a:pPr indent="-127000" lvl="0" marL="127000" marR="0" rtl="0" algn="l">
              <a:spcBef>
                <a:spcPts val="300"/>
              </a:spcBef>
              <a:spcAft>
                <a:spcPts val="0"/>
              </a:spcAft>
              <a:buClr>
                <a:srgbClr val="1C1C1C"/>
              </a:buClr>
              <a:buSzPts val="1050"/>
              <a:buFont typeface="Calibri"/>
              <a:buChar char="•"/>
            </a:pPr>
            <a:r>
              <a:rPr b="0" i="0" lang="en-US" sz="1050" u="none" cap="none" strike="noStrike">
                <a:solidFill>
                  <a:srgbClr val="1C1C1C"/>
                </a:solidFill>
                <a:latin typeface="Calibri"/>
                <a:ea typeface="Calibri"/>
                <a:cs typeface="Calibri"/>
                <a:sym typeface="Calibri"/>
              </a:rPr>
              <a:t>openferry.com has established a foothold at 14.74% impression share with 28.6% overlap</a:t>
            </a:r>
            <a:r>
              <a:rPr lang="en-US" sz="1050">
                <a:solidFill>
                  <a:srgbClr val="1C1C1C"/>
                </a:solidFill>
                <a:latin typeface="Calibri"/>
                <a:ea typeface="Calibri"/>
                <a:cs typeface="Calibri"/>
                <a:sym typeface="Calibri"/>
              </a:rPr>
              <a:t>,</a:t>
            </a:r>
            <a:r>
              <a:rPr b="0" i="0" lang="en-US" sz="1050" u="none" cap="none" strike="noStrike">
                <a:solidFill>
                  <a:srgbClr val="1C1C1C"/>
                </a:solidFill>
                <a:latin typeface="Calibri"/>
                <a:ea typeface="Calibri"/>
                <a:cs typeface="Calibri"/>
                <a:sym typeface="Calibri"/>
              </a:rPr>
              <a:t> they are emerging as a third direct ferry competitor worth tracking into FY 2026/27.</a:t>
            </a:r>
            <a:endParaRPr b="0" i="0" sz="1050" u="none" cap="none" strike="noStrike">
              <a:solidFill>
                <a:srgbClr val="000000"/>
              </a:solidFill>
              <a:latin typeface="Calibri"/>
              <a:ea typeface="Calibri"/>
              <a:cs typeface="Calibri"/>
              <a:sym typeface="Calibri"/>
            </a:endParaRPr>
          </a:p>
          <a:p>
            <a:pPr indent="-127000" lvl="0" marL="127000" marR="0" rtl="0" algn="l">
              <a:spcBef>
                <a:spcPts val="300"/>
              </a:spcBef>
              <a:spcAft>
                <a:spcPts val="0"/>
              </a:spcAft>
              <a:buClr>
                <a:srgbClr val="1C1C1C"/>
              </a:buClr>
              <a:buSzPts val="1050"/>
              <a:buFont typeface="Calibri"/>
              <a:buChar char="•"/>
            </a:pPr>
            <a:r>
              <a:rPr b="0" i="0" lang="en-US" sz="1050" u="none" cap="none" strike="noStrike">
                <a:solidFill>
                  <a:srgbClr val="1C1C1C"/>
                </a:solidFill>
                <a:latin typeface="Calibri"/>
                <a:ea typeface="Calibri"/>
                <a:cs typeface="Calibri"/>
                <a:sym typeface="Calibri"/>
              </a:rPr>
              <a:t>booking.com, awayresorts.co.uk, and parkdeanresorts.co.uk all remain below 10% impression share</a:t>
            </a:r>
            <a:r>
              <a:rPr lang="en-US" sz="1050">
                <a:solidFill>
                  <a:srgbClr val="1C1C1C"/>
                </a:solidFill>
                <a:latin typeface="Calibri"/>
                <a:ea typeface="Calibri"/>
                <a:cs typeface="Calibri"/>
                <a:sym typeface="Calibri"/>
              </a:rPr>
              <a:t>,</a:t>
            </a:r>
            <a:r>
              <a:rPr b="0" i="0" lang="en-US" sz="1050" u="none" cap="none" strike="noStrike">
                <a:solidFill>
                  <a:srgbClr val="1C1C1C"/>
                </a:solidFill>
                <a:latin typeface="Calibri"/>
                <a:ea typeface="Calibri"/>
                <a:cs typeface="Calibri"/>
                <a:sym typeface="Calibri"/>
              </a:rPr>
              <a:t> they are present but represent limited competitive pressure at a campaign-wide level.</a:t>
            </a:r>
            <a:endParaRPr b="0" i="0" sz="1050" u="none" cap="none" strike="noStrike">
              <a:solidFill>
                <a:srgbClr val="000000"/>
              </a:solidFill>
              <a:latin typeface="Calibri"/>
              <a:ea typeface="Calibri"/>
              <a:cs typeface="Calibri"/>
              <a:sym typeface="Calibri"/>
            </a:endParaRPr>
          </a:p>
        </p:txBody>
      </p:sp>
      <p:pic>
        <p:nvPicPr>
          <p:cNvPr id="178" name="Google Shape;178;p10"/>
          <p:cNvPicPr preferRelativeResize="0"/>
          <p:nvPr/>
        </p:nvPicPr>
        <p:blipFill>
          <a:blip r:embed="rId3">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3" name="Shape 183"/>
        <p:cNvGrpSpPr/>
        <p:nvPr/>
      </p:nvGrpSpPr>
      <p:grpSpPr>
        <a:xfrm>
          <a:off x="0" y="0"/>
          <a:ext cx="0" cy="0"/>
          <a:chOff x="0" y="0"/>
          <a:chExt cx="0" cy="0"/>
        </a:xfrm>
      </p:grpSpPr>
      <p:sp>
        <p:nvSpPr>
          <p:cNvPr id="184" name="Google Shape;184;p11"/>
          <p:cNvSpPr/>
          <p:nvPr/>
        </p:nvSpPr>
        <p:spPr>
          <a:xfrm>
            <a:off x="0" y="0"/>
            <a:ext cx="9144000" cy="868800"/>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1"/>
          <p:cNvSpPr/>
          <p:nvPr/>
        </p:nvSpPr>
        <p:spPr>
          <a:xfrm>
            <a:off x="320040" y="45720"/>
            <a:ext cx="80466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Competitive Landscape – Red Funnel YoY</a:t>
            </a:r>
            <a:endParaRPr b="0" i="0" sz="2200" u="none" cap="none" strike="noStrike">
              <a:solidFill>
                <a:srgbClr val="000000"/>
              </a:solidFill>
              <a:latin typeface="Calibri"/>
              <a:ea typeface="Calibri"/>
              <a:cs typeface="Calibri"/>
              <a:sym typeface="Calibri"/>
            </a:endParaRPr>
          </a:p>
        </p:txBody>
      </p:sp>
      <p:sp>
        <p:nvSpPr>
          <p:cNvPr id="186" name="Google Shape;186;p11"/>
          <p:cNvSpPr/>
          <p:nvPr/>
        </p:nvSpPr>
        <p:spPr>
          <a:xfrm>
            <a:off x="320040" y="521208"/>
            <a:ext cx="8046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000"/>
              <a:buFont typeface="Calibri"/>
              <a:buNone/>
            </a:pPr>
            <a:r>
              <a:rPr b="0" i="0" lang="en-US" sz="1000" u="none" cap="none" strike="noStrike">
                <a:solidFill>
                  <a:srgbClr val="CCCCCC"/>
                </a:solidFill>
                <a:latin typeface="Calibri"/>
                <a:ea typeface="Calibri"/>
                <a:cs typeface="Calibri"/>
                <a:sym typeface="Calibri"/>
              </a:rPr>
              <a:t>FY 2024/25 vs FY 2025/26  </a:t>
            </a:r>
            <a:endParaRPr b="0" i="0" sz="1000" u="none" cap="none" strike="noStrike">
              <a:solidFill>
                <a:srgbClr val="000000"/>
              </a:solidFill>
              <a:latin typeface="Calibri"/>
              <a:ea typeface="Calibri"/>
              <a:cs typeface="Calibri"/>
              <a:sym typeface="Calibri"/>
            </a:endParaRPr>
          </a:p>
        </p:txBody>
      </p:sp>
      <p:sp>
        <p:nvSpPr>
          <p:cNvPr id="187" name="Google Shape;187;p11"/>
          <p:cNvSpPr/>
          <p:nvPr/>
        </p:nvSpPr>
        <p:spPr>
          <a:xfrm>
            <a:off x="0" y="868680"/>
            <a:ext cx="9144000" cy="366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a:off x="0" y="4910328"/>
            <a:ext cx="9144000" cy="233100"/>
          </a:xfrm>
          <a:prstGeom prst="rect">
            <a:avLst/>
          </a:prstGeom>
          <a:solidFill>
            <a:srgbClr val="1C1C1C"/>
          </a:solidFill>
          <a:ln cap="flat" cmpd="sng" w="12700">
            <a:solidFill>
              <a:srgbClr val="1C1C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1"/>
          <p:cNvSpPr/>
          <p:nvPr/>
        </p:nvSpPr>
        <p:spPr>
          <a:xfrm>
            <a:off x="320040" y="4919472"/>
            <a:ext cx="85038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00"/>
              <a:buFont typeface="Calibri"/>
              <a:buNone/>
            </a:pPr>
            <a:r>
              <a:rPr b="0" i="0" lang="en-US" sz="800" u="none" cap="none" strike="noStrike">
                <a:solidFill>
                  <a:srgbClr val="888888"/>
                </a:solidFill>
                <a:latin typeface="Calibri"/>
                <a:ea typeface="Calibri"/>
                <a:cs typeface="Calibri"/>
                <a:sym typeface="Calibri"/>
              </a:rPr>
              <a:t>FY 2025/26  |  Wightlink  |  Confidential</a:t>
            </a:r>
            <a:endParaRPr b="0" i="0" sz="800" u="none" cap="none" strike="noStrike">
              <a:solidFill>
                <a:srgbClr val="000000"/>
              </a:solidFill>
              <a:latin typeface="Calibri"/>
              <a:ea typeface="Calibri"/>
              <a:cs typeface="Calibri"/>
              <a:sym typeface="Calibri"/>
            </a:endParaRPr>
          </a:p>
        </p:txBody>
      </p:sp>
      <p:sp>
        <p:nvSpPr>
          <p:cNvPr id="190" name="Google Shape;190;p11"/>
          <p:cNvSpPr/>
          <p:nvPr/>
        </p:nvSpPr>
        <p:spPr>
          <a:xfrm>
            <a:off x="320040" y="969264"/>
            <a:ext cx="8503800" cy="402300"/>
          </a:xfrm>
          <a:prstGeom prst="rect">
            <a:avLst/>
          </a:prstGeom>
          <a:solidFill>
            <a:schemeClr val="lt2"/>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a:off x="475488" y="969264"/>
            <a:ext cx="8229600" cy="402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5000"/>
              </a:buClr>
              <a:buSzPts val="950"/>
              <a:buFont typeface="Calibri"/>
              <a:buNone/>
            </a:pPr>
            <a:r>
              <a:rPr b="1" i="0" lang="en-US" sz="950" u="none" cap="none" strike="noStrike">
                <a:solidFill>
                  <a:schemeClr val="dk1"/>
                </a:solidFill>
                <a:latin typeface="Calibri"/>
                <a:ea typeface="Calibri"/>
                <a:cs typeface="Calibri"/>
                <a:sym typeface="Calibri"/>
              </a:rPr>
              <a:t>Red Funnel's overlap </a:t>
            </a:r>
            <a:r>
              <a:rPr b="1" lang="en-US" sz="950">
                <a:solidFill>
                  <a:schemeClr val="dk1"/>
                </a:solidFill>
                <a:latin typeface="Calibri"/>
                <a:ea typeface="Calibri"/>
                <a:cs typeface="Calibri"/>
                <a:sym typeface="Calibri"/>
              </a:rPr>
              <a:t>increased</a:t>
            </a:r>
            <a:r>
              <a:rPr b="1" i="0" lang="en-US" sz="950" u="none" cap="none" strike="noStrike">
                <a:solidFill>
                  <a:schemeClr val="dk1"/>
                </a:solidFill>
                <a:latin typeface="Calibri"/>
                <a:ea typeface="Calibri"/>
                <a:cs typeface="Calibri"/>
                <a:sym typeface="Calibri"/>
              </a:rPr>
              <a:t> +12.8pp to 44.85% in FY 2025/26 </a:t>
            </a:r>
            <a:r>
              <a:rPr b="1" lang="en-US" sz="950">
                <a:solidFill>
                  <a:schemeClr val="dk1"/>
                </a:solidFill>
                <a:latin typeface="Calibri"/>
                <a:ea typeface="Calibri"/>
                <a:cs typeface="Calibri"/>
                <a:sym typeface="Calibri"/>
              </a:rPr>
              <a:t>- </a:t>
            </a:r>
            <a:r>
              <a:rPr b="1" i="0" lang="en-US" sz="950" u="none" cap="none" strike="noStrike">
                <a:solidFill>
                  <a:schemeClr val="dk1"/>
                </a:solidFill>
                <a:latin typeface="Calibri"/>
                <a:ea typeface="Calibri"/>
                <a:cs typeface="Calibri"/>
                <a:sym typeface="Calibri"/>
              </a:rPr>
              <a:t>they are entering far more of our generic auctions, though quality metrics are weakening.</a:t>
            </a:r>
            <a:endParaRPr b="0" i="0" sz="950" u="none" cap="none" strike="noStrike">
              <a:solidFill>
                <a:schemeClr val="dk1"/>
              </a:solidFill>
              <a:latin typeface="Calibri"/>
              <a:ea typeface="Calibri"/>
              <a:cs typeface="Calibri"/>
              <a:sym typeface="Calibri"/>
            </a:endParaRPr>
          </a:p>
        </p:txBody>
      </p:sp>
      <p:graphicFrame>
        <p:nvGraphicFramePr>
          <p:cNvPr id="192" name="Google Shape;192;p11"/>
          <p:cNvGraphicFramePr/>
          <p:nvPr/>
        </p:nvGraphicFramePr>
        <p:xfrm>
          <a:off x="320040" y="1444752"/>
          <a:ext cx="3000000" cy="3000000"/>
        </p:xfrm>
        <a:graphic>
          <a:graphicData uri="http://schemas.openxmlformats.org/drawingml/2006/table">
            <a:tbl>
              <a:tblPr>
                <a:noFill/>
                <a:tableStyleId>{A518D24D-EAA6-41D1-AC2E-21A0FAADA655}</a:tableStyleId>
              </a:tblPr>
              <a:tblGrid>
                <a:gridCol w="1828800"/>
                <a:gridCol w="1097275"/>
                <a:gridCol w="1097275"/>
                <a:gridCol w="1005850"/>
                <a:gridCol w="3474725"/>
              </a:tblGrid>
              <a:tr h="329175">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Metric</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FY 2024/25</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FY 2025/26</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Change</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What it means</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r>
              <a:tr h="32917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Impression Share</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555555"/>
                        </a:buClr>
                        <a:buSzPts val="900"/>
                        <a:buFont typeface="Calibri"/>
                        <a:buNone/>
                      </a:pPr>
                      <a:r>
                        <a:rPr lang="en-US" sz="900" u="none" cap="none" strike="noStrike">
                          <a:solidFill>
                            <a:srgbClr val="555555"/>
                          </a:solidFill>
                          <a:latin typeface="Calibri"/>
                          <a:ea typeface="Calibri"/>
                          <a:cs typeface="Calibri"/>
                          <a:sym typeface="Calibri"/>
                        </a:rPr>
                        <a:t>24.25%</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C1C1C"/>
                        </a:buClr>
                        <a:buSzPts val="900"/>
                        <a:buFont typeface="Calibri"/>
                        <a:buNone/>
                      </a:pPr>
                      <a:r>
                        <a:rPr b="1" lang="en-US" sz="900" u="none" cap="none" strike="noStrike">
                          <a:solidFill>
                            <a:srgbClr val="1C1C1C"/>
                          </a:solidFill>
                          <a:latin typeface="Calibri"/>
                          <a:ea typeface="Calibri"/>
                          <a:cs typeface="Calibri"/>
                          <a:sym typeface="Calibri"/>
                        </a:rPr>
                        <a:t>26.48%</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B7760D"/>
                        </a:buClr>
                        <a:buSzPts val="900"/>
                        <a:buFont typeface="Calibri"/>
                        <a:buNone/>
                      </a:pPr>
                      <a:r>
                        <a:rPr b="1" lang="en-US" sz="900" u="none" cap="none" strike="noStrike">
                          <a:solidFill>
                            <a:srgbClr val="B7760D"/>
                          </a:solidFill>
                          <a:latin typeface="Calibri"/>
                          <a:ea typeface="Calibri"/>
                          <a:cs typeface="Calibri"/>
                          <a:sym typeface="Calibri"/>
                        </a:rPr>
                        <a:t>+2.2pp</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888888"/>
                        </a:buClr>
                        <a:buSzPts val="850"/>
                        <a:buFont typeface="Calibri"/>
                        <a:buNone/>
                      </a:pPr>
                      <a:r>
                        <a:rPr lang="en-US" sz="850" u="none" cap="none" strike="noStrike">
                          <a:solidFill>
                            <a:schemeClr val="dk1"/>
                          </a:solidFill>
                          <a:latin typeface="Calibri"/>
                          <a:ea typeface="Calibri"/>
                          <a:cs typeface="Calibri"/>
                          <a:sym typeface="Calibri"/>
                        </a:rPr>
                        <a:t>Modest increase</a:t>
                      </a:r>
                      <a:endParaRPr sz="850" u="none" cap="none" strike="noStrike">
                        <a:solidFill>
                          <a:schemeClr val="dk1"/>
                        </a:solidFill>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32917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Overlap Rate</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rgbClr val="555555"/>
                        </a:buClr>
                        <a:buSzPts val="900"/>
                        <a:buFont typeface="Calibri"/>
                        <a:buNone/>
                      </a:pPr>
                      <a:r>
                        <a:rPr lang="en-US" sz="900" u="none" cap="none" strike="noStrike">
                          <a:solidFill>
                            <a:srgbClr val="555555"/>
                          </a:solidFill>
                          <a:latin typeface="Calibri"/>
                          <a:ea typeface="Calibri"/>
                          <a:cs typeface="Calibri"/>
                          <a:sym typeface="Calibri"/>
                        </a:rPr>
                        <a:t>32.04%</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rgbClr val="1C1C1C"/>
                        </a:buClr>
                        <a:buSzPts val="900"/>
                        <a:buFont typeface="Calibri"/>
                        <a:buNone/>
                      </a:pPr>
                      <a:r>
                        <a:rPr b="1" lang="en-US" sz="900" u="none" cap="none" strike="noStrike">
                          <a:solidFill>
                            <a:srgbClr val="1C1C1C"/>
                          </a:solidFill>
                          <a:latin typeface="Calibri"/>
                          <a:ea typeface="Calibri"/>
                          <a:cs typeface="Calibri"/>
                          <a:sym typeface="Calibri"/>
                        </a:rPr>
                        <a:t>44.85%</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rgbClr val="C0392B"/>
                        </a:buClr>
                        <a:buSzPts val="900"/>
                        <a:buFont typeface="Calibri"/>
                        <a:buNone/>
                      </a:pPr>
                      <a:r>
                        <a:rPr b="1" lang="en-US" sz="900" u="none" cap="none" strike="noStrike">
                          <a:solidFill>
                            <a:srgbClr val="C0392B"/>
                          </a:solidFill>
                          <a:latin typeface="Calibri"/>
                          <a:ea typeface="Calibri"/>
                          <a:cs typeface="Calibri"/>
                          <a:sym typeface="Calibri"/>
                        </a:rPr>
                        <a:t>+12.8pp</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l">
                        <a:spcBef>
                          <a:spcPts val="0"/>
                        </a:spcBef>
                        <a:spcAft>
                          <a:spcPts val="0"/>
                        </a:spcAft>
                        <a:buClr>
                          <a:srgbClr val="888888"/>
                        </a:buClr>
                        <a:buSzPts val="850"/>
                        <a:buFont typeface="Calibri"/>
                        <a:buNone/>
                      </a:pPr>
                      <a:r>
                        <a:rPr lang="en-US" sz="850" u="none" cap="none" strike="noStrike">
                          <a:solidFill>
                            <a:schemeClr val="dk1"/>
                          </a:solidFill>
                          <a:latin typeface="Calibri"/>
                          <a:ea typeface="Calibri"/>
                          <a:cs typeface="Calibri"/>
                          <a:sym typeface="Calibri"/>
                        </a:rPr>
                        <a:t>Present in nearly 45% of our generic auctions</a:t>
                      </a:r>
                      <a:endParaRPr sz="850" u="none" cap="none" strike="noStrike">
                        <a:solidFill>
                          <a:schemeClr val="dk1"/>
                        </a:solidFill>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r>
              <a:tr h="32917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Position Above Rate</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555555"/>
                        </a:buClr>
                        <a:buSzPts val="900"/>
                        <a:buFont typeface="Calibri"/>
                        <a:buNone/>
                      </a:pPr>
                      <a:r>
                        <a:rPr lang="en-US" sz="900" u="none" cap="none" strike="noStrike">
                          <a:solidFill>
                            <a:srgbClr val="555555"/>
                          </a:solidFill>
                          <a:latin typeface="Calibri"/>
                          <a:ea typeface="Calibri"/>
                          <a:cs typeface="Calibri"/>
                          <a:sym typeface="Calibri"/>
                        </a:rPr>
                        <a:t>49.30%</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C1C1C"/>
                        </a:buClr>
                        <a:buSzPts val="900"/>
                        <a:buFont typeface="Calibri"/>
                        <a:buNone/>
                      </a:pPr>
                      <a:r>
                        <a:rPr b="1" lang="en-US" sz="900" u="none" cap="none" strike="noStrike">
                          <a:solidFill>
                            <a:srgbClr val="1C1C1C"/>
                          </a:solidFill>
                          <a:latin typeface="Calibri"/>
                          <a:ea typeface="Calibri"/>
                          <a:cs typeface="Calibri"/>
                          <a:sym typeface="Calibri"/>
                        </a:rPr>
                        <a:t>46.40%</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7A4A"/>
                        </a:buClr>
                        <a:buSzPts val="900"/>
                        <a:buFont typeface="Calibri"/>
                        <a:buNone/>
                      </a:pPr>
                      <a:r>
                        <a:rPr b="1" lang="en-US" sz="900" u="none" cap="none" strike="noStrike">
                          <a:solidFill>
                            <a:srgbClr val="1A7A4A"/>
                          </a:solidFill>
                          <a:latin typeface="Calibri"/>
                          <a:ea typeface="Calibri"/>
                          <a:cs typeface="Calibri"/>
                          <a:sym typeface="Calibri"/>
                        </a:rPr>
                        <a:t>-2.9pp</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888888"/>
                        </a:buClr>
                        <a:buSzPts val="850"/>
                        <a:buFont typeface="Calibri"/>
                        <a:buNone/>
                      </a:pPr>
                      <a:r>
                        <a:rPr lang="en-US" sz="850" u="none" cap="none" strike="noStrike">
                          <a:solidFill>
                            <a:schemeClr val="dk1"/>
                          </a:solidFill>
                          <a:latin typeface="Calibri"/>
                          <a:ea typeface="Calibri"/>
                          <a:cs typeface="Calibri"/>
                          <a:sym typeface="Calibri"/>
                        </a:rPr>
                        <a:t>We beat them on position slightly more often</a:t>
                      </a:r>
                      <a:endParaRPr sz="850" u="none" cap="none" strike="noStrike">
                        <a:solidFill>
                          <a:schemeClr val="dk1"/>
                        </a:solidFill>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32917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Top of Page Rate</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rgbClr val="555555"/>
                        </a:buClr>
                        <a:buSzPts val="900"/>
                        <a:buFont typeface="Calibri"/>
                        <a:buNone/>
                      </a:pPr>
                      <a:r>
                        <a:rPr lang="en-US" sz="900" u="none" cap="none" strike="noStrike">
                          <a:solidFill>
                            <a:srgbClr val="555555"/>
                          </a:solidFill>
                          <a:latin typeface="Calibri"/>
                          <a:ea typeface="Calibri"/>
                          <a:cs typeface="Calibri"/>
                          <a:sym typeface="Calibri"/>
                        </a:rPr>
                        <a:t>90.02%</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rgbClr val="1C1C1C"/>
                        </a:buClr>
                        <a:buSzPts val="900"/>
                        <a:buFont typeface="Calibri"/>
                        <a:buNone/>
                      </a:pPr>
                      <a:r>
                        <a:rPr b="1" lang="en-US" sz="900" u="none" cap="none" strike="noStrike">
                          <a:solidFill>
                            <a:srgbClr val="1C1C1C"/>
                          </a:solidFill>
                          <a:latin typeface="Calibri"/>
                          <a:ea typeface="Calibri"/>
                          <a:cs typeface="Calibri"/>
                          <a:sym typeface="Calibri"/>
                        </a:rPr>
                        <a:t>87.63%</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rgbClr val="1C1C1C"/>
                        </a:buClr>
                        <a:buSzPts val="900"/>
                        <a:buFont typeface="Calibri"/>
                        <a:buNone/>
                      </a:pPr>
                      <a:r>
                        <a:rPr b="1" lang="en-US" sz="900" u="none" cap="none" strike="noStrike">
                          <a:solidFill>
                            <a:srgbClr val="1C1C1C"/>
                          </a:solidFill>
                          <a:latin typeface="Calibri"/>
                          <a:ea typeface="Calibri"/>
                          <a:cs typeface="Calibri"/>
                          <a:sym typeface="Calibri"/>
                        </a:rPr>
                        <a:t>-2.4pp</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l">
                        <a:spcBef>
                          <a:spcPts val="0"/>
                        </a:spcBef>
                        <a:spcAft>
                          <a:spcPts val="0"/>
                        </a:spcAft>
                        <a:buClr>
                          <a:srgbClr val="888888"/>
                        </a:buClr>
                        <a:buSzPts val="850"/>
                        <a:buFont typeface="Calibri"/>
                        <a:buNone/>
                      </a:pPr>
                      <a:r>
                        <a:rPr lang="en-US" sz="850" u="none" cap="none" strike="noStrike">
                          <a:solidFill>
                            <a:schemeClr val="dk1"/>
                          </a:solidFill>
                          <a:latin typeface="Calibri"/>
                          <a:ea typeface="Calibri"/>
                          <a:cs typeface="Calibri"/>
                          <a:sym typeface="Calibri"/>
                        </a:rPr>
                        <a:t>Appearing at top slightly less</a:t>
                      </a:r>
                      <a:endParaRPr sz="850" u="none" cap="none" strike="noStrike">
                        <a:solidFill>
                          <a:schemeClr val="dk1"/>
                        </a:solidFill>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r>
              <a:tr h="32917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Abs. Top of Page Rate</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555555"/>
                        </a:buClr>
                        <a:buSzPts val="900"/>
                        <a:buFont typeface="Calibri"/>
                        <a:buNone/>
                      </a:pPr>
                      <a:r>
                        <a:rPr lang="en-US" sz="900" u="none" cap="none" strike="noStrike">
                          <a:solidFill>
                            <a:srgbClr val="555555"/>
                          </a:solidFill>
                          <a:latin typeface="Calibri"/>
                          <a:ea typeface="Calibri"/>
                          <a:cs typeface="Calibri"/>
                          <a:sym typeface="Calibri"/>
                        </a:rPr>
                        <a:t>40.48%</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C1C1C"/>
                        </a:buClr>
                        <a:buSzPts val="900"/>
                        <a:buFont typeface="Calibri"/>
                        <a:buNone/>
                      </a:pPr>
                      <a:r>
                        <a:rPr b="1" lang="en-US" sz="900" u="none" cap="none" strike="noStrike">
                          <a:solidFill>
                            <a:srgbClr val="1C1C1C"/>
                          </a:solidFill>
                          <a:latin typeface="Calibri"/>
                          <a:ea typeface="Calibri"/>
                          <a:cs typeface="Calibri"/>
                          <a:sym typeface="Calibri"/>
                        </a:rPr>
                        <a:t>36.68%</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7A4A"/>
                        </a:buClr>
                        <a:buSzPts val="900"/>
                        <a:buFont typeface="Calibri"/>
                        <a:buNone/>
                      </a:pPr>
                      <a:r>
                        <a:rPr b="1" lang="en-US" sz="900" u="none" cap="none" strike="noStrike">
                          <a:solidFill>
                            <a:srgbClr val="1A7A4A"/>
                          </a:solidFill>
                          <a:latin typeface="Calibri"/>
                          <a:ea typeface="Calibri"/>
                          <a:cs typeface="Calibri"/>
                          <a:sym typeface="Calibri"/>
                        </a:rPr>
                        <a:t>-3.8pp</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888888"/>
                        </a:buClr>
                        <a:buSzPts val="850"/>
                        <a:buFont typeface="Calibri"/>
                        <a:buNone/>
                      </a:pPr>
                      <a:r>
                        <a:rPr lang="en-US" sz="850" u="none" cap="none" strike="noStrike">
                          <a:solidFill>
                            <a:schemeClr val="dk1"/>
                          </a:solidFill>
                          <a:latin typeface="Calibri"/>
                          <a:ea typeface="Calibri"/>
                          <a:cs typeface="Calibri"/>
                          <a:sym typeface="Calibri"/>
                        </a:rPr>
                        <a:t>Fewer absolute #1 positions on generic terms</a:t>
                      </a:r>
                      <a:endParaRPr sz="850" u="none" cap="none" strike="noStrike">
                        <a:solidFill>
                          <a:schemeClr val="dk1"/>
                        </a:solidFill>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32917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Outranking Share</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rgbClr val="555555"/>
                        </a:buClr>
                        <a:buSzPts val="900"/>
                        <a:buFont typeface="Calibri"/>
                        <a:buNone/>
                      </a:pPr>
                      <a:r>
                        <a:rPr lang="en-US" sz="900" u="none" cap="none" strike="noStrike">
                          <a:solidFill>
                            <a:srgbClr val="555555"/>
                          </a:solidFill>
                          <a:latin typeface="Calibri"/>
                          <a:ea typeface="Calibri"/>
                          <a:cs typeface="Calibri"/>
                          <a:sym typeface="Calibri"/>
                        </a:rPr>
                        <a:t>38.34%</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rgbClr val="1C1C1C"/>
                        </a:buClr>
                        <a:buSzPts val="900"/>
                        <a:buFont typeface="Calibri"/>
                        <a:buNone/>
                      </a:pPr>
                      <a:r>
                        <a:rPr b="1" lang="en-US" sz="900" u="none" cap="none" strike="noStrike">
                          <a:solidFill>
                            <a:srgbClr val="1C1C1C"/>
                          </a:solidFill>
                          <a:latin typeface="Calibri"/>
                          <a:ea typeface="Calibri"/>
                          <a:cs typeface="Calibri"/>
                          <a:sym typeface="Calibri"/>
                        </a:rPr>
                        <a:t>30.13%</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ctr">
                        <a:spcBef>
                          <a:spcPts val="0"/>
                        </a:spcBef>
                        <a:spcAft>
                          <a:spcPts val="0"/>
                        </a:spcAft>
                        <a:buClr>
                          <a:srgbClr val="1A7A4A"/>
                        </a:buClr>
                        <a:buSzPts val="900"/>
                        <a:buFont typeface="Calibri"/>
                        <a:buNone/>
                      </a:pPr>
                      <a:r>
                        <a:rPr b="1" lang="en-US" sz="900" u="none" cap="none" strike="noStrike">
                          <a:solidFill>
                            <a:srgbClr val="1A7A4A"/>
                          </a:solidFill>
                          <a:latin typeface="Calibri"/>
                          <a:ea typeface="Calibri"/>
                          <a:cs typeface="Calibri"/>
                          <a:sym typeface="Calibri"/>
                        </a:rPr>
                        <a:t>-8.2pp</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l">
                        <a:spcBef>
                          <a:spcPts val="0"/>
                        </a:spcBef>
                        <a:spcAft>
                          <a:spcPts val="0"/>
                        </a:spcAft>
                        <a:buClr>
                          <a:srgbClr val="888888"/>
                        </a:buClr>
                        <a:buSzPts val="850"/>
                        <a:buFont typeface="Calibri"/>
                        <a:buNone/>
                      </a:pPr>
                      <a:r>
                        <a:rPr lang="en-US" sz="850" u="none" cap="none" strike="noStrike">
                          <a:solidFill>
                            <a:schemeClr val="dk1"/>
                          </a:solidFill>
                          <a:latin typeface="Calibri"/>
                          <a:ea typeface="Calibri"/>
                          <a:cs typeface="Calibri"/>
                          <a:sym typeface="Calibri"/>
                        </a:rPr>
                        <a:t>We outrank them significantly more than a year ago</a:t>
                      </a:r>
                      <a:endParaRPr sz="850" u="none" cap="none" strike="noStrike">
                        <a:solidFill>
                          <a:schemeClr val="dk1"/>
                        </a:solidFill>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r>
            </a:tbl>
          </a:graphicData>
        </a:graphic>
      </p:graphicFrame>
      <p:sp>
        <p:nvSpPr>
          <p:cNvPr id="193" name="Google Shape;193;p11"/>
          <p:cNvSpPr/>
          <p:nvPr/>
        </p:nvSpPr>
        <p:spPr>
          <a:xfrm>
            <a:off x="320040" y="3822192"/>
            <a:ext cx="8503800" cy="237600"/>
          </a:xfrm>
          <a:prstGeom prst="rect">
            <a:avLst/>
          </a:prstGeom>
          <a:solidFill>
            <a:srgbClr val="F0F4F8"/>
          </a:solidFill>
          <a:ln cap="flat" cmpd="sng" w="12700">
            <a:solidFill>
              <a:srgbClr val="D0D8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1"/>
          <p:cNvSpPr/>
          <p:nvPr/>
        </p:nvSpPr>
        <p:spPr>
          <a:xfrm>
            <a:off x="457200" y="3822192"/>
            <a:ext cx="16002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121"/>
              </a:buClr>
              <a:buSzPts val="850"/>
              <a:buFont typeface="Calibri"/>
              <a:buNone/>
            </a:pPr>
            <a:r>
              <a:rPr b="1" i="0" lang="en-US" sz="850" u="none" cap="none" strike="noStrike">
                <a:solidFill>
                  <a:srgbClr val="212121"/>
                </a:solidFill>
                <a:latin typeface="Calibri"/>
                <a:ea typeface="Calibri"/>
                <a:cs typeface="Calibri"/>
                <a:sym typeface="Calibri"/>
              </a:rPr>
              <a:t>Wightlink (Generic):</a:t>
            </a:r>
            <a:endParaRPr b="0" i="0" sz="850" u="none" cap="none" strike="noStrike">
              <a:solidFill>
                <a:srgbClr val="000000"/>
              </a:solidFill>
              <a:latin typeface="Calibri"/>
              <a:ea typeface="Calibri"/>
              <a:cs typeface="Calibri"/>
              <a:sym typeface="Calibri"/>
            </a:endParaRPr>
          </a:p>
        </p:txBody>
      </p:sp>
      <p:sp>
        <p:nvSpPr>
          <p:cNvPr id="195" name="Google Shape;195;p11"/>
          <p:cNvSpPr/>
          <p:nvPr/>
        </p:nvSpPr>
        <p:spPr>
          <a:xfrm>
            <a:off x="1920240" y="3822192"/>
            <a:ext cx="68580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Imp. share FY25: 45.53%  →  FY26: 38.05% (-7.5pp)  |  Top of page: 93.27% → 89.84%  |  Abs. top: 56.80% → 50.62%</a:t>
            </a:r>
            <a:endParaRPr b="0" i="0" sz="850" u="none" cap="none" strike="noStrike">
              <a:solidFill>
                <a:srgbClr val="000000"/>
              </a:solidFill>
              <a:latin typeface="Calibri"/>
              <a:ea typeface="Calibri"/>
              <a:cs typeface="Calibri"/>
              <a:sym typeface="Calibri"/>
            </a:endParaRPr>
          </a:p>
        </p:txBody>
      </p:sp>
      <p:sp>
        <p:nvSpPr>
          <p:cNvPr id="196" name="Google Shape;196;p11"/>
          <p:cNvSpPr/>
          <p:nvPr/>
        </p:nvSpPr>
        <p:spPr>
          <a:xfrm>
            <a:off x="320040" y="4133088"/>
            <a:ext cx="8503800" cy="685800"/>
          </a:xfrm>
          <a:prstGeom prst="rect">
            <a:avLst/>
          </a:prstGeom>
          <a:noFill/>
          <a:ln>
            <a:noFill/>
          </a:ln>
        </p:spPr>
        <p:txBody>
          <a:bodyPr anchorCtr="0" anchor="t" bIns="45700" lIns="91425" spcFirstLastPara="1" rIns="91425" wrap="square" tIns="45700">
            <a:noAutofit/>
          </a:bodyPr>
          <a:lstStyle/>
          <a:p>
            <a:pPr indent="-127000" lvl="0" marL="127000" marR="0" rtl="0" algn="l">
              <a:spcBef>
                <a:spcPts val="0"/>
              </a:spcBef>
              <a:spcAft>
                <a:spcPts val="0"/>
              </a:spcAft>
              <a:buClr>
                <a:srgbClr val="1C1C1C"/>
              </a:buClr>
              <a:buSzPts val="1050"/>
              <a:buFont typeface="Calibri"/>
              <a:buChar char="•"/>
            </a:pPr>
            <a:r>
              <a:rPr b="0" i="0" lang="en-US" sz="1050" u="none" cap="none" strike="noStrike">
                <a:solidFill>
                  <a:srgbClr val="1C1C1C"/>
                </a:solidFill>
                <a:latin typeface="Calibri"/>
                <a:ea typeface="Calibri"/>
                <a:cs typeface="Calibri"/>
                <a:sym typeface="Calibri"/>
              </a:rPr>
              <a:t>Red Funnel's generic overlap</a:t>
            </a:r>
            <a:r>
              <a:rPr lang="en-US" sz="1050">
                <a:solidFill>
                  <a:srgbClr val="1C1C1C"/>
                </a:solidFill>
                <a:latin typeface="Calibri"/>
                <a:ea typeface="Calibri"/>
                <a:cs typeface="Calibri"/>
                <a:sym typeface="Calibri"/>
              </a:rPr>
              <a:t> increased </a:t>
            </a:r>
            <a:r>
              <a:rPr b="0" i="0" lang="en-US" sz="1050" u="none" cap="none" strike="noStrike">
                <a:solidFill>
                  <a:srgbClr val="1C1C1C"/>
                </a:solidFill>
                <a:latin typeface="Calibri"/>
                <a:ea typeface="Calibri"/>
                <a:cs typeface="Calibri"/>
                <a:sym typeface="Calibri"/>
              </a:rPr>
              <a:t>+12.8pp </a:t>
            </a:r>
            <a:r>
              <a:rPr lang="en-US" sz="1050">
                <a:solidFill>
                  <a:srgbClr val="1C1C1C"/>
                </a:solidFill>
                <a:latin typeface="Calibri"/>
                <a:ea typeface="Calibri"/>
                <a:cs typeface="Calibri"/>
                <a:sym typeface="Calibri"/>
              </a:rPr>
              <a:t>suggesting increased investment.</a:t>
            </a:r>
            <a:r>
              <a:rPr b="0" i="0" lang="en-US" sz="1050" u="none" cap="none" strike="noStrike">
                <a:solidFill>
                  <a:srgbClr val="1C1C1C"/>
                </a:solidFill>
                <a:latin typeface="Calibri"/>
                <a:ea typeface="Calibri"/>
                <a:cs typeface="Calibri"/>
                <a:sym typeface="Calibri"/>
              </a:rPr>
              <a:t> Despite the growing overlap, their quality metrics are falling: Abs. Top Rate -3.8pp, and our outranking share improved -8.2pp. Higher spend is not translating into better positions.</a:t>
            </a:r>
            <a:endParaRPr b="0" i="0" sz="1050" u="none" cap="none" strike="noStrike">
              <a:solidFill>
                <a:srgbClr val="000000"/>
              </a:solidFill>
              <a:latin typeface="Calibri"/>
              <a:ea typeface="Calibri"/>
              <a:cs typeface="Calibri"/>
              <a:sym typeface="Calibri"/>
            </a:endParaRPr>
          </a:p>
          <a:p>
            <a:pPr indent="-127000" lvl="0" marL="127000" marR="0" rtl="0" algn="l">
              <a:spcBef>
                <a:spcPts val="300"/>
              </a:spcBef>
              <a:spcAft>
                <a:spcPts val="0"/>
              </a:spcAft>
              <a:buClr>
                <a:srgbClr val="1C1C1C"/>
              </a:buClr>
              <a:buSzPts val="1050"/>
              <a:buFont typeface="Calibri"/>
              <a:buChar char="•"/>
            </a:pPr>
            <a:r>
              <a:rPr lang="en-US" sz="1050">
                <a:solidFill>
                  <a:srgbClr val="1C1C1C"/>
                </a:solidFill>
                <a:latin typeface="Calibri"/>
                <a:ea typeface="Calibri"/>
                <a:cs typeface="Calibri"/>
                <a:sym typeface="Calibri"/>
              </a:rPr>
              <a:t>Importantly</a:t>
            </a:r>
            <a:r>
              <a:rPr lang="en-US" sz="1050">
                <a:solidFill>
                  <a:srgbClr val="1C1C1C"/>
                </a:solidFill>
                <a:latin typeface="Calibri"/>
                <a:ea typeface="Calibri"/>
                <a:cs typeface="Calibri"/>
                <a:sym typeface="Calibri"/>
              </a:rPr>
              <a:t> our outranking share increased YoY</a:t>
            </a:r>
            <a:endParaRPr b="0" i="0" sz="1050" u="none" cap="none" strike="noStrike">
              <a:solidFill>
                <a:srgbClr val="000000"/>
              </a:solidFill>
              <a:latin typeface="Calibri"/>
              <a:ea typeface="Calibri"/>
              <a:cs typeface="Calibri"/>
              <a:sym typeface="Calibri"/>
            </a:endParaRPr>
          </a:p>
        </p:txBody>
      </p:sp>
      <p:pic>
        <p:nvPicPr>
          <p:cNvPr id="197" name="Google Shape;197;p11"/>
          <p:cNvPicPr preferRelativeResize="0"/>
          <p:nvPr/>
        </p:nvPicPr>
        <p:blipFill>
          <a:blip r:embed="rId3">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2" name="Shape 202"/>
        <p:cNvGrpSpPr/>
        <p:nvPr/>
      </p:nvGrpSpPr>
      <p:grpSpPr>
        <a:xfrm>
          <a:off x="0" y="0"/>
          <a:ext cx="0" cy="0"/>
          <a:chOff x="0" y="0"/>
          <a:chExt cx="0" cy="0"/>
        </a:xfrm>
      </p:grpSpPr>
      <p:pic>
        <p:nvPicPr>
          <p:cNvPr id="203" name="Google Shape;203;p12" title="Screenshot 2026-04-29 115003.png"/>
          <p:cNvPicPr preferRelativeResize="0"/>
          <p:nvPr/>
        </p:nvPicPr>
        <p:blipFill>
          <a:blip r:embed="rId3">
            <a:alphaModFix/>
          </a:blip>
          <a:stretch>
            <a:fillRect/>
          </a:stretch>
        </p:blipFill>
        <p:spPr>
          <a:xfrm>
            <a:off x="110225" y="978550"/>
            <a:ext cx="2029500" cy="1711267"/>
          </a:xfrm>
          <a:prstGeom prst="rect">
            <a:avLst/>
          </a:prstGeom>
          <a:noFill/>
          <a:ln>
            <a:noFill/>
          </a:ln>
        </p:spPr>
      </p:pic>
      <p:sp>
        <p:nvSpPr>
          <p:cNvPr id="204" name="Google Shape;204;p12"/>
          <p:cNvSpPr/>
          <p:nvPr/>
        </p:nvSpPr>
        <p:spPr>
          <a:xfrm>
            <a:off x="0" y="0"/>
            <a:ext cx="9144000" cy="868800"/>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2"/>
          <p:cNvSpPr/>
          <p:nvPr/>
        </p:nvSpPr>
        <p:spPr>
          <a:xfrm>
            <a:off x="320040" y="45720"/>
            <a:ext cx="80466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Competitive Landscape – Red Funnel </a:t>
            </a:r>
            <a:r>
              <a:rPr b="1" lang="en-US" sz="2200">
                <a:solidFill>
                  <a:srgbClr val="FFFFFF"/>
                </a:solidFill>
                <a:latin typeface="Calibri"/>
                <a:ea typeface="Calibri"/>
                <a:cs typeface="Calibri"/>
                <a:sym typeface="Calibri"/>
              </a:rPr>
              <a:t>Ad Creatives</a:t>
            </a:r>
            <a:endParaRPr b="0" i="0" sz="2200" u="none" cap="none" strike="noStrike">
              <a:solidFill>
                <a:srgbClr val="000000"/>
              </a:solidFill>
              <a:latin typeface="Calibri"/>
              <a:ea typeface="Calibri"/>
              <a:cs typeface="Calibri"/>
              <a:sym typeface="Calibri"/>
            </a:endParaRPr>
          </a:p>
        </p:txBody>
      </p:sp>
      <p:sp>
        <p:nvSpPr>
          <p:cNvPr id="206" name="Google Shape;206;p12"/>
          <p:cNvSpPr/>
          <p:nvPr/>
        </p:nvSpPr>
        <p:spPr>
          <a:xfrm>
            <a:off x="320040" y="521208"/>
            <a:ext cx="8046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207" name="Google Shape;207;p12"/>
          <p:cNvSpPr/>
          <p:nvPr/>
        </p:nvSpPr>
        <p:spPr>
          <a:xfrm>
            <a:off x="0" y="868680"/>
            <a:ext cx="9144000" cy="366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2"/>
          <p:cNvSpPr/>
          <p:nvPr/>
        </p:nvSpPr>
        <p:spPr>
          <a:xfrm>
            <a:off x="0" y="4910328"/>
            <a:ext cx="9144000" cy="233100"/>
          </a:xfrm>
          <a:prstGeom prst="rect">
            <a:avLst/>
          </a:prstGeom>
          <a:solidFill>
            <a:srgbClr val="1C1C1C"/>
          </a:solidFill>
          <a:ln cap="flat" cmpd="sng" w="12700">
            <a:solidFill>
              <a:srgbClr val="1C1C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2"/>
          <p:cNvSpPr/>
          <p:nvPr/>
        </p:nvSpPr>
        <p:spPr>
          <a:xfrm>
            <a:off x="320040" y="4919472"/>
            <a:ext cx="85038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00"/>
              <a:buFont typeface="Calibri"/>
              <a:buNone/>
            </a:pPr>
            <a:r>
              <a:rPr b="0" i="0" lang="en-US" sz="800" u="none" cap="none" strike="noStrike">
                <a:solidFill>
                  <a:srgbClr val="888888"/>
                </a:solidFill>
                <a:latin typeface="Calibri"/>
                <a:ea typeface="Calibri"/>
                <a:cs typeface="Calibri"/>
                <a:sym typeface="Calibri"/>
              </a:rPr>
              <a:t>FY 2025/26  |  Wightlink  |  Confidential</a:t>
            </a:r>
            <a:endParaRPr b="0" i="0" sz="800" u="none" cap="none" strike="noStrike">
              <a:solidFill>
                <a:srgbClr val="000000"/>
              </a:solidFill>
              <a:latin typeface="Calibri"/>
              <a:ea typeface="Calibri"/>
              <a:cs typeface="Calibri"/>
              <a:sym typeface="Calibri"/>
            </a:endParaRPr>
          </a:p>
        </p:txBody>
      </p:sp>
      <p:pic>
        <p:nvPicPr>
          <p:cNvPr id="210" name="Google Shape;210;p12"/>
          <p:cNvPicPr preferRelativeResize="0"/>
          <p:nvPr/>
        </p:nvPicPr>
        <p:blipFill>
          <a:blip r:embed="rId4">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pic>
        <p:nvPicPr>
          <p:cNvPr id="211" name="Google Shape;211;p12" title="Screenshot 2026-04-29 114817.png"/>
          <p:cNvPicPr preferRelativeResize="0"/>
          <p:nvPr/>
        </p:nvPicPr>
        <p:blipFill>
          <a:blip r:embed="rId5">
            <a:alphaModFix/>
          </a:blip>
          <a:stretch>
            <a:fillRect/>
          </a:stretch>
        </p:blipFill>
        <p:spPr>
          <a:xfrm>
            <a:off x="152350" y="1100130"/>
            <a:ext cx="38100" cy="9525"/>
          </a:xfrm>
          <a:prstGeom prst="rect">
            <a:avLst/>
          </a:prstGeom>
          <a:noFill/>
          <a:ln>
            <a:noFill/>
          </a:ln>
        </p:spPr>
      </p:pic>
      <p:pic>
        <p:nvPicPr>
          <p:cNvPr id="212" name="Google Shape;212;p12" title="Screenshot 2026-04-29 114833.png"/>
          <p:cNvPicPr preferRelativeResize="0"/>
          <p:nvPr/>
        </p:nvPicPr>
        <p:blipFill>
          <a:blip r:embed="rId6">
            <a:alphaModFix/>
          </a:blip>
          <a:stretch>
            <a:fillRect/>
          </a:stretch>
        </p:blipFill>
        <p:spPr>
          <a:xfrm>
            <a:off x="2454599" y="1151181"/>
            <a:ext cx="2268975" cy="984341"/>
          </a:xfrm>
          <a:prstGeom prst="rect">
            <a:avLst/>
          </a:prstGeom>
          <a:noFill/>
          <a:ln>
            <a:noFill/>
          </a:ln>
        </p:spPr>
      </p:pic>
      <p:pic>
        <p:nvPicPr>
          <p:cNvPr id="213" name="Google Shape;213;p12" title="Screenshot 2026-04-29 114843.png"/>
          <p:cNvPicPr preferRelativeResize="0"/>
          <p:nvPr/>
        </p:nvPicPr>
        <p:blipFill>
          <a:blip r:embed="rId7">
            <a:alphaModFix/>
          </a:blip>
          <a:stretch>
            <a:fillRect/>
          </a:stretch>
        </p:blipFill>
        <p:spPr>
          <a:xfrm>
            <a:off x="4904575" y="1029474"/>
            <a:ext cx="2163375" cy="1433759"/>
          </a:xfrm>
          <a:prstGeom prst="rect">
            <a:avLst/>
          </a:prstGeom>
          <a:noFill/>
          <a:ln>
            <a:noFill/>
          </a:ln>
        </p:spPr>
      </p:pic>
      <p:pic>
        <p:nvPicPr>
          <p:cNvPr id="214" name="Google Shape;214;p12" title="Screenshot 2026-04-29 114900.png"/>
          <p:cNvPicPr preferRelativeResize="0"/>
          <p:nvPr/>
        </p:nvPicPr>
        <p:blipFill>
          <a:blip r:embed="rId8">
            <a:alphaModFix/>
          </a:blip>
          <a:stretch>
            <a:fillRect/>
          </a:stretch>
        </p:blipFill>
        <p:spPr>
          <a:xfrm>
            <a:off x="2482189" y="2689825"/>
            <a:ext cx="2213791" cy="2007300"/>
          </a:xfrm>
          <a:prstGeom prst="rect">
            <a:avLst/>
          </a:prstGeom>
          <a:noFill/>
          <a:ln>
            <a:noFill/>
          </a:ln>
        </p:spPr>
      </p:pic>
      <p:pic>
        <p:nvPicPr>
          <p:cNvPr id="215" name="Google Shape;215;p12" title="Screenshot 2026-04-29 114910.png"/>
          <p:cNvPicPr preferRelativeResize="0"/>
          <p:nvPr/>
        </p:nvPicPr>
        <p:blipFill>
          <a:blip r:embed="rId9">
            <a:alphaModFix/>
          </a:blip>
          <a:stretch>
            <a:fillRect/>
          </a:stretch>
        </p:blipFill>
        <p:spPr>
          <a:xfrm>
            <a:off x="110225" y="2985850"/>
            <a:ext cx="2029500" cy="1647125"/>
          </a:xfrm>
          <a:prstGeom prst="rect">
            <a:avLst/>
          </a:prstGeom>
          <a:noFill/>
          <a:ln>
            <a:noFill/>
          </a:ln>
        </p:spPr>
      </p:pic>
      <p:sp>
        <p:nvSpPr>
          <p:cNvPr id="216" name="Google Shape;216;p12"/>
          <p:cNvSpPr/>
          <p:nvPr/>
        </p:nvSpPr>
        <p:spPr>
          <a:xfrm>
            <a:off x="7067950" y="1813300"/>
            <a:ext cx="1914900" cy="2386200"/>
          </a:xfrm>
          <a:prstGeom prst="rect">
            <a:avLst/>
          </a:prstGeom>
          <a:noFill/>
          <a:ln>
            <a:noFill/>
          </a:ln>
        </p:spPr>
        <p:txBody>
          <a:bodyPr anchorCtr="0" anchor="t" bIns="45700" lIns="91425" spcFirstLastPara="1" rIns="91425" wrap="square" tIns="45700">
            <a:noAutofit/>
          </a:bodyPr>
          <a:lstStyle/>
          <a:p>
            <a:pPr indent="-127000" lvl="0" marL="127000" marR="0" rtl="0" algn="l">
              <a:spcBef>
                <a:spcPts val="300"/>
              </a:spcBef>
              <a:spcAft>
                <a:spcPts val="0"/>
              </a:spcAft>
              <a:buClr>
                <a:srgbClr val="1C1C1C"/>
              </a:buClr>
              <a:buSzPts val="1050"/>
              <a:buFont typeface="Calibri"/>
              <a:buChar char="•"/>
            </a:pPr>
            <a:r>
              <a:rPr lang="en-US" sz="1050">
                <a:solidFill>
                  <a:srgbClr val="1C1C1C"/>
                </a:solidFill>
                <a:latin typeface="Calibri"/>
                <a:ea typeface="Calibri"/>
                <a:cs typeface="Calibri"/>
                <a:sym typeface="Calibri"/>
              </a:rPr>
              <a:t>Recent ad creatives from RF appear to be focussing on camping offers, things to do and promoting events and attractions on the island. </a:t>
            </a:r>
            <a:br>
              <a:rPr lang="en-US" sz="1050">
                <a:solidFill>
                  <a:srgbClr val="1C1C1C"/>
                </a:solidFill>
                <a:latin typeface="Calibri"/>
                <a:ea typeface="Calibri"/>
                <a:cs typeface="Calibri"/>
                <a:sym typeface="Calibri"/>
              </a:rPr>
            </a:br>
            <a:endParaRPr sz="1050">
              <a:solidFill>
                <a:srgbClr val="1C1C1C"/>
              </a:solidFill>
              <a:latin typeface="Calibri"/>
              <a:ea typeface="Calibri"/>
              <a:cs typeface="Calibri"/>
              <a:sym typeface="Calibri"/>
            </a:endParaRPr>
          </a:p>
          <a:p>
            <a:pPr indent="-127000" lvl="0" marL="127000" marR="0" rtl="0" algn="l">
              <a:spcBef>
                <a:spcPts val="300"/>
              </a:spcBef>
              <a:spcAft>
                <a:spcPts val="0"/>
              </a:spcAft>
              <a:buClr>
                <a:srgbClr val="1C1C1C"/>
              </a:buClr>
              <a:buSzPts val="1050"/>
              <a:buFont typeface="Calibri"/>
              <a:buChar char="•"/>
            </a:pPr>
            <a:r>
              <a:rPr lang="en-US" sz="1050">
                <a:solidFill>
                  <a:srgbClr val="1C1C1C"/>
                </a:solidFill>
                <a:latin typeface="Calibri"/>
                <a:ea typeface="Calibri"/>
                <a:cs typeface="Calibri"/>
                <a:sym typeface="Calibri"/>
              </a:rPr>
              <a:t>This TOF / MOF </a:t>
            </a:r>
            <a:r>
              <a:rPr lang="en-US" sz="1050">
                <a:solidFill>
                  <a:srgbClr val="1C1C1C"/>
                </a:solidFill>
                <a:latin typeface="Calibri"/>
                <a:ea typeface="Calibri"/>
                <a:cs typeface="Calibri"/>
                <a:sym typeface="Calibri"/>
              </a:rPr>
              <a:t>focus</a:t>
            </a:r>
            <a:r>
              <a:rPr lang="en-US" sz="1050">
                <a:solidFill>
                  <a:srgbClr val="1C1C1C"/>
                </a:solidFill>
                <a:latin typeface="Calibri"/>
                <a:ea typeface="Calibri"/>
                <a:cs typeface="Calibri"/>
                <a:sym typeface="Calibri"/>
              </a:rPr>
              <a:t> does not directly compete with our approach - it also seems like an inefficient use of budget considering they are not maximising </a:t>
            </a:r>
            <a:r>
              <a:rPr lang="en-US" sz="1050">
                <a:solidFill>
                  <a:srgbClr val="1C1C1C"/>
                </a:solidFill>
                <a:latin typeface="Calibri"/>
                <a:ea typeface="Calibri"/>
                <a:cs typeface="Calibri"/>
                <a:sym typeface="Calibri"/>
              </a:rPr>
              <a:t>their</a:t>
            </a:r>
            <a:r>
              <a:rPr lang="en-US" sz="1050">
                <a:solidFill>
                  <a:srgbClr val="1C1C1C"/>
                </a:solidFill>
                <a:latin typeface="Calibri"/>
                <a:ea typeface="Calibri"/>
                <a:cs typeface="Calibri"/>
                <a:sym typeface="Calibri"/>
              </a:rPr>
              <a:t> IS on more high </a:t>
            </a:r>
            <a:r>
              <a:rPr lang="en-US" sz="1050">
                <a:solidFill>
                  <a:srgbClr val="1C1C1C"/>
                </a:solidFill>
                <a:latin typeface="Calibri"/>
                <a:ea typeface="Calibri"/>
                <a:cs typeface="Calibri"/>
                <a:sym typeface="Calibri"/>
              </a:rPr>
              <a:t>intent</a:t>
            </a:r>
            <a:r>
              <a:rPr lang="en-US" sz="1050">
                <a:solidFill>
                  <a:srgbClr val="1C1C1C"/>
                </a:solidFill>
                <a:latin typeface="Calibri"/>
                <a:ea typeface="Calibri"/>
                <a:cs typeface="Calibri"/>
                <a:sym typeface="Calibri"/>
              </a:rPr>
              <a:t> searches. </a:t>
            </a:r>
            <a:endParaRPr sz="1050">
              <a:solidFill>
                <a:srgbClr val="1C1C1C"/>
              </a:solidFill>
              <a:latin typeface="Calibri"/>
              <a:ea typeface="Calibri"/>
              <a:cs typeface="Calibri"/>
              <a:sym typeface="Calibri"/>
            </a:endParaRPr>
          </a:p>
        </p:txBody>
      </p:sp>
      <p:pic>
        <p:nvPicPr>
          <p:cNvPr id="217" name="Google Shape;217;p12"/>
          <p:cNvPicPr preferRelativeResize="0"/>
          <p:nvPr/>
        </p:nvPicPr>
        <p:blipFill>
          <a:blip r:embed="rId10">
            <a:alphaModFix/>
          </a:blip>
          <a:stretch>
            <a:fillRect/>
          </a:stretch>
        </p:blipFill>
        <p:spPr>
          <a:xfrm>
            <a:off x="4936110" y="2802700"/>
            <a:ext cx="2100300" cy="139681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1C1C"/>
        </a:solidFill>
      </p:bgPr>
    </p:bg>
    <p:spTree>
      <p:nvGrpSpPr>
        <p:cNvPr id="222" name="Shape 222"/>
        <p:cNvGrpSpPr/>
        <p:nvPr/>
      </p:nvGrpSpPr>
      <p:grpSpPr>
        <a:xfrm>
          <a:off x="0" y="0"/>
          <a:ext cx="0" cy="0"/>
          <a:chOff x="0" y="0"/>
          <a:chExt cx="0" cy="0"/>
        </a:xfrm>
      </p:grpSpPr>
      <p:sp>
        <p:nvSpPr>
          <p:cNvPr id="223" name="Google Shape;223;p13"/>
          <p:cNvSpPr/>
          <p:nvPr/>
        </p:nvSpPr>
        <p:spPr>
          <a:xfrm>
            <a:off x="411480" y="4800600"/>
            <a:ext cx="83210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900"/>
              <a:buFont typeface="Calibri"/>
              <a:buNone/>
            </a:pPr>
            <a:r>
              <a:rPr b="0" i="0" lang="en-US" sz="900" u="none" cap="none" strike="noStrike">
                <a:solidFill>
                  <a:srgbClr val="666666"/>
                </a:solidFill>
                <a:latin typeface="Calibri"/>
                <a:ea typeface="Calibri"/>
                <a:cs typeface="Calibri"/>
                <a:sym typeface="Calibri"/>
              </a:rPr>
              <a:t>Wightlink  |  FY 2025/26  |  Confidential</a:t>
            </a:r>
            <a:endParaRPr b="0" i="0" sz="900" u="none" cap="none" strike="noStrike">
              <a:solidFill>
                <a:schemeClr val="dk1"/>
              </a:solidFill>
              <a:latin typeface="Calibri"/>
              <a:ea typeface="Calibri"/>
              <a:cs typeface="Calibri"/>
              <a:sym typeface="Calibri"/>
            </a:endParaRPr>
          </a:p>
        </p:txBody>
      </p:sp>
      <p:sp>
        <p:nvSpPr>
          <p:cNvPr id="224" name="Google Shape;224;p13"/>
          <p:cNvSpPr/>
          <p:nvPr/>
        </p:nvSpPr>
        <p:spPr>
          <a:xfrm>
            <a:off x="326805" y="1463040"/>
            <a:ext cx="7772400" cy="13716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000"/>
              <a:buFont typeface="Calibri"/>
              <a:buNone/>
            </a:pPr>
            <a:r>
              <a:rPr b="1" lang="en-US" sz="4000">
                <a:solidFill>
                  <a:srgbClr val="FFFFFF"/>
                </a:solidFill>
                <a:latin typeface="Calibri"/>
                <a:ea typeface="Calibri"/>
                <a:cs typeface="Calibri"/>
                <a:sym typeface="Calibri"/>
              </a:rPr>
              <a:t>Testing</a:t>
            </a:r>
            <a:endParaRPr b="0" i="0" sz="4000" u="none" cap="none" strike="noStrike">
              <a:solidFill>
                <a:schemeClr val="dk1"/>
              </a:solidFill>
              <a:latin typeface="Calibri"/>
              <a:ea typeface="Calibri"/>
              <a:cs typeface="Calibri"/>
              <a:sym typeface="Calibri"/>
            </a:endParaRPr>
          </a:p>
        </p:txBody>
      </p:sp>
      <p:sp>
        <p:nvSpPr>
          <p:cNvPr id="225" name="Google Shape;225;p13"/>
          <p:cNvSpPr/>
          <p:nvPr/>
        </p:nvSpPr>
        <p:spPr>
          <a:xfrm>
            <a:off x="-84675" y="3090672"/>
            <a:ext cx="9144000" cy="732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3"/>
          <p:cNvSpPr/>
          <p:nvPr/>
        </p:nvSpPr>
        <p:spPr>
          <a:xfrm>
            <a:off x="-84675" y="3200400"/>
            <a:ext cx="9144000" cy="36600"/>
          </a:xfrm>
          <a:prstGeom prst="rect">
            <a:avLst/>
          </a:prstGeom>
          <a:solidFill>
            <a:srgbClr val="922B21"/>
          </a:solidFill>
          <a:ln cap="flat" cmpd="sng" w="12700">
            <a:solidFill>
              <a:srgbClr val="922B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3"/>
          <p:cNvSpPr/>
          <p:nvPr/>
        </p:nvSpPr>
        <p:spPr>
          <a:xfrm>
            <a:off x="326805" y="3310128"/>
            <a:ext cx="77724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200"/>
              <a:buFont typeface="Calibri"/>
              <a:buNone/>
            </a:pPr>
            <a:r>
              <a:rPr b="0" i="0" lang="en-US" sz="1200" u="none" cap="none" strike="noStrike">
                <a:solidFill>
                  <a:srgbClr val="C0392B"/>
                </a:solidFill>
                <a:latin typeface="Calibri"/>
                <a:ea typeface="Calibri"/>
                <a:cs typeface="Calibri"/>
                <a:sym typeface="Calibri"/>
              </a:rPr>
              <a:t>Wightlink  |  FY 2025/26  |  Summon</a:t>
            </a:r>
            <a:endParaRPr b="0" i="0" sz="1200" u="none" cap="none" strike="noStrike">
              <a:solidFill>
                <a:schemeClr val="dk1"/>
              </a:solidFill>
              <a:latin typeface="Calibri"/>
              <a:ea typeface="Calibri"/>
              <a:cs typeface="Calibri"/>
              <a:sym typeface="Calibri"/>
            </a:endParaRPr>
          </a:p>
        </p:txBody>
      </p:sp>
      <p:sp>
        <p:nvSpPr>
          <p:cNvPr id="228" name="Google Shape;228;p13"/>
          <p:cNvSpPr/>
          <p:nvPr/>
        </p:nvSpPr>
        <p:spPr>
          <a:xfrm>
            <a:off x="-57625" y="0"/>
            <a:ext cx="9144000" cy="51435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3"/>
          <p:cNvSpPr/>
          <p:nvPr/>
        </p:nvSpPr>
        <p:spPr>
          <a:xfrm>
            <a:off x="-84650" y="0"/>
            <a:ext cx="128100" cy="51435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3"/>
          <p:cNvSpPr/>
          <p:nvPr/>
        </p:nvSpPr>
        <p:spPr>
          <a:xfrm>
            <a:off x="43366" y="2934099"/>
            <a:ext cx="9015900" cy="639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3"/>
          <p:cNvSpPr/>
          <p:nvPr/>
        </p:nvSpPr>
        <p:spPr>
          <a:xfrm>
            <a:off x="829750" y="1840230"/>
            <a:ext cx="7315200" cy="128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Trebuchet MS"/>
              <a:buNone/>
            </a:pPr>
            <a:r>
              <a:rPr b="1" lang="en-US" sz="3600">
                <a:solidFill>
                  <a:srgbClr val="FFFFFF"/>
                </a:solidFill>
                <a:latin typeface="Trebuchet MS"/>
                <a:ea typeface="Trebuchet MS"/>
                <a:cs typeface="Trebuchet MS"/>
                <a:sym typeface="Trebuchet MS"/>
              </a:rPr>
              <a:t>Performance</a:t>
            </a:r>
            <a:endParaRPr b="0" i="0" sz="3600" u="none" cap="none" strike="noStrike">
              <a:solidFill>
                <a:srgbClr val="000000"/>
              </a:solidFill>
              <a:latin typeface="Calibri"/>
              <a:ea typeface="Calibri"/>
              <a:cs typeface="Calibri"/>
              <a:sym typeface="Calibri"/>
            </a:endParaRPr>
          </a:p>
        </p:txBody>
      </p:sp>
      <p:sp>
        <p:nvSpPr>
          <p:cNvPr id="232" name="Google Shape;232;p13"/>
          <p:cNvSpPr/>
          <p:nvPr/>
        </p:nvSpPr>
        <p:spPr>
          <a:xfrm>
            <a:off x="829750" y="3166110"/>
            <a:ext cx="7315200" cy="32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C0392B"/>
              </a:buClr>
              <a:buSzPts val="1200"/>
              <a:buFont typeface="Calibri"/>
              <a:buNone/>
            </a:pPr>
            <a:r>
              <a:rPr lang="en-US" sz="1100">
                <a:solidFill>
                  <a:srgbClr val="F5C6CB"/>
                </a:solidFill>
                <a:latin typeface="Calibri"/>
                <a:ea typeface="Calibri"/>
                <a:cs typeface="Calibri"/>
                <a:sym typeface="Calibri"/>
              </a:rPr>
              <a:t>Wightlink  |  FY 2025/26  |  Summon</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F5C6CB"/>
              </a:buClr>
              <a:buSzPts val="1100"/>
              <a:buFont typeface="Calibri"/>
              <a:buNone/>
            </a:pPr>
            <a:r>
              <a:t/>
            </a:r>
            <a:endParaRPr sz="1100">
              <a:solidFill>
                <a:srgbClr val="F5C6CB"/>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7" name="Shape 237"/>
        <p:cNvGrpSpPr/>
        <p:nvPr/>
      </p:nvGrpSpPr>
      <p:grpSpPr>
        <a:xfrm>
          <a:off x="0" y="0"/>
          <a:ext cx="0" cy="0"/>
          <a:chOff x="0" y="0"/>
          <a:chExt cx="0" cy="0"/>
        </a:xfrm>
      </p:grpSpPr>
      <p:sp>
        <p:nvSpPr>
          <p:cNvPr id="238" name="Google Shape;238;p14"/>
          <p:cNvSpPr/>
          <p:nvPr/>
        </p:nvSpPr>
        <p:spPr>
          <a:xfrm>
            <a:off x="0" y="0"/>
            <a:ext cx="9144000" cy="868680"/>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4"/>
          <p:cNvSpPr/>
          <p:nvPr/>
        </p:nvSpPr>
        <p:spPr>
          <a:xfrm>
            <a:off x="320040" y="45720"/>
            <a:ext cx="80467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All Performance</a:t>
            </a:r>
            <a:endParaRPr b="0" i="0" sz="2200" u="none" cap="none" strike="noStrike">
              <a:solidFill>
                <a:schemeClr val="dk1"/>
              </a:solidFill>
              <a:latin typeface="Calibri"/>
              <a:ea typeface="Calibri"/>
              <a:cs typeface="Calibri"/>
              <a:sym typeface="Calibri"/>
            </a:endParaRPr>
          </a:p>
        </p:txBody>
      </p:sp>
      <p:sp>
        <p:nvSpPr>
          <p:cNvPr id="240" name="Google Shape;240;p14"/>
          <p:cNvSpPr/>
          <p:nvPr/>
        </p:nvSpPr>
        <p:spPr>
          <a:xfrm>
            <a:off x="320040" y="521208"/>
            <a:ext cx="8046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000"/>
              <a:buFont typeface="Calibri"/>
              <a:buNone/>
            </a:pPr>
            <a:r>
              <a:rPr b="0" i="0" lang="en-US" sz="1000" u="none" cap="none" strike="noStrike">
                <a:solidFill>
                  <a:srgbClr val="CCCCCC"/>
                </a:solidFill>
                <a:latin typeface="Calibri"/>
                <a:ea typeface="Calibri"/>
                <a:cs typeface="Calibri"/>
                <a:sym typeface="Calibri"/>
              </a:rPr>
              <a:t>FY 2025/26 (Apr 2025 - Mar 2026)</a:t>
            </a:r>
            <a:endParaRPr b="0" i="0" sz="1000" u="none" cap="none" strike="noStrike">
              <a:solidFill>
                <a:schemeClr val="dk1"/>
              </a:solidFill>
              <a:latin typeface="Calibri"/>
              <a:ea typeface="Calibri"/>
              <a:cs typeface="Calibri"/>
              <a:sym typeface="Calibri"/>
            </a:endParaRPr>
          </a:p>
        </p:txBody>
      </p:sp>
      <p:sp>
        <p:nvSpPr>
          <p:cNvPr id="241" name="Google Shape;241;p14"/>
          <p:cNvSpPr/>
          <p:nvPr/>
        </p:nvSpPr>
        <p:spPr>
          <a:xfrm>
            <a:off x="0" y="868680"/>
            <a:ext cx="9144000" cy="36576"/>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4"/>
          <p:cNvSpPr/>
          <p:nvPr/>
        </p:nvSpPr>
        <p:spPr>
          <a:xfrm>
            <a:off x="0" y="4910328"/>
            <a:ext cx="9144000" cy="233172"/>
          </a:xfrm>
          <a:prstGeom prst="rect">
            <a:avLst/>
          </a:prstGeom>
          <a:solidFill>
            <a:srgbClr val="1C1C1C"/>
          </a:solidFill>
          <a:ln cap="flat" cmpd="sng" w="12700">
            <a:solidFill>
              <a:srgbClr val="1C1C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4"/>
          <p:cNvSpPr/>
          <p:nvPr/>
        </p:nvSpPr>
        <p:spPr>
          <a:xfrm>
            <a:off x="320040" y="4919472"/>
            <a:ext cx="8503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00"/>
              <a:buFont typeface="Calibri"/>
              <a:buNone/>
            </a:pPr>
            <a:r>
              <a:rPr b="0" i="0" lang="en-US" sz="800" u="none" cap="none" strike="noStrike">
                <a:solidFill>
                  <a:srgbClr val="888888"/>
                </a:solidFill>
                <a:latin typeface="Calibri"/>
                <a:ea typeface="Calibri"/>
                <a:cs typeface="Calibri"/>
                <a:sym typeface="Calibri"/>
              </a:rPr>
              <a:t>FY 2025/26  |  Wightlink  |  Confidential</a:t>
            </a:r>
            <a:endParaRPr b="0" i="0" sz="800" u="none" cap="none" strike="noStrike">
              <a:solidFill>
                <a:schemeClr val="dk1"/>
              </a:solidFill>
              <a:latin typeface="Calibri"/>
              <a:ea typeface="Calibri"/>
              <a:cs typeface="Calibri"/>
              <a:sym typeface="Calibri"/>
            </a:endParaRPr>
          </a:p>
        </p:txBody>
      </p:sp>
      <p:sp>
        <p:nvSpPr>
          <p:cNvPr id="244" name="Google Shape;244;p14"/>
          <p:cNvSpPr/>
          <p:nvPr/>
        </p:nvSpPr>
        <p:spPr>
          <a:xfrm>
            <a:off x="320040" y="969264"/>
            <a:ext cx="1341120" cy="969264"/>
          </a:xfrm>
          <a:prstGeom prst="rect">
            <a:avLst/>
          </a:prstGeom>
          <a:solidFill>
            <a:srgbClr val="FFFFFF"/>
          </a:solidFill>
          <a:ln cap="flat" cmpd="sng" w="12700">
            <a:solidFill>
              <a:srgbClr val="E0E0E0"/>
            </a:solidFill>
            <a:prstDash val="solid"/>
            <a:round/>
            <a:headEnd len="sm" w="sm" type="none"/>
            <a:tailEnd len="sm" w="sm" type="none"/>
          </a:ln>
          <a:effectLst>
            <a:outerShdw blurRad="50800" rotWithShape="0" algn="bl" dir="81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4"/>
          <p:cNvSpPr/>
          <p:nvPr/>
        </p:nvSpPr>
        <p:spPr>
          <a:xfrm>
            <a:off x="320040" y="969264"/>
            <a:ext cx="1341120" cy="50292"/>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4"/>
          <p:cNvSpPr/>
          <p:nvPr/>
        </p:nvSpPr>
        <p:spPr>
          <a:xfrm>
            <a:off x="411480" y="1033272"/>
            <a:ext cx="11582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Cost</a:t>
            </a:r>
            <a:endParaRPr b="0" i="0" sz="850" u="none" cap="none" strike="noStrike">
              <a:solidFill>
                <a:schemeClr val="dk1"/>
              </a:solidFill>
              <a:latin typeface="Calibri"/>
              <a:ea typeface="Calibri"/>
              <a:cs typeface="Calibri"/>
              <a:sym typeface="Calibri"/>
            </a:endParaRPr>
          </a:p>
        </p:txBody>
      </p:sp>
      <p:sp>
        <p:nvSpPr>
          <p:cNvPr id="247" name="Google Shape;247;p14"/>
          <p:cNvSpPr/>
          <p:nvPr/>
        </p:nvSpPr>
        <p:spPr>
          <a:xfrm>
            <a:off x="411480" y="1216152"/>
            <a:ext cx="1158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700"/>
              <a:buFont typeface="Calibri"/>
              <a:buNone/>
            </a:pPr>
            <a:r>
              <a:rPr b="1" i="0" lang="en-US" sz="1700" u="none" cap="none" strike="noStrike">
                <a:solidFill>
                  <a:srgbClr val="1C1C1C"/>
                </a:solidFill>
                <a:latin typeface="Calibri"/>
                <a:ea typeface="Calibri"/>
                <a:cs typeface="Calibri"/>
                <a:sym typeface="Calibri"/>
              </a:rPr>
              <a:t>£259,615</a:t>
            </a:r>
            <a:endParaRPr b="0" i="0" sz="1700" u="none" cap="none" strike="noStrike">
              <a:solidFill>
                <a:schemeClr val="dk1"/>
              </a:solidFill>
              <a:latin typeface="Calibri"/>
              <a:ea typeface="Calibri"/>
              <a:cs typeface="Calibri"/>
              <a:sym typeface="Calibri"/>
            </a:endParaRPr>
          </a:p>
        </p:txBody>
      </p:sp>
      <p:sp>
        <p:nvSpPr>
          <p:cNvPr id="248" name="Google Shape;248;p14"/>
          <p:cNvSpPr/>
          <p:nvPr/>
        </p:nvSpPr>
        <p:spPr>
          <a:xfrm>
            <a:off x="411480" y="1554480"/>
            <a:ext cx="1158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YoY: </a:t>
            </a:r>
            <a:r>
              <a:rPr b="1" i="0" lang="en-US" sz="850" u="none" cap="none" strike="noStrike">
                <a:solidFill>
                  <a:srgbClr val="777777"/>
                </a:solidFill>
                <a:latin typeface="Calibri"/>
                <a:ea typeface="Calibri"/>
                <a:cs typeface="Calibri"/>
                <a:sym typeface="Calibri"/>
              </a:rPr>
              <a:t>+10.7%</a:t>
            </a:r>
            <a:endParaRPr b="0" i="0" sz="850" u="none" cap="none" strike="noStrike">
              <a:solidFill>
                <a:srgbClr val="777777"/>
              </a:solidFill>
              <a:latin typeface="Calibri"/>
              <a:ea typeface="Calibri"/>
              <a:cs typeface="Calibri"/>
              <a:sym typeface="Calibri"/>
            </a:endParaRPr>
          </a:p>
        </p:txBody>
      </p:sp>
      <p:sp>
        <p:nvSpPr>
          <p:cNvPr id="249" name="Google Shape;249;p14"/>
          <p:cNvSpPr/>
          <p:nvPr/>
        </p:nvSpPr>
        <p:spPr>
          <a:xfrm>
            <a:off x="411480" y="1737360"/>
            <a:ext cx="1158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Plan: </a:t>
            </a:r>
            <a:r>
              <a:rPr b="1" i="0" lang="en-US" sz="850" u="none" cap="none" strike="noStrike">
                <a:solidFill>
                  <a:srgbClr val="777777"/>
                </a:solidFill>
                <a:latin typeface="Calibri"/>
                <a:ea typeface="Calibri"/>
                <a:cs typeface="Calibri"/>
                <a:sym typeface="Calibri"/>
              </a:rPr>
              <a:t>-4.4%</a:t>
            </a:r>
            <a:endParaRPr b="0" i="0" sz="850" u="none" cap="none" strike="noStrike">
              <a:solidFill>
                <a:srgbClr val="777777"/>
              </a:solidFill>
              <a:latin typeface="Calibri"/>
              <a:ea typeface="Calibri"/>
              <a:cs typeface="Calibri"/>
              <a:sym typeface="Calibri"/>
            </a:endParaRPr>
          </a:p>
        </p:txBody>
      </p:sp>
      <p:sp>
        <p:nvSpPr>
          <p:cNvPr id="250" name="Google Shape;250;p14"/>
          <p:cNvSpPr/>
          <p:nvPr/>
        </p:nvSpPr>
        <p:spPr>
          <a:xfrm>
            <a:off x="1752600" y="969264"/>
            <a:ext cx="1341120" cy="969264"/>
          </a:xfrm>
          <a:prstGeom prst="rect">
            <a:avLst/>
          </a:prstGeom>
          <a:solidFill>
            <a:srgbClr val="FFFFFF"/>
          </a:solidFill>
          <a:ln cap="flat" cmpd="sng" w="12700">
            <a:solidFill>
              <a:srgbClr val="E0E0E0"/>
            </a:solidFill>
            <a:prstDash val="solid"/>
            <a:round/>
            <a:headEnd len="sm" w="sm" type="none"/>
            <a:tailEnd len="sm" w="sm" type="none"/>
          </a:ln>
          <a:effectLst>
            <a:outerShdw blurRad="50800" rotWithShape="0" algn="bl" dir="81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4"/>
          <p:cNvSpPr/>
          <p:nvPr/>
        </p:nvSpPr>
        <p:spPr>
          <a:xfrm>
            <a:off x="1752600" y="969264"/>
            <a:ext cx="1341120" cy="50292"/>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4"/>
          <p:cNvSpPr/>
          <p:nvPr/>
        </p:nvSpPr>
        <p:spPr>
          <a:xfrm>
            <a:off x="1844040" y="1033272"/>
            <a:ext cx="11582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Purchases</a:t>
            </a:r>
            <a:endParaRPr b="0" i="0" sz="850" u="none" cap="none" strike="noStrike">
              <a:solidFill>
                <a:schemeClr val="dk1"/>
              </a:solidFill>
              <a:latin typeface="Calibri"/>
              <a:ea typeface="Calibri"/>
              <a:cs typeface="Calibri"/>
              <a:sym typeface="Calibri"/>
            </a:endParaRPr>
          </a:p>
        </p:txBody>
      </p:sp>
      <p:sp>
        <p:nvSpPr>
          <p:cNvPr id="253" name="Google Shape;253;p14"/>
          <p:cNvSpPr/>
          <p:nvPr/>
        </p:nvSpPr>
        <p:spPr>
          <a:xfrm>
            <a:off x="1844040" y="1216152"/>
            <a:ext cx="1158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700"/>
              <a:buFont typeface="Calibri"/>
              <a:buNone/>
            </a:pPr>
            <a:r>
              <a:rPr b="1" i="0" lang="en-US" sz="1700" u="none" cap="none" strike="noStrike">
                <a:solidFill>
                  <a:srgbClr val="1C1C1C"/>
                </a:solidFill>
                <a:latin typeface="Calibri"/>
                <a:ea typeface="Calibri"/>
                <a:cs typeface="Calibri"/>
                <a:sym typeface="Calibri"/>
              </a:rPr>
              <a:t>155,485</a:t>
            </a:r>
            <a:endParaRPr b="0" i="0" sz="1700" u="none" cap="none" strike="noStrike">
              <a:solidFill>
                <a:schemeClr val="dk1"/>
              </a:solidFill>
              <a:latin typeface="Calibri"/>
              <a:ea typeface="Calibri"/>
              <a:cs typeface="Calibri"/>
              <a:sym typeface="Calibri"/>
            </a:endParaRPr>
          </a:p>
        </p:txBody>
      </p:sp>
      <p:sp>
        <p:nvSpPr>
          <p:cNvPr id="254" name="Google Shape;254;p14"/>
          <p:cNvSpPr/>
          <p:nvPr/>
        </p:nvSpPr>
        <p:spPr>
          <a:xfrm>
            <a:off x="1844040" y="1554480"/>
            <a:ext cx="1158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YoY: </a:t>
            </a:r>
            <a:r>
              <a:rPr b="1" i="0" lang="en-US" sz="850" u="none" cap="none" strike="noStrike">
                <a:solidFill>
                  <a:srgbClr val="1A7A4A"/>
                </a:solidFill>
                <a:latin typeface="Calibri"/>
                <a:ea typeface="Calibri"/>
                <a:cs typeface="Calibri"/>
                <a:sym typeface="Calibri"/>
              </a:rPr>
              <a:t>+8.7%</a:t>
            </a:r>
            <a:endParaRPr b="0" i="0" sz="850" u="none" cap="none" strike="noStrike">
              <a:solidFill>
                <a:schemeClr val="dk1"/>
              </a:solidFill>
              <a:latin typeface="Calibri"/>
              <a:ea typeface="Calibri"/>
              <a:cs typeface="Calibri"/>
              <a:sym typeface="Calibri"/>
            </a:endParaRPr>
          </a:p>
        </p:txBody>
      </p:sp>
      <p:sp>
        <p:nvSpPr>
          <p:cNvPr id="255" name="Google Shape;255;p14"/>
          <p:cNvSpPr/>
          <p:nvPr/>
        </p:nvSpPr>
        <p:spPr>
          <a:xfrm>
            <a:off x="1844040" y="1737360"/>
            <a:ext cx="1158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Plan: </a:t>
            </a:r>
            <a:r>
              <a:rPr b="1" i="0" lang="en-US" sz="850" u="none" cap="none" strike="noStrike">
                <a:solidFill>
                  <a:srgbClr val="1A7A4A"/>
                </a:solidFill>
                <a:latin typeface="Calibri"/>
                <a:ea typeface="Calibri"/>
                <a:cs typeface="Calibri"/>
                <a:sym typeface="Calibri"/>
              </a:rPr>
              <a:t>+20.4%</a:t>
            </a:r>
            <a:endParaRPr b="0" i="0" sz="850" u="none" cap="none" strike="noStrike">
              <a:solidFill>
                <a:schemeClr val="dk1"/>
              </a:solidFill>
              <a:latin typeface="Calibri"/>
              <a:ea typeface="Calibri"/>
              <a:cs typeface="Calibri"/>
              <a:sym typeface="Calibri"/>
            </a:endParaRPr>
          </a:p>
        </p:txBody>
      </p:sp>
      <p:sp>
        <p:nvSpPr>
          <p:cNvPr id="256" name="Google Shape;256;p14"/>
          <p:cNvSpPr/>
          <p:nvPr/>
        </p:nvSpPr>
        <p:spPr>
          <a:xfrm>
            <a:off x="3185160" y="969264"/>
            <a:ext cx="1341120" cy="969264"/>
          </a:xfrm>
          <a:prstGeom prst="rect">
            <a:avLst/>
          </a:prstGeom>
          <a:solidFill>
            <a:srgbClr val="FFFFFF"/>
          </a:solidFill>
          <a:ln cap="flat" cmpd="sng" w="12700">
            <a:solidFill>
              <a:srgbClr val="E0E0E0"/>
            </a:solidFill>
            <a:prstDash val="solid"/>
            <a:round/>
            <a:headEnd len="sm" w="sm" type="none"/>
            <a:tailEnd len="sm" w="sm" type="none"/>
          </a:ln>
          <a:effectLst>
            <a:outerShdw blurRad="50800" rotWithShape="0" algn="bl" dir="81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4"/>
          <p:cNvSpPr/>
          <p:nvPr/>
        </p:nvSpPr>
        <p:spPr>
          <a:xfrm>
            <a:off x="3185160" y="969264"/>
            <a:ext cx="1341120" cy="50292"/>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4"/>
          <p:cNvSpPr/>
          <p:nvPr/>
        </p:nvSpPr>
        <p:spPr>
          <a:xfrm>
            <a:off x="3276600" y="1033272"/>
            <a:ext cx="11582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Purchase Revenue</a:t>
            </a:r>
            <a:endParaRPr b="0" i="0" sz="850" u="none" cap="none" strike="noStrike">
              <a:solidFill>
                <a:schemeClr val="dk1"/>
              </a:solidFill>
              <a:latin typeface="Calibri"/>
              <a:ea typeface="Calibri"/>
              <a:cs typeface="Calibri"/>
              <a:sym typeface="Calibri"/>
            </a:endParaRPr>
          </a:p>
        </p:txBody>
      </p:sp>
      <p:sp>
        <p:nvSpPr>
          <p:cNvPr id="259" name="Google Shape;259;p14"/>
          <p:cNvSpPr/>
          <p:nvPr/>
        </p:nvSpPr>
        <p:spPr>
          <a:xfrm>
            <a:off x="3276600" y="1216152"/>
            <a:ext cx="1158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700"/>
              <a:buFont typeface="Calibri"/>
              <a:buNone/>
            </a:pPr>
            <a:r>
              <a:rPr b="1" i="0" lang="en-US" sz="1700" u="none" cap="none" strike="noStrike">
                <a:solidFill>
                  <a:srgbClr val="1C1C1C"/>
                </a:solidFill>
                <a:latin typeface="Calibri"/>
                <a:ea typeface="Calibri"/>
                <a:cs typeface="Calibri"/>
                <a:sym typeface="Calibri"/>
              </a:rPr>
              <a:t>£13,839,790</a:t>
            </a:r>
            <a:endParaRPr b="0" i="0" sz="1700" u="none" cap="none" strike="noStrike">
              <a:solidFill>
                <a:schemeClr val="dk1"/>
              </a:solidFill>
              <a:latin typeface="Calibri"/>
              <a:ea typeface="Calibri"/>
              <a:cs typeface="Calibri"/>
              <a:sym typeface="Calibri"/>
            </a:endParaRPr>
          </a:p>
        </p:txBody>
      </p:sp>
      <p:sp>
        <p:nvSpPr>
          <p:cNvPr id="260" name="Google Shape;260;p14"/>
          <p:cNvSpPr/>
          <p:nvPr/>
        </p:nvSpPr>
        <p:spPr>
          <a:xfrm>
            <a:off x="3276600" y="1554480"/>
            <a:ext cx="1158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YoY: </a:t>
            </a:r>
            <a:r>
              <a:rPr b="1" i="0" lang="en-US" sz="850" u="none" cap="none" strike="noStrike">
                <a:solidFill>
                  <a:srgbClr val="1A7A4A"/>
                </a:solidFill>
                <a:latin typeface="Calibri"/>
                <a:ea typeface="Calibri"/>
                <a:cs typeface="Calibri"/>
                <a:sym typeface="Calibri"/>
              </a:rPr>
              <a:t>+12.0%</a:t>
            </a:r>
            <a:endParaRPr b="0" i="0" sz="850" u="none" cap="none" strike="noStrike">
              <a:solidFill>
                <a:schemeClr val="dk1"/>
              </a:solidFill>
              <a:latin typeface="Calibri"/>
              <a:ea typeface="Calibri"/>
              <a:cs typeface="Calibri"/>
              <a:sym typeface="Calibri"/>
            </a:endParaRPr>
          </a:p>
        </p:txBody>
      </p:sp>
      <p:sp>
        <p:nvSpPr>
          <p:cNvPr id="261" name="Google Shape;261;p14"/>
          <p:cNvSpPr/>
          <p:nvPr/>
        </p:nvSpPr>
        <p:spPr>
          <a:xfrm>
            <a:off x="3276600" y="1737360"/>
            <a:ext cx="1158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Plan: </a:t>
            </a:r>
            <a:r>
              <a:rPr b="1" i="0" lang="en-US" sz="850" u="none" cap="none" strike="noStrike">
                <a:solidFill>
                  <a:srgbClr val="1A7A4A"/>
                </a:solidFill>
                <a:latin typeface="Calibri"/>
                <a:ea typeface="Calibri"/>
                <a:cs typeface="Calibri"/>
                <a:sym typeface="Calibri"/>
              </a:rPr>
              <a:t>+4.4%</a:t>
            </a:r>
            <a:endParaRPr b="0" i="0" sz="850" u="none" cap="none" strike="noStrike">
              <a:solidFill>
                <a:schemeClr val="dk1"/>
              </a:solidFill>
              <a:latin typeface="Calibri"/>
              <a:ea typeface="Calibri"/>
              <a:cs typeface="Calibri"/>
              <a:sym typeface="Calibri"/>
            </a:endParaRPr>
          </a:p>
        </p:txBody>
      </p:sp>
      <p:sp>
        <p:nvSpPr>
          <p:cNvPr id="262" name="Google Shape;262;p14"/>
          <p:cNvSpPr/>
          <p:nvPr/>
        </p:nvSpPr>
        <p:spPr>
          <a:xfrm>
            <a:off x="4617720" y="969264"/>
            <a:ext cx="1341120" cy="969264"/>
          </a:xfrm>
          <a:prstGeom prst="rect">
            <a:avLst/>
          </a:prstGeom>
          <a:solidFill>
            <a:srgbClr val="FFFFFF"/>
          </a:solidFill>
          <a:ln cap="flat" cmpd="sng" w="12700">
            <a:solidFill>
              <a:srgbClr val="E0E0E0"/>
            </a:solidFill>
            <a:prstDash val="solid"/>
            <a:round/>
            <a:headEnd len="sm" w="sm" type="none"/>
            <a:tailEnd len="sm" w="sm" type="none"/>
          </a:ln>
          <a:effectLst>
            <a:outerShdw blurRad="50800" rotWithShape="0" algn="bl" dir="81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4"/>
          <p:cNvSpPr/>
          <p:nvPr/>
        </p:nvSpPr>
        <p:spPr>
          <a:xfrm>
            <a:off x="4617720" y="969264"/>
            <a:ext cx="1341120" cy="50292"/>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4"/>
          <p:cNvSpPr/>
          <p:nvPr/>
        </p:nvSpPr>
        <p:spPr>
          <a:xfrm>
            <a:off x="4709160" y="1033272"/>
            <a:ext cx="11582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CPA</a:t>
            </a:r>
            <a:endParaRPr b="0" i="0" sz="850" u="none" cap="none" strike="noStrike">
              <a:solidFill>
                <a:schemeClr val="dk1"/>
              </a:solidFill>
              <a:latin typeface="Calibri"/>
              <a:ea typeface="Calibri"/>
              <a:cs typeface="Calibri"/>
              <a:sym typeface="Calibri"/>
            </a:endParaRPr>
          </a:p>
        </p:txBody>
      </p:sp>
      <p:sp>
        <p:nvSpPr>
          <p:cNvPr id="265" name="Google Shape;265;p14"/>
          <p:cNvSpPr/>
          <p:nvPr/>
        </p:nvSpPr>
        <p:spPr>
          <a:xfrm>
            <a:off x="4709160" y="1216152"/>
            <a:ext cx="1158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700"/>
              <a:buFont typeface="Calibri"/>
              <a:buNone/>
            </a:pPr>
            <a:r>
              <a:rPr b="1" i="0" lang="en-US" sz="1700" u="none" cap="none" strike="noStrike">
                <a:solidFill>
                  <a:srgbClr val="1C1C1C"/>
                </a:solidFill>
                <a:latin typeface="Calibri"/>
                <a:ea typeface="Calibri"/>
                <a:cs typeface="Calibri"/>
                <a:sym typeface="Calibri"/>
              </a:rPr>
              <a:t>£1.67</a:t>
            </a:r>
            <a:endParaRPr b="0" i="0" sz="1700" u="none" cap="none" strike="noStrike">
              <a:solidFill>
                <a:schemeClr val="dk1"/>
              </a:solidFill>
              <a:latin typeface="Calibri"/>
              <a:ea typeface="Calibri"/>
              <a:cs typeface="Calibri"/>
              <a:sym typeface="Calibri"/>
            </a:endParaRPr>
          </a:p>
        </p:txBody>
      </p:sp>
      <p:sp>
        <p:nvSpPr>
          <p:cNvPr id="266" name="Google Shape;266;p14"/>
          <p:cNvSpPr/>
          <p:nvPr/>
        </p:nvSpPr>
        <p:spPr>
          <a:xfrm>
            <a:off x="4709160" y="1554480"/>
            <a:ext cx="1158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YoY: </a:t>
            </a:r>
            <a:r>
              <a:rPr b="1" i="0" lang="en-US" sz="850" u="none" cap="none" strike="noStrike">
                <a:solidFill>
                  <a:srgbClr val="C0392B"/>
                </a:solidFill>
                <a:latin typeface="Calibri"/>
                <a:ea typeface="Calibri"/>
                <a:cs typeface="Calibri"/>
                <a:sym typeface="Calibri"/>
              </a:rPr>
              <a:t>+1.8%</a:t>
            </a:r>
            <a:endParaRPr b="0" i="0" sz="850" u="none" cap="none" strike="noStrike">
              <a:solidFill>
                <a:schemeClr val="dk1"/>
              </a:solidFill>
              <a:latin typeface="Calibri"/>
              <a:ea typeface="Calibri"/>
              <a:cs typeface="Calibri"/>
              <a:sym typeface="Calibri"/>
            </a:endParaRPr>
          </a:p>
        </p:txBody>
      </p:sp>
      <p:sp>
        <p:nvSpPr>
          <p:cNvPr id="267" name="Google Shape;267;p14"/>
          <p:cNvSpPr/>
          <p:nvPr/>
        </p:nvSpPr>
        <p:spPr>
          <a:xfrm>
            <a:off x="4709160" y="1737360"/>
            <a:ext cx="1158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Plan: </a:t>
            </a:r>
            <a:r>
              <a:rPr b="1" i="0" lang="en-US" sz="850" u="none" cap="none" strike="noStrike">
                <a:solidFill>
                  <a:srgbClr val="1A7A4A"/>
                </a:solidFill>
                <a:latin typeface="Calibri"/>
                <a:ea typeface="Calibri"/>
                <a:cs typeface="Calibri"/>
                <a:sym typeface="Calibri"/>
              </a:rPr>
              <a:t>-20.6%</a:t>
            </a:r>
            <a:endParaRPr b="0" i="0" sz="850" u="none" cap="none" strike="noStrike">
              <a:solidFill>
                <a:schemeClr val="dk1"/>
              </a:solidFill>
              <a:latin typeface="Calibri"/>
              <a:ea typeface="Calibri"/>
              <a:cs typeface="Calibri"/>
              <a:sym typeface="Calibri"/>
            </a:endParaRPr>
          </a:p>
        </p:txBody>
      </p:sp>
      <p:sp>
        <p:nvSpPr>
          <p:cNvPr id="268" name="Google Shape;268;p14"/>
          <p:cNvSpPr/>
          <p:nvPr/>
        </p:nvSpPr>
        <p:spPr>
          <a:xfrm>
            <a:off x="6050280" y="969264"/>
            <a:ext cx="1341120" cy="969264"/>
          </a:xfrm>
          <a:prstGeom prst="rect">
            <a:avLst/>
          </a:prstGeom>
          <a:solidFill>
            <a:srgbClr val="FFFFFF"/>
          </a:solidFill>
          <a:ln cap="flat" cmpd="sng" w="12700">
            <a:solidFill>
              <a:srgbClr val="E0E0E0"/>
            </a:solidFill>
            <a:prstDash val="solid"/>
            <a:round/>
            <a:headEnd len="sm" w="sm" type="none"/>
            <a:tailEnd len="sm" w="sm" type="none"/>
          </a:ln>
          <a:effectLst>
            <a:outerShdw blurRad="50800" rotWithShape="0" algn="bl" dir="81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4"/>
          <p:cNvSpPr/>
          <p:nvPr/>
        </p:nvSpPr>
        <p:spPr>
          <a:xfrm>
            <a:off x="6050280" y="969264"/>
            <a:ext cx="1341120" cy="50292"/>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4"/>
          <p:cNvSpPr/>
          <p:nvPr/>
        </p:nvSpPr>
        <p:spPr>
          <a:xfrm>
            <a:off x="6141720" y="1033272"/>
            <a:ext cx="11582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ROAS</a:t>
            </a:r>
            <a:endParaRPr b="0" i="0" sz="850" u="none" cap="none" strike="noStrike">
              <a:solidFill>
                <a:schemeClr val="dk1"/>
              </a:solidFill>
              <a:latin typeface="Calibri"/>
              <a:ea typeface="Calibri"/>
              <a:cs typeface="Calibri"/>
              <a:sym typeface="Calibri"/>
            </a:endParaRPr>
          </a:p>
        </p:txBody>
      </p:sp>
      <p:sp>
        <p:nvSpPr>
          <p:cNvPr id="271" name="Google Shape;271;p14"/>
          <p:cNvSpPr/>
          <p:nvPr/>
        </p:nvSpPr>
        <p:spPr>
          <a:xfrm>
            <a:off x="6141720" y="1216152"/>
            <a:ext cx="1158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700"/>
              <a:buFont typeface="Calibri"/>
              <a:buNone/>
            </a:pPr>
            <a:r>
              <a:rPr b="1" i="0" lang="en-US" sz="1700" u="none" cap="none" strike="noStrike">
                <a:solidFill>
                  <a:srgbClr val="1C1C1C"/>
                </a:solidFill>
                <a:latin typeface="Calibri"/>
                <a:ea typeface="Calibri"/>
                <a:cs typeface="Calibri"/>
                <a:sym typeface="Calibri"/>
              </a:rPr>
              <a:t>53.31</a:t>
            </a:r>
            <a:endParaRPr b="0" i="0" sz="1700" u="none" cap="none" strike="noStrike">
              <a:solidFill>
                <a:schemeClr val="dk1"/>
              </a:solidFill>
              <a:latin typeface="Calibri"/>
              <a:ea typeface="Calibri"/>
              <a:cs typeface="Calibri"/>
              <a:sym typeface="Calibri"/>
            </a:endParaRPr>
          </a:p>
        </p:txBody>
      </p:sp>
      <p:sp>
        <p:nvSpPr>
          <p:cNvPr id="272" name="Google Shape;272;p14"/>
          <p:cNvSpPr/>
          <p:nvPr/>
        </p:nvSpPr>
        <p:spPr>
          <a:xfrm>
            <a:off x="6141720" y="1554480"/>
            <a:ext cx="1158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YoY: </a:t>
            </a:r>
            <a:r>
              <a:rPr b="1" i="0" lang="en-US" sz="850" u="none" cap="none" strike="noStrike">
                <a:solidFill>
                  <a:srgbClr val="1A7A4A"/>
                </a:solidFill>
                <a:latin typeface="Calibri"/>
                <a:ea typeface="Calibri"/>
                <a:cs typeface="Calibri"/>
                <a:sym typeface="Calibri"/>
              </a:rPr>
              <a:t>+1.2%</a:t>
            </a:r>
            <a:endParaRPr b="0" i="0" sz="850" u="none" cap="none" strike="noStrike">
              <a:solidFill>
                <a:schemeClr val="dk1"/>
              </a:solidFill>
              <a:latin typeface="Calibri"/>
              <a:ea typeface="Calibri"/>
              <a:cs typeface="Calibri"/>
              <a:sym typeface="Calibri"/>
            </a:endParaRPr>
          </a:p>
        </p:txBody>
      </p:sp>
      <p:sp>
        <p:nvSpPr>
          <p:cNvPr id="273" name="Google Shape;273;p14"/>
          <p:cNvSpPr/>
          <p:nvPr/>
        </p:nvSpPr>
        <p:spPr>
          <a:xfrm>
            <a:off x="6141720" y="1737360"/>
            <a:ext cx="1158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Plan: </a:t>
            </a:r>
            <a:r>
              <a:rPr b="1" i="0" lang="en-US" sz="850" u="none" cap="none" strike="noStrike">
                <a:solidFill>
                  <a:srgbClr val="1A7A4A"/>
                </a:solidFill>
                <a:latin typeface="Calibri"/>
                <a:ea typeface="Calibri"/>
                <a:cs typeface="Calibri"/>
                <a:sym typeface="Calibri"/>
              </a:rPr>
              <a:t>+9.2%</a:t>
            </a:r>
            <a:endParaRPr b="0" i="0" sz="850" u="none" cap="none" strike="noStrike">
              <a:solidFill>
                <a:schemeClr val="dk1"/>
              </a:solidFill>
              <a:latin typeface="Calibri"/>
              <a:ea typeface="Calibri"/>
              <a:cs typeface="Calibri"/>
              <a:sym typeface="Calibri"/>
            </a:endParaRPr>
          </a:p>
        </p:txBody>
      </p:sp>
      <p:sp>
        <p:nvSpPr>
          <p:cNvPr id="274" name="Google Shape;274;p14"/>
          <p:cNvSpPr/>
          <p:nvPr/>
        </p:nvSpPr>
        <p:spPr>
          <a:xfrm>
            <a:off x="7482840" y="969264"/>
            <a:ext cx="1341120" cy="969264"/>
          </a:xfrm>
          <a:prstGeom prst="rect">
            <a:avLst/>
          </a:prstGeom>
          <a:solidFill>
            <a:srgbClr val="FFFFFF"/>
          </a:solidFill>
          <a:ln cap="flat" cmpd="sng" w="12700">
            <a:solidFill>
              <a:srgbClr val="E0E0E0"/>
            </a:solidFill>
            <a:prstDash val="solid"/>
            <a:round/>
            <a:headEnd len="sm" w="sm" type="none"/>
            <a:tailEnd len="sm" w="sm" type="none"/>
          </a:ln>
          <a:effectLst>
            <a:outerShdw blurRad="50800" rotWithShape="0" algn="bl" dir="81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4"/>
          <p:cNvSpPr/>
          <p:nvPr/>
        </p:nvSpPr>
        <p:spPr>
          <a:xfrm>
            <a:off x="7482840" y="969264"/>
            <a:ext cx="1341120" cy="50292"/>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4"/>
          <p:cNvSpPr/>
          <p:nvPr/>
        </p:nvSpPr>
        <p:spPr>
          <a:xfrm>
            <a:off x="7574280" y="1033272"/>
            <a:ext cx="11582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AOV</a:t>
            </a:r>
            <a:endParaRPr b="0" i="0" sz="850" u="none" cap="none" strike="noStrike">
              <a:solidFill>
                <a:schemeClr val="dk1"/>
              </a:solidFill>
              <a:latin typeface="Calibri"/>
              <a:ea typeface="Calibri"/>
              <a:cs typeface="Calibri"/>
              <a:sym typeface="Calibri"/>
            </a:endParaRPr>
          </a:p>
        </p:txBody>
      </p:sp>
      <p:sp>
        <p:nvSpPr>
          <p:cNvPr id="277" name="Google Shape;277;p14"/>
          <p:cNvSpPr/>
          <p:nvPr/>
        </p:nvSpPr>
        <p:spPr>
          <a:xfrm>
            <a:off x="7574280" y="1216152"/>
            <a:ext cx="1158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700"/>
              <a:buFont typeface="Calibri"/>
              <a:buNone/>
            </a:pPr>
            <a:r>
              <a:rPr b="1" i="0" lang="en-US" sz="1700" u="none" cap="none" strike="noStrike">
                <a:solidFill>
                  <a:srgbClr val="1C1C1C"/>
                </a:solidFill>
                <a:latin typeface="Calibri"/>
                <a:ea typeface="Calibri"/>
                <a:cs typeface="Calibri"/>
                <a:sym typeface="Calibri"/>
              </a:rPr>
              <a:t>£89.01</a:t>
            </a:r>
            <a:endParaRPr b="0" i="0" sz="1700" u="none" cap="none" strike="noStrike">
              <a:solidFill>
                <a:schemeClr val="dk1"/>
              </a:solidFill>
              <a:latin typeface="Calibri"/>
              <a:ea typeface="Calibri"/>
              <a:cs typeface="Calibri"/>
              <a:sym typeface="Calibri"/>
            </a:endParaRPr>
          </a:p>
        </p:txBody>
      </p:sp>
      <p:sp>
        <p:nvSpPr>
          <p:cNvPr id="278" name="Google Shape;278;p14"/>
          <p:cNvSpPr/>
          <p:nvPr/>
        </p:nvSpPr>
        <p:spPr>
          <a:xfrm>
            <a:off x="7574280" y="1554480"/>
            <a:ext cx="1158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YoY: </a:t>
            </a:r>
            <a:r>
              <a:rPr b="1" i="0" lang="en-US" sz="850" u="none" cap="none" strike="noStrike">
                <a:solidFill>
                  <a:srgbClr val="1A7A4A"/>
                </a:solidFill>
                <a:latin typeface="Calibri"/>
                <a:ea typeface="Calibri"/>
                <a:cs typeface="Calibri"/>
                <a:sym typeface="Calibri"/>
              </a:rPr>
              <a:t>+3.0%</a:t>
            </a:r>
            <a:endParaRPr b="0" i="0" sz="850" u="none" cap="none" strike="noStrike">
              <a:solidFill>
                <a:schemeClr val="dk1"/>
              </a:solidFill>
              <a:latin typeface="Calibri"/>
              <a:ea typeface="Calibri"/>
              <a:cs typeface="Calibri"/>
              <a:sym typeface="Calibri"/>
            </a:endParaRPr>
          </a:p>
        </p:txBody>
      </p:sp>
      <p:sp>
        <p:nvSpPr>
          <p:cNvPr id="279" name="Google Shape;279;p14"/>
          <p:cNvSpPr/>
          <p:nvPr/>
        </p:nvSpPr>
        <p:spPr>
          <a:xfrm>
            <a:off x="7574280" y="1737360"/>
            <a:ext cx="1158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Plan: </a:t>
            </a:r>
            <a:r>
              <a:rPr b="1" i="0" lang="en-US" sz="850" u="none" cap="none" strike="noStrike">
                <a:solidFill>
                  <a:srgbClr val="C0392B"/>
                </a:solidFill>
                <a:latin typeface="Calibri"/>
                <a:ea typeface="Calibri"/>
                <a:cs typeface="Calibri"/>
                <a:sym typeface="Calibri"/>
              </a:rPr>
              <a:t>-13.3%</a:t>
            </a:r>
            <a:endParaRPr b="0" i="0" sz="850" u="none" cap="none" strike="noStrike">
              <a:solidFill>
                <a:schemeClr val="dk1"/>
              </a:solidFill>
              <a:latin typeface="Calibri"/>
              <a:ea typeface="Calibri"/>
              <a:cs typeface="Calibri"/>
              <a:sym typeface="Calibri"/>
            </a:endParaRPr>
          </a:p>
        </p:txBody>
      </p:sp>
      <p:pic>
        <p:nvPicPr>
          <p:cNvPr id="280" name="Google Shape;280;p14"/>
          <p:cNvPicPr preferRelativeResize="0"/>
          <p:nvPr/>
        </p:nvPicPr>
        <p:blipFill>
          <a:blip r:embed="rId3">
            <a:alphaModFix/>
          </a:blip>
          <a:stretch>
            <a:fillRect/>
          </a:stretch>
        </p:blipFill>
        <p:spPr>
          <a:xfrm>
            <a:off x="320049" y="2204162"/>
            <a:ext cx="4401436" cy="2230225"/>
          </a:xfrm>
          <a:prstGeom prst="rect">
            <a:avLst/>
          </a:prstGeom>
          <a:noFill/>
          <a:ln>
            <a:noFill/>
          </a:ln>
        </p:spPr>
      </p:pic>
      <p:sp>
        <p:nvSpPr>
          <p:cNvPr id="281" name="Google Shape;281;p14"/>
          <p:cNvSpPr/>
          <p:nvPr/>
        </p:nvSpPr>
        <p:spPr>
          <a:xfrm>
            <a:off x="4721475" y="2170950"/>
            <a:ext cx="4102500" cy="2307900"/>
          </a:xfrm>
          <a:prstGeom prst="rect">
            <a:avLst/>
          </a:prstGeom>
          <a:noFill/>
          <a:ln>
            <a:noFill/>
          </a:ln>
        </p:spPr>
        <p:txBody>
          <a:bodyPr anchorCtr="0" anchor="t" bIns="0" lIns="0" spcFirstLastPara="1" rIns="0" wrap="square" tIns="0">
            <a:noAutofit/>
          </a:bodyPr>
          <a:lstStyle/>
          <a:p>
            <a:pPr indent="-288925" lvl="0" marL="457200" marR="0" rtl="0" algn="l">
              <a:spcBef>
                <a:spcPts val="0"/>
              </a:spcBef>
              <a:spcAft>
                <a:spcPts val="0"/>
              </a:spcAft>
              <a:buClr>
                <a:schemeClr val="dk1"/>
              </a:buClr>
              <a:buSzPts val="950"/>
              <a:buFont typeface="Calibri"/>
              <a:buChar char="●"/>
            </a:pPr>
            <a:r>
              <a:rPr lang="en-US" sz="950">
                <a:solidFill>
                  <a:srgbClr val="1C1C1C"/>
                </a:solidFill>
                <a:latin typeface="Calibri"/>
                <a:ea typeface="Calibri"/>
                <a:cs typeface="Calibri"/>
                <a:sym typeface="Calibri"/>
              </a:rPr>
              <a:t>Purchases and </a:t>
            </a:r>
            <a:r>
              <a:rPr lang="en-US" sz="950">
                <a:solidFill>
                  <a:srgbClr val="1C1C1C"/>
                </a:solidFill>
                <a:latin typeface="Calibri"/>
                <a:ea typeface="Calibri"/>
                <a:cs typeface="Calibri"/>
                <a:sym typeface="Calibri"/>
              </a:rPr>
              <a:t>purchase</a:t>
            </a:r>
            <a:r>
              <a:rPr lang="en-US" sz="950">
                <a:solidFill>
                  <a:srgbClr val="1C1C1C"/>
                </a:solidFill>
                <a:latin typeface="Calibri"/>
                <a:ea typeface="Calibri"/>
                <a:cs typeface="Calibri"/>
                <a:sym typeface="Calibri"/>
              </a:rPr>
              <a:t> revenue have both increased YoY when compared to previous year and </a:t>
            </a:r>
            <a:r>
              <a:rPr lang="en-US" sz="950">
                <a:solidFill>
                  <a:srgbClr val="1C1C1C"/>
                </a:solidFill>
                <a:latin typeface="Calibri"/>
                <a:ea typeface="Calibri"/>
                <a:cs typeface="Calibri"/>
                <a:sym typeface="Calibri"/>
              </a:rPr>
              <a:t>when</a:t>
            </a:r>
            <a:r>
              <a:rPr lang="en-US" sz="950">
                <a:solidFill>
                  <a:srgbClr val="1C1C1C"/>
                </a:solidFill>
                <a:latin typeface="Calibri"/>
                <a:ea typeface="Calibri"/>
                <a:cs typeface="Calibri"/>
                <a:sym typeface="Calibri"/>
              </a:rPr>
              <a:t> </a:t>
            </a:r>
            <a:r>
              <a:rPr lang="en-US" sz="950">
                <a:solidFill>
                  <a:srgbClr val="1C1C1C"/>
                </a:solidFill>
                <a:latin typeface="Calibri"/>
                <a:ea typeface="Calibri"/>
                <a:cs typeface="Calibri"/>
                <a:sym typeface="Calibri"/>
              </a:rPr>
              <a:t>compared</a:t>
            </a:r>
            <a:r>
              <a:rPr lang="en-US" sz="950">
                <a:solidFill>
                  <a:srgbClr val="1C1C1C"/>
                </a:solidFill>
                <a:latin typeface="Calibri"/>
                <a:ea typeface="Calibri"/>
                <a:cs typeface="Calibri"/>
                <a:sym typeface="Calibri"/>
              </a:rPr>
              <a:t> to our 2025/26 plan.</a:t>
            </a:r>
            <a:br>
              <a:rPr lang="en-US" sz="950">
                <a:solidFill>
                  <a:srgbClr val="1C1C1C"/>
                </a:solidFill>
                <a:latin typeface="Calibri"/>
                <a:ea typeface="Calibri"/>
                <a:cs typeface="Calibri"/>
                <a:sym typeface="Calibri"/>
              </a:rPr>
            </a:br>
            <a:endParaRPr sz="950">
              <a:solidFill>
                <a:srgbClr val="1C1C1C"/>
              </a:solidFill>
              <a:latin typeface="Calibri"/>
              <a:ea typeface="Calibri"/>
              <a:cs typeface="Calibri"/>
              <a:sym typeface="Calibri"/>
            </a:endParaRPr>
          </a:p>
          <a:p>
            <a:pPr indent="-288925" lvl="0" marL="457200" marR="0" rtl="0" algn="l">
              <a:spcBef>
                <a:spcPts val="0"/>
              </a:spcBef>
              <a:spcAft>
                <a:spcPts val="0"/>
              </a:spcAft>
              <a:buClr>
                <a:schemeClr val="dk1"/>
              </a:buClr>
              <a:buSzPts val="950"/>
              <a:buFont typeface="Calibri"/>
              <a:buChar char="●"/>
            </a:pPr>
            <a:r>
              <a:rPr lang="en-US" sz="950">
                <a:solidFill>
                  <a:srgbClr val="1C1C1C"/>
                </a:solidFill>
                <a:latin typeface="Calibri"/>
                <a:ea typeface="Calibri"/>
                <a:cs typeface="Calibri"/>
                <a:sym typeface="Calibri"/>
              </a:rPr>
              <a:t>CPA has seen slight increase, but is under our planned prediction. This is a real success considering the increase in spend.</a:t>
            </a:r>
            <a:br>
              <a:rPr lang="en-US" sz="950">
                <a:solidFill>
                  <a:srgbClr val="1C1C1C"/>
                </a:solidFill>
                <a:latin typeface="Calibri"/>
                <a:ea typeface="Calibri"/>
                <a:cs typeface="Calibri"/>
                <a:sym typeface="Calibri"/>
              </a:rPr>
            </a:br>
            <a:endParaRPr sz="950">
              <a:solidFill>
                <a:srgbClr val="1C1C1C"/>
              </a:solidFill>
              <a:latin typeface="Calibri"/>
              <a:ea typeface="Calibri"/>
              <a:cs typeface="Calibri"/>
              <a:sym typeface="Calibri"/>
            </a:endParaRPr>
          </a:p>
          <a:p>
            <a:pPr indent="-288925" lvl="0" marL="457200" marR="0" rtl="0" algn="l">
              <a:spcBef>
                <a:spcPts val="0"/>
              </a:spcBef>
              <a:spcAft>
                <a:spcPts val="0"/>
              </a:spcAft>
              <a:buClr>
                <a:srgbClr val="1C1C1C"/>
              </a:buClr>
              <a:buSzPts val="950"/>
              <a:buFont typeface="Calibri"/>
              <a:buChar char="●"/>
            </a:pPr>
            <a:r>
              <a:rPr lang="en-US" sz="950">
                <a:solidFill>
                  <a:srgbClr val="1C1C1C"/>
                </a:solidFill>
                <a:latin typeface="Calibri"/>
                <a:ea typeface="Calibri"/>
                <a:cs typeface="Calibri"/>
                <a:sym typeface="Calibri"/>
              </a:rPr>
              <a:t>Cost has increased YoY, but has come in slightly under the plan and the increase in revenue has outpaced the increase in spend</a:t>
            </a:r>
            <a:br>
              <a:rPr lang="en-US" sz="950">
                <a:solidFill>
                  <a:srgbClr val="1C1C1C"/>
                </a:solidFill>
                <a:latin typeface="Calibri"/>
                <a:ea typeface="Calibri"/>
                <a:cs typeface="Calibri"/>
                <a:sym typeface="Calibri"/>
              </a:rPr>
            </a:br>
            <a:endParaRPr sz="950">
              <a:solidFill>
                <a:srgbClr val="1C1C1C"/>
              </a:solidFill>
              <a:latin typeface="Calibri"/>
              <a:ea typeface="Calibri"/>
              <a:cs typeface="Calibri"/>
              <a:sym typeface="Calibri"/>
            </a:endParaRPr>
          </a:p>
          <a:p>
            <a:pPr indent="-288925" lvl="0" marL="457200" marR="0" rtl="0" algn="l">
              <a:spcBef>
                <a:spcPts val="0"/>
              </a:spcBef>
              <a:spcAft>
                <a:spcPts val="0"/>
              </a:spcAft>
              <a:buClr>
                <a:srgbClr val="1C1C1C"/>
              </a:buClr>
              <a:buSzPts val="950"/>
              <a:buFont typeface="Calibri"/>
              <a:buChar char="●"/>
            </a:pPr>
            <a:r>
              <a:rPr lang="en-US" sz="950">
                <a:solidFill>
                  <a:srgbClr val="1C1C1C"/>
                </a:solidFill>
                <a:latin typeface="Calibri"/>
                <a:ea typeface="Calibri"/>
                <a:cs typeface="Calibri"/>
                <a:sym typeface="Calibri"/>
              </a:rPr>
              <a:t>Increases in AOV, combined with a shifting budget allocation strategy, have contributed to overall </a:t>
            </a:r>
            <a:r>
              <a:rPr lang="en-US" sz="950">
                <a:solidFill>
                  <a:srgbClr val="1C1C1C"/>
                </a:solidFill>
                <a:latin typeface="Calibri"/>
                <a:ea typeface="Calibri"/>
                <a:cs typeface="Calibri"/>
                <a:sym typeface="Calibri"/>
              </a:rPr>
              <a:t>improvements</a:t>
            </a:r>
            <a:r>
              <a:rPr lang="en-US" sz="950">
                <a:solidFill>
                  <a:srgbClr val="1C1C1C"/>
                </a:solidFill>
                <a:latin typeface="Calibri"/>
                <a:ea typeface="Calibri"/>
                <a:cs typeface="Calibri"/>
                <a:sym typeface="Calibri"/>
              </a:rPr>
              <a:t> in ROAS YoY.</a:t>
            </a:r>
            <a:br>
              <a:rPr lang="en-US" sz="950">
                <a:solidFill>
                  <a:srgbClr val="1C1C1C"/>
                </a:solidFill>
                <a:latin typeface="Calibri"/>
                <a:ea typeface="Calibri"/>
                <a:cs typeface="Calibri"/>
                <a:sym typeface="Calibri"/>
              </a:rPr>
            </a:br>
            <a:br>
              <a:rPr lang="en-US" sz="950">
                <a:solidFill>
                  <a:srgbClr val="1C1C1C"/>
                </a:solidFill>
                <a:latin typeface="Calibri"/>
                <a:ea typeface="Calibri"/>
                <a:cs typeface="Calibri"/>
                <a:sym typeface="Calibri"/>
              </a:rPr>
            </a:br>
            <a:br>
              <a:rPr lang="en-US" sz="950">
                <a:solidFill>
                  <a:srgbClr val="1C1C1C"/>
                </a:solidFill>
                <a:latin typeface="Calibri"/>
                <a:ea typeface="Calibri"/>
                <a:cs typeface="Calibri"/>
                <a:sym typeface="Calibri"/>
              </a:rPr>
            </a:br>
            <a:r>
              <a:rPr lang="en-US" sz="950">
                <a:solidFill>
                  <a:srgbClr val="1C1C1C"/>
                </a:solidFill>
                <a:latin typeface="Calibri"/>
                <a:ea typeface="Calibri"/>
                <a:cs typeface="Calibri"/>
                <a:sym typeface="Calibri"/>
              </a:rPr>
              <a:t>The biggest change of strategy </a:t>
            </a:r>
            <a:r>
              <a:rPr lang="en-US" sz="950">
                <a:solidFill>
                  <a:srgbClr val="1C1C1C"/>
                </a:solidFill>
                <a:latin typeface="Calibri"/>
                <a:ea typeface="Calibri"/>
                <a:cs typeface="Calibri"/>
                <a:sym typeface="Calibri"/>
              </a:rPr>
              <a:t>contributing to these results has been putting more emphasis on our Generic campaigns, with brand investment and bids lowered.</a:t>
            </a:r>
            <a:endParaRPr sz="950">
              <a:solidFill>
                <a:srgbClr val="1C1C1C"/>
              </a:solidFill>
              <a:latin typeface="Calibri"/>
              <a:ea typeface="Calibri"/>
              <a:cs typeface="Calibri"/>
              <a:sym typeface="Calibri"/>
            </a:endParaRPr>
          </a:p>
        </p:txBody>
      </p:sp>
      <p:pic>
        <p:nvPicPr>
          <p:cNvPr id="282" name="Google Shape;282;p14"/>
          <p:cNvPicPr preferRelativeResize="0"/>
          <p:nvPr/>
        </p:nvPicPr>
        <p:blipFill>
          <a:blip r:embed="rId4">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7" name="Shape 287"/>
        <p:cNvGrpSpPr/>
        <p:nvPr/>
      </p:nvGrpSpPr>
      <p:grpSpPr>
        <a:xfrm>
          <a:off x="0" y="0"/>
          <a:ext cx="0" cy="0"/>
          <a:chOff x="0" y="0"/>
          <a:chExt cx="0" cy="0"/>
        </a:xfrm>
      </p:grpSpPr>
      <p:sp>
        <p:nvSpPr>
          <p:cNvPr id="288" name="Google Shape;288;p15"/>
          <p:cNvSpPr/>
          <p:nvPr/>
        </p:nvSpPr>
        <p:spPr>
          <a:xfrm>
            <a:off x="0" y="0"/>
            <a:ext cx="9144000" cy="868680"/>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5"/>
          <p:cNvSpPr/>
          <p:nvPr/>
        </p:nvSpPr>
        <p:spPr>
          <a:xfrm>
            <a:off x="320040" y="45720"/>
            <a:ext cx="80467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Brand Performance</a:t>
            </a:r>
            <a:endParaRPr b="0" i="0" sz="2200" u="none" cap="none" strike="noStrike">
              <a:solidFill>
                <a:schemeClr val="dk1"/>
              </a:solidFill>
              <a:latin typeface="Calibri"/>
              <a:ea typeface="Calibri"/>
              <a:cs typeface="Calibri"/>
              <a:sym typeface="Calibri"/>
            </a:endParaRPr>
          </a:p>
        </p:txBody>
      </p:sp>
      <p:sp>
        <p:nvSpPr>
          <p:cNvPr id="290" name="Google Shape;290;p15"/>
          <p:cNvSpPr/>
          <p:nvPr/>
        </p:nvSpPr>
        <p:spPr>
          <a:xfrm>
            <a:off x="320040" y="521208"/>
            <a:ext cx="8046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000"/>
              <a:buFont typeface="Calibri"/>
              <a:buNone/>
            </a:pPr>
            <a:r>
              <a:rPr b="0" i="0" lang="en-US" sz="1000" u="none" cap="none" strike="noStrike">
                <a:solidFill>
                  <a:srgbClr val="CCCCCC"/>
                </a:solidFill>
                <a:latin typeface="Calibri"/>
                <a:ea typeface="Calibri"/>
                <a:cs typeface="Calibri"/>
                <a:sym typeface="Calibri"/>
              </a:rPr>
              <a:t>FY 2025/26 (Apr 2025 - Mar 2026)</a:t>
            </a:r>
            <a:endParaRPr b="0" i="0" sz="1000" u="none" cap="none" strike="noStrike">
              <a:solidFill>
                <a:schemeClr val="dk1"/>
              </a:solidFill>
              <a:latin typeface="Calibri"/>
              <a:ea typeface="Calibri"/>
              <a:cs typeface="Calibri"/>
              <a:sym typeface="Calibri"/>
            </a:endParaRPr>
          </a:p>
        </p:txBody>
      </p:sp>
      <p:sp>
        <p:nvSpPr>
          <p:cNvPr id="291" name="Google Shape;291;p15"/>
          <p:cNvSpPr/>
          <p:nvPr/>
        </p:nvSpPr>
        <p:spPr>
          <a:xfrm>
            <a:off x="0" y="868680"/>
            <a:ext cx="9144000" cy="36576"/>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5"/>
          <p:cNvSpPr/>
          <p:nvPr/>
        </p:nvSpPr>
        <p:spPr>
          <a:xfrm>
            <a:off x="0" y="4910328"/>
            <a:ext cx="9144000" cy="233172"/>
          </a:xfrm>
          <a:prstGeom prst="rect">
            <a:avLst/>
          </a:prstGeom>
          <a:solidFill>
            <a:srgbClr val="1C1C1C"/>
          </a:solidFill>
          <a:ln cap="flat" cmpd="sng" w="12700">
            <a:solidFill>
              <a:srgbClr val="1C1C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5"/>
          <p:cNvSpPr/>
          <p:nvPr/>
        </p:nvSpPr>
        <p:spPr>
          <a:xfrm>
            <a:off x="320040" y="4919472"/>
            <a:ext cx="8503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00"/>
              <a:buFont typeface="Calibri"/>
              <a:buNone/>
            </a:pPr>
            <a:r>
              <a:rPr b="0" i="0" lang="en-US" sz="800" u="none" cap="none" strike="noStrike">
                <a:solidFill>
                  <a:srgbClr val="888888"/>
                </a:solidFill>
                <a:latin typeface="Calibri"/>
                <a:ea typeface="Calibri"/>
                <a:cs typeface="Calibri"/>
                <a:sym typeface="Calibri"/>
              </a:rPr>
              <a:t>FY 2025/26  |  Wightlink  |  Confidential</a:t>
            </a:r>
            <a:endParaRPr b="0" i="0" sz="800" u="none" cap="none" strike="noStrike">
              <a:solidFill>
                <a:schemeClr val="dk1"/>
              </a:solidFill>
              <a:latin typeface="Calibri"/>
              <a:ea typeface="Calibri"/>
              <a:cs typeface="Calibri"/>
              <a:sym typeface="Calibri"/>
            </a:endParaRPr>
          </a:p>
        </p:txBody>
      </p:sp>
      <p:sp>
        <p:nvSpPr>
          <p:cNvPr id="294" name="Google Shape;294;p15"/>
          <p:cNvSpPr/>
          <p:nvPr/>
        </p:nvSpPr>
        <p:spPr>
          <a:xfrm>
            <a:off x="320040" y="969264"/>
            <a:ext cx="1341120" cy="969264"/>
          </a:xfrm>
          <a:prstGeom prst="rect">
            <a:avLst/>
          </a:prstGeom>
          <a:solidFill>
            <a:srgbClr val="FFFFFF"/>
          </a:solidFill>
          <a:ln cap="flat" cmpd="sng" w="12700">
            <a:solidFill>
              <a:srgbClr val="E0E0E0"/>
            </a:solidFill>
            <a:prstDash val="solid"/>
            <a:round/>
            <a:headEnd len="sm" w="sm" type="none"/>
            <a:tailEnd len="sm" w="sm" type="none"/>
          </a:ln>
          <a:effectLst>
            <a:outerShdw blurRad="50800" rotWithShape="0" algn="bl" dir="81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5"/>
          <p:cNvSpPr/>
          <p:nvPr/>
        </p:nvSpPr>
        <p:spPr>
          <a:xfrm>
            <a:off x="320040" y="969264"/>
            <a:ext cx="1341120" cy="50292"/>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5"/>
          <p:cNvSpPr/>
          <p:nvPr/>
        </p:nvSpPr>
        <p:spPr>
          <a:xfrm>
            <a:off x="411480" y="1033272"/>
            <a:ext cx="11582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Cost</a:t>
            </a:r>
            <a:endParaRPr b="0" i="0" sz="850" u="none" cap="none" strike="noStrike">
              <a:solidFill>
                <a:schemeClr val="dk1"/>
              </a:solidFill>
              <a:latin typeface="Calibri"/>
              <a:ea typeface="Calibri"/>
              <a:cs typeface="Calibri"/>
              <a:sym typeface="Calibri"/>
            </a:endParaRPr>
          </a:p>
        </p:txBody>
      </p:sp>
      <p:sp>
        <p:nvSpPr>
          <p:cNvPr id="297" name="Google Shape;297;p15"/>
          <p:cNvSpPr/>
          <p:nvPr/>
        </p:nvSpPr>
        <p:spPr>
          <a:xfrm>
            <a:off x="411480" y="1216152"/>
            <a:ext cx="1158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700"/>
              <a:buFont typeface="Calibri"/>
              <a:buNone/>
            </a:pPr>
            <a:r>
              <a:rPr b="1" i="0" lang="en-US" sz="1700" u="none" cap="none" strike="noStrike">
                <a:solidFill>
                  <a:srgbClr val="1C1C1C"/>
                </a:solidFill>
                <a:latin typeface="Calibri"/>
                <a:ea typeface="Calibri"/>
                <a:cs typeface="Calibri"/>
                <a:sym typeface="Calibri"/>
              </a:rPr>
              <a:t>£86,943</a:t>
            </a:r>
            <a:endParaRPr b="0" i="0" sz="1700" u="none" cap="none" strike="noStrike">
              <a:solidFill>
                <a:schemeClr val="dk1"/>
              </a:solidFill>
              <a:latin typeface="Calibri"/>
              <a:ea typeface="Calibri"/>
              <a:cs typeface="Calibri"/>
              <a:sym typeface="Calibri"/>
            </a:endParaRPr>
          </a:p>
        </p:txBody>
      </p:sp>
      <p:sp>
        <p:nvSpPr>
          <p:cNvPr id="298" name="Google Shape;298;p15"/>
          <p:cNvSpPr/>
          <p:nvPr/>
        </p:nvSpPr>
        <p:spPr>
          <a:xfrm>
            <a:off x="411480" y="1591056"/>
            <a:ext cx="1158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YoY: </a:t>
            </a:r>
            <a:r>
              <a:rPr b="1" i="0" lang="en-US" sz="850" u="none" cap="none" strike="noStrike">
                <a:solidFill>
                  <a:srgbClr val="777777"/>
                </a:solidFill>
                <a:latin typeface="Calibri"/>
                <a:ea typeface="Calibri"/>
                <a:cs typeface="Calibri"/>
                <a:sym typeface="Calibri"/>
              </a:rPr>
              <a:t>-23.2%</a:t>
            </a:r>
            <a:endParaRPr b="0" i="0" sz="850" u="none" cap="none" strike="noStrike">
              <a:solidFill>
                <a:srgbClr val="777777"/>
              </a:solidFill>
              <a:latin typeface="Calibri"/>
              <a:ea typeface="Calibri"/>
              <a:cs typeface="Calibri"/>
              <a:sym typeface="Calibri"/>
            </a:endParaRPr>
          </a:p>
        </p:txBody>
      </p:sp>
      <p:sp>
        <p:nvSpPr>
          <p:cNvPr id="299" name="Google Shape;299;p15"/>
          <p:cNvSpPr/>
          <p:nvPr/>
        </p:nvSpPr>
        <p:spPr>
          <a:xfrm>
            <a:off x="1752600" y="969264"/>
            <a:ext cx="1341120" cy="969264"/>
          </a:xfrm>
          <a:prstGeom prst="rect">
            <a:avLst/>
          </a:prstGeom>
          <a:solidFill>
            <a:srgbClr val="FFFFFF"/>
          </a:solidFill>
          <a:ln cap="flat" cmpd="sng" w="12700">
            <a:solidFill>
              <a:srgbClr val="E0E0E0"/>
            </a:solidFill>
            <a:prstDash val="solid"/>
            <a:round/>
            <a:headEnd len="sm" w="sm" type="none"/>
            <a:tailEnd len="sm" w="sm" type="none"/>
          </a:ln>
          <a:effectLst>
            <a:outerShdw blurRad="50800" rotWithShape="0" algn="bl" dir="81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5"/>
          <p:cNvSpPr/>
          <p:nvPr/>
        </p:nvSpPr>
        <p:spPr>
          <a:xfrm>
            <a:off x="1752600" y="969264"/>
            <a:ext cx="1341120" cy="50292"/>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5"/>
          <p:cNvSpPr/>
          <p:nvPr/>
        </p:nvSpPr>
        <p:spPr>
          <a:xfrm>
            <a:off x="1844040" y="1033272"/>
            <a:ext cx="11582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Purchases</a:t>
            </a:r>
            <a:endParaRPr b="0" i="0" sz="850" u="none" cap="none" strike="noStrike">
              <a:solidFill>
                <a:schemeClr val="dk1"/>
              </a:solidFill>
              <a:latin typeface="Calibri"/>
              <a:ea typeface="Calibri"/>
              <a:cs typeface="Calibri"/>
              <a:sym typeface="Calibri"/>
            </a:endParaRPr>
          </a:p>
        </p:txBody>
      </p:sp>
      <p:sp>
        <p:nvSpPr>
          <p:cNvPr id="302" name="Google Shape;302;p15"/>
          <p:cNvSpPr/>
          <p:nvPr/>
        </p:nvSpPr>
        <p:spPr>
          <a:xfrm>
            <a:off x="1844040" y="1216152"/>
            <a:ext cx="1158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700"/>
              <a:buFont typeface="Calibri"/>
              <a:buNone/>
            </a:pPr>
            <a:r>
              <a:rPr b="1" i="0" lang="en-US" sz="1700" u="none" cap="none" strike="noStrike">
                <a:solidFill>
                  <a:srgbClr val="1C1C1C"/>
                </a:solidFill>
                <a:latin typeface="Calibri"/>
                <a:ea typeface="Calibri"/>
                <a:cs typeface="Calibri"/>
                <a:sym typeface="Calibri"/>
              </a:rPr>
              <a:t>115,084</a:t>
            </a:r>
            <a:endParaRPr b="0" i="0" sz="1700" u="none" cap="none" strike="noStrike">
              <a:solidFill>
                <a:schemeClr val="dk1"/>
              </a:solidFill>
              <a:latin typeface="Calibri"/>
              <a:ea typeface="Calibri"/>
              <a:cs typeface="Calibri"/>
              <a:sym typeface="Calibri"/>
            </a:endParaRPr>
          </a:p>
        </p:txBody>
      </p:sp>
      <p:sp>
        <p:nvSpPr>
          <p:cNvPr id="303" name="Google Shape;303;p15"/>
          <p:cNvSpPr/>
          <p:nvPr/>
        </p:nvSpPr>
        <p:spPr>
          <a:xfrm>
            <a:off x="1844040" y="1591056"/>
            <a:ext cx="1158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YoY: </a:t>
            </a:r>
            <a:r>
              <a:rPr b="1" i="0" lang="en-US" sz="850" u="none" cap="none" strike="noStrike">
                <a:solidFill>
                  <a:srgbClr val="1A7A4A"/>
                </a:solidFill>
                <a:latin typeface="Calibri"/>
                <a:ea typeface="Calibri"/>
                <a:cs typeface="Calibri"/>
                <a:sym typeface="Calibri"/>
              </a:rPr>
              <a:t>+2.8%</a:t>
            </a:r>
            <a:endParaRPr b="0" i="0" sz="850" u="none" cap="none" strike="noStrike">
              <a:solidFill>
                <a:schemeClr val="dk1"/>
              </a:solidFill>
              <a:latin typeface="Calibri"/>
              <a:ea typeface="Calibri"/>
              <a:cs typeface="Calibri"/>
              <a:sym typeface="Calibri"/>
            </a:endParaRPr>
          </a:p>
        </p:txBody>
      </p:sp>
      <p:sp>
        <p:nvSpPr>
          <p:cNvPr id="304" name="Google Shape;304;p15"/>
          <p:cNvSpPr/>
          <p:nvPr/>
        </p:nvSpPr>
        <p:spPr>
          <a:xfrm>
            <a:off x="3185160" y="969264"/>
            <a:ext cx="1341120" cy="969264"/>
          </a:xfrm>
          <a:prstGeom prst="rect">
            <a:avLst/>
          </a:prstGeom>
          <a:solidFill>
            <a:srgbClr val="FFFFFF"/>
          </a:solidFill>
          <a:ln cap="flat" cmpd="sng" w="12700">
            <a:solidFill>
              <a:srgbClr val="E0E0E0"/>
            </a:solidFill>
            <a:prstDash val="solid"/>
            <a:round/>
            <a:headEnd len="sm" w="sm" type="none"/>
            <a:tailEnd len="sm" w="sm" type="none"/>
          </a:ln>
          <a:effectLst>
            <a:outerShdw blurRad="50800" rotWithShape="0" algn="bl" dir="81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5"/>
          <p:cNvSpPr/>
          <p:nvPr/>
        </p:nvSpPr>
        <p:spPr>
          <a:xfrm>
            <a:off x="3185160" y="969264"/>
            <a:ext cx="1341120" cy="50292"/>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5"/>
          <p:cNvSpPr/>
          <p:nvPr/>
        </p:nvSpPr>
        <p:spPr>
          <a:xfrm>
            <a:off x="3276600" y="1033272"/>
            <a:ext cx="11582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Purchase Revenue</a:t>
            </a:r>
            <a:endParaRPr b="0" i="0" sz="850" u="none" cap="none" strike="noStrike">
              <a:solidFill>
                <a:schemeClr val="dk1"/>
              </a:solidFill>
              <a:latin typeface="Calibri"/>
              <a:ea typeface="Calibri"/>
              <a:cs typeface="Calibri"/>
              <a:sym typeface="Calibri"/>
            </a:endParaRPr>
          </a:p>
        </p:txBody>
      </p:sp>
      <p:sp>
        <p:nvSpPr>
          <p:cNvPr id="307" name="Google Shape;307;p15"/>
          <p:cNvSpPr/>
          <p:nvPr/>
        </p:nvSpPr>
        <p:spPr>
          <a:xfrm>
            <a:off x="3276600" y="1216152"/>
            <a:ext cx="1158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700"/>
              <a:buFont typeface="Calibri"/>
              <a:buNone/>
            </a:pPr>
            <a:r>
              <a:rPr b="1" i="0" lang="en-US" sz="1700" u="none" cap="none" strike="noStrike">
                <a:solidFill>
                  <a:srgbClr val="1C1C1C"/>
                </a:solidFill>
                <a:latin typeface="Calibri"/>
                <a:ea typeface="Calibri"/>
                <a:cs typeface="Calibri"/>
                <a:sym typeface="Calibri"/>
              </a:rPr>
              <a:t>£9,743,002</a:t>
            </a:r>
            <a:endParaRPr b="0" i="0" sz="1700" u="none" cap="none" strike="noStrike">
              <a:solidFill>
                <a:schemeClr val="dk1"/>
              </a:solidFill>
              <a:latin typeface="Calibri"/>
              <a:ea typeface="Calibri"/>
              <a:cs typeface="Calibri"/>
              <a:sym typeface="Calibri"/>
            </a:endParaRPr>
          </a:p>
        </p:txBody>
      </p:sp>
      <p:sp>
        <p:nvSpPr>
          <p:cNvPr id="308" name="Google Shape;308;p15"/>
          <p:cNvSpPr/>
          <p:nvPr/>
        </p:nvSpPr>
        <p:spPr>
          <a:xfrm>
            <a:off x="3276600" y="1591056"/>
            <a:ext cx="1158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YoY: </a:t>
            </a:r>
            <a:r>
              <a:rPr b="1" i="0" lang="en-US" sz="850" u="none" cap="none" strike="noStrike">
                <a:solidFill>
                  <a:srgbClr val="1A7A4A"/>
                </a:solidFill>
                <a:latin typeface="Calibri"/>
                <a:ea typeface="Calibri"/>
                <a:cs typeface="Calibri"/>
                <a:sym typeface="Calibri"/>
              </a:rPr>
              <a:t>+7.9%</a:t>
            </a:r>
            <a:endParaRPr b="0" i="0" sz="850" u="none" cap="none" strike="noStrike">
              <a:solidFill>
                <a:schemeClr val="dk1"/>
              </a:solidFill>
              <a:latin typeface="Calibri"/>
              <a:ea typeface="Calibri"/>
              <a:cs typeface="Calibri"/>
              <a:sym typeface="Calibri"/>
            </a:endParaRPr>
          </a:p>
        </p:txBody>
      </p:sp>
      <p:sp>
        <p:nvSpPr>
          <p:cNvPr id="309" name="Google Shape;309;p15"/>
          <p:cNvSpPr/>
          <p:nvPr/>
        </p:nvSpPr>
        <p:spPr>
          <a:xfrm>
            <a:off x="4617720" y="969264"/>
            <a:ext cx="1341120" cy="969264"/>
          </a:xfrm>
          <a:prstGeom prst="rect">
            <a:avLst/>
          </a:prstGeom>
          <a:solidFill>
            <a:srgbClr val="FFFFFF"/>
          </a:solidFill>
          <a:ln cap="flat" cmpd="sng" w="12700">
            <a:solidFill>
              <a:srgbClr val="E0E0E0"/>
            </a:solidFill>
            <a:prstDash val="solid"/>
            <a:round/>
            <a:headEnd len="sm" w="sm" type="none"/>
            <a:tailEnd len="sm" w="sm" type="none"/>
          </a:ln>
          <a:effectLst>
            <a:outerShdw blurRad="50800" rotWithShape="0" algn="bl" dir="81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5"/>
          <p:cNvSpPr/>
          <p:nvPr/>
        </p:nvSpPr>
        <p:spPr>
          <a:xfrm>
            <a:off x="4617720" y="969264"/>
            <a:ext cx="1341120" cy="50292"/>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5"/>
          <p:cNvSpPr/>
          <p:nvPr/>
        </p:nvSpPr>
        <p:spPr>
          <a:xfrm>
            <a:off x="4709160" y="1033272"/>
            <a:ext cx="11582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CPA</a:t>
            </a:r>
            <a:endParaRPr b="0" i="0" sz="850" u="none" cap="none" strike="noStrike">
              <a:solidFill>
                <a:schemeClr val="dk1"/>
              </a:solidFill>
              <a:latin typeface="Calibri"/>
              <a:ea typeface="Calibri"/>
              <a:cs typeface="Calibri"/>
              <a:sym typeface="Calibri"/>
            </a:endParaRPr>
          </a:p>
        </p:txBody>
      </p:sp>
      <p:sp>
        <p:nvSpPr>
          <p:cNvPr id="312" name="Google Shape;312;p15"/>
          <p:cNvSpPr/>
          <p:nvPr/>
        </p:nvSpPr>
        <p:spPr>
          <a:xfrm>
            <a:off x="4709160" y="1216152"/>
            <a:ext cx="1158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700"/>
              <a:buFont typeface="Calibri"/>
              <a:buNone/>
            </a:pPr>
            <a:r>
              <a:rPr b="1" i="0" lang="en-US" sz="1700" u="none" cap="none" strike="noStrike">
                <a:solidFill>
                  <a:srgbClr val="1C1C1C"/>
                </a:solidFill>
                <a:latin typeface="Calibri"/>
                <a:ea typeface="Calibri"/>
                <a:cs typeface="Calibri"/>
                <a:sym typeface="Calibri"/>
              </a:rPr>
              <a:t>£0.76</a:t>
            </a:r>
            <a:endParaRPr b="0" i="0" sz="1700" u="none" cap="none" strike="noStrike">
              <a:solidFill>
                <a:schemeClr val="dk1"/>
              </a:solidFill>
              <a:latin typeface="Calibri"/>
              <a:ea typeface="Calibri"/>
              <a:cs typeface="Calibri"/>
              <a:sym typeface="Calibri"/>
            </a:endParaRPr>
          </a:p>
        </p:txBody>
      </p:sp>
      <p:sp>
        <p:nvSpPr>
          <p:cNvPr id="313" name="Google Shape;313;p15"/>
          <p:cNvSpPr/>
          <p:nvPr/>
        </p:nvSpPr>
        <p:spPr>
          <a:xfrm>
            <a:off x="4709160" y="1591056"/>
            <a:ext cx="1158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YoY: </a:t>
            </a:r>
            <a:r>
              <a:rPr b="1" i="0" lang="en-US" sz="850" u="none" cap="none" strike="noStrike">
                <a:solidFill>
                  <a:srgbClr val="1A7A4A"/>
                </a:solidFill>
                <a:latin typeface="Calibri"/>
                <a:ea typeface="Calibri"/>
                <a:cs typeface="Calibri"/>
                <a:sym typeface="Calibri"/>
              </a:rPr>
              <a:t>-25.2%</a:t>
            </a:r>
            <a:endParaRPr b="0" i="0" sz="850" u="none" cap="none" strike="noStrike">
              <a:solidFill>
                <a:schemeClr val="dk1"/>
              </a:solidFill>
              <a:latin typeface="Calibri"/>
              <a:ea typeface="Calibri"/>
              <a:cs typeface="Calibri"/>
              <a:sym typeface="Calibri"/>
            </a:endParaRPr>
          </a:p>
        </p:txBody>
      </p:sp>
      <p:sp>
        <p:nvSpPr>
          <p:cNvPr id="314" name="Google Shape;314;p15"/>
          <p:cNvSpPr/>
          <p:nvPr/>
        </p:nvSpPr>
        <p:spPr>
          <a:xfrm>
            <a:off x="6050280" y="969264"/>
            <a:ext cx="1341120" cy="969264"/>
          </a:xfrm>
          <a:prstGeom prst="rect">
            <a:avLst/>
          </a:prstGeom>
          <a:solidFill>
            <a:srgbClr val="FFFFFF"/>
          </a:solidFill>
          <a:ln cap="flat" cmpd="sng" w="12700">
            <a:solidFill>
              <a:srgbClr val="E0E0E0"/>
            </a:solidFill>
            <a:prstDash val="solid"/>
            <a:round/>
            <a:headEnd len="sm" w="sm" type="none"/>
            <a:tailEnd len="sm" w="sm" type="none"/>
          </a:ln>
          <a:effectLst>
            <a:outerShdw blurRad="50800" rotWithShape="0" algn="bl" dir="81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5"/>
          <p:cNvSpPr/>
          <p:nvPr/>
        </p:nvSpPr>
        <p:spPr>
          <a:xfrm>
            <a:off x="6050280" y="969264"/>
            <a:ext cx="1341120" cy="50292"/>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5"/>
          <p:cNvSpPr/>
          <p:nvPr/>
        </p:nvSpPr>
        <p:spPr>
          <a:xfrm>
            <a:off x="6141720" y="1033272"/>
            <a:ext cx="11582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ROAS</a:t>
            </a:r>
            <a:endParaRPr b="0" i="0" sz="850" u="none" cap="none" strike="noStrike">
              <a:solidFill>
                <a:schemeClr val="dk1"/>
              </a:solidFill>
              <a:latin typeface="Calibri"/>
              <a:ea typeface="Calibri"/>
              <a:cs typeface="Calibri"/>
              <a:sym typeface="Calibri"/>
            </a:endParaRPr>
          </a:p>
        </p:txBody>
      </p:sp>
      <p:sp>
        <p:nvSpPr>
          <p:cNvPr id="317" name="Google Shape;317;p15"/>
          <p:cNvSpPr/>
          <p:nvPr/>
        </p:nvSpPr>
        <p:spPr>
          <a:xfrm>
            <a:off x="6141720" y="1216152"/>
            <a:ext cx="1158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700"/>
              <a:buFont typeface="Calibri"/>
              <a:buNone/>
            </a:pPr>
            <a:r>
              <a:rPr b="1" i="0" lang="en-US" sz="1700" u="none" cap="none" strike="noStrike">
                <a:solidFill>
                  <a:srgbClr val="1C1C1C"/>
                </a:solidFill>
                <a:latin typeface="Calibri"/>
                <a:ea typeface="Calibri"/>
                <a:cs typeface="Calibri"/>
                <a:sym typeface="Calibri"/>
              </a:rPr>
              <a:t>112.06</a:t>
            </a:r>
            <a:endParaRPr b="0" i="0" sz="1700" u="none" cap="none" strike="noStrike">
              <a:solidFill>
                <a:schemeClr val="dk1"/>
              </a:solidFill>
              <a:latin typeface="Calibri"/>
              <a:ea typeface="Calibri"/>
              <a:cs typeface="Calibri"/>
              <a:sym typeface="Calibri"/>
            </a:endParaRPr>
          </a:p>
        </p:txBody>
      </p:sp>
      <p:sp>
        <p:nvSpPr>
          <p:cNvPr id="318" name="Google Shape;318;p15"/>
          <p:cNvSpPr/>
          <p:nvPr/>
        </p:nvSpPr>
        <p:spPr>
          <a:xfrm>
            <a:off x="6141720" y="1591056"/>
            <a:ext cx="1158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YoY: </a:t>
            </a:r>
            <a:r>
              <a:rPr b="1" i="0" lang="en-US" sz="850" u="none" cap="none" strike="noStrike">
                <a:solidFill>
                  <a:srgbClr val="1A7A4A"/>
                </a:solidFill>
                <a:latin typeface="Calibri"/>
                <a:ea typeface="Calibri"/>
                <a:cs typeface="Calibri"/>
                <a:sym typeface="Calibri"/>
              </a:rPr>
              <a:t>+40.4%</a:t>
            </a:r>
            <a:endParaRPr b="0" i="0" sz="850" u="none" cap="none" strike="noStrike">
              <a:solidFill>
                <a:schemeClr val="dk1"/>
              </a:solidFill>
              <a:latin typeface="Calibri"/>
              <a:ea typeface="Calibri"/>
              <a:cs typeface="Calibri"/>
              <a:sym typeface="Calibri"/>
            </a:endParaRPr>
          </a:p>
        </p:txBody>
      </p:sp>
      <p:sp>
        <p:nvSpPr>
          <p:cNvPr id="319" name="Google Shape;319;p15"/>
          <p:cNvSpPr/>
          <p:nvPr/>
        </p:nvSpPr>
        <p:spPr>
          <a:xfrm>
            <a:off x="7482840" y="969264"/>
            <a:ext cx="1341120" cy="969264"/>
          </a:xfrm>
          <a:prstGeom prst="rect">
            <a:avLst/>
          </a:prstGeom>
          <a:solidFill>
            <a:srgbClr val="FFFFFF"/>
          </a:solidFill>
          <a:ln cap="flat" cmpd="sng" w="12700">
            <a:solidFill>
              <a:srgbClr val="E0E0E0"/>
            </a:solidFill>
            <a:prstDash val="solid"/>
            <a:round/>
            <a:headEnd len="sm" w="sm" type="none"/>
            <a:tailEnd len="sm" w="sm" type="none"/>
          </a:ln>
          <a:effectLst>
            <a:outerShdw blurRad="50800" rotWithShape="0" algn="bl" dir="81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5"/>
          <p:cNvSpPr/>
          <p:nvPr/>
        </p:nvSpPr>
        <p:spPr>
          <a:xfrm>
            <a:off x="7482840" y="969264"/>
            <a:ext cx="1341120" cy="50292"/>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5"/>
          <p:cNvSpPr/>
          <p:nvPr/>
        </p:nvSpPr>
        <p:spPr>
          <a:xfrm>
            <a:off x="7574280" y="1033272"/>
            <a:ext cx="11582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AOV</a:t>
            </a:r>
            <a:endParaRPr b="0" i="0" sz="850" u="none" cap="none" strike="noStrike">
              <a:solidFill>
                <a:schemeClr val="dk1"/>
              </a:solidFill>
              <a:latin typeface="Calibri"/>
              <a:ea typeface="Calibri"/>
              <a:cs typeface="Calibri"/>
              <a:sym typeface="Calibri"/>
            </a:endParaRPr>
          </a:p>
        </p:txBody>
      </p:sp>
      <p:sp>
        <p:nvSpPr>
          <p:cNvPr id="322" name="Google Shape;322;p15"/>
          <p:cNvSpPr/>
          <p:nvPr/>
        </p:nvSpPr>
        <p:spPr>
          <a:xfrm>
            <a:off x="7574280" y="1216152"/>
            <a:ext cx="1158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700"/>
              <a:buFont typeface="Calibri"/>
              <a:buNone/>
            </a:pPr>
            <a:r>
              <a:rPr b="1" i="0" lang="en-US" sz="1700" u="none" cap="none" strike="noStrike">
                <a:solidFill>
                  <a:srgbClr val="1C1C1C"/>
                </a:solidFill>
                <a:latin typeface="Calibri"/>
                <a:ea typeface="Calibri"/>
                <a:cs typeface="Calibri"/>
                <a:sym typeface="Calibri"/>
              </a:rPr>
              <a:t>£84.66</a:t>
            </a:r>
            <a:endParaRPr b="0" i="0" sz="1700" u="none" cap="none" strike="noStrike">
              <a:solidFill>
                <a:schemeClr val="dk1"/>
              </a:solidFill>
              <a:latin typeface="Calibri"/>
              <a:ea typeface="Calibri"/>
              <a:cs typeface="Calibri"/>
              <a:sym typeface="Calibri"/>
            </a:endParaRPr>
          </a:p>
        </p:txBody>
      </p:sp>
      <p:sp>
        <p:nvSpPr>
          <p:cNvPr id="323" name="Google Shape;323;p15"/>
          <p:cNvSpPr/>
          <p:nvPr/>
        </p:nvSpPr>
        <p:spPr>
          <a:xfrm>
            <a:off x="7574280" y="1591056"/>
            <a:ext cx="1158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YoY: </a:t>
            </a:r>
            <a:r>
              <a:rPr b="1" i="0" lang="en-US" sz="850" u="none" cap="none" strike="noStrike">
                <a:solidFill>
                  <a:srgbClr val="1A7A4A"/>
                </a:solidFill>
                <a:latin typeface="Calibri"/>
                <a:ea typeface="Calibri"/>
                <a:cs typeface="Calibri"/>
                <a:sym typeface="Calibri"/>
              </a:rPr>
              <a:t>+5.0%</a:t>
            </a:r>
            <a:endParaRPr b="0" i="0" sz="850" u="none" cap="none" strike="noStrike">
              <a:solidFill>
                <a:schemeClr val="dk1"/>
              </a:solidFill>
              <a:latin typeface="Calibri"/>
              <a:ea typeface="Calibri"/>
              <a:cs typeface="Calibri"/>
              <a:sym typeface="Calibri"/>
            </a:endParaRPr>
          </a:p>
        </p:txBody>
      </p:sp>
      <p:pic>
        <p:nvPicPr>
          <p:cNvPr id="324" name="Google Shape;324;p15"/>
          <p:cNvPicPr preferRelativeResize="0"/>
          <p:nvPr/>
        </p:nvPicPr>
        <p:blipFill>
          <a:blip r:embed="rId3">
            <a:alphaModFix/>
          </a:blip>
          <a:stretch>
            <a:fillRect/>
          </a:stretch>
        </p:blipFill>
        <p:spPr>
          <a:xfrm>
            <a:off x="320050" y="2002546"/>
            <a:ext cx="5576855" cy="2713075"/>
          </a:xfrm>
          <a:prstGeom prst="rect">
            <a:avLst/>
          </a:prstGeom>
          <a:noFill/>
          <a:ln>
            <a:noFill/>
          </a:ln>
        </p:spPr>
      </p:pic>
      <p:sp>
        <p:nvSpPr>
          <p:cNvPr id="325" name="Google Shape;325;p15"/>
          <p:cNvSpPr/>
          <p:nvPr/>
        </p:nvSpPr>
        <p:spPr>
          <a:xfrm>
            <a:off x="6050275" y="2527501"/>
            <a:ext cx="2773800" cy="1803000"/>
          </a:xfrm>
          <a:prstGeom prst="rect">
            <a:avLst/>
          </a:prstGeom>
          <a:noFill/>
          <a:ln>
            <a:noFill/>
          </a:ln>
        </p:spPr>
        <p:txBody>
          <a:bodyPr anchorCtr="0" anchor="t" bIns="0" lIns="0" spcFirstLastPara="1" rIns="0" wrap="square" tIns="0">
            <a:noAutofit/>
          </a:bodyPr>
          <a:lstStyle/>
          <a:p>
            <a:pPr indent="-295275" lvl="0" marL="457200" marR="0" rtl="0" algn="l">
              <a:spcBef>
                <a:spcPts val="0"/>
              </a:spcBef>
              <a:spcAft>
                <a:spcPts val="0"/>
              </a:spcAft>
              <a:buClr>
                <a:srgbClr val="1C1C1C"/>
              </a:buClr>
              <a:buSzPts val="1050"/>
              <a:buFont typeface="Calibri"/>
              <a:buChar char="●"/>
            </a:pPr>
            <a:r>
              <a:rPr lang="en-US" sz="950">
                <a:solidFill>
                  <a:srgbClr val="1C1C1C"/>
                </a:solidFill>
                <a:latin typeface="Calibri"/>
                <a:ea typeface="Calibri"/>
                <a:cs typeface="Calibri"/>
                <a:sym typeface="Calibri"/>
              </a:rPr>
              <a:t>Brand </a:t>
            </a:r>
            <a:r>
              <a:rPr lang="en-US" sz="950">
                <a:solidFill>
                  <a:srgbClr val="1C1C1C"/>
                </a:solidFill>
                <a:latin typeface="Calibri"/>
                <a:ea typeface="Calibri"/>
                <a:cs typeface="Calibri"/>
                <a:sym typeface="Calibri"/>
              </a:rPr>
              <a:t>performance</a:t>
            </a:r>
            <a:r>
              <a:rPr lang="en-US" sz="950">
                <a:solidFill>
                  <a:srgbClr val="1C1C1C"/>
                </a:solidFill>
                <a:latin typeface="Calibri"/>
                <a:ea typeface="Calibri"/>
                <a:cs typeface="Calibri"/>
                <a:sym typeface="Calibri"/>
              </a:rPr>
              <a:t> has seen really positive improvements in </a:t>
            </a:r>
            <a:r>
              <a:rPr lang="en-US" sz="950">
                <a:solidFill>
                  <a:srgbClr val="1C1C1C"/>
                </a:solidFill>
                <a:latin typeface="Calibri"/>
                <a:ea typeface="Calibri"/>
                <a:cs typeface="Calibri"/>
                <a:sym typeface="Calibri"/>
              </a:rPr>
              <a:t>efficiency</a:t>
            </a:r>
            <a:r>
              <a:rPr lang="en-US" sz="950">
                <a:solidFill>
                  <a:srgbClr val="1C1C1C"/>
                </a:solidFill>
                <a:latin typeface="Calibri"/>
                <a:ea typeface="Calibri"/>
                <a:cs typeface="Calibri"/>
                <a:sym typeface="Calibri"/>
              </a:rPr>
              <a:t> over the last year.</a:t>
            </a:r>
            <a:br>
              <a:rPr lang="en-US" sz="950">
                <a:solidFill>
                  <a:srgbClr val="1C1C1C"/>
                </a:solidFill>
                <a:latin typeface="Calibri"/>
                <a:ea typeface="Calibri"/>
                <a:cs typeface="Calibri"/>
                <a:sym typeface="Calibri"/>
              </a:rPr>
            </a:br>
            <a:endParaRPr sz="950">
              <a:solidFill>
                <a:srgbClr val="1C1C1C"/>
              </a:solidFill>
              <a:latin typeface="Calibri"/>
              <a:ea typeface="Calibri"/>
              <a:cs typeface="Calibri"/>
              <a:sym typeface="Calibri"/>
            </a:endParaRPr>
          </a:p>
          <a:p>
            <a:pPr indent="-295275" lvl="0" marL="457200" marR="0" rtl="0" algn="l">
              <a:spcBef>
                <a:spcPts val="0"/>
              </a:spcBef>
              <a:spcAft>
                <a:spcPts val="0"/>
              </a:spcAft>
              <a:buClr>
                <a:srgbClr val="1C1C1C"/>
              </a:buClr>
              <a:buSzPts val="1050"/>
              <a:buFont typeface="Calibri"/>
              <a:buChar char="●"/>
            </a:pPr>
            <a:r>
              <a:rPr lang="en-US" sz="950">
                <a:solidFill>
                  <a:srgbClr val="1C1C1C"/>
                </a:solidFill>
                <a:latin typeface="Calibri"/>
                <a:ea typeface="Calibri"/>
                <a:cs typeface="Calibri"/>
                <a:sym typeface="Calibri"/>
              </a:rPr>
              <a:t>Our strategy changed significantly here -</a:t>
            </a:r>
            <a:r>
              <a:rPr lang="en-US" sz="950">
                <a:solidFill>
                  <a:srgbClr val="1C1C1C"/>
                </a:solidFill>
                <a:latin typeface="Calibri"/>
                <a:ea typeface="Calibri"/>
                <a:cs typeface="Calibri"/>
                <a:sym typeface="Calibri"/>
              </a:rPr>
              <a:t> more emphasis has been placed on our Generic campaigns, with brand investment and bids lowered.</a:t>
            </a:r>
            <a:br>
              <a:rPr lang="en-US" sz="950">
                <a:solidFill>
                  <a:srgbClr val="1C1C1C"/>
                </a:solidFill>
                <a:latin typeface="Calibri"/>
                <a:ea typeface="Calibri"/>
                <a:cs typeface="Calibri"/>
                <a:sym typeface="Calibri"/>
              </a:rPr>
            </a:br>
            <a:endParaRPr sz="950">
              <a:solidFill>
                <a:srgbClr val="1C1C1C"/>
              </a:solidFill>
              <a:latin typeface="Calibri"/>
              <a:ea typeface="Calibri"/>
              <a:cs typeface="Calibri"/>
              <a:sym typeface="Calibri"/>
            </a:endParaRPr>
          </a:p>
          <a:p>
            <a:pPr indent="-295275" lvl="0" marL="457200" marR="0" rtl="0" algn="l">
              <a:spcBef>
                <a:spcPts val="0"/>
              </a:spcBef>
              <a:spcAft>
                <a:spcPts val="0"/>
              </a:spcAft>
              <a:buClr>
                <a:srgbClr val="1C1C1C"/>
              </a:buClr>
              <a:buSzPts val="1050"/>
              <a:buFont typeface="Calibri"/>
              <a:buChar char="●"/>
            </a:pPr>
            <a:r>
              <a:rPr lang="en-US" sz="950">
                <a:solidFill>
                  <a:srgbClr val="1C1C1C"/>
                </a:solidFill>
                <a:latin typeface="Calibri"/>
                <a:ea typeface="Calibri"/>
                <a:cs typeface="Calibri"/>
                <a:sym typeface="Calibri"/>
              </a:rPr>
              <a:t>Brand spend has decreased as a result of this </a:t>
            </a:r>
            <a:r>
              <a:rPr lang="en-US" sz="950">
                <a:solidFill>
                  <a:srgbClr val="1C1C1C"/>
                </a:solidFill>
                <a:latin typeface="Calibri"/>
                <a:ea typeface="Calibri"/>
                <a:cs typeface="Calibri"/>
                <a:sym typeface="Calibri"/>
              </a:rPr>
              <a:t>strategy</a:t>
            </a:r>
            <a:r>
              <a:rPr lang="en-US" sz="950">
                <a:solidFill>
                  <a:srgbClr val="1C1C1C"/>
                </a:solidFill>
                <a:latin typeface="Calibri"/>
                <a:ea typeface="Calibri"/>
                <a:cs typeface="Calibri"/>
                <a:sym typeface="Calibri"/>
              </a:rPr>
              <a:t>, but we have still seen increases in purchases and revenue and of 25% lower CPAs.</a:t>
            </a:r>
            <a:br>
              <a:rPr lang="en-US" sz="950">
                <a:solidFill>
                  <a:srgbClr val="1C1C1C"/>
                </a:solidFill>
                <a:latin typeface="Calibri"/>
                <a:ea typeface="Calibri"/>
                <a:cs typeface="Calibri"/>
                <a:sym typeface="Calibri"/>
              </a:rPr>
            </a:br>
            <a:endParaRPr sz="1050">
              <a:solidFill>
                <a:srgbClr val="1C1C1C"/>
              </a:solidFill>
              <a:latin typeface="Calibri"/>
              <a:ea typeface="Calibri"/>
              <a:cs typeface="Calibri"/>
              <a:sym typeface="Calibri"/>
            </a:endParaRPr>
          </a:p>
        </p:txBody>
      </p:sp>
      <p:pic>
        <p:nvPicPr>
          <p:cNvPr id="326" name="Google Shape;326;p15"/>
          <p:cNvPicPr preferRelativeResize="0"/>
          <p:nvPr/>
        </p:nvPicPr>
        <p:blipFill>
          <a:blip r:embed="rId4">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1" name="Shape 331"/>
        <p:cNvGrpSpPr/>
        <p:nvPr/>
      </p:nvGrpSpPr>
      <p:grpSpPr>
        <a:xfrm>
          <a:off x="0" y="0"/>
          <a:ext cx="0" cy="0"/>
          <a:chOff x="0" y="0"/>
          <a:chExt cx="0" cy="0"/>
        </a:xfrm>
      </p:grpSpPr>
      <p:sp>
        <p:nvSpPr>
          <p:cNvPr id="332" name="Google Shape;332;p16"/>
          <p:cNvSpPr/>
          <p:nvPr/>
        </p:nvSpPr>
        <p:spPr>
          <a:xfrm>
            <a:off x="0" y="0"/>
            <a:ext cx="9144000" cy="868680"/>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6"/>
          <p:cNvSpPr/>
          <p:nvPr/>
        </p:nvSpPr>
        <p:spPr>
          <a:xfrm>
            <a:off x="320040" y="45720"/>
            <a:ext cx="80467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Brand </a:t>
            </a:r>
            <a:r>
              <a:rPr b="1" lang="en-US" sz="2200">
                <a:solidFill>
                  <a:srgbClr val="FFFFFF"/>
                </a:solidFill>
                <a:latin typeface="Calibri"/>
                <a:ea typeface="Calibri"/>
                <a:cs typeface="Calibri"/>
                <a:sym typeface="Calibri"/>
              </a:rPr>
              <a:t>Monthly Breakdown</a:t>
            </a:r>
            <a:endParaRPr b="0" i="0" sz="2200" u="none" cap="none" strike="noStrike">
              <a:solidFill>
                <a:schemeClr val="dk1"/>
              </a:solidFill>
              <a:latin typeface="Calibri"/>
              <a:ea typeface="Calibri"/>
              <a:cs typeface="Calibri"/>
              <a:sym typeface="Calibri"/>
            </a:endParaRPr>
          </a:p>
        </p:txBody>
      </p:sp>
      <p:sp>
        <p:nvSpPr>
          <p:cNvPr id="334" name="Google Shape;334;p16"/>
          <p:cNvSpPr/>
          <p:nvPr/>
        </p:nvSpPr>
        <p:spPr>
          <a:xfrm>
            <a:off x="320040" y="521208"/>
            <a:ext cx="8046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000"/>
              <a:buFont typeface="Calibri"/>
              <a:buNone/>
            </a:pPr>
            <a:r>
              <a:rPr b="0" i="0" lang="en-US" sz="1000" u="none" cap="none" strike="noStrike">
                <a:solidFill>
                  <a:srgbClr val="CCCCCC"/>
                </a:solidFill>
                <a:latin typeface="Calibri"/>
                <a:ea typeface="Calibri"/>
                <a:cs typeface="Calibri"/>
                <a:sym typeface="Calibri"/>
              </a:rPr>
              <a:t>FY 2025/26 (Apr 2025 - Mar 2026)</a:t>
            </a:r>
            <a:endParaRPr b="0" i="0" sz="1000" u="none" cap="none" strike="noStrike">
              <a:solidFill>
                <a:schemeClr val="dk1"/>
              </a:solidFill>
              <a:latin typeface="Calibri"/>
              <a:ea typeface="Calibri"/>
              <a:cs typeface="Calibri"/>
              <a:sym typeface="Calibri"/>
            </a:endParaRPr>
          </a:p>
        </p:txBody>
      </p:sp>
      <p:sp>
        <p:nvSpPr>
          <p:cNvPr id="335" name="Google Shape;335;p16"/>
          <p:cNvSpPr/>
          <p:nvPr/>
        </p:nvSpPr>
        <p:spPr>
          <a:xfrm>
            <a:off x="0" y="868680"/>
            <a:ext cx="9144000" cy="36576"/>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6"/>
          <p:cNvSpPr/>
          <p:nvPr/>
        </p:nvSpPr>
        <p:spPr>
          <a:xfrm>
            <a:off x="0" y="4910328"/>
            <a:ext cx="9144000" cy="233172"/>
          </a:xfrm>
          <a:prstGeom prst="rect">
            <a:avLst/>
          </a:prstGeom>
          <a:solidFill>
            <a:srgbClr val="1C1C1C"/>
          </a:solidFill>
          <a:ln cap="flat" cmpd="sng" w="12700">
            <a:solidFill>
              <a:srgbClr val="1C1C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6"/>
          <p:cNvSpPr/>
          <p:nvPr/>
        </p:nvSpPr>
        <p:spPr>
          <a:xfrm>
            <a:off x="320040" y="4919472"/>
            <a:ext cx="8503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00"/>
              <a:buFont typeface="Calibri"/>
              <a:buNone/>
            </a:pPr>
            <a:r>
              <a:rPr b="0" i="0" lang="en-US" sz="800" u="none" cap="none" strike="noStrike">
                <a:solidFill>
                  <a:srgbClr val="888888"/>
                </a:solidFill>
                <a:latin typeface="Calibri"/>
                <a:ea typeface="Calibri"/>
                <a:cs typeface="Calibri"/>
                <a:sym typeface="Calibri"/>
              </a:rPr>
              <a:t>FY 2025/26  |  Wightlink  |  Confidential</a:t>
            </a:r>
            <a:endParaRPr b="0" i="0" sz="800" u="none" cap="none" strike="noStrike">
              <a:solidFill>
                <a:schemeClr val="dk1"/>
              </a:solidFill>
              <a:latin typeface="Calibri"/>
              <a:ea typeface="Calibri"/>
              <a:cs typeface="Calibri"/>
              <a:sym typeface="Calibri"/>
            </a:endParaRPr>
          </a:p>
        </p:txBody>
      </p:sp>
      <p:graphicFrame>
        <p:nvGraphicFramePr>
          <p:cNvPr id="338" name="Google Shape;338;p16"/>
          <p:cNvGraphicFramePr/>
          <p:nvPr/>
        </p:nvGraphicFramePr>
        <p:xfrm>
          <a:off x="320090" y="1120127"/>
          <a:ext cx="3000000" cy="3000000"/>
        </p:xfrm>
        <a:graphic>
          <a:graphicData uri="http://schemas.openxmlformats.org/drawingml/2006/table">
            <a:tbl>
              <a:tblPr>
                <a:noFill/>
                <a:tableStyleId>{A518D24D-EAA6-41D1-AC2E-21A0FAADA655}</a:tableStyleId>
              </a:tblPr>
              <a:tblGrid>
                <a:gridCol w="1051550"/>
                <a:gridCol w="1097275"/>
                <a:gridCol w="1005850"/>
                <a:gridCol w="822950"/>
                <a:gridCol w="1463050"/>
                <a:gridCol w="914400"/>
                <a:gridCol w="777250"/>
              </a:tblGrid>
              <a:tr h="224025">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Month</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c>
                  <a:txBody>
                    <a:bodyPr/>
                    <a:lstStyle/>
                    <a:p>
                      <a:pPr indent="0" lvl="0" marL="0" marR="0" rtl="0" algn="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Cost</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c>
                  <a:txBody>
                    <a:bodyPr/>
                    <a:lstStyle/>
                    <a:p>
                      <a:pPr indent="0" lvl="0" marL="0" marR="0" rtl="0" algn="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Purchases</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c>
                  <a:txBody>
                    <a:bodyPr/>
                    <a:lstStyle/>
                    <a:p>
                      <a:pPr indent="0" lvl="0" marL="0" marR="0" rtl="0" algn="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CPA</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c>
                  <a:txBody>
                    <a:bodyPr/>
                    <a:lstStyle/>
                    <a:p>
                      <a:pPr indent="0" lvl="0" marL="0" marR="0" rtl="0" algn="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Purchase Revenue</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c>
                  <a:txBody>
                    <a:bodyPr/>
                    <a:lstStyle/>
                    <a:p>
                      <a:pPr indent="0" lvl="0" marL="0" marR="0" rtl="0" algn="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ROAS</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c>
                  <a:txBody>
                    <a:bodyPr/>
                    <a:lstStyle/>
                    <a:p>
                      <a:pPr indent="0" lvl="0" marL="0" marR="0" rtl="0" algn="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CVR</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r>
              <a:tr h="22402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April</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£15,756.08</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9,735</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£1.62</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£858,258.30</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54.47</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13.60%</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22402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May</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£10,947.90</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10,238</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£1.07</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£903,987.83</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82.57</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14.08%</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r>
              <a:tr h="22402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June</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£9,505.12</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9,686</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£0.98</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£837,312.70</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88.09</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13.93%</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22402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July</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£9,830.32</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11,660</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£0.84</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£1,033,139.33</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105.10</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14.86%</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r>
              <a:tr h="22402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August</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£12,505.26</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11,024</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£1.13</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£943,248.49</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75.43</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13.14%</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22402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September</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£7,693.35</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9,427</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£0.82</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£787,495.03</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102.36</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15.18%</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r>
              <a:tr h="22402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October</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£3,263.64</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10,866</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£0.30</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£841,873.15</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257.96</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19.63%</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22402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November</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£2,890.67</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9,504</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£0.30</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£683,114.75</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236.32</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22.45%</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r>
              <a:tr h="22402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December</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£2,403.56</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7,294</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£0.33</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£540,493.08</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224.87</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16.07%</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22402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January</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£2,774.47</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8,055</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£0.34</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£700,297.56</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252.41</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16.38%</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r>
              <a:tr h="22402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February</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£2,712.20</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7,731</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£0.35</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£682,664.14</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251.70</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15.93%</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22402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March</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£6,660.07</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9,863</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£0.68</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£931,117.64</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139.81</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14.54%</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r>
              <a:tr h="224025">
                <a:tc>
                  <a:txBody>
                    <a:bodyPr/>
                    <a:lstStyle/>
                    <a:p>
                      <a:pPr indent="0" lvl="0" marL="0" marR="0" rtl="0" algn="l">
                        <a:spcBef>
                          <a:spcPts val="0"/>
                        </a:spcBef>
                        <a:spcAft>
                          <a:spcPts val="0"/>
                        </a:spcAft>
                        <a:buClr>
                          <a:srgbClr val="C0392B"/>
                        </a:buClr>
                        <a:buSzPts val="900"/>
                        <a:buFont typeface="Calibri"/>
                        <a:buNone/>
                      </a:pPr>
                      <a:r>
                        <a:rPr b="1" lang="en-US" sz="900" u="none" cap="none" strike="noStrike">
                          <a:solidFill>
                            <a:srgbClr val="C0392B"/>
                          </a:solidFill>
                          <a:latin typeface="Calibri"/>
                          <a:ea typeface="Calibri"/>
                          <a:cs typeface="Calibri"/>
                          <a:sym typeface="Calibri"/>
                        </a:rPr>
                        <a:t>Total</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0E8E8"/>
                    </a:solidFill>
                  </a:tcPr>
                </a:tc>
                <a:tc>
                  <a:txBody>
                    <a:bodyPr/>
                    <a:lstStyle/>
                    <a:p>
                      <a:pPr indent="0" lvl="0" marL="0" marR="0" rtl="0" algn="r">
                        <a:spcBef>
                          <a:spcPts val="0"/>
                        </a:spcBef>
                        <a:spcAft>
                          <a:spcPts val="0"/>
                        </a:spcAft>
                        <a:buClr>
                          <a:srgbClr val="1C1C1C"/>
                        </a:buClr>
                        <a:buSzPts val="900"/>
                        <a:buFont typeface="Calibri"/>
                        <a:buNone/>
                      </a:pPr>
                      <a:r>
                        <a:rPr b="1" lang="en-US" sz="900" u="none" cap="none" strike="noStrike">
                          <a:solidFill>
                            <a:srgbClr val="1C1C1C"/>
                          </a:solidFill>
                          <a:latin typeface="Calibri"/>
                          <a:ea typeface="Calibri"/>
                          <a:cs typeface="Calibri"/>
                          <a:sym typeface="Calibri"/>
                        </a:rPr>
                        <a:t>£86,942.64</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0E8E8"/>
                    </a:solidFill>
                  </a:tcPr>
                </a:tc>
                <a:tc>
                  <a:txBody>
                    <a:bodyPr/>
                    <a:lstStyle/>
                    <a:p>
                      <a:pPr indent="0" lvl="0" marL="0" marR="0" rtl="0" algn="r">
                        <a:spcBef>
                          <a:spcPts val="0"/>
                        </a:spcBef>
                        <a:spcAft>
                          <a:spcPts val="0"/>
                        </a:spcAft>
                        <a:buClr>
                          <a:srgbClr val="1C1C1C"/>
                        </a:buClr>
                        <a:buSzPts val="900"/>
                        <a:buFont typeface="Calibri"/>
                        <a:buNone/>
                      </a:pPr>
                      <a:r>
                        <a:rPr b="1" lang="en-US" sz="900" u="none" cap="none" strike="noStrike">
                          <a:solidFill>
                            <a:srgbClr val="1C1C1C"/>
                          </a:solidFill>
                          <a:latin typeface="Calibri"/>
                          <a:ea typeface="Calibri"/>
                          <a:cs typeface="Calibri"/>
                          <a:sym typeface="Calibri"/>
                        </a:rPr>
                        <a:t>115,084</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0E8E8"/>
                    </a:solidFill>
                  </a:tcPr>
                </a:tc>
                <a:tc>
                  <a:txBody>
                    <a:bodyPr/>
                    <a:lstStyle/>
                    <a:p>
                      <a:pPr indent="0" lvl="0" marL="0" marR="0" rtl="0" algn="r">
                        <a:spcBef>
                          <a:spcPts val="0"/>
                        </a:spcBef>
                        <a:spcAft>
                          <a:spcPts val="0"/>
                        </a:spcAft>
                        <a:buClr>
                          <a:srgbClr val="1C1C1C"/>
                        </a:buClr>
                        <a:buSzPts val="900"/>
                        <a:buFont typeface="Calibri"/>
                        <a:buNone/>
                      </a:pPr>
                      <a:r>
                        <a:rPr b="1" lang="en-US" sz="900" u="none" cap="none" strike="noStrike">
                          <a:solidFill>
                            <a:srgbClr val="1C1C1C"/>
                          </a:solidFill>
                          <a:latin typeface="Calibri"/>
                          <a:ea typeface="Calibri"/>
                          <a:cs typeface="Calibri"/>
                          <a:sym typeface="Calibri"/>
                        </a:rPr>
                        <a:t>£0.76</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0E8E8"/>
                    </a:solidFill>
                  </a:tcPr>
                </a:tc>
                <a:tc>
                  <a:txBody>
                    <a:bodyPr/>
                    <a:lstStyle/>
                    <a:p>
                      <a:pPr indent="0" lvl="0" marL="0" marR="0" rtl="0" algn="r">
                        <a:spcBef>
                          <a:spcPts val="0"/>
                        </a:spcBef>
                        <a:spcAft>
                          <a:spcPts val="0"/>
                        </a:spcAft>
                        <a:buClr>
                          <a:srgbClr val="1C1C1C"/>
                        </a:buClr>
                        <a:buSzPts val="900"/>
                        <a:buFont typeface="Calibri"/>
                        <a:buNone/>
                      </a:pPr>
                      <a:r>
                        <a:rPr b="1" lang="en-US" sz="900" u="none" cap="none" strike="noStrike">
                          <a:solidFill>
                            <a:srgbClr val="1C1C1C"/>
                          </a:solidFill>
                          <a:latin typeface="Calibri"/>
                          <a:ea typeface="Calibri"/>
                          <a:cs typeface="Calibri"/>
                          <a:sym typeface="Calibri"/>
                        </a:rPr>
                        <a:t>£9,743,001.99</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0E8E8"/>
                    </a:solidFill>
                  </a:tcPr>
                </a:tc>
                <a:tc>
                  <a:txBody>
                    <a:bodyPr/>
                    <a:lstStyle/>
                    <a:p>
                      <a:pPr indent="0" lvl="0" marL="0" marR="0" rtl="0" algn="r">
                        <a:spcBef>
                          <a:spcPts val="0"/>
                        </a:spcBef>
                        <a:spcAft>
                          <a:spcPts val="0"/>
                        </a:spcAft>
                        <a:buClr>
                          <a:srgbClr val="1C1C1C"/>
                        </a:buClr>
                        <a:buSzPts val="900"/>
                        <a:buFont typeface="Calibri"/>
                        <a:buNone/>
                      </a:pPr>
                      <a:r>
                        <a:rPr b="1" lang="en-US" sz="900" u="none" cap="none" strike="noStrike">
                          <a:solidFill>
                            <a:srgbClr val="1C1C1C"/>
                          </a:solidFill>
                          <a:latin typeface="Calibri"/>
                          <a:ea typeface="Calibri"/>
                          <a:cs typeface="Calibri"/>
                          <a:sym typeface="Calibri"/>
                        </a:rPr>
                        <a:t>112.06</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0E8E8"/>
                    </a:solidFill>
                  </a:tcPr>
                </a:tc>
                <a:tc>
                  <a:txBody>
                    <a:bodyPr/>
                    <a:lstStyle/>
                    <a:p>
                      <a:pPr indent="0" lvl="0" marL="0" marR="0" rtl="0" algn="r">
                        <a:spcBef>
                          <a:spcPts val="0"/>
                        </a:spcBef>
                        <a:spcAft>
                          <a:spcPts val="0"/>
                        </a:spcAft>
                        <a:buClr>
                          <a:srgbClr val="1C1C1C"/>
                        </a:buClr>
                        <a:buSzPts val="900"/>
                        <a:buFont typeface="Calibri"/>
                        <a:buNone/>
                      </a:pPr>
                      <a:r>
                        <a:rPr b="1" lang="en-US" sz="900" u="none" cap="none" strike="noStrike">
                          <a:solidFill>
                            <a:srgbClr val="1C1C1C"/>
                          </a:solidFill>
                          <a:latin typeface="Calibri"/>
                          <a:ea typeface="Calibri"/>
                          <a:cs typeface="Calibri"/>
                          <a:sym typeface="Calibri"/>
                        </a:rPr>
                        <a:t>15.41%</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0E8E8"/>
                    </a:solidFill>
                  </a:tcPr>
                </a:tc>
              </a:tr>
            </a:tbl>
          </a:graphicData>
        </a:graphic>
      </p:graphicFrame>
      <p:sp>
        <p:nvSpPr>
          <p:cNvPr id="339" name="Google Shape;339;p16"/>
          <p:cNvSpPr/>
          <p:nvPr/>
        </p:nvSpPr>
        <p:spPr>
          <a:xfrm>
            <a:off x="320100" y="4482904"/>
            <a:ext cx="8503800" cy="274200"/>
          </a:xfrm>
          <a:prstGeom prst="rect">
            <a:avLst/>
          </a:prstGeom>
          <a:noFill/>
          <a:ln>
            <a:noFill/>
          </a:ln>
        </p:spPr>
        <p:txBody>
          <a:bodyPr anchorCtr="0" anchor="t" bIns="45700" lIns="91425" spcFirstLastPara="1" rIns="91425" wrap="square" tIns="45700">
            <a:noAutofit/>
          </a:bodyPr>
          <a:lstStyle/>
          <a:p>
            <a:pPr indent="-127000" lvl="0" marL="127000" marR="0" rtl="0" algn="l">
              <a:spcBef>
                <a:spcPts val="0"/>
              </a:spcBef>
              <a:spcAft>
                <a:spcPts val="0"/>
              </a:spcAft>
              <a:buClr>
                <a:srgbClr val="1C1C1C"/>
              </a:buClr>
              <a:buSzPts val="1050"/>
              <a:buFont typeface="Calibri"/>
              <a:buChar char="•"/>
            </a:pPr>
            <a:r>
              <a:rPr b="0" i="0" lang="en-US" sz="1050" u="none" cap="none" strike="noStrike">
                <a:solidFill>
                  <a:srgbClr val="1C1C1C"/>
                </a:solidFill>
                <a:latin typeface="Calibri"/>
                <a:ea typeface="Calibri"/>
                <a:cs typeface="Calibri"/>
                <a:sym typeface="Calibri"/>
              </a:rPr>
              <a:t>July was the strongest month for purchase volume.  |  October was the most efficient month on CPA.  |  November recorded the strongest CVR.</a:t>
            </a:r>
            <a:endParaRPr b="0" i="0" sz="1050" u="none" cap="none" strike="noStrike">
              <a:solidFill>
                <a:schemeClr val="dk1"/>
              </a:solidFill>
              <a:latin typeface="Calibri"/>
              <a:ea typeface="Calibri"/>
              <a:cs typeface="Calibri"/>
              <a:sym typeface="Calibri"/>
            </a:endParaRPr>
          </a:p>
        </p:txBody>
      </p:sp>
      <p:pic>
        <p:nvPicPr>
          <p:cNvPr id="340" name="Google Shape;340;p16"/>
          <p:cNvPicPr preferRelativeResize="0"/>
          <p:nvPr/>
        </p:nvPicPr>
        <p:blipFill>
          <a:blip r:embed="rId3">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5" name="Shape 345"/>
        <p:cNvGrpSpPr/>
        <p:nvPr/>
      </p:nvGrpSpPr>
      <p:grpSpPr>
        <a:xfrm>
          <a:off x="0" y="0"/>
          <a:ext cx="0" cy="0"/>
          <a:chOff x="0" y="0"/>
          <a:chExt cx="0" cy="0"/>
        </a:xfrm>
      </p:grpSpPr>
      <p:sp>
        <p:nvSpPr>
          <p:cNvPr id="346" name="Google Shape;346;p17"/>
          <p:cNvSpPr/>
          <p:nvPr/>
        </p:nvSpPr>
        <p:spPr>
          <a:xfrm>
            <a:off x="0" y="0"/>
            <a:ext cx="9144000" cy="868680"/>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7"/>
          <p:cNvSpPr/>
          <p:nvPr/>
        </p:nvSpPr>
        <p:spPr>
          <a:xfrm>
            <a:off x="320040" y="45720"/>
            <a:ext cx="80467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Generics Performance</a:t>
            </a:r>
            <a:endParaRPr b="0" i="0" sz="2200" u="none" cap="none" strike="noStrike">
              <a:solidFill>
                <a:schemeClr val="dk1"/>
              </a:solidFill>
              <a:latin typeface="Calibri"/>
              <a:ea typeface="Calibri"/>
              <a:cs typeface="Calibri"/>
              <a:sym typeface="Calibri"/>
            </a:endParaRPr>
          </a:p>
        </p:txBody>
      </p:sp>
      <p:sp>
        <p:nvSpPr>
          <p:cNvPr id="348" name="Google Shape;348;p17"/>
          <p:cNvSpPr/>
          <p:nvPr/>
        </p:nvSpPr>
        <p:spPr>
          <a:xfrm>
            <a:off x="320040" y="521208"/>
            <a:ext cx="8046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000"/>
              <a:buFont typeface="Calibri"/>
              <a:buNone/>
            </a:pPr>
            <a:r>
              <a:rPr b="0" i="0" lang="en-US" sz="1000" u="none" cap="none" strike="noStrike">
                <a:solidFill>
                  <a:srgbClr val="CCCCCC"/>
                </a:solidFill>
                <a:latin typeface="Calibri"/>
                <a:ea typeface="Calibri"/>
                <a:cs typeface="Calibri"/>
                <a:sym typeface="Calibri"/>
              </a:rPr>
              <a:t>FY 2025/26 (Apr 2025 - Mar 2026)</a:t>
            </a:r>
            <a:endParaRPr b="0" i="0" sz="1000" u="none" cap="none" strike="noStrike">
              <a:solidFill>
                <a:schemeClr val="dk1"/>
              </a:solidFill>
              <a:latin typeface="Calibri"/>
              <a:ea typeface="Calibri"/>
              <a:cs typeface="Calibri"/>
              <a:sym typeface="Calibri"/>
            </a:endParaRPr>
          </a:p>
        </p:txBody>
      </p:sp>
      <p:sp>
        <p:nvSpPr>
          <p:cNvPr id="349" name="Google Shape;349;p17"/>
          <p:cNvSpPr/>
          <p:nvPr/>
        </p:nvSpPr>
        <p:spPr>
          <a:xfrm>
            <a:off x="0" y="868680"/>
            <a:ext cx="9144000" cy="36576"/>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7"/>
          <p:cNvSpPr/>
          <p:nvPr/>
        </p:nvSpPr>
        <p:spPr>
          <a:xfrm>
            <a:off x="0" y="4910328"/>
            <a:ext cx="9144000" cy="233172"/>
          </a:xfrm>
          <a:prstGeom prst="rect">
            <a:avLst/>
          </a:prstGeom>
          <a:solidFill>
            <a:srgbClr val="1C1C1C"/>
          </a:solidFill>
          <a:ln cap="flat" cmpd="sng" w="12700">
            <a:solidFill>
              <a:srgbClr val="1C1C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7"/>
          <p:cNvSpPr/>
          <p:nvPr/>
        </p:nvSpPr>
        <p:spPr>
          <a:xfrm>
            <a:off x="320040" y="4919472"/>
            <a:ext cx="8503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00"/>
              <a:buFont typeface="Calibri"/>
              <a:buNone/>
            </a:pPr>
            <a:r>
              <a:rPr b="0" i="0" lang="en-US" sz="800" u="none" cap="none" strike="noStrike">
                <a:solidFill>
                  <a:srgbClr val="888888"/>
                </a:solidFill>
                <a:latin typeface="Calibri"/>
                <a:ea typeface="Calibri"/>
                <a:cs typeface="Calibri"/>
                <a:sym typeface="Calibri"/>
              </a:rPr>
              <a:t>FY 2025/26  |  Wightlink  |  Confidential</a:t>
            </a:r>
            <a:endParaRPr b="0" i="0" sz="800" u="none" cap="none" strike="noStrike">
              <a:solidFill>
                <a:schemeClr val="dk1"/>
              </a:solidFill>
              <a:latin typeface="Calibri"/>
              <a:ea typeface="Calibri"/>
              <a:cs typeface="Calibri"/>
              <a:sym typeface="Calibri"/>
            </a:endParaRPr>
          </a:p>
        </p:txBody>
      </p:sp>
      <p:sp>
        <p:nvSpPr>
          <p:cNvPr id="352" name="Google Shape;352;p17"/>
          <p:cNvSpPr/>
          <p:nvPr/>
        </p:nvSpPr>
        <p:spPr>
          <a:xfrm>
            <a:off x="320040" y="969264"/>
            <a:ext cx="1341120" cy="969264"/>
          </a:xfrm>
          <a:prstGeom prst="rect">
            <a:avLst/>
          </a:prstGeom>
          <a:solidFill>
            <a:srgbClr val="FFFFFF"/>
          </a:solidFill>
          <a:ln cap="flat" cmpd="sng" w="12700">
            <a:solidFill>
              <a:srgbClr val="E0E0E0"/>
            </a:solidFill>
            <a:prstDash val="solid"/>
            <a:round/>
            <a:headEnd len="sm" w="sm" type="none"/>
            <a:tailEnd len="sm" w="sm" type="none"/>
          </a:ln>
          <a:effectLst>
            <a:outerShdw blurRad="50800" rotWithShape="0" algn="bl" dir="81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7"/>
          <p:cNvSpPr/>
          <p:nvPr/>
        </p:nvSpPr>
        <p:spPr>
          <a:xfrm>
            <a:off x="320040" y="969264"/>
            <a:ext cx="1341120" cy="50292"/>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7"/>
          <p:cNvSpPr/>
          <p:nvPr/>
        </p:nvSpPr>
        <p:spPr>
          <a:xfrm>
            <a:off x="411480" y="1033272"/>
            <a:ext cx="11582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Cost</a:t>
            </a:r>
            <a:endParaRPr b="0" i="0" sz="850" u="none" cap="none" strike="noStrike">
              <a:solidFill>
                <a:schemeClr val="dk1"/>
              </a:solidFill>
              <a:latin typeface="Calibri"/>
              <a:ea typeface="Calibri"/>
              <a:cs typeface="Calibri"/>
              <a:sym typeface="Calibri"/>
            </a:endParaRPr>
          </a:p>
        </p:txBody>
      </p:sp>
      <p:sp>
        <p:nvSpPr>
          <p:cNvPr id="355" name="Google Shape;355;p17"/>
          <p:cNvSpPr/>
          <p:nvPr/>
        </p:nvSpPr>
        <p:spPr>
          <a:xfrm>
            <a:off x="411480" y="1216152"/>
            <a:ext cx="1158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700"/>
              <a:buFont typeface="Calibri"/>
              <a:buNone/>
            </a:pPr>
            <a:r>
              <a:rPr b="1" i="0" lang="en-US" sz="1700" u="none" cap="none" strike="noStrike">
                <a:solidFill>
                  <a:srgbClr val="1C1C1C"/>
                </a:solidFill>
                <a:latin typeface="Calibri"/>
                <a:ea typeface="Calibri"/>
                <a:cs typeface="Calibri"/>
                <a:sym typeface="Calibri"/>
              </a:rPr>
              <a:t>£149,847</a:t>
            </a:r>
            <a:endParaRPr b="0" i="0" sz="1700" u="none" cap="none" strike="noStrike">
              <a:solidFill>
                <a:schemeClr val="dk1"/>
              </a:solidFill>
              <a:latin typeface="Calibri"/>
              <a:ea typeface="Calibri"/>
              <a:cs typeface="Calibri"/>
              <a:sym typeface="Calibri"/>
            </a:endParaRPr>
          </a:p>
        </p:txBody>
      </p:sp>
      <p:sp>
        <p:nvSpPr>
          <p:cNvPr id="356" name="Google Shape;356;p17"/>
          <p:cNvSpPr/>
          <p:nvPr/>
        </p:nvSpPr>
        <p:spPr>
          <a:xfrm>
            <a:off x="411480" y="1591056"/>
            <a:ext cx="1158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YoY: </a:t>
            </a:r>
            <a:r>
              <a:rPr b="1" i="0" lang="en-US" sz="850" u="none" cap="none" strike="noStrike">
                <a:solidFill>
                  <a:srgbClr val="777777"/>
                </a:solidFill>
                <a:latin typeface="Calibri"/>
                <a:ea typeface="Calibri"/>
                <a:cs typeface="Calibri"/>
                <a:sym typeface="Calibri"/>
              </a:rPr>
              <a:t>+35.8%</a:t>
            </a:r>
            <a:endParaRPr b="0" i="0" sz="850" u="none" cap="none" strike="noStrike">
              <a:solidFill>
                <a:srgbClr val="777777"/>
              </a:solidFill>
              <a:latin typeface="Calibri"/>
              <a:ea typeface="Calibri"/>
              <a:cs typeface="Calibri"/>
              <a:sym typeface="Calibri"/>
            </a:endParaRPr>
          </a:p>
        </p:txBody>
      </p:sp>
      <p:sp>
        <p:nvSpPr>
          <p:cNvPr id="357" name="Google Shape;357;p17"/>
          <p:cNvSpPr/>
          <p:nvPr/>
        </p:nvSpPr>
        <p:spPr>
          <a:xfrm>
            <a:off x="1752600" y="969264"/>
            <a:ext cx="1341120" cy="969264"/>
          </a:xfrm>
          <a:prstGeom prst="rect">
            <a:avLst/>
          </a:prstGeom>
          <a:solidFill>
            <a:srgbClr val="FFFFFF"/>
          </a:solidFill>
          <a:ln cap="flat" cmpd="sng" w="12700">
            <a:solidFill>
              <a:srgbClr val="E0E0E0"/>
            </a:solidFill>
            <a:prstDash val="solid"/>
            <a:round/>
            <a:headEnd len="sm" w="sm" type="none"/>
            <a:tailEnd len="sm" w="sm" type="none"/>
          </a:ln>
          <a:effectLst>
            <a:outerShdw blurRad="50800" rotWithShape="0" algn="bl" dir="81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7"/>
          <p:cNvSpPr/>
          <p:nvPr/>
        </p:nvSpPr>
        <p:spPr>
          <a:xfrm>
            <a:off x="1752600" y="969264"/>
            <a:ext cx="1341120" cy="50292"/>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7"/>
          <p:cNvSpPr/>
          <p:nvPr/>
        </p:nvSpPr>
        <p:spPr>
          <a:xfrm>
            <a:off x="1844040" y="1033272"/>
            <a:ext cx="11582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Purchases</a:t>
            </a:r>
            <a:endParaRPr b="0" i="0" sz="850" u="none" cap="none" strike="noStrike">
              <a:solidFill>
                <a:schemeClr val="dk1"/>
              </a:solidFill>
              <a:latin typeface="Calibri"/>
              <a:ea typeface="Calibri"/>
              <a:cs typeface="Calibri"/>
              <a:sym typeface="Calibri"/>
            </a:endParaRPr>
          </a:p>
        </p:txBody>
      </p:sp>
      <p:sp>
        <p:nvSpPr>
          <p:cNvPr id="360" name="Google Shape;360;p17"/>
          <p:cNvSpPr/>
          <p:nvPr/>
        </p:nvSpPr>
        <p:spPr>
          <a:xfrm>
            <a:off x="1844040" y="1216152"/>
            <a:ext cx="1158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700"/>
              <a:buFont typeface="Calibri"/>
              <a:buNone/>
            </a:pPr>
            <a:r>
              <a:rPr b="1" i="0" lang="en-US" sz="1700" u="none" cap="none" strike="noStrike">
                <a:solidFill>
                  <a:srgbClr val="1C1C1C"/>
                </a:solidFill>
                <a:latin typeface="Calibri"/>
                <a:ea typeface="Calibri"/>
                <a:cs typeface="Calibri"/>
                <a:sym typeface="Calibri"/>
              </a:rPr>
              <a:t>35,479</a:t>
            </a:r>
            <a:endParaRPr b="0" i="0" sz="1700" u="none" cap="none" strike="noStrike">
              <a:solidFill>
                <a:schemeClr val="dk1"/>
              </a:solidFill>
              <a:latin typeface="Calibri"/>
              <a:ea typeface="Calibri"/>
              <a:cs typeface="Calibri"/>
              <a:sym typeface="Calibri"/>
            </a:endParaRPr>
          </a:p>
        </p:txBody>
      </p:sp>
      <p:sp>
        <p:nvSpPr>
          <p:cNvPr id="361" name="Google Shape;361;p17"/>
          <p:cNvSpPr/>
          <p:nvPr/>
        </p:nvSpPr>
        <p:spPr>
          <a:xfrm>
            <a:off x="1844040" y="1591056"/>
            <a:ext cx="1158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YoY: </a:t>
            </a:r>
            <a:r>
              <a:rPr b="1" i="0" lang="en-US" sz="850" u="none" cap="none" strike="noStrike">
                <a:solidFill>
                  <a:srgbClr val="1A7A4A"/>
                </a:solidFill>
                <a:latin typeface="Calibri"/>
                <a:ea typeface="Calibri"/>
                <a:cs typeface="Calibri"/>
                <a:sym typeface="Calibri"/>
              </a:rPr>
              <a:t>+28.6%</a:t>
            </a:r>
            <a:endParaRPr b="0" i="0" sz="850" u="none" cap="none" strike="noStrike">
              <a:solidFill>
                <a:schemeClr val="dk1"/>
              </a:solidFill>
              <a:latin typeface="Calibri"/>
              <a:ea typeface="Calibri"/>
              <a:cs typeface="Calibri"/>
              <a:sym typeface="Calibri"/>
            </a:endParaRPr>
          </a:p>
        </p:txBody>
      </p:sp>
      <p:sp>
        <p:nvSpPr>
          <p:cNvPr id="362" name="Google Shape;362;p17"/>
          <p:cNvSpPr/>
          <p:nvPr/>
        </p:nvSpPr>
        <p:spPr>
          <a:xfrm>
            <a:off x="3185160" y="969264"/>
            <a:ext cx="1341120" cy="969264"/>
          </a:xfrm>
          <a:prstGeom prst="rect">
            <a:avLst/>
          </a:prstGeom>
          <a:solidFill>
            <a:srgbClr val="FFFFFF"/>
          </a:solidFill>
          <a:ln cap="flat" cmpd="sng" w="12700">
            <a:solidFill>
              <a:srgbClr val="E0E0E0"/>
            </a:solidFill>
            <a:prstDash val="solid"/>
            <a:round/>
            <a:headEnd len="sm" w="sm" type="none"/>
            <a:tailEnd len="sm" w="sm" type="none"/>
          </a:ln>
          <a:effectLst>
            <a:outerShdw blurRad="50800" rotWithShape="0" algn="bl" dir="81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7"/>
          <p:cNvSpPr/>
          <p:nvPr/>
        </p:nvSpPr>
        <p:spPr>
          <a:xfrm>
            <a:off x="3185160" y="969264"/>
            <a:ext cx="1341120" cy="50292"/>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7"/>
          <p:cNvSpPr/>
          <p:nvPr/>
        </p:nvSpPr>
        <p:spPr>
          <a:xfrm>
            <a:off x="3276600" y="1033272"/>
            <a:ext cx="11582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Purchase Revenue</a:t>
            </a:r>
            <a:endParaRPr b="0" i="0" sz="850" u="none" cap="none" strike="noStrike">
              <a:solidFill>
                <a:schemeClr val="dk1"/>
              </a:solidFill>
              <a:latin typeface="Calibri"/>
              <a:ea typeface="Calibri"/>
              <a:cs typeface="Calibri"/>
              <a:sym typeface="Calibri"/>
            </a:endParaRPr>
          </a:p>
        </p:txBody>
      </p:sp>
      <p:sp>
        <p:nvSpPr>
          <p:cNvPr id="365" name="Google Shape;365;p17"/>
          <p:cNvSpPr/>
          <p:nvPr/>
        </p:nvSpPr>
        <p:spPr>
          <a:xfrm>
            <a:off x="3276600" y="1216152"/>
            <a:ext cx="1158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700"/>
              <a:buFont typeface="Calibri"/>
              <a:buNone/>
            </a:pPr>
            <a:r>
              <a:rPr b="1" i="0" lang="en-US" sz="1700" u="none" cap="none" strike="noStrike">
                <a:solidFill>
                  <a:srgbClr val="1C1C1C"/>
                </a:solidFill>
                <a:latin typeface="Calibri"/>
                <a:ea typeface="Calibri"/>
                <a:cs typeface="Calibri"/>
                <a:sym typeface="Calibri"/>
              </a:rPr>
              <a:t>£3,716,979</a:t>
            </a:r>
            <a:endParaRPr b="0" i="0" sz="1700" u="none" cap="none" strike="noStrike">
              <a:solidFill>
                <a:schemeClr val="dk1"/>
              </a:solidFill>
              <a:latin typeface="Calibri"/>
              <a:ea typeface="Calibri"/>
              <a:cs typeface="Calibri"/>
              <a:sym typeface="Calibri"/>
            </a:endParaRPr>
          </a:p>
        </p:txBody>
      </p:sp>
      <p:sp>
        <p:nvSpPr>
          <p:cNvPr id="366" name="Google Shape;366;p17"/>
          <p:cNvSpPr/>
          <p:nvPr/>
        </p:nvSpPr>
        <p:spPr>
          <a:xfrm>
            <a:off x="3276600" y="1591056"/>
            <a:ext cx="1158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YoY: </a:t>
            </a:r>
            <a:r>
              <a:rPr b="1" i="0" lang="en-US" sz="850" u="none" cap="none" strike="noStrike">
                <a:solidFill>
                  <a:srgbClr val="1A7A4A"/>
                </a:solidFill>
                <a:latin typeface="Calibri"/>
                <a:ea typeface="Calibri"/>
                <a:cs typeface="Calibri"/>
                <a:sym typeface="Calibri"/>
              </a:rPr>
              <a:t>+21.9%</a:t>
            </a:r>
            <a:endParaRPr b="0" i="0" sz="850" u="none" cap="none" strike="noStrike">
              <a:solidFill>
                <a:schemeClr val="dk1"/>
              </a:solidFill>
              <a:latin typeface="Calibri"/>
              <a:ea typeface="Calibri"/>
              <a:cs typeface="Calibri"/>
              <a:sym typeface="Calibri"/>
            </a:endParaRPr>
          </a:p>
        </p:txBody>
      </p:sp>
      <p:sp>
        <p:nvSpPr>
          <p:cNvPr id="367" name="Google Shape;367;p17"/>
          <p:cNvSpPr/>
          <p:nvPr/>
        </p:nvSpPr>
        <p:spPr>
          <a:xfrm>
            <a:off x="4617720" y="969264"/>
            <a:ext cx="1341120" cy="969264"/>
          </a:xfrm>
          <a:prstGeom prst="rect">
            <a:avLst/>
          </a:prstGeom>
          <a:solidFill>
            <a:srgbClr val="FFFFFF"/>
          </a:solidFill>
          <a:ln cap="flat" cmpd="sng" w="12700">
            <a:solidFill>
              <a:srgbClr val="E0E0E0"/>
            </a:solidFill>
            <a:prstDash val="solid"/>
            <a:round/>
            <a:headEnd len="sm" w="sm" type="none"/>
            <a:tailEnd len="sm" w="sm" type="none"/>
          </a:ln>
          <a:effectLst>
            <a:outerShdw blurRad="50800" rotWithShape="0" algn="bl" dir="81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7"/>
          <p:cNvSpPr/>
          <p:nvPr/>
        </p:nvSpPr>
        <p:spPr>
          <a:xfrm>
            <a:off x="4617720" y="969264"/>
            <a:ext cx="1341120" cy="50292"/>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7"/>
          <p:cNvSpPr/>
          <p:nvPr/>
        </p:nvSpPr>
        <p:spPr>
          <a:xfrm>
            <a:off x="4709160" y="1033272"/>
            <a:ext cx="11582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CPA</a:t>
            </a:r>
            <a:endParaRPr b="0" i="0" sz="850" u="none" cap="none" strike="noStrike">
              <a:solidFill>
                <a:schemeClr val="dk1"/>
              </a:solidFill>
              <a:latin typeface="Calibri"/>
              <a:ea typeface="Calibri"/>
              <a:cs typeface="Calibri"/>
              <a:sym typeface="Calibri"/>
            </a:endParaRPr>
          </a:p>
        </p:txBody>
      </p:sp>
      <p:sp>
        <p:nvSpPr>
          <p:cNvPr id="370" name="Google Shape;370;p17"/>
          <p:cNvSpPr/>
          <p:nvPr/>
        </p:nvSpPr>
        <p:spPr>
          <a:xfrm>
            <a:off x="4709160" y="1216152"/>
            <a:ext cx="1158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700"/>
              <a:buFont typeface="Calibri"/>
              <a:buNone/>
            </a:pPr>
            <a:r>
              <a:rPr b="1" i="0" lang="en-US" sz="1700" u="none" cap="none" strike="noStrike">
                <a:solidFill>
                  <a:srgbClr val="1C1C1C"/>
                </a:solidFill>
                <a:latin typeface="Calibri"/>
                <a:ea typeface="Calibri"/>
                <a:cs typeface="Calibri"/>
                <a:sym typeface="Calibri"/>
              </a:rPr>
              <a:t>£4.22</a:t>
            </a:r>
            <a:endParaRPr b="0" i="0" sz="1700" u="none" cap="none" strike="noStrike">
              <a:solidFill>
                <a:schemeClr val="dk1"/>
              </a:solidFill>
              <a:latin typeface="Calibri"/>
              <a:ea typeface="Calibri"/>
              <a:cs typeface="Calibri"/>
              <a:sym typeface="Calibri"/>
            </a:endParaRPr>
          </a:p>
        </p:txBody>
      </p:sp>
      <p:sp>
        <p:nvSpPr>
          <p:cNvPr id="371" name="Google Shape;371;p17"/>
          <p:cNvSpPr/>
          <p:nvPr/>
        </p:nvSpPr>
        <p:spPr>
          <a:xfrm>
            <a:off x="4709160" y="1591056"/>
            <a:ext cx="1158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YoY: </a:t>
            </a:r>
            <a:r>
              <a:rPr b="1" i="0" lang="en-US" sz="850" u="none" cap="none" strike="noStrike">
                <a:solidFill>
                  <a:srgbClr val="C0392B"/>
                </a:solidFill>
                <a:latin typeface="Calibri"/>
                <a:ea typeface="Calibri"/>
                <a:cs typeface="Calibri"/>
                <a:sym typeface="Calibri"/>
              </a:rPr>
              <a:t>+5.6%</a:t>
            </a:r>
            <a:endParaRPr b="0" i="0" sz="850" u="none" cap="none" strike="noStrike">
              <a:solidFill>
                <a:schemeClr val="dk1"/>
              </a:solidFill>
              <a:latin typeface="Calibri"/>
              <a:ea typeface="Calibri"/>
              <a:cs typeface="Calibri"/>
              <a:sym typeface="Calibri"/>
            </a:endParaRPr>
          </a:p>
        </p:txBody>
      </p:sp>
      <p:sp>
        <p:nvSpPr>
          <p:cNvPr id="372" name="Google Shape;372;p17"/>
          <p:cNvSpPr/>
          <p:nvPr/>
        </p:nvSpPr>
        <p:spPr>
          <a:xfrm>
            <a:off x="6050280" y="969264"/>
            <a:ext cx="1341120" cy="969264"/>
          </a:xfrm>
          <a:prstGeom prst="rect">
            <a:avLst/>
          </a:prstGeom>
          <a:solidFill>
            <a:srgbClr val="FFFFFF"/>
          </a:solidFill>
          <a:ln cap="flat" cmpd="sng" w="12700">
            <a:solidFill>
              <a:srgbClr val="E0E0E0"/>
            </a:solidFill>
            <a:prstDash val="solid"/>
            <a:round/>
            <a:headEnd len="sm" w="sm" type="none"/>
            <a:tailEnd len="sm" w="sm" type="none"/>
          </a:ln>
          <a:effectLst>
            <a:outerShdw blurRad="50800" rotWithShape="0" algn="bl" dir="81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7"/>
          <p:cNvSpPr/>
          <p:nvPr/>
        </p:nvSpPr>
        <p:spPr>
          <a:xfrm>
            <a:off x="6050280" y="969264"/>
            <a:ext cx="1341120" cy="50292"/>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7"/>
          <p:cNvSpPr/>
          <p:nvPr/>
        </p:nvSpPr>
        <p:spPr>
          <a:xfrm>
            <a:off x="6141720" y="1033272"/>
            <a:ext cx="11582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ROAS</a:t>
            </a:r>
            <a:endParaRPr b="0" i="0" sz="850" u="none" cap="none" strike="noStrike">
              <a:solidFill>
                <a:schemeClr val="dk1"/>
              </a:solidFill>
              <a:latin typeface="Calibri"/>
              <a:ea typeface="Calibri"/>
              <a:cs typeface="Calibri"/>
              <a:sym typeface="Calibri"/>
            </a:endParaRPr>
          </a:p>
        </p:txBody>
      </p:sp>
      <p:sp>
        <p:nvSpPr>
          <p:cNvPr id="375" name="Google Shape;375;p17"/>
          <p:cNvSpPr/>
          <p:nvPr/>
        </p:nvSpPr>
        <p:spPr>
          <a:xfrm>
            <a:off x="6141720" y="1216152"/>
            <a:ext cx="1158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700"/>
              <a:buFont typeface="Calibri"/>
              <a:buNone/>
            </a:pPr>
            <a:r>
              <a:rPr b="1" i="0" lang="en-US" sz="1700" u="none" cap="none" strike="noStrike">
                <a:solidFill>
                  <a:srgbClr val="1C1C1C"/>
                </a:solidFill>
                <a:latin typeface="Calibri"/>
                <a:ea typeface="Calibri"/>
                <a:cs typeface="Calibri"/>
                <a:sym typeface="Calibri"/>
              </a:rPr>
              <a:t>24.81</a:t>
            </a:r>
            <a:endParaRPr b="0" i="0" sz="1700" u="none" cap="none" strike="noStrike">
              <a:solidFill>
                <a:schemeClr val="dk1"/>
              </a:solidFill>
              <a:latin typeface="Calibri"/>
              <a:ea typeface="Calibri"/>
              <a:cs typeface="Calibri"/>
              <a:sym typeface="Calibri"/>
            </a:endParaRPr>
          </a:p>
        </p:txBody>
      </p:sp>
      <p:sp>
        <p:nvSpPr>
          <p:cNvPr id="376" name="Google Shape;376;p17"/>
          <p:cNvSpPr/>
          <p:nvPr/>
        </p:nvSpPr>
        <p:spPr>
          <a:xfrm>
            <a:off x="6141720" y="1591056"/>
            <a:ext cx="1158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YoY: </a:t>
            </a:r>
            <a:r>
              <a:rPr b="1" i="0" lang="en-US" sz="850" u="none" cap="none" strike="noStrike">
                <a:solidFill>
                  <a:srgbClr val="C0392B"/>
                </a:solidFill>
                <a:latin typeface="Calibri"/>
                <a:ea typeface="Calibri"/>
                <a:cs typeface="Calibri"/>
                <a:sym typeface="Calibri"/>
              </a:rPr>
              <a:t>-10.2%</a:t>
            </a:r>
            <a:endParaRPr b="0" i="0" sz="850" u="none" cap="none" strike="noStrike">
              <a:solidFill>
                <a:schemeClr val="dk1"/>
              </a:solidFill>
              <a:latin typeface="Calibri"/>
              <a:ea typeface="Calibri"/>
              <a:cs typeface="Calibri"/>
              <a:sym typeface="Calibri"/>
            </a:endParaRPr>
          </a:p>
        </p:txBody>
      </p:sp>
      <p:sp>
        <p:nvSpPr>
          <p:cNvPr id="377" name="Google Shape;377;p17"/>
          <p:cNvSpPr/>
          <p:nvPr/>
        </p:nvSpPr>
        <p:spPr>
          <a:xfrm>
            <a:off x="7482840" y="969264"/>
            <a:ext cx="1341120" cy="969264"/>
          </a:xfrm>
          <a:prstGeom prst="rect">
            <a:avLst/>
          </a:prstGeom>
          <a:solidFill>
            <a:srgbClr val="FFFFFF"/>
          </a:solidFill>
          <a:ln cap="flat" cmpd="sng" w="12700">
            <a:solidFill>
              <a:srgbClr val="E0E0E0"/>
            </a:solidFill>
            <a:prstDash val="solid"/>
            <a:round/>
            <a:headEnd len="sm" w="sm" type="none"/>
            <a:tailEnd len="sm" w="sm" type="none"/>
          </a:ln>
          <a:effectLst>
            <a:outerShdw blurRad="50800" rotWithShape="0" algn="bl" dir="81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7"/>
          <p:cNvSpPr/>
          <p:nvPr/>
        </p:nvSpPr>
        <p:spPr>
          <a:xfrm>
            <a:off x="7482840" y="969264"/>
            <a:ext cx="1341120" cy="50292"/>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7"/>
          <p:cNvSpPr/>
          <p:nvPr/>
        </p:nvSpPr>
        <p:spPr>
          <a:xfrm>
            <a:off x="7574280" y="1033272"/>
            <a:ext cx="11582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AOV</a:t>
            </a:r>
            <a:endParaRPr b="0" i="0" sz="850" u="none" cap="none" strike="noStrike">
              <a:solidFill>
                <a:schemeClr val="dk1"/>
              </a:solidFill>
              <a:latin typeface="Calibri"/>
              <a:ea typeface="Calibri"/>
              <a:cs typeface="Calibri"/>
              <a:sym typeface="Calibri"/>
            </a:endParaRPr>
          </a:p>
        </p:txBody>
      </p:sp>
      <p:sp>
        <p:nvSpPr>
          <p:cNvPr id="380" name="Google Shape;380;p17"/>
          <p:cNvSpPr/>
          <p:nvPr/>
        </p:nvSpPr>
        <p:spPr>
          <a:xfrm>
            <a:off x="7574280" y="1216152"/>
            <a:ext cx="1158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700"/>
              <a:buFont typeface="Calibri"/>
              <a:buNone/>
            </a:pPr>
            <a:r>
              <a:rPr b="1" i="0" lang="en-US" sz="1700" u="none" cap="none" strike="noStrike">
                <a:solidFill>
                  <a:srgbClr val="1C1C1C"/>
                </a:solidFill>
                <a:latin typeface="Calibri"/>
                <a:ea typeface="Calibri"/>
                <a:cs typeface="Calibri"/>
                <a:sym typeface="Calibri"/>
              </a:rPr>
              <a:t>£104.77</a:t>
            </a:r>
            <a:endParaRPr b="0" i="0" sz="1700" u="none" cap="none" strike="noStrike">
              <a:solidFill>
                <a:schemeClr val="dk1"/>
              </a:solidFill>
              <a:latin typeface="Calibri"/>
              <a:ea typeface="Calibri"/>
              <a:cs typeface="Calibri"/>
              <a:sym typeface="Calibri"/>
            </a:endParaRPr>
          </a:p>
        </p:txBody>
      </p:sp>
      <p:sp>
        <p:nvSpPr>
          <p:cNvPr id="381" name="Google Shape;381;p17"/>
          <p:cNvSpPr/>
          <p:nvPr/>
        </p:nvSpPr>
        <p:spPr>
          <a:xfrm>
            <a:off x="7574280" y="1591056"/>
            <a:ext cx="1158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YoY: </a:t>
            </a:r>
            <a:r>
              <a:rPr b="1" i="0" lang="en-US" sz="850" u="none" cap="none" strike="noStrike">
                <a:solidFill>
                  <a:srgbClr val="C0392B"/>
                </a:solidFill>
                <a:latin typeface="Calibri"/>
                <a:ea typeface="Calibri"/>
                <a:cs typeface="Calibri"/>
                <a:sym typeface="Calibri"/>
              </a:rPr>
              <a:t>-5.2%</a:t>
            </a:r>
            <a:endParaRPr b="0" i="0" sz="850" u="none" cap="none" strike="noStrike">
              <a:solidFill>
                <a:schemeClr val="dk1"/>
              </a:solidFill>
              <a:latin typeface="Calibri"/>
              <a:ea typeface="Calibri"/>
              <a:cs typeface="Calibri"/>
              <a:sym typeface="Calibri"/>
            </a:endParaRPr>
          </a:p>
        </p:txBody>
      </p:sp>
      <p:pic>
        <p:nvPicPr>
          <p:cNvPr id="382" name="Google Shape;382;p17"/>
          <p:cNvPicPr preferRelativeResize="0"/>
          <p:nvPr/>
        </p:nvPicPr>
        <p:blipFill>
          <a:blip r:embed="rId3">
            <a:alphaModFix/>
          </a:blip>
          <a:stretch>
            <a:fillRect/>
          </a:stretch>
        </p:blipFill>
        <p:spPr>
          <a:xfrm>
            <a:off x="320050" y="2039126"/>
            <a:ext cx="5638799" cy="2762339"/>
          </a:xfrm>
          <a:prstGeom prst="rect">
            <a:avLst/>
          </a:prstGeom>
          <a:noFill/>
          <a:ln>
            <a:noFill/>
          </a:ln>
        </p:spPr>
      </p:pic>
      <p:sp>
        <p:nvSpPr>
          <p:cNvPr id="383" name="Google Shape;383;p17"/>
          <p:cNvSpPr/>
          <p:nvPr/>
        </p:nvSpPr>
        <p:spPr>
          <a:xfrm>
            <a:off x="5958850" y="2103375"/>
            <a:ext cx="2865300" cy="2642100"/>
          </a:xfrm>
          <a:prstGeom prst="rect">
            <a:avLst/>
          </a:prstGeom>
          <a:noFill/>
          <a:ln>
            <a:noFill/>
          </a:ln>
        </p:spPr>
        <p:txBody>
          <a:bodyPr anchorCtr="0" anchor="t" bIns="0" lIns="0" spcFirstLastPara="1" rIns="0" wrap="square" tIns="0">
            <a:noAutofit/>
          </a:bodyPr>
          <a:lstStyle/>
          <a:p>
            <a:pPr indent="0" lvl="0" marL="457200" marR="0" rtl="0" algn="l">
              <a:spcBef>
                <a:spcPts val="0"/>
              </a:spcBef>
              <a:spcAft>
                <a:spcPts val="0"/>
              </a:spcAft>
              <a:buNone/>
            </a:pPr>
            <a:r>
              <a:t/>
            </a:r>
            <a:endParaRPr sz="1050">
              <a:solidFill>
                <a:srgbClr val="1C1C1C"/>
              </a:solidFill>
              <a:latin typeface="Calibri"/>
              <a:ea typeface="Calibri"/>
              <a:cs typeface="Calibri"/>
              <a:sym typeface="Calibri"/>
            </a:endParaRPr>
          </a:p>
          <a:p>
            <a:pPr indent="-295275" lvl="0" marL="457200" rtl="0" algn="l">
              <a:spcBef>
                <a:spcPts val="0"/>
              </a:spcBef>
              <a:spcAft>
                <a:spcPts val="0"/>
              </a:spcAft>
              <a:buClr>
                <a:srgbClr val="1C1C1C"/>
              </a:buClr>
              <a:buSzPts val="1050"/>
              <a:buFont typeface="Calibri"/>
              <a:buChar char="●"/>
            </a:pPr>
            <a:r>
              <a:rPr lang="en-US" sz="1050">
                <a:solidFill>
                  <a:srgbClr val="1C1C1C"/>
                </a:solidFill>
                <a:latin typeface="Calibri"/>
                <a:ea typeface="Calibri"/>
                <a:cs typeface="Calibri"/>
                <a:sym typeface="Calibri"/>
              </a:rPr>
              <a:t>Revenue has increased 22% - in absolute terms this is a £668k increase YoY</a:t>
            </a:r>
            <a:br>
              <a:rPr lang="en-US" sz="1050">
                <a:solidFill>
                  <a:srgbClr val="1C1C1C"/>
                </a:solidFill>
                <a:latin typeface="Calibri"/>
                <a:ea typeface="Calibri"/>
                <a:cs typeface="Calibri"/>
                <a:sym typeface="Calibri"/>
              </a:rPr>
            </a:br>
            <a:endParaRPr sz="1050">
              <a:solidFill>
                <a:srgbClr val="1C1C1C"/>
              </a:solidFill>
              <a:latin typeface="Calibri"/>
              <a:ea typeface="Calibri"/>
              <a:cs typeface="Calibri"/>
              <a:sym typeface="Calibri"/>
            </a:endParaRPr>
          </a:p>
          <a:p>
            <a:pPr indent="-295275" lvl="0" marL="457200" marR="0" rtl="0" algn="l">
              <a:spcBef>
                <a:spcPts val="0"/>
              </a:spcBef>
              <a:spcAft>
                <a:spcPts val="0"/>
              </a:spcAft>
              <a:buClr>
                <a:srgbClr val="1C1C1C"/>
              </a:buClr>
              <a:buSzPts val="1050"/>
              <a:buFont typeface="Calibri"/>
              <a:buChar char="●"/>
            </a:pPr>
            <a:r>
              <a:rPr lang="en-US" sz="1050">
                <a:solidFill>
                  <a:srgbClr val="1C1C1C"/>
                </a:solidFill>
                <a:latin typeface="Calibri"/>
                <a:ea typeface="Calibri"/>
                <a:cs typeface="Calibri"/>
                <a:sym typeface="Calibri"/>
              </a:rPr>
              <a:t>Generic campaigns have had more investment over the last year with 35% more spend.</a:t>
            </a:r>
            <a:br>
              <a:rPr lang="en-US" sz="1050">
                <a:solidFill>
                  <a:srgbClr val="1C1C1C"/>
                </a:solidFill>
                <a:latin typeface="Calibri"/>
                <a:ea typeface="Calibri"/>
                <a:cs typeface="Calibri"/>
                <a:sym typeface="Calibri"/>
              </a:rPr>
            </a:br>
            <a:endParaRPr sz="1050">
              <a:solidFill>
                <a:srgbClr val="1C1C1C"/>
              </a:solidFill>
              <a:latin typeface="Calibri"/>
              <a:ea typeface="Calibri"/>
              <a:cs typeface="Calibri"/>
              <a:sym typeface="Calibri"/>
            </a:endParaRPr>
          </a:p>
          <a:p>
            <a:pPr indent="-295275" lvl="0" marL="457200" marR="0" rtl="0" algn="l">
              <a:spcBef>
                <a:spcPts val="0"/>
              </a:spcBef>
              <a:spcAft>
                <a:spcPts val="0"/>
              </a:spcAft>
              <a:buClr>
                <a:srgbClr val="1C1C1C"/>
              </a:buClr>
              <a:buSzPts val="1050"/>
              <a:buFont typeface="Calibri"/>
              <a:buChar char="●"/>
            </a:pPr>
            <a:r>
              <a:rPr lang="en-US" sz="1050">
                <a:solidFill>
                  <a:srgbClr val="1C1C1C"/>
                </a:solidFill>
                <a:latin typeface="Calibri"/>
                <a:ea typeface="Calibri"/>
                <a:cs typeface="Calibri"/>
                <a:sym typeface="Calibri"/>
              </a:rPr>
              <a:t>This has resulted in the corresponding higher </a:t>
            </a:r>
            <a:r>
              <a:rPr lang="en-US" sz="1050">
                <a:solidFill>
                  <a:srgbClr val="1C1C1C"/>
                </a:solidFill>
                <a:latin typeface="Calibri"/>
                <a:ea typeface="Calibri"/>
                <a:cs typeface="Calibri"/>
                <a:sym typeface="Calibri"/>
              </a:rPr>
              <a:t>purchase</a:t>
            </a:r>
            <a:r>
              <a:rPr lang="en-US" sz="1050">
                <a:solidFill>
                  <a:srgbClr val="1C1C1C"/>
                </a:solidFill>
                <a:latin typeface="Calibri"/>
                <a:ea typeface="Calibri"/>
                <a:cs typeface="Calibri"/>
                <a:sym typeface="Calibri"/>
              </a:rPr>
              <a:t> and revenue figures above</a:t>
            </a:r>
            <a:br>
              <a:rPr lang="en-US" sz="1050">
                <a:solidFill>
                  <a:srgbClr val="1C1C1C"/>
                </a:solidFill>
                <a:latin typeface="Calibri"/>
                <a:ea typeface="Calibri"/>
                <a:cs typeface="Calibri"/>
                <a:sym typeface="Calibri"/>
              </a:rPr>
            </a:br>
            <a:endParaRPr sz="1050">
              <a:solidFill>
                <a:srgbClr val="1C1C1C"/>
              </a:solidFill>
              <a:latin typeface="Calibri"/>
              <a:ea typeface="Calibri"/>
              <a:cs typeface="Calibri"/>
              <a:sym typeface="Calibri"/>
            </a:endParaRPr>
          </a:p>
          <a:p>
            <a:pPr indent="-295275" lvl="0" marL="457200" marR="0" rtl="0" algn="l">
              <a:spcBef>
                <a:spcPts val="0"/>
              </a:spcBef>
              <a:spcAft>
                <a:spcPts val="0"/>
              </a:spcAft>
              <a:buClr>
                <a:srgbClr val="1C1C1C"/>
              </a:buClr>
              <a:buSzPts val="1050"/>
              <a:buFont typeface="Calibri"/>
              <a:buChar char="●"/>
            </a:pPr>
            <a:r>
              <a:rPr lang="en-US" sz="1050">
                <a:solidFill>
                  <a:srgbClr val="1C1C1C"/>
                </a:solidFill>
                <a:latin typeface="Calibri"/>
                <a:ea typeface="Calibri"/>
                <a:cs typeface="Calibri"/>
                <a:sym typeface="Calibri"/>
              </a:rPr>
              <a:t>Despite increased spend, CPA has held fairly steady with only a small increase YoY.</a:t>
            </a:r>
            <a:br>
              <a:rPr lang="en-US" sz="1050">
                <a:solidFill>
                  <a:srgbClr val="1C1C1C"/>
                </a:solidFill>
                <a:latin typeface="Calibri"/>
                <a:ea typeface="Calibri"/>
                <a:cs typeface="Calibri"/>
                <a:sym typeface="Calibri"/>
              </a:rPr>
            </a:br>
            <a:endParaRPr sz="1050">
              <a:solidFill>
                <a:srgbClr val="1C1C1C"/>
              </a:solidFill>
              <a:latin typeface="Calibri"/>
              <a:ea typeface="Calibri"/>
              <a:cs typeface="Calibri"/>
              <a:sym typeface="Calibri"/>
            </a:endParaRPr>
          </a:p>
          <a:p>
            <a:pPr indent="-295275" lvl="0" marL="457200" marR="0" rtl="0" algn="l">
              <a:spcBef>
                <a:spcPts val="0"/>
              </a:spcBef>
              <a:spcAft>
                <a:spcPts val="0"/>
              </a:spcAft>
              <a:buClr>
                <a:srgbClr val="1C1C1C"/>
              </a:buClr>
              <a:buSzPts val="1050"/>
              <a:buFont typeface="Calibri"/>
              <a:buChar char="●"/>
            </a:pPr>
            <a:r>
              <a:rPr lang="en-US" sz="1050">
                <a:solidFill>
                  <a:srgbClr val="1C1C1C"/>
                </a:solidFill>
                <a:latin typeface="Calibri"/>
                <a:ea typeface="Calibri"/>
                <a:cs typeface="Calibri"/>
                <a:sym typeface="Calibri"/>
              </a:rPr>
              <a:t>Gains in Generic revenue have been achieved while also  Brand revenue growth.</a:t>
            </a:r>
            <a:endParaRPr sz="1050">
              <a:solidFill>
                <a:srgbClr val="1C1C1C"/>
              </a:solidFill>
              <a:latin typeface="Calibri"/>
              <a:ea typeface="Calibri"/>
              <a:cs typeface="Calibri"/>
              <a:sym typeface="Calibri"/>
            </a:endParaRPr>
          </a:p>
        </p:txBody>
      </p:sp>
      <p:pic>
        <p:nvPicPr>
          <p:cNvPr id="384" name="Google Shape;384;p17"/>
          <p:cNvPicPr preferRelativeResize="0"/>
          <p:nvPr/>
        </p:nvPicPr>
        <p:blipFill>
          <a:blip r:embed="rId4">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9" name="Shape 389"/>
        <p:cNvGrpSpPr/>
        <p:nvPr/>
      </p:nvGrpSpPr>
      <p:grpSpPr>
        <a:xfrm>
          <a:off x="0" y="0"/>
          <a:ext cx="0" cy="0"/>
          <a:chOff x="0" y="0"/>
          <a:chExt cx="0" cy="0"/>
        </a:xfrm>
      </p:grpSpPr>
      <p:sp>
        <p:nvSpPr>
          <p:cNvPr id="390" name="Google Shape;390;p18"/>
          <p:cNvSpPr/>
          <p:nvPr/>
        </p:nvSpPr>
        <p:spPr>
          <a:xfrm>
            <a:off x="0" y="0"/>
            <a:ext cx="9144000" cy="868680"/>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8"/>
          <p:cNvSpPr/>
          <p:nvPr/>
        </p:nvSpPr>
        <p:spPr>
          <a:xfrm>
            <a:off x="320040" y="45720"/>
            <a:ext cx="80467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Generics </a:t>
            </a:r>
            <a:r>
              <a:rPr b="1" lang="en-US" sz="2200">
                <a:solidFill>
                  <a:srgbClr val="FFFFFF"/>
                </a:solidFill>
                <a:latin typeface="Calibri"/>
                <a:ea typeface="Calibri"/>
                <a:cs typeface="Calibri"/>
                <a:sym typeface="Calibri"/>
              </a:rPr>
              <a:t>Monthly Breakdown</a:t>
            </a:r>
            <a:endParaRPr b="0" i="0" sz="2200" u="none" cap="none" strike="noStrike">
              <a:solidFill>
                <a:schemeClr val="dk1"/>
              </a:solidFill>
              <a:latin typeface="Calibri"/>
              <a:ea typeface="Calibri"/>
              <a:cs typeface="Calibri"/>
              <a:sym typeface="Calibri"/>
            </a:endParaRPr>
          </a:p>
        </p:txBody>
      </p:sp>
      <p:sp>
        <p:nvSpPr>
          <p:cNvPr id="392" name="Google Shape;392;p18"/>
          <p:cNvSpPr/>
          <p:nvPr/>
        </p:nvSpPr>
        <p:spPr>
          <a:xfrm>
            <a:off x="320040" y="521208"/>
            <a:ext cx="8046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000"/>
              <a:buFont typeface="Calibri"/>
              <a:buNone/>
            </a:pPr>
            <a:r>
              <a:rPr b="0" i="0" lang="en-US" sz="1000" u="none" cap="none" strike="noStrike">
                <a:solidFill>
                  <a:srgbClr val="CCCCCC"/>
                </a:solidFill>
                <a:latin typeface="Calibri"/>
                <a:ea typeface="Calibri"/>
                <a:cs typeface="Calibri"/>
                <a:sym typeface="Calibri"/>
              </a:rPr>
              <a:t>FY 2025/26 (Apr 2025 - Mar 2026)</a:t>
            </a:r>
            <a:endParaRPr b="0" i="0" sz="1000" u="none" cap="none" strike="noStrike">
              <a:solidFill>
                <a:schemeClr val="dk1"/>
              </a:solidFill>
              <a:latin typeface="Calibri"/>
              <a:ea typeface="Calibri"/>
              <a:cs typeface="Calibri"/>
              <a:sym typeface="Calibri"/>
            </a:endParaRPr>
          </a:p>
        </p:txBody>
      </p:sp>
      <p:sp>
        <p:nvSpPr>
          <p:cNvPr id="393" name="Google Shape;393;p18"/>
          <p:cNvSpPr/>
          <p:nvPr/>
        </p:nvSpPr>
        <p:spPr>
          <a:xfrm>
            <a:off x="0" y="868680"/>
            <a:ext cx="9144000" cy="36576"/>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8"/>
          <p:cNvSpPr/>
          <p:nvPr/>
        </p:nvSpPr>
        <p:spPr>
          <a:xfrm>
            <a:off x="0" y="4910328"/>
            <a:ext cx="9144000" cy="233172"/>
          </a:xfrm>
          <a:prstGeom prst="rect">
            <a:avLst/>
          </a:prstGeom>
          <a:solidFill>
            <a:srgbClr val="1C1C1C"/>
          </a:solidFill>
          <a:ln cap="flat" cmpd="sng" w="12700">
            <a:solidFill>
              <a:srgbClr val="1C1C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8"/>
          <p:cNvSpPr/>
          <p:nvPr/>
        </p:nvSpPr>
        <p:spPr>
          <a:xfrm>
            <a:off x="320040" y="4919472"/>
            <a:ext cx="8503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00"/>
              <a:buFont typeface="Calibri"/>
              <a:buNone/>
            </a:pPr>
            <a:r>
              <a:rPr b="0" i="0" lang="en-US" sz="800" u="none" cap="none" strike="noStrike">
                <a:solidFill>
                  <a:srgbClr val="888888"/>
                </a:solidFill>
                <a:latin typeface="Calibri"/>
                <a:ea typeface="Calibri"/>
                <a:cs typeface="Calibri"/>
                <a:sym typeface="Calibri"/>
              </a:rPr>
              <a:t>FY 2025/26  |  Wightlink  |  Confidential</a:t>
            </a:r>
            <a:endParaRPr b="0" i="0" sz="800" u="none" cap="none" strike="noStrike">
              <a:solidFill>
                <a:schemeClr val="dk1"/>
              </a:solidFill>
              <a:latin typeface="Calibri"/>
              <a:ea typeface="Calibri"/>
              <a:cs typeface="Calibri"/>
              <a:sym typeface="Calibri"/>
            </a:endParaRPr>
          </a:p>
        </p:txBody>
      </p:sp>
      <p:graphicFrame>
        <p:nvGraphicFramePr>
          <p:cNvPr id="396" name="Google Shape;396;p18"/>
          <p:cNvGraphicFramePr/>
          <p:nvPr/>
        </p:nvGraphicFramePr>
        <p:xfrm>
          <a:off x="320090" y="1110677"/>
          <a:ext cx="3000000" cy="3000000"/>
        </p:xfrm>
        <a:graphic>
          <a:graphicData uri="http://schemas.openxmlformats.org/drawingml/2006/table">
            <a:tbl>
              <a:tblPr>
                <a:noFill/>
                <a:tableStyleId>{A518D24D-EAA6-41D1-AC2E-21A0FAADA655}</a:tableStyleId>
              </a:tblPr>
              <a:tblGrid>
                <a:gridCol w="1051550"/>
                <a:gridCol w="1097275"/>
                <a:gridCol w="1005850"/>
                <a:gridCol w="822950"/>
                <a:gridCol w="1463050"/>
                <a:gridCol w="914400"/>
                <a:gridCol w="777250"/>
              </a:tblGrid>
              <a:tr h="224025">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Month</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c>
                  <a:txBody>
                    <a:bodyPr/>
                    <a:lstStyle/>
                    <a:p>
                      <a:pPr indent="0" lvl="0" marL="0" marR="0" rtl="0" algn="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Cost</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c>
                  <a:txBody>
                    <a:bodyPr/>
                    <a:lstStyle/>
                    <a:p>
                      <a:pPr indent="0" lvl="0" marL="0" marR="0" rtl="0" algn="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Purchases</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c>
                  <a:txBody>
                    <a:bodyPr/>
                    <a:lstStyle/>
                    <a:p>
                      <a:pPr indent="0" lvl="0" marL="0" marR="0" rtl="0" algn="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CPA</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c>
                  <a:txBody>
                    <a:bodyPr/>
                    <a:lstStyle/>
                    <a:p>
                      <a:pPr indent="0" lvl="0" marL="0" marR="0" rtl="0" algn="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Purchase Revenue</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c>
                  <a:txBody>
                    <a:bodyPr/>
                    <a:lstStyle/>
                    <a:p>
                      <a:pPr indent="0" lvl="0" marL="0" marR="0" rtl="0" algn="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ROAS</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c>
                  <a:txBody>
                    <a:bodyPr/>
                    <a:lstStyle/>
                    <a:p>
                      <a:pPr indent="0" lvl="0" marL="0" marR="0" rtl="0" algn="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CVR</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r>
              <a:tr h="22402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April</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£11,028.65</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2,712</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£4.07</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£312,625.89</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28.35</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6.83%</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22402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May</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£15,633.19</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3,440</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£4.54</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£387,710.49</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24.80</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6.73%</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r>
              <a:tr h="22402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June</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£13,941.47</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3,369</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£4.14</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£361,330.30</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25.92</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6.17%</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22402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July</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£24,865.13</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4,518</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£5.50</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£475,715.19</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19.13</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6.13%</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r>
              <a:tr h="22402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August</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£22,469.99</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4,869</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£4.62</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£489,608.14</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21.79</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6.00%</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22402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September</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£13,355.29</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3,133</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£4.26</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£302,310.26</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22.64</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6.61%</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r>
              <a:tr h="22402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October</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£8,071.01</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2,872</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£2.81</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£289,732.87</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35.90</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8.21%</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22402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November</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£5,997.04</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2,215</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£2.71</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£194,988.93</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32.51</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9.63%</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r>
              <a:tr h="22402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December</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£5,146.62</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1,519</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£3.39</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£127,850.58</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24.84</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7.81%</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22402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January</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£6,866.11</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1,861</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£3.69</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£201,575.37</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29.36</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6.46%</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r>
              <a:tr h="22402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February</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£6,806.00</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1,671</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£4.07</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£180,929.17</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26.58</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6.52%</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22402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March</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£15,666.11</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3,300</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£4.75</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£392,601.89</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25.06</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5.95%</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r>
              <a:tr h="224025">
                <a:tc>
                  <a:txBody>
                    <a:bodyPr/>
                    <a:lstStyle/>
                    <a:p>
                      <a:pPr indent="0" lvl="0" marL="0" marR="0" rtl="0" algn="l">
                        <a:spcBef>
                          <a:spcPts val="0"/>
                        </a:spcBef>
                        <a:spcAft>
                          <a:spcPts val="0"/>
                        </a:spcAft>
                        <a:buClr>
                          <a:srgbClr val="C0392B"/>
                        </a:buClr>
                        <a:buSzPts val="900"/>
                        <a:buFont typeface="Calibri"/>
                        <a:buNone/>
                      </a:pPr>
                      <a:r>
                        <a:rPr b="1" lang="en-US" sz="900" u="none" cap="none" strike="noStrike">
                          <a:solidFill>
                            <a:srgbClr val="C0392B"/>
                          </a:solidFill>
                          <a:latin typeface="Calibri"/>
                          <a:ea typeface="Calibri"/>
                          <a:cs typeface="Calibri"/>
                          <a:sym typeface="Calibri"/>
                        </a:rPr>
                        <a:t>Total</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0E8E8"/>
                    </a:solidFill>
                  </a:tcPr>
                </a:tc>
                <a:tc>
                  <a:txBody>
                    <a:bodyPr/>
                    <a:lstStyle/>
                    <a:p>
                      <a:pPr indent="0" lvl="0" marL="0" marR="0" rtl="0" algn="r">
                        <a:spcBef>
                          <a:spcPts val="0"/>
                        </a:spcBef>
                        <a:spcAft>
                          <a:spcPts val="0"/>
                        </a:spcAft>
                        <a:buClr>
                          <a:srgbClr val="1C1C1C"/>
                        </a:buClr>
                        <a:buSzPts val="900"/>
                        <a:buFont typeface="Calibri"/>
                        <a:buNone/>
                      </a:pPr>
                      <a:r>
                        <a:rPr b="1" lang="en-US" sz="900" u="none" cap="none" strike="noStrike">
                          <a:solidFill>
                            <a:srgbClr val="1C1C1C"/>
                          </a:solidFill>
                          <a:latin typeface="Calibri"/>
                          <a:ea typeface="Calibri"/>
                          <a:cs typeface="Calibri"/>
                          <a:sym typeface="Calibri"/>
                        </a:rPr>
                        <a:t>£149,846.59</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0E8E8"/>
                    </a:solidFill>
                  </a:tcPr>
                </a:tc>
                <a:tc>
                  <a:txBody>
                    <a:bodyPr/>
                    <a:lstStyle/>
                    <a:p>
                      <a:pPr indent="0" lvl="0" marL="0" marR="0" rtl="0" algn="r">
                        <a:spcBef>
                          <a:spcPts val="0"/>
                        </a:spcBef>
                        <a:spcAft>
                          <a:spcPts val="0"/>
                        </a:spcAft>
                        <a:buClr>
                          <a:srgbClr val="1C1C1C"/>
                        </a:buClr>
                        <a:buSzPts val="900"/>
                        <a:buFont typeface="Calibri"/>
                        <a:buNone/>
                      </a:pPr>
                      <a:r>
                        <a:rPr b="1" lang="en-US" sz="900" u="none" cap="none" strike="noStrike">
                          <a:solidFill>
                            <a:srgbClr val="1C1C1C"/>
                          </a:solidFill>
                          <a:latin typeface="Calibri"/>
                          <a:ea typeface="Calibri"/>
                          <a:cs typeface="Calibri"/>
                          <a:sym typeface="Calibri"/>
                        </a:rPr>
                        <a:t>35,479</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0E8E8"/>
                    </a:solidFill>
                  </a:tcPr>
                </a:tc>
                <a:tc>
                  <a:txBody>
                    <a:bodyPr/>
                    <a:lstStyle/>
                    <a:p>
                      <a:pPr indent="0" lvl="0" marL="0" marR="0" rtl="0" algn="r">
                        <a:spcBef>
                          <a:spcPts val="0"/>
                        </a:spcBef>
                        <a:spcAft>
                          <a:spcPts val="0"/>
                        </a:spcAft>
                        <a:buClr>
                          <a:srgbClr val="1C1C1C"/>
                        </a:buClr>
                        <a:buSzPts val="900"/>
                        <a:buFont typeface="Calibri"/>
                        <a:buNone/>
                      </a:pPr>
                      <a:r>
                        <a:rPr b="1" lang="en-US" sz="900" u="none" cap="none" strike="noStrike">
                          <a:solidFill>
                            <a:srgbClr val="1C1C1C"/>
                          </a:solidFill>
                          <a:latin typeface="Calibri"/>
                          <a:ea typeface="Calibri"/>
                          <a:cs typeface="Calibri"/>
                          <a:sym typeface="Calibri"/>
                        </a:rPr>
                        <a:t>£4.22</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0E8E8"/>
                    </a:solidFill>
                  </a:tcPr>
                </a:tc>
                <a:tc>
                  <a:txBody>
                    <a:bodyPr/>
                    <a:lstStyle/>
                    <a:p>
                      <a:pPr indent="0" lvl="0" marL="0" marR="0" rtl="0" algn="r">
                        <a:spcBef>
                          <a:spcPts val="0"/>
                        </a:spcBef>
                        <a:spcAft>
                          <a:spcPts val="0"/>
                        </a:spcAft>
                        <a:buClr>
                          <a:srgbClr val="1C1C1C"/>
                        </a:buClr>
                        <a:buSzPts val="900"/>
                        <a:buFont typeface="Calibri"/>
                        <a:buNone/>
                      </a:pPr>
                      <a:r>
                        <a:rPr b="1" lang="en-US" sz="900" u="none" cap="none" strike="noStrike">
                          <a:solidFill>
                            <a:srgbClr val="1C1C1C"/>
                          </a:solidFill>
                          <a:latin typeface="Calibri"/>
                          <a:ea typeface="Calibri"/>
                          <a:cs typeface="Calibri"/>
                          <a:sym typeface="Calibri"/>
                        </a:rPr>
                        <a:t>£3,716,979.08</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0E8E8"/>
                    </a:solidFill>
                  </a:tcPr>
                </a:tc>
                <a:tc>
                  <a:txBody>
                    <a:bodyPr/>
                    <a:lstStyle/>
                    <a:p>
                      <a:pPr indent="0" lvl="0" marL="0" marR="0" rtl="0" algn="r">
                        <a:spcBef>
                          <a:spcPts val="0"/>
                        </a:spcBef>
                        <a:spcAft>
                          <a:spcPts val="0"/>
                        </a:spcAft>
                        <a:buClr>
                          <a:srgbClr val="1C1C1C"/>
                        </a:buClr>
                        <a:buSzPts val="900"/>
                        <a:buFont typeface="Calibri"/>
                        <a:buNone/>
                      </a:pPr>
                      <a:r>
                        <a:rPr b="1" lang="en-US" sz="900" u="none" cap="none" strike="noStrike">
                          <a:solidFill>
                            <a:srgbClr val="1C1C1C"/>
                          </a:solidFill>
                          <a:latin typeface="Calibri"/>
                          <a:ea typeface="Calibri"/>
                          <a:cs typeface="Calibri"/>
                          <a:sym typeface="Calibri"/>
                        </a:rPr>
                        <a:t>24.81</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0E8E8"/>
                    </a:solidFill>
                  </a:tcPr>
                </a:tc>
                <a:tc>
                  <a:txBody>
                    <a:bodyPr/>
                    <a:lstStyle/>
                    <a:p>
                      <a:pPr indent="0" lvl="0" marL="0" marR="0" rtl="0" algn="r">
                        <a:spcBef>
                          <a:spcPts val="0"/>
                        </a:spcBef>
                        <a:spcAft>
                          <a:spcPts val="0"/>
                        </a:spcAft>
                        <a:buClr>
                          <a:srgbClr val="1C1C1C"/>
                        </a:buClr>
                        <a:buSzPts val="900"/>
                        <a:buFont typeface="Calibri"/>
                        <a:buNone/>
                      </a:pPr>
                      <a:r>
                        <a:rPr b="1" lang="en-US" sz="900" u="none" cap="none" strike="noStrike">
                          <a:solidFill>
                            <a:srgbClr val="1C1C1C"/>
                          </a:solidFill>
                          <a:latin typeface="Calibri"/>
                          <a:ea typeface="Calibri"/>
                          <a:cs typeface="Calibri"/>
                          <a:sym typeface="Calibri"/>
                        </a:rPr>
                        <a:t>6.63%</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0E8E8"/>
                    </a:solidFill>
                  </a:tcPr>
                </a:tc>
              </a:tr>
            </a:tbl>
          </a:graphicData>
        </a:graphic>
      </p:graphicFrame>
      <p:sp>
        <p:nvSpPr>
          <p:cNvPr id="397" name="Google Shape;397;p18"/>
          <p:cNvSpPr/>
          <p:nvPr/>
        </p:nvSpPr>
        <p:spPr>
          <a:xfrm>
            <a:off x="320100" y="4516529"/>
            <a:ext cx="8503800" cy="274200"/>
          </a:xfrm>
          <a:prstGeom prst="rect">
            <a:avLst/>
          </a:prstGeom>
          <a:noFill/>
          <a:ln>
            <a:noFill/>
          </a:ln>
        </p:spPr>
        <p:txBody>
          <a:bodyPr anchorCtr="0" anchor="t" bIns="45700" lIns="91425" spcFirstLastPara="1" rIns="91425" wrap="square" tIns="45700">
            <a:noAutofit/>
          </a:bodyPr>
          <a:lstStyle/>
          <a:p>
            <a:pPr indent="-127000" lvl="0" marL="127000" marR="0" rtl="0" algn="l">
              <a:spcBef>
                <a:spcPts val="0"/>
              </a:spcBef>
              <a:spcAft>
                <a:spcPts val="0"/>
              </a:spcAft>
              <a:buClr>
                <a:srgbClr val="1C1C1C"/>
              </a:buClr>
              <a:buSzPts val="1050"/>
              <a:buFont typeface="Calibri"/>
              <a:buChar char="•"/>
            </a:pPr>
            <a:r>
              <a:rPr b="0" i="0" lang="en-US" sz="1050" u="none" cap="none" strike="noStrike">
                <a:solidFill>
                  <a:srgbClr val="1C1C1C"/>
                </a:solidFill>
                <a:latin typeface="Calibri"/>
                <a:ea typeface="Calibri"/>
                <a:cs typeface="Calibri"/>
                <a:sym typeface="Calibri"/>
              </a:rPr>
              <a:t>August was the strongest month for purchase volume.  |  November was the most efficient month on CPA.  |  November recorded the strongest CVR.</a:t>
            </a:r>
            <a:endParaRPr b="0" i="0" sz="1050" u="none" cap="none" strike="noStrike">
              <a:solidFill>
                <a:schemeClr val="dk1"/>
              </a:solidFill>
              <a:latin typeface="Calibri"/>
              <a:ea typeface="Calibri"/>
              <a:cs typeface="Calibri"/>
              <a:sym typeface="Calibri"/>
            </a:endParaRPr>
          </a:p>
        </p:txBody>
      </p:sp>
      <p:pic>
        <p:nvPicPr>
          <p:cNvPr id="398" name="Google Shape;398;p18"/>
          <p:cNvPicPr preferRelativeResize="0"/>
          <p:nvPr/>
        </p:nvPicPr>
        <p:blipFill>
          <a:blip r:embed="rId3">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3" name="Shape 403"/>
        <p:cNvGrpSpPr/>
        <p:nvPr/>
      </p:nvGrpSpPr>
      <p:grpSpPr>
        <a:xfrm>
          <a:off x="0" y="0"/>
          <a:ext cx="0" cy="0"/>
          <a:chOff x="0" y="0"/>
          <a:chExt cx="0" cy="0"/>
        </a:xfrm>
      </p:grpSpPr>
      <p:sp>
        <p:nvSpPr>
          <p:cNvPr id="404" name="Google Shape;404;p19"/>
          <p:cNvSpPr/>
          <p:nvPr/>
        </p:nvSpPr>
        <p:spPr>
          <a:xfrm>
            <a:off x="0" y="0"/>
            <a:ext cx="9144000" cy="868680"/>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9"/>
          <p:cNvSpPr/>
          <p:nvPr/>
        </p:nvSpPr>
        <p:spPr>
          <a:xfrm>
            <a:off x="320040" y="45720"/>
            <a:ext cx="80467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PMax Performance</a:t>
            </a:r>
            <a:endParaRPr b="0" i="0" sz="2200" u="none" cap="none" strike="noStrike">
              <a:solidFill>
                <a:schemeClr val="dk1"/>
              </a:solidFill>
              <a:latin typeface="Calibri"/>
              <a:ea typeface="Calibri"/>
              <a:cs typeface="Calibri"/>
              <a:sym typeface="Calibri"/>
            </a:endParaRPr>
          </a:p>
        </p:txBody>
      </p:sp>
      <p:sp>
        <p:nvSpPr>
          <p:cNvPr id="406" name="Google Shape;406;p19"/>
          <p:cNvSpPr/>
          <p:nvPr/>
        </p:nvSpPr>
        <p:spPr>
          <a:xfrm>
            <a:off x="320040" y="521208"/>
            <a:ext cx="8046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000"/>
              <a:buFont typeface="Calibri"/>
              <a:buNone/>
            </a:pPr>
            <a:r>
              <a:rPr b="0" i="0" lang="en-US" sz="1000" u="none" cap="none" strike="noStrike">
                <a:solidFill>
                  <a:srgbClr val="CCCCCC"/>
                </a:solidFill>
                <a:latin typeface="Calibri"/>
                <a:ea typeface="Calibri"/>
                <a:cs typeface="Calibri"/>
                <a:sym typeface="Calibri"/>
              </a:rPr>
              <a:t>FY 2025/26 (Apr 2025 - Mar 2026)</a:t>
            </a:r>
            <a:endParaRPr b="0" i="0" sz="1000" u="none" cap="none" strike="noStrike">
              <a:solidFill>
                <a:schemeClr val="dk1"/>
              </a:solidFill>
              <a:latin typeface="Calibri"/>
              <a:ea typeface="Calibri"/>
              <a:cs typeface="Calibri"/>
              <a:sym typeface="Calibri"/>
            </a:endParaRPr>
          </a:p>
        </p:txBody>
      </p:sp>
      <p:sp>
        <p:nvSpPr>
          <p:cNvPr id="407" name="Google Shape;407;p19"/>
          <p:cNvSpPr/>
          <p:nvPr/>
        </p:nvSpPr>
        <p:spPr>
          <a:xfrm>
            <a:off x="0" y="868680"/>
            <a:ext cx="9144000" cy="36576"/>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9"/>
          <p:cNvSpPr/>
          <p:nvPr/>
        </p:nvSpPr>
        <p:spPr>
          <a:xfrm>
            <a:off x="0" y="4910328"/>
            <a:ext cx="9144000" cy="233172"/>
          </a:xfrm>
          <a:prstGeom prst="rect">
            <a:avLst/>
          </a:prstGeom>
          <a:solidFill>
            <a:srgbClr val="1C1C1C"/>
          </a:solidFill>
          <a:ln cap="flat" cmpd="sng" w="12700">
            <a:solidFill>
              <a:srgbClr val="1C1C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9"/>
          <p:cNvSpPr/>
          <p:nvPr/>
        </p:nvSpPr>
        <p:spPr>
          <a:xfrm>
            <a:off x="320040" y="4919472"/>
            <a:ext cx="8503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00"/>
              <a:buFont typeface="Calibri"/>
              <a:buNone/>
            </a:pPr>
            <a:r>
              <a:rPr b="0" i="0" lang="en-US" sz="800" u="none" cap="none" strike="noStrike">
                <a:solidFill>
                  <a:srgbClr val="888888"/>
                </a:solidFill>
                <a:latin typeface="Calibri"/>
                <a:ea typeface="Calibri"/>
                <a:cs typeface="Calibri"/>
                <a:sym typeface="Calibri"/>
              </a:rPr>
              <a:t>FY 2025/26  |  Wightlink  |  Confidential</a:t>
            </a:r>
            <a:endParaRPr b="0" i="0" sz="800" u="none" cap="none" strike="noStrike">
              <a:solidFill>
                <a:schemeClr val="dk1"/>
              </a:solidFill>
              <a:latin typeface="Calibri"/>
              <a:ea typeface="Calibri"/>
              <a:cs typeface="Calibri"/>
              <a:sym typeface="Calibri"/>
            </a:endParaRPr>
          </a:p>
        </p:txBody>
      </p:sp>
      <p:sp>
        <p:nvSpPr>
          <p:cNvPr id="410" name="Google Shape;410;p19"/>
          <p:cNvSpPr/>
          <p:nvPr/>
        </p:nvSpPr>
        <p:spPr>
          <a:xfrm>
            <a:off x="320040" y="969264"/>
            <a:ext cx="1341120" cy="804672"/>
          </a:xfrm>
          <a:prstGeom prst="rect">
            <a:avLst/>
          </a:prstGeom>
          <a:solidFill>
            <a:srgbClr val="FFFFFF"/>
          </a:solidFill>
          <a:ln cap="flat" cmpd="sng" w="12700">
            <a:solidFill>
              <a:srgbClr val="E0E0E0"/>
            </a:solidFill>
            <a:prstDash val="solid"/>
            <a:round/>
            <a:headEnd len="sm" w="sm" type="none"/>
            <a:tailEnd len="sm" w="sm" type="none"/>
          </a:ln>
          <a:effectLst>
            <a:outerShdw blurRad="50800" rotWithShape="0" algn="bl" dir="81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9"/>
          <p:cNvSpPr/>
          <p:nvPr/>
        </p:nvSpPr>
        <p:spPr>
          <a:xfrm>
            <a:off x="320040" y="969264"/>
            <a:ext cx="1341120" cy="50292"/>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9"/>
          <p:cNvSpPr/>
          <p:nvPr/>
        </p:nvSpPr>
        <p:spPr>
          <a:xfrm>
            <a:off x="411480" y="1033272"/>
            <a:ext cx="11582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Cost</a:t>
            </a:r>
            <a:endParaRPr b="0" i="0" sz="850" u="none" cap="none" strike="noStrike">
              <a:solidFill>
                <a:schemeClr val="dk1"/>
              </a:solidFill>
              <a:latin typeface="Calibri"/>
              <a:ea typeface="Calibri"/>
              <a:cs typeface="Calibri"/>
              <a:sym typeface="Calibri"/>
            </a:endParaRPr>
          </a:p>
        </p:txBody>
      </p:sp>
      <p:sp>
        <p:nvSpPr>
          <p:cNvPr id="413" name="Google Shape;413;p19"/>
          <p:cNvSpPr/>
          <p:nvPr/>
        </p:nvSpPr>
        <p:spPr>
          <a:xfrm>
            <a:off x="411480" y="1216152"/>
            <a:ext cx="1158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700"/>
              <a:buFont typeface="Calibri"/>
              <a:buNone/>
            </a:pPr>
            <a:r>
              <a:rPr b="1" i="0" lang="en-US" sz="1700" u="none" cap="none" strike="noStrike">
                <a:solidFill>
                  <a:srgbClr val="1C1C1C"/>
                </a:solidFill>
                <a:latin typeface="Calibri"/>
                <a:ea typeface="Calibri"/>
                <a:cs typeface="Calibri"/>
                <a:sym typeface="Calibri"/>
              </a:rPr>
              <a:t>£22,825</a:t>
            </a:r>
            <a:endParaRPr b="0" i="0" sz="1700" u="none" cap="none" strike="noStrike">
              <a:solidFill>
                <a:schemeClr val="dk1"/>
              </a:solidFill>
              <a:latin typeface="Calibri"/>
              <a:ea typeface="Calibri"/>
              <a:cs typeface="Calibri"/>
              <a:sym typeface="Calibri"/>
            </a:endParaRPr>
          </a:p>
        </p:txBody>
      </p:sp>
      <p:sp>
        <p:nvSpPr>
          <p:cNvPr id="414" name="Google Shape;414;p19"/>
          <p:cNvSpPr/>
          <p:nvPr/>
        </p:nvSpPr>
        <p:spPr>
          <a:xfrm>
            <a:off x="411480" y="1591056"/>
            <a:ext cx="1158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YoY: </a:t>
            </a:r>
            <a:r>
              <a:rPr b="1" i="0" lang="en-US" sz="850" u="none" cap="none" strike="noStrike">
                <a:solidFill>
                  <a:srgbClr val="777777"/>
                </a:solidFill>
                <a:latin typeface="Calibri"/>
                <a:ea typeface="Calibri"/>
                <a:cs typeface="Calibri"/>
                <a:sym typeface="Calibri"/>
              </a:rPr>
              <a:t>+106.3%</a:t>
            </a:r>
            <a:endParaRPr b="0" i="0" sz="850" u="none" cap="none" strike="noStrike">
              <a:solidFill>
                <a:srgbClr val="777777"/>
              </a:solidFill>
              <a:latin typeface="Calibri"/>
              <a:ea typeface="Calibri"/>
              <a:cs typeface="Calibri"/>
              <a:sym typeface="Calibri"/>
            </a:endParaRPr>
          </a:p>
        </p:txBody>
      </p:sp>
      <p:sp>
        <p:nvSpPr>
          <p:cNvPr id="415" name="Google Shape;415;p19"/>
          <p:cNvSpPr/>
          <p:nvPr/>
        </p:nvSpPr>
        <p:spPr>
          <a:xfrm>
            <a:off x="1752600" y="969264"/>
            <a:ext cx="1341120" cy="804672"/>
          </a:xfrm>
          <a:prstGeom prst="rect">
            <a:avLst/>
          </a:prstGeom>
          <a:solidFill>
            <a:srgbClr val="FFFFFF"/>
          </a:solidFill>
          <a:ln cap="flat" cmpd="sng" w="12700">
            <a:solidFill>
              <a:srgbClr val="E0E0E0"/>
            </a:solidFill>
            <a:prstDash val="solid"/>
            <a:round/>
            <a:headEnd len="sm" w="sm" type="none"/>
            <a:tailEnd len="sm" w="sm" type="none"/>
          </a:ln>
          <a:effectLst>
            <a:outerShdw blurRad="50800" rotWithShape="0" algn="bl" dir="81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9"/>
          <p:cNvSpPr/>
          <p:nvPr/>
        </p:nvSpPr>
        <p:spPr>
          <a:xfrm>
            <a:off x="1752600" y="969264"/>
            <a:ext cx="1341120" cy="50292"/>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9"/>
          <p:cNvSpPr/>
          <p:nvPr/>
        </p:nvSpPr>
        <p:spPr>
          <a:xfrm>
            <a:off x="1844040" y="1033272"/>
            <a:ext cx="11582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Purchases</a:t>
            </a:r>
            <a:endParaRPr b="0" i="0" sz="850" u="none" cap="none" strike="noStrike">
              <a:solidFill>
                <a:schemeClr val="dk1"/>
              </a:solidFill>
              <a:latin typeface="Calibri"/>
              <a:ea typeface="Calibri"/>
              <a:cs typeface="Calibri"/>
              <a:sym typeface="Calibri"/>
            </a:endParaRPr>
          </a:p>
        </p:txBody>
      </p:sp>
      <p:sp>
        <p:nvSpPr>
          <p:cNvPr id="418" name="Google Shape;418;p19"/>
          <p:cNvSpPr/>
          <p:nvPr/>
        </p:nvSpPr>
        <p:spPr>
          <a:xfrm>
            <a:off x="1844040" y="1216152"/>
            <a:ext cx="1158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700"/>
              <a:buFont typeface="Calibri"/>
              <a:buNone/>
            </a:pPr>
            <a:r>
              <a:rPr b="1" i="0" lang="en-US" sz="1700" u="none" cap="none" strike="noStrike">
                <a:solidFill>
                  <a:srgbClr val="1C1C1C"/>
                </a:solidFill>
                <a:latin typeface="Calibri"/>
                <a:ea typeface="Calibri"/>
                <a:cs typeface="Calibri"/>
                <a:sym typeface="Calibri"/>
              </a:rPr>
              <a:t>4,922</a:t>
            </a:r>
            <a:endParaRPr b="0" i="0" sz="1700" u="none" cap="none" strike="noStrike">
              <a:solidFill>
                <a:schemeClr val="dk1"/>
              </a:solidFill>
              <a:latin typeface="Calibri"/>
              <a:ea typeface="Calibri"/>
              <a:cs typeface="Calibri"/>
              <a:sym typeface="Calibri"/>
            </a:endParaRPr>
          </a:p>
        </p:txBody>
      </p:sp>
      <p:sp>
        <p:nvSpPr>
          <p:cNvPr id="419" name="Google Shape;419;p19"/>
          <p:cNvSpPr/>
          <p:nvPr/>
        </p:nvSpPr>
        <p:spPr>
          <a:xfrm>
            <a:off x="1844040" y="1591056"/>
            <a:ext cx="1158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YoY: </a:t>
            </a:r>
            <a:r>
              <a:rPr b="1" i="0" lang="en-US" sz="850" u="none" cap="none" strike="noStrike">
                <a:solidFill>
                  <a:srgbClr val="1A7A4A"/>
                </a:solidFill>
                <a:latin typeface="Calibri"/>
                <a:ea typeface="Calibri"/>
                <a:cs typeface="Calibri"/>
                <a:sym typeface="Calibri"/>
              </a:rPr>
              <a:t>+40.9%</a:t>
            </a:r>
            <a:endParaRPr b="0" i="0" sz="850" u="none" cap="none" strike="noStrike">
              <a:solidFill>
                <a:schemeClr val="dk1"/>
              </a:solidFill>
              <a:latin typeface="Calibri"/>
              <a:ea typeface="Calibri"/>
              <a:cs typeface="Calibri"/>
              <a:sym typeface="Calibri"/>
            </a:endParaRPr>
          </a:p>
        </p:txBody>
      </p:sp>
      <p:sp>
        <p:nvSpPr>
          <p:cNvPr id="420" name="Google Shape;420;p19"/>
          <p:cNvSpPr/>
          <p:nvPr/>
        </p:nvSpPr>
        <p:spPr>
          <a:xfrm>
            <a:off x="3185160" y="969264"/>
            <a:ext cx="1341120" cy="804672"/>
          </a:xfrm>
          <a:prstGeom prst="rect">
            <a:avLst/>
          </a:prstGeom>
          <a:solidFill>
            <a:srgbClr val="FFFFFF"/>
          </a:solidFill>
          <a:ln cap="flat" cmpd="sng" w="12700">
            <a:solidFill>
              <a:srgbClr val="E0E0E0"/>
            </a:solidFill>
            <a:prstDash val="solid"/>
            <a:round/>
            <a:headEnd len="sm" w="sm" type="none"/>
            <a:tailEnd len="sm" w="sm" type="none"/>
          </a:ln>
          <a:effectLst>
            <a:outerShdw blurRad="50800" rotWithShape="0" algn="bl" dir="81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9"/>
          <p:cNvSpPr/>
          <p:nvPr/>
        </p:nvSpPr>
        <p:spPr>
          <a:xfrm>
            <a:off x="3185160" y="969264"/>
            <a:ext cx="1341120" cy="50292"/>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9"/>
          <p:cNvSpPr/>
          <p:nvPr/>
        </p:nvSpPr>
        <p:spPr>
          <a:xfrm>
            <a:off x="3276600" y="1033272"/>
            <a:ext cx="11582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Purchase Revenue</a:t>
            </a:r>
            <a:endParaRPr b="0" i="0" sz="850" u="none" cap="none" strike="noStrike">
              <a:solidFill>
                <a:schemeClr val="dk1"/>
              </a:solidFill>
              <a:latin typeface="Calibri"/>
              <a:ea typeface="Calibri"/>
              <a:cs typeface="Calibri"/>
              <a:sym typeface="Calibri"/>
            </a:endParaRPr>
          </a:p>
        </p:txBody>
      </p:sp>
      <p:sp>
        <p:nvSpPr>
          <p:cNvPr id="423" name="Google Shape;423;p19"/>
          <p:cNvSpPr/>
          <p:nvPr/>
        </p:nvSpPr>
        <p:spPr>
          <a:xfrm>
            <a:off x="3276600" y="1216152"/>
            <a:ext cx="1158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700"/>
              <a:buFont typeface="Calibri"/>
              <a:buNone/>
            </a:pPr>
            <a:r>
              <a:rPr b="1" i="0" lang="en-US" sz="1700" u="none" cap="none" strike="noStrike">
                <a:solidFill>
                  <a:srgbClr val="1C1C1C"/>
                </a:solidFill>
                <a:latin typeface="Calibri"/>
                <a:ea typeface="Calibri"/>
                <a:cs typeface="Calibri"/>
                <a:sym typeface="Calibri"/>
              </a:rPr>
              <a:t>£379,808</a:t>
            </a:r>
            <a:endParaRPr b="0" i="0" sz="1700" u="none" cap="none" strike="noStrike">
              <a:solidFill>
                <a:schemeClr val="dk1"/>
              </a:solidFill>
              <a:latin typeface="Calibri"/>
              <a:ea typeface="Calibri"/>
              <a:cs typeface="Calibri"/>
              <a:sym typeface="Calibri"/>
            </a:endParaRPr>
          </a:p>
        </p:txBody>
      </p:sp>
      <p:sp>
        <p:nvSpPr>
          <p:cNvPr id="424" name="Google Shape;424;p19"/>
          <p:cNvSpPr/>
          <p:nvPr/>
        </p:nvSpPr>
        <p:spPr>
          <a:xfrm>
            <a:off x="3276600" y="1591056"/>
            <a:ext cx="1158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YoY: </a:t>
            </a:r>
            <a:r>
              <a:rPr b="1" i="0" lang="en-US" sz="850" u="none" cap="none" strike="noStrike">
                <a:solidFill>
                  <a:srgbClr val="1A7A4A"/>
                </a:solidFill>
                <a:latin typeface="Calibri"/>
                <a:ea typeface="Calibri"/>
                <a:cs typeface="Calibri"/>
                <a:sym typeface="Calibri"/>
              </a:rPr>
              <a:t>+34.4%</a:t>
            </a:r>
            <a:endParaRPr b="0" i="0" sz="850" u="none" cap="none" strike="noStrike">
              <a:solidFill>
                <a:schemeClr val="dk1"/>
              </a:solidFill>
              <a:latin typeface="Calibri"/>
              <a:ea typeface="Calibri"/>
              <a:cs typeface="Calibri"/>
              <a:sym typeface="Calibri"/>
            </a:endParaRPr>
          </a:p>
        </p:txBody>
      </p:sp>
      <p:sp>
        <p:nvSpPr>
          <p:cNvPr id="425" name="Google Shape;425;p19"/>
          <p:cNvSpPr/>
          <p:nvPr/>
        </p:nvSpPr>
        <p:spPr>
          <a:xfrm>
            <a:off x="4617720" y="969264"/>
            <a:ext cx="1341120" cy="804672"/>
          </a:xfrm>
          <a:prstGeom prst="rect">
            <a:avLst/>
          </a:prstGeom>
          <a:solidFill>
            <a:srgbClr val="FFFFFF"/>
          </a:solidFill>
          <a:ln cap="flat" cmpd="sng" w="12700">
            <a:solidFill>
              <a:srgbClr val="E0E0E0"/>
            </a:solidFill>
            <a:prstDash val="solid"/>
            <a:round/>
            <a:headEnd len="sm" w="sm" type="none"/>
            <a:tailEnd len="sm" w="sm" type="none"/>
          </a:ln>
          <a:effectLst>
            <a:outerShdw blurRad="50800" rotWithShape="0" algn="bl" dir="81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9"/>
          <p:cNvSpPr/>
          <p:nvPr/>
        </p:nvSpPr>
        <p:spPr>
          <a:xfrm>
            <a:off x="4617720" y="969264"/>
            <a:ext cx="1341120" cy="50292"/>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9"/>
          <p:cNvSpPr/>
          <p:nvPr/>
        </p:nvSpPr>
        <p:spPr>
          <a:xfrm>
            <a:off x="4709160" y="1033272"/>
            <a:ext cx="11582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CPA</a:t>
            </a:r>
            <a:endParaRPr b="0" i="0" sz="850" u="none" cap="none" strike="noStrike">
              <a:solidFill>
                <a:schemeClr val="dk1"/>
              </a:solidFill>
              <a:latin typeface="Calibri"/>
              <a:ea typeface="Calibri"/>
              <a:cs typeface="Calibri"/>
              <a:sym typeface="Calibri"/>
            </a:endParaRPr>
          </a:p>
        </p:txBody>
      </p:sp>
      <p:sp>
        <p:nvSpPr>
          <p:cNvPr id="428" name="Google Shape;428;p19"/>
          <p:cNvSpPr/>
          <p:nvPr/>
        </p:nvSpPr>
        <p:spPr>
          <a:xfrm>
            <a:off x="4709160" y="1216152"/>
            <a:ext cx="1158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700"/>
              <a:buFont typeface="Calibri"/>
              <a:buNone/>
            </a:pPr>
            <a:r>
              <a:rPr b="1" i="0" lang="en-US" sz="1700" u="none" cap="none" strike="noStrike">
                <a:solidFill>
                  <a:srgbClr val="1C1C1C"/>
                </a:solidFill>
                <a:latin typeface="Calibri"/>
                <a:ea typeface="Calibri"/>
                <a:cs typeface="Calibri"/>
                <a:sym typeface="Calibri"/>
              </a:rPr>
              <a:t>£4.64</a:t>
            </a:r>
            <a:endParaRPr b="0" i="0" sz="1700" u="none" cap="none" strike="noStrike">
              <a:solidFill>
                <a:schemeClr val="dk1"/>
              </a:solidFill>
              <a:latin typeface="Calibri"/>
              <a:ea typeface="Calibri"/>
              <a:cs typeface="Calibri"/>
              <a:sym typeface="Calibri"/>
            </a:endParaRPr>
          </a:p>
        </p:txBody>
      </p:sp>
      <p:sp>
        <p:nvSpPr>
          <p:cNvPr id="429" name="Google Shape;429;p19"/>
          <p:cNvSpPr/>
          <p:nvPr/>
        </p:nvSpPr>
        <p:spPr>
          <a:xfrm>
            <a:off x="4709160" y="1591056"/>
            <a:ext cx="1158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YoY: </a:t>
            </a:r>
            <a:r>
              <a:rPr b="1" i="0" lang="en-US" sz="850" u="none" cap="none" strike="noStrike">
                <a:solidFill>
                  <a:srgbClr val="C0392B"/>
                </a:solidFill>
                <a:latin typeface="Calibri"/>
                <a:ea typeface="Calibri"/>
                <a:cs typeface="Calibri"/>
                <a:sym typeface="Calibri"/>
              </a:rPr>
              <a:t>+46.4%</a:t>
            </a:r>
            <a:endParaRPr b="0" i="0" sz="850" u="none" cap="none" strike="noStrike">
              <a:solidFill>
                <a:schemeClr val="dk1"/>
              </a:solidFill>
              <a:latin typeface="Calibri"/>
              <a:ea typeface="Calibri"/>
              <a:cs typeface="Calibri"/>
              <a:sym typeface="Calibri"/>
            </a:endParaRPr>
          </a:p>
        </p:txBody>
      </p:sp>
      <p:sp>
        <p:nvSpPr>
          <p:cNvPr id="430" name="Google Shape;430;p19"/>
          <p:cNvSpPr/>
          <p:nvPr/>
        </p:nvSpPr>
        <p:spPr>
          <a:xfrm>
            <a:off x="6050280" y="969264"/>
            <a:ext cx="1341120" cy="804672"/>
          </a:xfrm>
          <a:prstGeom prst="rect">
            <a:avLst/>
          </a:prstGeom>
          <a:solidFill>
            <a:srgbClr val="FFFFFF"/>
          </a:solidFill>
          <a:ln cap="flat" cmpd="sng" w="12700">
            <a:solidFill>
              <a:srgbClr val="E0E0E0"/>
            </a:solidFill>
            <a:prstDash val="solid"/>
            <a:round/>
            <a:headEnd len="sm" w="sm" type="none"/>
            <a:tailEnd len="sm" w="sm" type="none"/>
          </a:ln>
          <a:effectLst>
            <a:outerShdw blurRad="50800" rotWithShape="0" algn="bl" dir="81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9"/>
          <p:cNvSpPr/>
          <p:nvPr/>
        </p:nvSpPr>
        <p:spPr>
          <a:xfrm>
            <a:off x="6050280" y="969264"/>
            <a:ext cx="1341120" cy="50292"/>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9"/>
          <p:cNvSpPr/>
          <p:nvPr/>
        </p:nvSpPr>
        <p:spPr>
          <a:xfrm>
            <a:off x="6141720" y="1033272"/>
            <a:ext cx="11582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ROAS</a:t>
            </a:r>
            <a:endParaRPr b="0" i="0" sz="850" u="none" cap="none" strike="noStrike">
              <a:solidFill>
                <a:schemeClr val="dk1"/>
              </a:solidFill>
              <a:latin typeface="Calibri"/>
              <a:ea typeface="Calibri"/>
              <a:cs typeface="Calibri"/>
              <a:sym typeface="Calibri"/>
            </a:endParaRPr>
          </a:p>
        </p:txBody>
      </p:sp>
      <p:sp>
        <p:nvSpPr>
          <p:cNvPr id="433" name="Google Shape;433;p19"/>
          <p:cNvSpPr/>
          <p:nvPr/>
        </p:nvSpPr>
        <p:spPr>
          <a:xfrm>
            <a:off x="6141720" y="1216152"/>
            <a:ext cx="1158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700"/>
              <a:buFont typeface="Calibri"/>
              <a:buNone/>
            </a:pPr>
            <a:r>
              <a:rPr b="1" i="0" lang="en-US" sz="1700" u="none" cap="none" strike="noStrike">
                <a:solidFill>
                  <a:srgbClr val="1C1C1C"/>
                </a:solidFill>
                <a:latin typeface="Calibri"/>
                <a:ea typeface="Calibri"/>
                <a:cs typeface="Calibri"/>
                <a:sym typeface="Calibri"/>
              </a:rPr>
              <a:t>16.64</a:t>
            </a:r>
            <a:endParaRPr b="0" i="0" sz="1700" u="none" cap="none" strike="noStrike">
              <a:solidFill>
                <a:schemeClr val="dk1"/>
              </a:solidFill>
              <a:latin typeface="Calibri"/>
              <a:ea typeface="Calibri"/>
              <a:cs typeface="Calibri"/>
              <a:sym typeface="Calibri"/>
            </a:endParaRPr>
          </a:p>
        </p:txBody>
      </p:sp>
      <p:sp>
        <p:nvSpPr>
          <p:cNvPr id="434" name="Google Shape;434;p19"/>
          <p:cNvSpPr/>
          <p:nvPr/>
        </p:nvSpPr>
        <p:spPr>
          <a:xfrm>
            <a:off x="6141720" y="1591056"/>
            <a:ext cx="1158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YoY: </a:t>
            </a:r>
            <a:r>
              <a:rPr b="1" i="0" lang="en-US" sz="850" u="none" cap="none" strike="noStrike">
                <a:solidFill>
                  <a:srgbClr val="C0392B"/>
                </a:solidFill>
                <a:latin typeface="Calibri"/>
                <a:ea typeface="Calibri"/>
                <a:cs typeface="Calibri"/>
                <a:sym typeface="Calibri"/>
              </a:rPr>
              <a:t>-34.9%</a:t>
            </a:r>
            <a:endParaRPr b="0" i="0" sz="850" u="none" cap="none" strike="noStrike">
              <a:solidFill>
                <a:schemeClr val="dk1"/>
              </a:solidFill>
              <a:latin typeface="Calibri"/>
              <a:ea typeface="Calibri"/>
              <a:cs typeface="Calibri"/>
              <a:sym typeface="Calibri"/>
            </a:endParaRPr>
          </a:p>
        </p:txBody>
      </p:sp>
      <p:sp>
        <p:nvSpPr>
          <p:cNvPr id="435" name="Google Shape;435;p19"/>
          <p:cNvSpPr/>
          <p:nvPr/>
        </p:nvSpPr>
        <p:spPr>
          <a:xfrm>
            <a:off x="7482840" y="969264"/>
            <a:ext cx="1341120" cy="804672"/>
          </a:xfrm>
          <a:prstGeom prst="rect">
            <a:avLst/>
          </a:prstGeom>
          <a:solidFill>
            <a:srgbClr val="FFFFFF"/>
          </a:solidFill>
          <a:ln cap="flat" cmpd="sng" w="12700">
            <a:solidFill>
              <a:srgbClr val="E0E0E0"/>
            </a:solidFill>
            <a:prstDash val="solid"/>
            <a:round/>
            <a:headEnd len="sm" w="sm" type="none"/>
            <a:tailEnd len="sm" w="sm" type="none"/>
          </a:ln>
          <a:effectLst>
            <a:outerShdw blurRad="50800" rotWithShape="0" algn="bl" dir="81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9"/>
          <p:cNvSpPr/>
          <p:nvPr/>
        </p:nvSpPr>
        <p:spPr>
          <a:xfrm>
            <a:off x="7482840" y="969264"/>
            <a:ext cx="1341120" cy="50292"/>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9"/>
          <p:cNvSpPr/>
          <p:nvPr/>
        </p:nvSpPr>
        <p:spPr>
          <a:xfrm>
            <a:off x="7574280" y="1033272"/>
            <a:ext cx="11582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AOV</a:t>
            </a:r>
            <a:endParaRPr b="0" i="0" sz="850" u="none" cap="none" strike="noStrike">
              <a:solidFill>
                <a:schemeClr val="dk1"/>
              </a:solidFill>
              <a:latin typeface="Calibri"/>
              <a:ea typeface="Calibri"/>
              <a:cs typeface="Calibri"/>
              <a:sym typeface="Calibri"/>
            </a:endParaRPr>
          </a:p>
        </p:txBody>
      </p:sp>
      <p:sp>
        <p:nvSpPr>
          <p:cNvPr id="438" name="Google Shape;438;p19"/>
          <p:cNvSpPr/>
          <p:nvPr/>
        </p:nvSpPr>
        <p:spPr>
          <a:xfrm>
            <a:off x="7574280" y="1216152"/>
            <a:ext cx="1158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700"/>
              <a:buFont typeface="Calibri"/>
              <a:buNone/>
            </a:pPr>
            <a:r>
              <a:rPr b="1" i="0" lang="en-US" sz="1700" u="none" cap="none" strike="noStrike">
                <a:solidFill>
                  <a:srgbClr val="1C1C1C"/>
                </a:solidFill>
                <a:latin typeface="Calibri"/>
                <a:ea typeface="Calibri"/>
                <a:cs typeface="Calibri"/>
                <a:sym typeface="Calibri"/>
              </a:rPr>
              <a:t>£77.17</a:t>
            </a:r>
            <a:endParaRPr b="0" i="0" sz="1700" u="none" cap="none" strike="noStrike">
              <a:solidFill>
                <a:schemeClr val="dk1"/>
              </a:solidFill>
              <a:latin typeface="Calibri"/>
              <a:ea typeface="Calibri"/>
              <a:cs typeface="Calibri"/>
              <a:sym typeface="Calibri"/>
            </a:endParaRPr>
          </a:p>
        </p:txBody>
      </p:sp>
      <p:sp>
        <p:nvSpPr>
          <p:cNvPr id="439" name="Google Shape;439;p19"/>
          <p:cNvSpPr/>
          <p:nvPr/>
        </p:nvSpPr>
        <p:spPr>
          <a:xfrm>
            <a:off x="7574280" y="1591056"/>
            <a:ext cx="1158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YoY: </a:t>
            </a:r>
            <a:r>
              <a:rPr b="1" i="0" lang="en-US" sz="850" u="none" cap="none" strike="noStrike">
                <a:solidFill>
                  <a:srgbClr val="C0392B"/>
                </a:solidFill>
                <a:latin typeface="Calibri"/>
                <a:ea typeface="Calibri"/>
                <a:cs typeface="Calibri"/>
                <a:sym typeface="Calibri"/>
              </a:rPr>
              <a:t>-4.7%</a:t>
            </a:r>
            <a:endParaRPr b="0" i="0" sz="850" u="none" cap="none" strike="noStrike">
              <a:solidFill>
                <a:schemeClr val="dk1"/>
              </a:solidFill>
              <a:latin typeface="Calibri"/>
              <a:ea typeface="Calibri"/>
              <a:cs typeface="Calibri"/>
              <a:sym typeface="Calibri"/>
            </a:endParaRPr>
          </a:p>
        </p:txBody>
      </p:sp>
      <p:pic>
        <p:nvPicPr>
          <p:cNvPr id="440" name="Google Shape;440;p19"/>
          <p:cNvPicPr preferRelativeResize="0"/>
          <p:nvPr/>
        </p:nvPicPr>
        <p:blipFill>
          <a:blip r:embed="rId4">
            <a:alphaModFix/>
          </a:blip>
          <a:stretch>
            <a:fillRect/>
          </a:stretch>
        </p:blipFill>
        <p:spPr>
          <a:xfrm>
            <a:off x="320050" y="1984621"/>
            <a:ext cx="5638800" cy="2724154"/>
          </a:xfrm>
          <a:prstGeom prst="rect">
            <a:avLst/>
          </a:prstGeom>
          <a:noFill/>
          <a:ln>
            <a:noFill/>
          </a:ln>
        </p:spPr>
      </p:pic>
      <p:sp>
        <p:nvSpPr>
          <p:cNvPr id="441" name="Google Shape;441;p19"/>
          <p:cNvSpPr/>
          <p:nvPr/>
        </p:nvSpPr>
        <p:spPr>
          <a:xfrm>
            <a:off x="5958850" y="2222000"/>
            <a:ext cx="2865000" cy="2374500"/>
          </a:xfrm>
          <a:prstGeom prst="rect">
            <a:avLst/>
          </a:prstGeom>
          <a:noFill/>
          <a:ln>
            <a:noFill/>
          </a:ln>
        </p:spPr>
        <p:txBody>
          <a:bodyPr anchorCtr="0" anchor="t" bIns="0" lIns="0" spcFirstLastPara="1" rIns="0" wrap="square" tIns="0">
            <a:noAutofit/>
          </a:bodyPr>
          <a:lstStyle/>
          <a:p>
            <a:pPr indent="-288925" lvl="0" marL="457200" marR="0" rtl="0" algn="l">
              <a:spcBef>
                <a:spcPts val="0"/>
              </a:spcBef>
              <a:spcAft>
                <a:spcPts val="0"/>
              </a:spcAft>
              <a:buClr>
                <a:srgbClr val="1C1C1C"/>
              </a:buClr>
              <a:buSzPts val="950"/>
              <a:buFont typeface="Calibri"/>
              <a:buChar char="●"/>
            </a:pPr>
            <a:r>
              <a:rPr lang="en-US" sz="950">
                <a:solidFill>
                  <a:srgbClr val="1C1C1C"/>
                </a:solidFill>
                <a:latin typeface="Calibri"/>
                <a:ea typeface="Calibri"/>
                <a:cs typeface="Calibri"/>
                <a:sym typeface="Calibri"/>
              </a:rPr>
              <a:t>Performance Max investment has increased in the last year.</a:t>
            </a:r>
            <a:br>
              <a:rPr lang="en-US" sz="950">
                <a:solidFill>
                  <a:srgbClr val="1C1C1C"/>
                </a:solidFill>
                <a:latin typeface="Calibri"/>
                <a:ea typeface="Calibri"/>
                <a:cs typeface="Calibri"/>
                <a:sym typeface="Calibri"/>
              </a:rPr>
            </a:br>
            <a:endParaRPr sz="950">
              <a:solidFill>
                <a:srgbClr val="1C1C1C"/>
              </a:solidFill>
              <a:latin typeface="Calibri"/>
              <a:ea typeface="Calibri"/>
              <a:cs typeface="Calibri"/>
              <a:sym typeface="Calibri"/>
            </a:endParaRPr>
          </a:p>
          <a:p>
            <a:pPr indent="-288925" lvl="0" marL="457200" marR="0" rtl="0" algn="l">
              <a:spcBef>
                <a:spcPts val="0"/>
              </a:spcBef>
              <a:spcAft>
                <a:spcPts val="0"/>
              </a:spcAft>
              <a:buClr>
                <a:srgbClr val="1C1C1C"/>
              </a:buClr>
              <a:buSzPts val="950"/>
              <a:buFont typeface="Calibri"/>
              <a:buChar char="●"/>
            </a:pPr>
            <a:r>
              <a:rPr lang="en-US" sz="950">
                <a:solidFill>
                  <a:srgbClr val="1C1C1C"/>
                </a:solidFill>
                <a:latin typeface="Calibri"/>
                <a:ea typeface="Calibri"/>
                <a:cs typeface="Calibri"/>
                <a:sym typeface="Calibri"/>
              </a:rPr>
              <a:t>The CPA and ROAS increases are a result of </a:t>
            </a:r>
            <a:r>
              <a:rPr lang="en-US" sz="950">
                <a:solidFill>
                  <a:srgbClr val="1C1C1C"/>
                </a:solidFill>
                <a:latin typeface="Calibri"/>
                <a:ea typeface="Calibri"/>
                <a:cs typeface="Calibri"/>
                <a:sym typeface="Calibri"/>
              </a:rPr>
              <a:t>changes</a:t>
            </a:r>
            <a:r>
              <a:rPr lang="en-US" sz="950">
                <a:solidFill>
                  <a:srgbClr val="1C1C1C"/>
                </a:solidFill>
                <a:latin typeface="Calibri"/>
                <a:ea typeface="Calibri"/>
                <a:cs typeface="Calibri"/>
                <a:sym typeface="Calibri"/>
              </a:rPr>
              <a:t> in PMax strategy and how it is being used.</a:t>
            </a:r>
            <a:br>
              <a:rPr lang="en-US" sz="950">
                <a:solidFill>
                  <a:srgbClr val="1C1C1C"/>
                </a:solidFill>
                <a:latin typeface="Calibri"/>
                <a:ea typeface="Calibri"/>
                <a:cs typeface="Calibri"/>
                <a:sym typeface="Calibri"/>
              </a:rPr>
            </a:br>
            <a:r>
              <a:rPr lang="en-US" sz="950">
                <a:solidFill>
                  <a:srgbClr val="1C1C1C"/>
                </a:solidFill>
                <a:latin typeface="Calibri"/>
                <a:ea typeface="Calibri"/>
                <a:cs typeface="Calibri"/>
                <a:sym typeface="Calibri"/>
              </a:rPr>
              <a:t> </a:t>
            </a:r>
            <a:endParaRPr sz="950">
              <a:solidFill>
                <a:srgbClr val="1C1C1C"/>
              </a:solidFill>
              <a:latin typeface="Calibri"/>
              <a:ea typeface="Calibri"/>
              <a:cs typeface="Calibri"/>
              <a:sym typeface="Calibri"/>
            </a:endParaRPr>
          </a:p>
          <a:p>
            <a:pPr indent="-288925" lvl="0" marL="457200" marR="0" rtl="0" algn="l">
              <a:spcBef>
                <a:spcPts val="0"/>
              </a:spcBef>
              <a:spcAft>
                <a:spcPts val="0"/>
              </a:spcAft>
              <a:buClr>
                <a:srgbClr val="1C1C1C"/>
              </a:buClr>
              <a:buSzPts val="950"/>
              <a:buFont typeface="Calibri"/>
              <a:buChar char="●"/>
            </a:pPr>
            <a:r>
              <a:rPr lang="en-US" sz="950">
                <a:solidFill>
                  <a:srgbClr val="1C1C1C"/>
                </a:solidFill>
                <a:latin typeface="Calibri"/>
                <a:ea typeface="Calibri"/>
                <a:cs typeface="Calibri"/>
                <a:sym typeface="Calibri"/>
              </a:rPr>
              <a:t>We now use PMax as a discovery engine with our highest intent searches are being funneled through our Genric search campaigns.</a:t>
            </a:r>
            <a:br>
              <a:rPr lang="en-US" sz="950">
                <a:solidFill>
                  <a:srgbClr val="1C1C1C"/>
                </a:solidFill>
                <a:latin typeface="Calibri"/>
                <a:ea typeface="Calibri"/>
                <a:cs typeface="Calibri"/>
                <a:sym typeface="Calibri"/>
              </a:rPr>
            </a:br>
            <a:r>
              <a:rPr lang="en-US" sz="950">
                <a:solidFill>
                  <a:srgbClr val="1C1C1C"/>
                </a:solidFill>
                <a:latin typeface="Calibri"/>
                <a:ea typeface="Calibri"/>
                <a:cs typeface="Calibri"/>
                <a:sym typeface="Calibri"/>
              </a:rPr>
              <a:t> </a:t>
            </a:r>
            <a:endParaRPr sz="950">
              <a:solidFill>
                <a:srgbClr val="1C1C1C"/>
              </a:solidFill>
              <a:latin typeface="Calibri"/>
              <a:ea typeface="Calibri"/>
              <a:cs typeface="Calibri"/>
              <a:sym typeface="Calibri"/>
            </a:endParaRPr>
          </a:p>
          <a:p>
            <a:pPr indent="-288925" lvl="0" marL="457200" marR="0" rtl="0" algn="l">
              <a:spcBef>
                <a:spcPts val="0"/>
              </a:spcBef>
              <a:spcAft>
                <a:spcPts val="0"/>
              </a:spcAft>
              <a:buClr>
                <a:srgbClr val="1C1C1C"/>
              </a:buClr>
              <a:buSzPts val="950"/>
              <a:buFont typeface="Calibri"/>
              <a:buChar char="●"/>
            </a:pPr>
            <a:r>
              <a:rPr lang="en-US" sz="950">
                <a:solidFill>
                  <a:srgbClr val="1C1C1C"/>
                </a:solidFill>
                <a:latin typeface="Calibri"/>
                <a:ea typeface="Calibri"/>
                <a:cs typeface="Calibri"/>
                <a:sym typeface="Calibri"/>
              </a:rPr>
              <a:t>This strategy, combined with the fact that PMax also covers display, means that CPAs are always likely to be higher than generics. </a:t>
            </a:r>
            <a:endParaRPr sz="950">
              <a:solidFill>
                <a:srgbClr val="1C1C1C"/>
              </a:solidFill>
              <a:latin typeface="Calibri"/>
              <a:ea typeface="Calibri"/>
              <a:cs typeface="Calibri"/>
              <a:sym typeface="Calibri"/>
            </a:endParaRPr>
          </a:p>
        </p:txBody>
      </p:sp>
      <p:pic>
        <p:nvPicPr>
          <p:cNvPr id="442" name="Google Shape;442;p19"/>
          <p:cNvPicPr preferRelativeResize="0"/>
          <p:nvPr/>
        </p:nvPicPr>
        <p:blipFill>
          <a:blip r:embed="rId5">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7" name="Shape 447"/>
        <p:cNvGrpSpPr/>
        <p:nvPr/>
      </p:nvGrpSpPr>
      <p:grpSpPr>
        <a:xfrm>
          <a:off x="0" y="0"/>
          <a:ext cx="0" cy="0"/>
          <a:chOff x="0" y="0"/>
          <a:chExt cx="0" cy="0"/>
        </a:xfrm>
      </p:grpSpPr>
      <p:sp>
        <p:nvSpPr>
          <p:cNvPr id="448" name="Google Shape;448;p20"/>
          <p:cNvSpPr/>
          <p:nvPr/>
        </p:nvSpPr>
        <p:spPr>
          <a:xfrm>
            <a:off x="0" y="0"/>
            <a:ext cx="9144000" cy="868800"/>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0"/>
          <p:cNvSpPr/>
          <p:nvPr/>
        </p:nvSpPr>
        <p:spPr>
          <a:xfrm>
            <a:off x="320040" y="45720"/>
            <a:ext cx="80466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PMax Performance Summary</a:t>
            </a:r>
            <a:endParaRPr b="0" i="0" sz="2200" u="none" cap="none" strike="noStrike">
              <a:solidFill>
                <a:srgbClr val="000000"/>
              </a:solidFill>
              <a:latin typeface="Calibri"/>
              <a:ea typeface="Calibri"/>
              <a:cs typeface="Calibri"/>
              <a:sym typeface="Calibri"/>
            </a:endParaRPr>
          </a:p>
        </p:txBody>
      </p:sp>
      <p:sp>
        <p:nvSpPr>
          <p:cNvPr id="450" name="Google Shape;450;p20"/>
          <p:cNvSpPr/>
          <p:nvPr/>
        </p:nvSpPr>
        <p:spPr>
          <a:xfrm>
            <a:off x="320040" y="521208"/>
            <a:ext cx="8046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000"/>
              <a:buFont typeface="Calibri"/>
              <a:buNone/>
            </a:pPr>
            <a:r>
              <a:rPr b="0" i="0" lang="en-US" sz="1000" u="none" cap="none" strike="noStrike">
                <a:solidFill>
                  <a:srgbClr val="CCCCCC"/>
                </a:solidFill>
                <a:latin typeface="Calibri"/>
                <a:ea typeface="Calibri"/>
                <a:cs typeface="Calibri"/>
                <a:sym typeface="Calibri"/>
              </a:rPr>
              <a:t>FY 2025/26 (Apr 2025 - Mar 2026)</a:t>
            </a:r>
            <a:endParaRPr b="0" i="0" sz="1000" u="none" cap="none" strike="noStrike">
              <a:solidFill>
                <a:srgbClr val="000000"/>
              </a:solidFill>
              <a:latin typeface="Calibri"/>
              <a:ea typeface="Calibri"/>
              <a:cs typeface="Calibri"/>
              <a:sym typeface="Calibri"/>
            </a:endParaRPr>
          </a:p>
        </p:txBody>
      </p:sp>
      <p:sp>
        <p:nvSpPr>
          <p:cNvPr id="451" name="Google Shape;451;p20"/>
          <p:cNvSpPr/>
          <p:nvPr/>
        </p:nvSpPr>
        <p:spPr>
          <a:xfrm>
            <a:off x="0" y="868680"/>
            <a:ext cx="9144000" cy="366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0"/>
          <p:cNvSpPr/>
          <p:nvPr/>
        </p:nvSpPr>
        <p:spPr>
          <a:xfrm>
            <a:off x="0" y="4910328"/>
            <a:ext cx="9144000" cy="233100"/>
          </a:xfrm>
          <a:prstGeom prst="rect">
            <a:avLst/>
          </a:prstGeom>
          <a:solidFill>
            <a:srgbClr val="1C1C1C"/>
          </a:solidFill>
          <a:ln cap="flat" cmpd="sng" w="12700">
            <a:solidFill>
              <a:srgbClr val="1C1C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0"/>
          <p:cNvSpPr/>
          <p:nvPr/>
        </p:nvSpPr>
        <p:spPr>
          <a:xfrm>
            <a:off x="320040" y="4919472"/>
            <a:ext cx="85038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00"/>
              <a:buFont typeface="Calibri"/>
              <a:buNone/>
            </a:pPr>
            <a:r>
              <a:rPr b="0" i="0" lang="en-US" sz="800" u="none" cap="none" strike="noStrike">
                <a:solidFill>
                  <a:srgbClr val="888888"/>
                </a:solidFill>
                <a:latin typeface="Calibri"/>
                <a:ea typeface="Calibri"/>
                <a:cs typeface="Calibri"/>
                <a:sym typeface="Calibri"/>
              </a:rPr>
              <a:t>FY 2025/26  |  Wightlink  |  Confidential</a:t>
            </a:r>
            <a:endParaRPr b="0" i="0" sz="800" u="none" cap="none" strike="noStrike">
              <a:solidFill>
                <a:srgbClr val="000000"/>
              </a:solidFill>
              <a:latin typeface="Calibri"/>
              <a:ea typeface="Calibri"/>
              <a:cs typeface="Calibri"/>
              <a:sym typeface="Calibri"/>
            </a:endParaRPr>
          </a:p>
        </p:txBody>
      </p:sp>
      <p:graphicFrame>
        <p:nvGraphicFramePr>
          <p:cNvPr id="454" name="Google Shape;454;p20"/>
          <p:cNvGraphicFramePr/>
          <p:nvPr/>
        </p:nvGraphicFramePr>
        <p:xfrm>
          <a:off x="320040" y="1120139"/>
          <a:ext cx="3000000" cy="3000000"/>
        </p:xfrm>
        <a:graphic>
          <a:graphicData uri="http://schemas.openxmlformats.org/drawingml/2006/table">
            <a:tbl>
              <a:tblPr>
                <a:noFill/>
                <a:tableStyleId>{A518D24D-EAA6-41D1-AC2E-21A0FAADA655}</a:tableStyleId>
              </a:tblPr>
              <a:tblGrid>
                <a:gridCol w="1051550"/>
                <a:gridCol w="1097275"/>
                <a:gridCol w="1005850"/>
                <a:gridCol w="822950"/>
                <a:gridCol w="1463050"/>
                <a:gridCol w="914400"/>
                <a:gridCol w="777250"/>
              </a:tblGrid>
              <a:tr h="224025">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Month</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c>
                  <a:txBody>
                    <a:bodyPr/>
                    <a:lstStyle/>
                    <a:p>
                      <a:pPr indent="0" lvl="0" marL="0" marR="0" rtl="0" algn="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Cost</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c>
                  <a:txBody>
                    <a:bodyPr/>
                    <a:lstStyle/>
                    <a:p>
                      <a:pPr indent="0" lvl="0" marL="0" marR="0" rtl="0" algn="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Purchases</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c>
                  <a:txBody>
                    <a:bodyPr/>
                    <a:lstStyle/>
                    <a:p>
                      <a:pPr indent="0" lvl="0" marL="0" marR="0" rtl="0" algn="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CPA</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c>
                  <a:txBody>
                    <a:bodyPr/>
                    <a:lstStyle/>
                    <a:p>
                      <a:pPr indent="0" lvl="0" marL="0" marR="0" rtl="0" algn="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Purchase Revenue</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c>
                  <a:txBody>
                    <a:bodyPr/>
                    <a:lstStyle/>
                    <a:p>
                      <a:pPr indent="0" lvl="0" marL="0" marR="0" rtl="0" algn="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ROAS</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c>
                  <a:txBody>
                    <a:bodyPr/>
                    <a:lstStyle/>
                    <a:p>
                      <a:pPr indent="0" lvl="0" marL="0" marR="0" rtl="0" algn="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CVR</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r>
              <a:tr h="22402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April</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£2,176.50</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544</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£4.00</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£42,681.55</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19.61</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5.12%</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22402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May</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£3,199.89</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545</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£5.88</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£49,500.99</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15.47</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4.26%</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r>
              <a:tr h="22402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June</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£1,608.59</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402</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£4.00</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£33,599.85</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20.89</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4.12%</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22402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July</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£1,836.34</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410</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£4.48</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£31,891.22</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17.37</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3.71%</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r>
              <a:tr h="22402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August</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£2,359.42</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373</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£6.33</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£27,188.78</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11.52</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2.88%</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22402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September</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£1,474.44</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257</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£5.74</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£17,866.61</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12.12</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3.61%</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r>
              <a:tr h="22402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October</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£1,068.22</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366</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£2.92</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£27,325.14</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25.58</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6.54%</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22402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November</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£1,658.25</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447</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£3.71</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£28,412.98</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17.13</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9.20%</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r>
              <a:tr h="22402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December</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£1,821.85</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330</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£5.53</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£18,443.36</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10.12</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6.19%</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22402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January</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£1,671.00</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409</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£4.08</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£31,769.23</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19.01</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7.42%</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r>
              <a:tr h="22402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February</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£1,523.82</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331</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£4.60</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£24,628.29</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16.16</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5.94%</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224025">
                <a:tc>
                  <a:txBody>
                    <a:bodyPr/>
                    <a:lstStyle/>
                    <a:p>
                      <a:pPr indent="0" lvl="0" marL="0" marR="0" rtl="0" algn="l">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March</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£2,427.09</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508</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£4.77</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£46,500.45</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19.16</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900"/>
                        <a:buFont typeface="Calibri"/>
                        <a:buNone/>
                      </a:pPr>
                      <a:r>
                        <a:rPr lang="en-US" sz="900" u="none" cap="none" strike="noStrike">
                          <a:solidFill>
                            <a:srgbClr val="1C1C1C"/>
                          </a:solidFill>
                          <a:latin typeface="Calibri"/>
                          <a:ea typeface="Calibri"/>
                          <a:cs typeface="Calibri"/>
                          <a:sym typeface="Calibri"/>
                        </a:rPr>
                        <a:t>6.57%</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r>
              <a:tr h="224025">
                <a:tc>
                  <a:txBody>
                    <a:bodyPr/>
                    <a:lstStyle/>
                    <a:p>
                      <a:pPr indent="0" lvl="0" marL="0" marR="0" rtl="0" algn="l">
                        <a:spcBef>
                          <a:spcPts val="0"/>
                        </a:spcBef>
                        <a:spcAft>
                          <a:spcPts val="0"/>
                        </a:spcAft>
                        <a:buClr>
                          <a:srgbClr val="C0392B"/>
                        </a:buClr>
                        <a:buSzPts val="900"/>
                        <a:buFont typeface="Calibri"/>
                        <a:buNone/>
                      </a:pPr>
                      <a:r>
                        <a:rPr b="1" lang="en-US" sz="900" u="none" cap="none" strike="noStrike">
                          <a:solidFill>
                            <a:srgbClr val="C0392B"/>
                          </a:solidFill>
                          <a:latin typeface="Calibri"/>
                          <a:ea typeface="Calibri"/>
                          <a:cs typeface="Calibri"/>
                          <a:sym typeface="Calibri"/>
                        </a:rPr>
                        <a:t>Total</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0E8E8"/>
                    </a:solidFill>
                  </a:tcPr>
                </a:tc>
                <a:tc>
                  <a:txBody>
                    <a:bodyPr/>
                    <a:lstStyle/>
                    <a:p>
                      <a:pPr indent="0" lvl="0" marL="0" marR="0" rtl="0" algn="r">
                        <a:spcBef>
                          <a:spcPts val="0"/>
                        </a:spcBef>
                        <a:spcAft>
                          <a:spcPts val="0"/>
                        </a:spcAft>
                        <a:buClr>
                          <a:srgbClr val="1C1C1C"/>
                        </a:buClr>
                        <a:buSzPts val="900"/>
                        <a:buFont typeface="Calibri"/>
                        <a:buNone/>
                      </a:pPr>
                      <a:r>
                        <a:rPr b="1" lang="en-US" sz="900" u="none" cap="none" strike="noStrike">
                          <a:solidFill>
                            <a:srgbClr val="1C1C1C"/>
                          </a:solidFill>
                          <a:latin typeface="Calibri"/>
                          <a:ea typeface="Calibri"/>
                          <a:cs typeface="Calibri"/>
                          <a:sym typeface="Calibri"/>
                        </a:rPr>
                        <a:t>£22,825.41</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0E8E8"/>
                    </a:solidFill>
                  </a:tcPr>
                </a:tc>
                <a:tc>
                  <a:txBody>
                    <a:bodyPr/>
                    <a:lstStyle/>
                    <a:p>
                      <a:pPr indent="0" lvl="0" marL="0" marR="0" rtl="0" algn="r">
                        <a:spcBef>
                          <a:spcPts val="0"/>
                        </a:spcBef>
                        <a:spcAft>
                          <a:spcPts val="0"/>
                        </a:spcAft>
                        <a:buClr>
                          <a:srgbClr val="1C1C1C"/>
                        </a:buClr>
                        <a:buSzPts val="900"/>
                        <a:buFont typeface="Calibri"/>
                        <a:buNone/>
                      </a:pPr>
                      <a:r>
                        <a:rPr b="1" lang="en-US" sz="900" u="none" cap="none" strike="noStrike">
                          <a:solidFill>
                            <a:srgbClr val="1C1C1C"/>
                          </a:solidFill>
                          <a:latin typeface="Calibri"/>
                          <a:ea typeface="Calibri"/>
                          <a:cs typeface="Calibri"/>
                          <a:sym typeface="Calibri"/>
                        </a:rPr>
                        <a:t>4,922</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0E8E8"/>
                    </a:solidFill>
                  </a:tcPr>
                </a:tc>
                <a:tc>
                  <a:txBody>
                    <a:bodyPr/>
                    <a:lstStyle/>
                    <a:p>
                      <a:pPr indent="0" lvl="0" marL="0" marR="0" rtl="0" algn="r">
                        <a:spcBef>
                          <a:spcPts val="0"/>
                        </a:spcBef>
                        <a:spcAft>
                          <a:spcPts val="0"/>
                        </a:spcAft>
                        <a:buClr>
                          <a:srgbClr val="1C1C1C"/>
                        </a:buClr>
                        <a:buSzPts val="900"/>
                        <a:buFont typeface="Calibri"/>
                        <a:buNone/>
                      </a:pPr>
                      <a:r>
                        <a:rPr b="1" lang="en-US" sz="900" u="none" cap="none" strike="noStrike">
                          <a:solidFill>
                            <a:srgbClr val="1C1C1C"/>
                          </a:solidFill>
                          <a:latin typeface="Calibri"/>
                          <a:ea typeface="Calibri"/>
                          <a:cs typeface="Calibri"/>
                          <a:sym typeface="Calibri"/>
                        </a:rPr>
                        <a:t>£4.64</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0E8E8"/>
                    </a:solidFill>
                  </a:tcPr>
                </a:tc>
                <a:tc>
                  <a:txBody>
                    <a:bodyPr/>
                    <a:lstStyle/>
                    <a:p>
                      <a:pPr indent="0" lvl="0" marL="0" marR="0" rtl="0" algn="r">
                        <a:spcBef>
                          <a:spcPts val="0"/>
                        </a:spcBef>
                        <a:spcAft>
                          <a:spcPts val="0"/>
                        </a:spcAft>
                        <a:buClr>
                          <a:srgbClr val="1C1C1C"/>
                        </a:buClr>
                        <a:buSzPts val="900"/>
                        <a:buFont typeface="Calibri"/>
                        <a:buNone/>
                      </a:pPr>
                      <a:r>
                        <a:rPr b="1" lang="en-US" sz="900" u="none" cap="none" strike="noStrike">
                          <a:solidFill>
                            <a:srgbClr val="1C1C1C"/>
                          </a:solidFill>
                          <a:latin typeface="Calibri"/>
                          <a:ea typeface="Calibri"/>
                          <a:cs typeface="Calibri"/>
                          <a:sym typeface="Calibri"/>
                        </a:rPr>
                        <a:t>£379,808.46</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0E8E8"/>
                    </a:solidFill>
                  </a:tcPr>
                </a:tc>
                <a:tc>
                  <a:txBody>
                    <a:bodyPr/>
                    <a:lstStyle/>
                    <a:p>
                      <a:pPr indent="0" lvl="0" marL="0" marR="0" rtl="0" algn="r">
                        <a:spcBef>
                          <a:spcPts val="0"/>
                        </a:spcBef>
                        <a:spcAft>
                          <a:spcPts val="0"/>
                        </a:spcAft>
                        <a:buClr>
                          <a:srgbClr val="1C1C1C"/>
                        </a:buClr>
                        <a:buSzPts val="900"/>
                        <a:buFont typeface="Calibri"/>
                        <a:buNone/>
                      </a:pPr>
                      <a:r>
                        <a:rPr b="1" lang="en-US" sz="900" u="none" cap="none" strike="noStrike">
                          <a:solidFill>
                            <a:srgbClr val="1C1C1C"/>
                          </a:solidFill>
                          <a:latin typeface="Calibri"/>
                          <a:ea typeface="Calibri"/>
                          <a:cs typeface="Calibri"/>
                          <a:sym typeface="Calibri"/>
                        </a:rPr>
                        <a:t>16.64</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0E8E8"/>
                    </a:solidFill>
                  </a:tcPr>
                </a:tc>
                <a:tc>
                  <a:txBody>
                    <a:bodyPr/>
                    <a:lstStyle/>
                    <a:p>
                      <a:pPr indent="0" lvl="0" marL="0" marR="0" rtl="0" algn="r">
                        <a:spcBef>
                          <a:spcPts val="0"/>
                        </a:spcBef>
                        <a:spcAft>
                          <a:spcPts val="0"/>
                        </a:spcAft>
                        <a:buClr>
                          <a:srgbClr val="1C1C1C"/>
                        </a:buClr>
                        <a:buSzPts val="900"/>
                        <a:buFont typeface="Calibri"/>
                        <a:buNone/>
                      </a:pPr>
                      <a:r>
                        <a:rPr b="1" lang="en-US" sz="900" u="none" cap="none" strike="noStrike">
                          <a:solidFill>
                            <a:srgbClr val="1C1C1C"/>
                          </a:solidFill>
                          <a:latin typeface="Calibri"/>
                          <a:ea typeface="Calibri"/>
                          <a:cs typeface="Calibri"/>
                          <a:sym typeface="Calibri"/>
                        </a:rPr>
                        <a:t>4.98%</a:t>
                      </a:r>
                      <a:endParaRPr sz="9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0E8E8"/>
                    </a:solidFill>
                  </a:tcPr>
                </a:tc>
              </a:tr>
            </a:tbl>
          </a:graphicData>
        </a:graphic>
      </p:graphicFrame>
      <p:sp>
        <p:nvSpPr>
          <p:cNvPr id="455" name="Google Shape;455;p20"/>
          <p:cNvSpPr/>
          <p:nvPr/>
        </p:nvSpPr>
        <p:spPr>
          <a:xfrm>
            <a:off x="320050" y="4482917"/>
            <a:ext cx="8503800" cy="274200"/>
          </a:xfrm>
          <a:prstGeom prst="rect">
            <a:avLst/>
          </a:prstGeom>
          <a:noFill/>
          <a:ln>
            <a:noFill/>
          </a:ln>
        </p:spPr>
        <p:txBody>
          <a:bodyPr anchorCtr="0" anchor="t" bIns="45700" lIns="91425" spcFirstLastPara="1" rIns="91425" wrap="square" tIns="45700">
            <a:noAutofit/>
          </a:bodyPr>
          <a:lstStyle/>
          <a:p>
            <a:pPr indent="-127000" lvl="0" marL="127000" marR="0" rtl="0" algn="l">
              <a:spcBef>
                <a:spcPts val="0"/>
              </a:spcBef>
              <a:spcAft>
                <a:spcPts val="0"/>
              </a:spcAft>
              <a:buClr>
                <a:srgbClr val="1C1C1C"/>
              </a:buClr>
              <a:buSzPts val="1050"/>
              <a:buFont typeface="Calibri"/>
              <a:buChar char="•"/>
            </a:pPr>
            <a:r>
              <a:rPr b="0" i="0" lang="en-US" sz="1050" u="none" cap="none" strike="noStrike">
                <a:solidFill>
                  <a:srgbClr val="1C1C1C"/>
                </a:solidFill>
                <a:latin typeface="Calibri"/>
                <a:ea typeface="Calibri"/>
                <a:cs typeface="Calibri"/>
                <a:sym typeface="Calibri"/>
              </a:rPr>
              <a:t>May was the strongest</a:t>
            </a:r>
            <a:r>
              <a:rPr lang="en-US" sz="1050">
                <a:solidFill>
                  <a:srgbClr val="1C1C1C"/>
                </a:solidFill>
                <a:latin typeface="Calibri"/>
                <a:ea typeface="Calibri"/>
                <a:cs typeface="Calibri"/>
                <a:sym typeface="Calibri"/>
              </a:rPr>
              <a:t> </a:t>
            </a:r>
            <a:r>
              <a:rPr b="0" i="0" lang="en-US" sz="1050" u="none" cap="none" strike="noStrike">
                <a:solidFill>
                  <a:srgbClr val="1C1C1C"/>
                </a:solidFill>
                <a:latin typeface="Calibri"/>
                <a:ea typeface="Calibri"/>
                <a:cs typeface="Calibri"/>
                <a:sym typeface="Calibri"/>
              </a:rPr>
              <a:t>month for purchase volume.  |  October was the most efficient month on CPA.  |  November recorded the strongest CVR.</a:t>
            </a:r>
            <a:endParaRPr b="0" i="0" sz="1050" u="none" cap="none" strike="noStrike">
              <a:solidFill>
                <a:srgbClr val="000000"/>
              </a:solidFill>
              <a:latin typeface="Calibri"/>
              <a:ea typeface="Calibri"/>
              <a:cs typeface="Calibri"/>
              <a:sym typeface="Calibri"/>
            </a:endParaRPr>
          </a:p>
        </p:txBody>
      </p:sp>
      <p:pic>
        <p:nvPicPr>
          <p:cNvPr id="456" name="Google Shape;456;p20"/>
          <p:cNvPicPr preferRelativeResize="0"/>
          <p:nvPr/>
        </p:nvPicPr>
        <p:blipFill>
          <a:blip r:embed="rId3">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1" name="Shape 461"/>
        <p:cNvGrpSpPr/>
        <p:nvPr/>
      </p:nvGrpSpPr>
      <p:grpSpPr>
        <a:xfrm>
          <a:off x="0" y="0"/>
          <a:ext cx="0" cy="0"/>
          <a:chOff x="0" y="0"/>
          <a:chExt cx="0" cy="0"/>
        </a:xfrm>
      </p:grpSpPr>
      <p:sp>
        <p:nvSpPr>
          <p:cNvPr id="462" name="Google Shape;462;p21"/>
          <p:cNvSpPr/>
          <p:nvPr/>
        </p:nvSpPr>
        <p:spPr>
          <a:xfrm>
            <a:off x="0" y="0"/>
            <a:ext cx="9144000" cy="868800"/>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1"/>
          <p:cNvSpPr/>
          <p:nvPr/>
        </p:nvSpPr>
        <p:spPr>
          <a:xfrm>
            <a:off x="320040" y="45720"/>
            <a:ext cx="80466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Top Performing Campaigns excl. Brand</a:t>
            </a:r>
            <a:endParaRPr b="0" i="0" sz="2200" u="none" cap="none" strike="noStrike">
              <a:solidFill>
                <a:srgbClr val="000000"/>
              </a:solidFill>
              <a:latin typeface="Calibri"/>
              <a:ea typeface="Calibri"/>
              <a:cs typeface="Calibri"/>
              <a:sym typeface="Calibri"/>
            </a:endParaRPr>
          </a:p>
        </p:txBody>
      </p:sp>
      <p:sp>
        <p:nvSpPr>
          <p:cNvPr id="464" name="Google Shape;464;p21"/>
          <p:cNvSpPr/>
          <p:nvPr/>
        </p:nvSpPr>
        <p:spPr>
          <a:xfrm>
            <a:off x="320040" y="521208"/>
            <a:ext cx="8046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000"/>
              <a:buFont typeface="Calibri"/>
              <a:buNone/>
            </a:pPr>
            <a:r>
              <a:rPr b="0" i="0" lang="en-US" sz="1000" u="none" cap="none" strike="noStrike">
                <a:solidFill>
                  <a:srgbClr val="CCCCCC"/>
                </a:solidFill>
                <a:latin typeface="Calibri"/>
                <a:ea typeface="Calibri"/>
                <a:cs typeface="Calibri"/>
                <a:sym typeface="Calibri"/>
              </a:rPr>
              <a:t>FY 2025/26 (Apr 2025 – Mar 2026)  |  Ranked by Purchase Revenue</a:t>
            </a:r>
            <a:endParaRPr b="0" i="0" sz="1000" u="none" cap="none" strike="noStrike">
              <a:solidFill>
                <a:srgbClr val="000000"/>
              </a:solidFill>
              <a:latin typeface="Calibri"/>
              <a:ea typeface="Calibri"/>
              <a:cs typeface="Calibri"/>
              <a:sym typeface="Calibri"/>
            </a:endParaRPr>
          </a:p>
        </p:txBody>
      </p:sp>
      <p:sp>
        <p:nvSpPr>
          <p:cNvPr id="465" name="Google Shape;465;p21"/>
          <p:cNvSpPr/>
          <p:nvPr/>
        </p:nvSpPr>
        <p:spPr>
          <a:xfrm>
            <a:off x="0" y="868680"/>
            <a:ext cx="9144000" cy="366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1"/>
          <p:cNvSpPr/>
          <p:nvPr/>
        </p:nvSpPr>
        <p:spPr>
          <a:xfrm>
            <a:off x="0" y="4910328"/>
            <a:ext cx="9144000" cy="233100"/>
          </a:xfrm>
          <a:prstGeom prst="rect">
            <a:avLst/>
          </a:prstGeom>
          <a:solidFill>
            <a:srgbClr val="1C1C1C"/>
          </a:solidFill>
          <a:ln cap="flat" cmpd="sng" w="12700">
            <a:solidFill>
              <a:srgbClr val="1C1C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1"/>
          <p:cNvSpPr/>
          <p:nvPr/>
        </p:nvSpPr>
        <p:spPr>
          <a:xfrm>
            <a:off x="320040" y="4919472"/>
            <a:ext cx="85038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00"/>
              <a:buFont typeface="Calibri"/>
              <a:buNone/>
            </a:pPr>
            <a:r>
              <a:rPr b="0" i="0" lang="en-US" sz="800" u="none" cap="none" strike="noStrike">
                <a:solidFill>
                  <a:srgbClr val="888888"/>
                </a:solidFill>
                <a:latin typeface="Calibri"/>
                <a:ea typeface="Calibri"/>
                <a:cs typeface="Calibri"/>
                <a:sym typeface="Calibri"/>
              </a:rPr>
              <a:t>FY 2025/26  |  Wightlink  |  Confidential</a:t>
            </a:r>
            <a:endParaRPr b="0" i="0" sz="800" u="none" cap="none" strike="noStrike">
              <a:solidFill>
                <a:srgbClr val="000000"/>
              </a:solidFill>
              <a:latin typeface="Calibri"/>
              <a:ea typeface="Calibri"/>
              <a:cs typeface="Calibri"/>
              <a:sym typeface="Calibri"/>
            </a:endParaRPr>
          </a:p>
        </p:txBody>
      </p:sp>
      <p:pic>
        <p:nvPicPr>
          <p:cNvPr id="468" name="Google Shape;468;p21"/>
          <p:cNvPicPr preferRelativeResize="0"/>
          <p:nvPr/>
        </p:nvPicPr>
        <p:blipFill>
          <a:blip r:embed="rId3">
            <a:alphaModFix/>
          </a:blip>
          <a:stretch>
            <a:fillRect/>
          </a:stretch>
        </p:blipFill>
        <p:spPr>
          <a:xfrm>
            <a:off x="152400" y="1057680"/>
            <a:ext cx="5310597" cy="3700248"/>
          </a:xfrm>
          <a:prstGeom prst="rect">
            <a:avLst/>
          </a:prstGeom>
          <a:noFill/>
          <a:ln>
            <a:noFill/>
          </a:ln>
        </p:spPr>
      </p:pic>
      <p:pic>
        <p:nvPicPr>
          <p:cNvPr id="469" name="Google Shape;469;p21" title="Screenshot 2026-04-28 120859.png"/>
          <p:cNvPicPr preferRelativeResize="0"/>
          <p:nvPr/>
        </p:nvPicPr>
        <p:blipFill>
          <a:blip r:embed="rId4">
            <a:alphaModFix/>
          </a:blip>
          <a:stretch>
            <a:fillRect/>
          </a:stretch>
        </p:blipFill>
        <p:spPr>
          <a:xfrm>
            <a:off x="5979570" y="1298444"/>
            <a:ext cx="2578725" cy="716626"/>
          </a:xfrm>
          <a:prstGeom prst="rect">
            <a:avLst/>
          </a:prstGeom>
          <a:noFill/>
          <a:ln>
            <a:noFill/>
          </a:ln>
        </p:spPr>
      </p:pic>
      <p:pic>
        <p:nvPicPr>
          <p:cNvPr id="470" name="Google Shape;470;p21" title="Screenshot 2026-04-28 120906.png"/>
          <p:cNvPicPr preferRelativeResize="0"/>
          <p:nvPr/>
        </p:nvPicPr>
        <p:blipFill>
          <a:blip r:embed="rId5">
            <a:alphaModFix/>
          </a:blip>
          <a:stretch>
            <a:fillRect/>
          </a:stretch>
        </p:blipFill>
        <p:spPr>
          <a:xfrm>
            <a:off x="5979579" y="2089650"/>
            <a:ext cx="2578715" cy="731875"/>
          </a:xfrm>
          <a:prstGeom prst="rect">
            <a:avLst/>
          </a:prstGeom>
          <a:noFill/>
          <a:ln>
            <a:noFill/>
          </a:ln>
        </p:spPr>
      </p:pic>
      <p:pic>
        <p:nvPicPr>
          <p:cNvPr id="471" name="Google Shape;471;p21" title="Screenshot 2026-04-28 120919.png"/>
          <p:cNvPicPr preferRelativeResize="0"/>
          <p:nvPr/>
        </p:nvPicPr>
        <p:blipFill>
          <a:blip r:embed="rId6">
            <a:alphaModFix/>
          </a:blip>
          <a:stretch>
            <a:fillRect/>
          </a:stretch>
        </p:blipFill>
        <p:spPr>
          <a:xfrm>
            <a:off x="5979575" y="2925206"/>
            <a:ext cx="2578725" cy="702769"/>
          </a:xfrm>
          <a:prstGeom prst="rect">
            <a:avLst/>
          </a:prstGeom>
          <a:noFill/>
          <a:ln>
            <a:noFill/>
          </a:ln>
        </p:spPr>
      </p:pic>
      <p:sp>
        <p:nvSpPr>
          <p:cNvPr id="472" name="Google Shape;472;p21"/>
          <p:cNvSpPr/>
          <p:nvPr/>
        </p:nvSpPr>
        <p:spPr>
          <a:xfrm>
            <a:off x="5979575" y="3731651"/>
            <a:ext cx="2773800" cy="868800"/>
          </a:xfrm>
          <a:prstGeom prst="rect">
            <a:avLst/>
          </a:prstGeom>
          <a:noFill/>
          <a:ln>
            <a:noFill/>
          </a:ln>
        </p:spPr>
        <p:txBody>
          <a:bodyPr anchorCtr="0" anchor="t" bIns="0" lIns="0" spcFirstLastPara="1" rIns="0" wrap="square" tIns="0">
            <a:noAutofit/>
          </a:bodyPr>
          <a:lstStyle/>
          <a:p>
            <a:pPr indent="-288925" lvl="0" marL="457200" marR="0" rtl="0" algn="l">
              <a:spcBef>
                <a:spcPts val="0"/>
              </a:spcBef>
              <a:spcAft>
                <a:spcPts val="0"/>
              </a:spcAft>
              <a:buClr>
                <a:srgbClr val="1C1C1C"/>
              </a:buClr>
              <a:buSzPts val="950"/>
              <a:buFont typeface="Calibri"/>
              <a:buChar char="●"/>
            </a:pPr>
            <a:r>
              <a:rPr lang="en-US" sz="950">
                <a:solidFill>
                  <a:srgbClr val="1C1C1C"/>
                </a:solidFill>
                <a:latin typeface="Calibri"/>
                <a:ea typeface="Calibri"/>
                <a:cs typeface="Calibri"/>
                <a:sym typeface="Calibri"/>
              </a:rPr>
              <a:t>Ferry &amp; Routes location campaigns have now been consolidated.</a:t>
            </a:r>
            <a:br>
              <a:rPr lang="en-US" sz="950">
                <a:solidFill>
                  <a:srgbClr val="1C1C1C"/>
                </a:solidFill>
                <a:latin typeface="Calibri"/>
                <a:ea typeface="Calibri"/>
                <a:cs typeface="Calibri"/>
                <a:sym typeface="Calibri"/>
              </a:rPr>
            </a:br>
            <a:endParaRPr sz="950">
              <a:solidFill>
                <a:srgbClr val="1C1C1C"/>
              </a:solidFill>
              <a:latin typeface="Calibri"/>
              <a:ea typeface="Calibri"/>
              <a:cs typeface="Calibri"/>
              <a:sym typeface="Calibri"/>
            </a:endParaRPr>
          </a:p>
          <a:p>
            <a:pPr indent="-288925" lvl="0" marL="457200" marR="0" rtl="0" algn="l">
              <a:spcBef>
                <a:spcPts val="0"/>
              </a:spcBef>
              <a:spcAft>
                <a:spcPts val="0"/>
              </a:spcAft>
              <a:buClr>
                <a:srgbClr val="1C1C1C"/>
              </a:buClr>
              <a:buSzPts val="950"/>
              <a:buFont typeface="Calibri"/>
              <a:buChar char="●"/>
            </a:pPr>
            <a:r>
              <a:rPr lang="en-US" sz="950">
                <a:solidFill>
                  <a:srgbClr val="1C1C1C"/>
                </a:solidFill>
                <a:latin typeface="Calibri"/>
                <a:ea typeface="Calibri"/>
                <a:cs typeface="Calibri"/>
                <a:sym typeface="Calibri"/>
              </a:rPr>
              <a:t>PMax Islander is our lowest performer in terms of ROAS &amp; CPA - this could be a consideration to decreasing budgets or reallocate spend to more </a:t>
            </a:r>
            <a:r>
              <a:rPr lang="en-US" sz="950">
                <a:solidFill>
                  <a:srgbClr val="1C1C1C"/>
                </a:solidFill>
                <a:latin typeface="Calibri"/>
                <a:ea typeface="Calibri"/>
                <a:cs typeface="Calibri"/>
                <a:sym typeface="Calibri"/>
              </a:rPr>
              <a:t>efficient</a:t>
            </a:r>
            <a:r>
              <a:rPr lang="en-US" sz="950">
                <a:solidFill>
                  <a:srgbClr val="1C1C1C"/>
                </a:solidFill>
                <a:latin typeface="Calibri"/>
                <a:ea typeface="Calibri"/>
                <a:cs typeface="Calibri"/>
                <a:sym typeface="Calibri"/>
              </a:rPr>
              <a:t> campaigns</a:t>
            </a:r>
            <a:br>
              <a:rPr lang="en-US" sz="950">
                <a:solidFill>
                  <a:srgbClr val="1C1C1C"/>
                </a:solidFill>
                <a:latin typeface="Calibri"/>
                <a:ea typeface="Calibri"/>
                <a:cs typeface="Calibri"/>
                <a:sym typeface="Calibri"/>
              </a:rPr>
            </a:br>
            <a:endParaRPr sz="950">
              <a:solidFill>
                <a:srgbClr val="1C1C1C"/>
              </a:solidFill>
              <a:latin typeface="Calibri"/>
              <a:ea typeface="Calibri"/>
              <a:cs typeface="Calibri"/>
              <a:sym typeface="Calibri"/>
            </a:endParaRPr>
          </a:p>
        </p:txBody>
      </p:sp>
      <p:pic>
        <p:nvPicPr>
          <p:cNvPr id="473" name="Google Shape;473;p21"/>
          <p:cNvPicPr preferRelativeResize="0"/>
          <p:nvPr/>
        </p:nvPicPr>
        <p:blipFill>
          <a:blip r:embed="rId7">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1C1C"/>
        </a:solidFill>
      </p:bgPr>
    </p:bg>
    <p:spTree>
      <p:nvGrpSpPr>
        <p:cNvPr id="478" name="Shape 478"/>
        <p:cNvGrpSpPr/>
        <p:nvPr/>
      </p:nvGrpSpPr>
      <p:grpSpPr>
        <a:xfrm>
          <a:off x="0" y="0"/>
          <a:ext cx="0" cy="0"/>
          <a:chOff x="0" y="0"/>
          <a:chExt cx="0" cy="0"/>
        </a:xfrm>
      </p:grpSpPr>
      <p:sp>
        <p:nvSpPr>
          <p:cNvPr id="479" name="Google Shape;479;p22"/>
          <p:cNvSpPr/>
          <p:nvPr/>
        </p:nvSpPr>
        <p:spPr>
          <a:xfrm>
            <a:off x="411480" y="1463040"/>
            <a:ext cx="7772400" cy="13716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000"/>
              <a:buFont typeface="Calibri"/>
              <a:buNone/>
            </a:pPr>
            <a:r>
              <a:rPr b="1" lang="en-US" sz="4000">
                <a:solidFill>
                  <a:srgbClr val="FFFFFF"/>
                </a:solidFill>
                <a:latin typeface="Calibri"/>
                <a:ea typeface="Calibri"/>
                <a:cs typeface="Calibri"/>
                <a:sym typeface="Calibri"/>
              </a:rPr>
              <a:t>Testing</a:t>
            </a:r>
            <a:endParaRPr b="0" i="0" sz="4000" u="none" cap="none" strike="noStrike">
              <a:solidFill>
                <a:schemeClr val="dk1"/>
              </a:solidFill>
              <a:latin typeface="Calibri"/>
              <a:ea typeface="Calibri"/>
              <a:cs typeface="Calibri"/>
              <a:sym typeface="Calibri"/>
            </a:endParaRPr>
          </a:p>
        </p:txBody>
      </p:sp>
      <p:sp>
        <p:nvSpPr>
          <p:cNvPr id="480" name="Google Shape;480;p22"/>
          <p:cNvSpPr/>
          <p:nvPr/>
        </p:nvSpPr>
        <p:spPr>
          <a:xfrm>
            <a:off x="0" y="3090672"/>
            <a:ext cx="9144000" cy="732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22"/>
          <p:cNvSpPr/>
          <p:nvPr/>
        </p:nvSpPr>
        <p:spPr>
          <a:xfrm>
            <a:off x="0" y="3200400"/>
            <a:ext cx="9144000" cy="36600"/>
          </a:xfrm>
          <a:prstGeom prst="rect">
            <a:avLst/>
          </a:prstGeom>
          <a:solidFill>
            <a:srgbClr val="922B21"/>
          </a:solidFill>
          <a:ln cap="flat" cmpd="sng" w="12700">
            <a:solidFill>
              <a:srgbClr val="922B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22"/>
          <p:cNvSpPr/>
          <p:nvPr/>
        </p:nvSpPr>
        <p:spPr>
          <a:xfrm>
            <a:off x="411480" y="3310128"/>
            <a:ext cx="77724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200"/>
              <a:buFont typeface="Calibri"/>
              <a:buNone/>
            </a:pPr>
            <a:r>
              <a:rPr b="0" i="0" lang="en-US" sz="1200" u="none" cap="none" strike="noStrike">
                <a:solidFill>
                  <a:srgbClr val="C0392B"/>
                </a:solidFill>
                <a:latin typeface="Calibri"/>
                <a:ea typeface="Calibri"/>
                <a:cs typeface="Calibri"/>
                <a:sym typeface="Calibri"/>
              </a:rPr>
              <a:t>Wightlink  |  FY 2025/26  |  Summon</a:t>
            </a:r>
            <a:endParaRPr b="0" i="0" sz="1200" u="none" cap="none" strike="noStrike">
              <a:solidFill>
                <a:schemeClr val="dk1"/>
              </a:solidFill>
              <a:latin typeface="Calibri"/>
              <a:ea typeface="Calibri"/>
              <a:cs typeface="Calibri"/>
              <a:sym typeface="Calibri"/>
            </a:endParaRPr>
          </a:p>
        </p:txBody>
      </p:sp>
      <p:sp>
        <p:nvSpPr>
          <p:cNvPr id="483" name="Google Shape;483;p22"/>
          <p:cNvSpPr/>
          <p:nvPr/>
        </p:nvSpPr>
        <p:spPr>
          <a:xfrm>
            <a:off x="411480" y="4800600"/>
            <a:ext cx="83211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900"/>
              <a:buFont typeface="Calibri"/>
              <a:buNone/>
            </a:pPr>
            <a:r>
              <a:rPr b="0" i="0" lang="en-US" sz="900" u="none" cap="none" strike="noStrike">
                <a:solidFill>
                  <a:srgbClr val="666666"/>
                </a:solidFill>
                <a:latin typeface="Calibri"/>
                <a:ea typeface="Calibri"/>
                <a:cs typeface="Calibri"/>
                <a:sym typeface="Calibri"/>
              </a:rPr>
              <a:t>Wightlink  |  FY 2025/26  |  Confidential</a:t>
            </a:r>
            <a:endParaRPr b="0" i="0" sz="900" u="none" cap="none" strike="noStrike">
              <a:solidFill>
                <a:schemeClr val="dk1"/>
              </a:solidFill>
              <a:latin typeface="Calibri"/>
              <a:ea typeface="Calibri"/>
              <a:cs typeface="Calibri"/>
              <a:sym typeface="Calibri"/>
            </a:endParaRPr>
          </a:p>
        </p:txBody>
      </p:sp>
      <p:sp>
        <p:nvSpPr>
          <p:cNvPr id="484" name="Google Shape;484;p22"/>
          <p:cNvSpPr/>
          <p:nvPr/>
        </p:nvSpPr>
        <p:spPr>
          <a:xfrm>
            <a:off x="27050" y="0"/>
            <a:ext cx="9144000" cy="51435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22"/>
          <p:cNvSpPr/>
          <p:nvPr/>
        </p:nvSpPr>
        <p:spPr>
          <a:xfrm>
            <a:off x="25" y="0"/>
            <a:ext cx="128100" cy="51435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2"/>
          <p:cNvSpPr/>
          <p:nvPr/>
        </p:nvSpPr>
        <p:spPr>
          <a:xfrm>
            <a:off x="128041" y="2934099"/>
            <a:ext cx="9015900" cy="639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22"/>
          <p:cNvSpPr/>
          <p:nvPr/>
        </p:nvSpPr>
        <p:spPr>
          <a:xfrm>
            <a:off x="914425" y="1840230"/>
            <a:ext cx="7315200" cy="128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Trebuchet MS"/>
              <a:buNone/>
            </a:pPr>
            <a:r>
              <a:rPr b="1" lang="en-US" sz="3600">
                <a:solidFill>
                  <a:srgbClr val="FFFFFF"/>
                </a:solidFill>
                <a:latin typeface="Trebuchet MS"/>
                <a:ea typeface="Trebuchet MS"/>
                <a:cs typeface="Trebuchet MS"/>
                <a:sym typeface="Trebuchet MS"/>
              </a:rPr>
              <a:t>Testing</a:t>
            </a:r>
            <a:endParaRPr b="0" i="0" sz="3600" u="none" cap="none" strike="noStrike">
              <a:solidFill>
                <a:srgbClr val="000000"/>
              </a:solidFill>
              <a:latin typeface="Calibri"/>
              <a:ea typeface="Calibri"/>
              <a:cs typeface="Calibri"/>
              <a:sym typeface="Calibri"/>
            </a:endParaRPr>
          </a:p>
        </p:txBody>
      </p:sp>
      <p:sp>
        <p:nvSpPr>
          <p:cNvPr id="488" name="Google Shape;488;p22"/>
          <p:cNvSpPr/>
          <p:nvPr/>
        </p:nvSpPr>
        <p:spPr>
          <a:xfrm>
            <a:off x="914425" y="3166110"/>
            <a:ext cx="7315200" cy="32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C0392B"/>
              </a:buClr>
              <a:buSzPts val="1200"/>
              <a:buFont typeface="Calibri"/>
              <a:buNone/>
            </a:pPr>
            <a:r>
              <a:rPr lang="en-US" sz="1100">
                <a:solidFill>
                  <a:srgbClr val="F5C6CB"/>
                </a:solidFill>
                <a:latin typeface="Calibri"/>
                <a:ea typeface="Calibri"/>
                <a:cs typeface="Calibri"/>
                <a:sym typeface="Calibri"/>
              </a:rPr>
              <a:t>Wightlink  |  FY 2025/26  |  Summon</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F5C6CB"/>
              </a:buClr>
              <a:buSzPts val="1100"/>
              <a:buFont typeface="Calibri"/>
              <a:buNone/>
            </a:pPr>
            <a:r>
              <a:t/>
            </a:r>
            <a:endParaRPr sz="1100">
              <a:solidFill>
                <a:srgbClr val="F5C6CB"/>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3" name="Shape 493"/>
        <p:cNvGrpSpPr/>
        <p:nvPr/>
      </p:nvGrpSpPr>
      <p:grpSpPr>
        <a:xfrm>
          <a:off x="0" y="0"/>
          <a:ext cx="0" cy="0"/>
          <a:chOff x="0" y="0"/>
          <a:chExt cx="0" cy="0"/>
        </a:xfrm>
      </p:grpSpPr>
      <p:sp>
        <p:nvSpPr>
          <p:cNvPr id="494" name="Google Shape;494;p23"/>
          <p:cNvSpPr/>
          <p:nvPr/>
        </p:nvSpPr>
        <p:spPr>
          <a:xfrm>
            <a:off x="0" y="0"/>
            <a:ext cx="9144000" cy="868800"/>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3"/>
          <p:cNvSpPr/>
          <p:nvPr/>
        </p:nvSpPr>
        <p:spPr>
          <a:xfrm>
            <a:off x="320040" y="45720"/>
            <a:ext cx="80466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Homepage A/B Test Results</a:t>
            </a:r>
            <a:endParaRPr b="0" i="0" sz="2200" u="none" cap="none" strike="noStrike">
              <a:solidFill>
                <a:srgbClr val="000000"/>
              </a:solidFill>
              <a:latin typeface="Calibri"/>
              <a:ea typeface="Calibri"/>
              <a:cs typeface="Calibri"/>
              <a:sym typeface="Calibri"/>
            </a:endParaRPr>
          </a:p>
        </p:txBody>
      </p:sp>
      <p:sp>
        <p:nvSpPr>
          <p:cNvPr id="496" name="Google Shape;496;p23"/>
          <p:cNvSpPr/>
          <p:nvPr/>
        </p:nvSpPr>
        <p:spPr>
          <a:xfrm>
            <a:off x="320040" y="521208"/>
            <a:ext cx="8046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000"/>
              <a:buFont typeface="Calibri"/>
              <a:buNone/>
            </a:pPr>
            <a:r>
              <a:rPr b="0" i="0" lang="en-US" sz="1000" u="none" cap="none" strike="noStrike">
                <a:solidFill>
                  <a:srgbClr val="CCCCCC"/>
                </a:solidFill>
                <a:latin typeface="Calibri"/>
                <a:ea typeface="Calibri"/>
                <a:cs typeface="Calibri"/>
                <a:sym typeface="Calibri"/>
              </a:rPr>
              <a:t>26 March – 28 April 2026  (33 days)  </a:t>
            </a:r>
            <a:endParaRPr b="0" i="0" sz="1000" u="none" cap="none" strike="noStrike">
              <a:solidFill>
                <a:srgbClr val="000000"/>
              </a:solidFill>
              <a:latin typeface="Calibri"/>
              <a:ea typeface="Calibri"/>
              <a:cs typeface="Calibri"/>
              <a:sym typeface="Calibri"/>
            </a:endParaRPr>
          </a:p>
        </p:txBody>
      </p:sp>
      <p:sp>
        <p:nvSpPr>
          <p:cNvPr id="497" name="Google Shape;497;p23"/>
          <p:cNvSpPr/>
          <p:nvPr/>
        </p:nvSpPr>
        <p:spPr>
          <a:xfrm>
            <a:off x="0" y="868680"/>
            <a:ext cx="9144000" cy="366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3"/>
          <p:cNvSpPr/>
          <p:nvPr/>
        </p:nvSpPr>
        <p:spPr>
          <a:xfrm>
            <a:off x="0" y="4910328"/>
            <a:ext cx="9144000" cy="233100"/>
          </a:xfrm>
          <a:prstGeom prst="rect">
            <a:avLst/>
          </a:prstGeom>
          <a:solidFill>
            <a:srgbClr val="1C1C1C"/>
          </a:solidFill>
          <a:ln cap="flat" cmpd="sng" w="12700">
            <a:solidFill>
              <a:srgbClr val="1C1C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3"/>
          <p:cNvSpPr/>
          <p:nvPr/>
        </p:nvSpPr>
        <p:spPr>
          <a:xfrm>
            <a:off x="320040" y="4919472"/>
            <a:ext cx="85038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00"/>
              <a:buFont typeface="Calibri"/>
              <a:buNone/>
            </a:pPr>
            <a:r>
              <a:rPr b="0" i="0" lang="en-US" sz="800" u="none" cap="none" strike="noStrike">
                <a:solidFill>
                  <a:srgbClr val="888888"/>
                </a:solidFill>
                <a:latin typeface="Calibri"/>
                <a:ea typeface="Calibri"/>
                <a:cs typeface="Calibri"/>
                <a:sym typeface="Calibri"/>
              </a:rPr>
              <a:t>FY 2025/26  |  Wightlink  |  Confidential</a:t>
            </a:r>
            <a:endParaRPr b="0" i="0" sz="800" u="none" cap="none" strike="noStrike">
              <a:solidFill>
                <a:srgbClr val="000000"/>
              </a:solidFill>
              <a:latin typeface="Calibri"/>
              <a:ea typeface="Calibri"/>
              <a:cs typeface="Calibri"/>
              <a:sym typeface="Calibri"/>
            </a:endParaRPr>
          </a:p>
        </p:txBody>
      </p:sp>
      <p:sp>
        <p:nvSpPr>
          <p:cNvPr id="500" name="Google Shape;500;p23"/>
          <p:cNvSpPr/>
          <p:nvPr/>
        </p:nvSpPr>
        <p:spPr>
          <a:xfrm>
            <a:off x="6583680" y="969264"/>
            <a:ext cx="2240400" cy="347400"/>
          </a:xfrm>
          <a:prstGeom prst="rect">
            <a:avLst/>
          </a:prstGeom>
          <a:solidFill>
            <a:srgbClr val="1A7A4A"/>
          </a:solidFill>
          <a:ln cap="flat" cmpd="sng" w="12700">
            <a:solidFill>
              <a:srgbClr val="1A7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3"/>
          <p:cNvSpPr/>
          <p:nvPr/>
        </p:nvSpPr>
        <p:spPr>
          <a:xfrm>
            <a:off x="6583680" y="969264"/>
            <a:ext cx="22404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  VARIANT B WINS</a:t>
            </a:r>
            <a:endParaRPr b="0" i="0" sz="1100" u="none" cap="none" strike="noStrike">
              <a:solidFill>
                <a:srgbClr val="000000"/>
              </a:solidFill>
              <a:latin typeface="Calibri"/>
              <a:ea typeface="Calibri"/>
              <a:cs typeface="Calibri"/>
              <a:sym typeface="Calibri"/>
            </a:endParaRPr>
          </a:p>
        </p:txBody>
      </p:sp>
      <p:sp>
        <p:nvSpPr>
          <p:cNvPr id="502" name="Google Shape;502;p23"/>
          <p:cNvSpPr/>
          <p:nvPr/>
        </p:nvSpPr>
        <p:spPr>
          <a:xfrm>
            <a:off x="6583680" y="1344168"/>
            <a:ext cx="22404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55555"/>
              </a:buClr>
              <a:buSzPts val="800"/>
              <a:buFont typeface="Calibri"/>
              <a:buNone/>
            </a:pPr>
            <a:r>
              <a:rPr b="0" i="0" lang="en-US" sz="800" u="none" cap="none" strike="noStrike">
                <a:solidFill>
                  <a:srgbClr val="555555"/>
                </a:solidFill>
                <a:latin typeface="Calibri"/>
                <a:ea typeface="Calibri"/>
                <a:cs typeface="Calibri"/>
                <a:sym typeface="Calibri"/>
              </a:rPr>
              <a:t>Statistically significant at 99% confidence</a:t>
            </a:r>
            <a:endParaRPr b="0" i="0" sz="800" u="none" cap="none" strike="noStrike">
              <a:solidFill>
                <a:srgbClr val="000000"/>
              </a:solidFill>
              <a:latin typeface="Calibri"/>
              <a:ea typeface="Calibri"/>
              <a:cs typeface="Calibri"/>
              <a:sym typeface="Calibri"/>
            </a:endParaRPr>
          </a:p>
        </p:txBody>
      </p:sp>
      <p:sp>
        <p:nvSpPr>
          <p:cNvPr id="503" name="Google Shape;503;p23"/>
          <p:cNvSpPr/>
          <p:nvPr/>
        </p:nvSpPr>
        <p:spPr>
          <a:xfrm>
            <a:off x="320040" y="969264"/>
            <a:ext cx="2926200" cy="347400"/>
          </a:xfrm>
          <a:prstGeom prst="rect">
            <a:avLst/>
          </a:prstGeom>
          <a:solidFill>
            <a:srgbClr val="444444"/>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3"/>
          <p:cNvSpPr/>
          <p:nvPr/>
        </p:nvSpPr>
        <p:spPr>
          <a:xfrm>
            <a:off x="320040" y="969264"/>
            <a:ext cx="29262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Variant A </a:t>
            </a:r>
            <a:r>
              <a:rPr b="1" lang="en-US" sz="1000">
                <a:solidFill>
                  <a:srgbClr val="FFFFFF"/>
                </a:solidFill>
                <a:latin typeface="Calibri"/>
                <a:ea typeface="Calibri"/>
                <a:cs typeface="Calibri"/>
                <a:sym typeface="Calibri"/>
              </a:rPr>
              <a:t>- no price</a:t>
            </a:r>
            <a:endParaRPr b="0" i="0" sz="1000" u="none" cap="none" strike="noStrike">
              <a:solidFill>
                <a:srgbClr val="000000"/>
              </a:solidFill>
              <a:latin typeface="Calibri"/>
              <a:ea typeface="Calibri"/>
              <a:cs typeface="Calibri"/>
              <a:sym typeface="Calibri"/>
            </a:endParaRPr>
          </a:p>
        </p:txBody>
      </p:sp>
      <p:sp>
        <p:nvSpPr>
          <p:cNvPr id="505" name="Google Shape;505;p23"/>
          <p:cNvSpPr/>
          <p:nvPr/>
        </p:nvSpPr>
        <p:spPr>
          <a:xfrm>
            <a:off x="320040" y="1344168"/>
            <a:ext cx="29262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8888"/>
              </a:buClr>
              <a:buSzPts val="800"/>
              <a:buFont typeface="Calibri"/>
              <a:buNone/>
            </a:pPr>
            <a:r>
              <a:rPr b="0" i="0" lang="en-US" sz="800" u="none" cap="none" strike="noStrike">
                <a:solidFill>
                  <a:srgbClr val="888888"/>
                </a:solidFill>
                <a:latin typeface="Calibri"/>
                <a:ea typeface="Calibri"/>
                <a:cs typeface="Calibri"/>
                <a:sym typeface="Calibri"/>
              </a:rPr>
              <a:t>wightlink.co.uk/?variant=a</a:t>
            </a:r>
            <a:endParaRPr b="0" i="0" sz="800" u="none" cap="none" strike="noStrike">
              <a:solidFill>
                <a:srgbClr val="000000"/>
              </a:solidFill>
              <a:latin typeface="Calibri"/>
              <a:ea typeface="Calibri"/>
              <a:cs typeface="Calibri"/>
              <a:sym typeface="Calibri"/>
            </a:endParaRPr>
          </a:p>
        </p:txBody>
      </p:sp>
      <p:sp>
        <p:nvSpPr>
          <p:cNvPr id="506" name="Google Shape;506;p23"/>
          <p:cNvSpPr/>
          <p:nvPr/>
        </p:nvSpPr>
        <p:spPr>
          <a:xfrm>
            <a:off x="3429000" y="969264"/>
            <a:ext cx="2926200" cy="3474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23"/>
          <p:cNvSpPr/>
          <p:nvPr/>
        </p:nvSpPr>
        <p:spPr>
          <a:xfrm>
            <a:off x="3429000" y="969264"/>
            <a:ext cx="29262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Variant B </a:t>
            </a:r>
            <a:r>
              <a:rPr b="1" lang="en-US" sz="1000">
                <a:solidFill>
                  <a:srgbClr val="FFFFFF"/>
                </a:solidFill>
                <a:latin typeface="Calibri"/>
                <a:ea typeface="Calibri"/>
                <a:cs typeface="Calibri"/>
                <a:sym typeface="Calibri"/>
              </a:rPr>
              <a:t>- price led</a:t>
            </a:r>
            <a:endParaRPr b="0" i="0" sz="1000" u="none" cap="none" strike="noStrike">
              <a:solidFill>
                <a:srgbClr val="000000"/>
              </a:solidFill>
              <a:latin typeface="Calibri"/>
              <a:ea typeface="Calibri"/>
              <a:cs typeface="Calibri"/>
              <a:sym typeface="Calibri"/>
            </a:endParaRPr>
          </a:p>
        </p:txBody>
      </p:sp>
      <p:sp>
        <p:nvSpPr>
          <p:cNvPr id="508" name="Google Shape;508;p23"/>
          <p:cNvSpPr/>
          <p:nvPr/>
        </p:nvSpPr>
        <p:spPr>
          <a:xfrm>
            <a:off x="3429000" y="1344168"/>
            <a:ext cx="29262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8888"/>
              </a:buClr>
              <a:buSzPts val="800"/>
              <a:buFont typeface="Calibri"/>
              <a:buNone/>
            </a:pPr>
            <a:r>
              <a:rPr b="0" i="0" lang="en-US" sz="800" u="none" cap="none" strike="noStrike">
                <a:solidFill>
                  <a:srgbClr val="888888"/>
                </a:solidFill>
                <a:latin typeface="Calibri"/>
                <a:ea typeface="Calibri"/>
                <a:cs typeface="Calibri"/>
                <a:sym typeface="Calibri"/>
              </a:rPr>
              <a:t>wightlink.co.uk/?variant=b</a:t>
            </a:r>
            <a:endParaRPr b="0" i="0" sz="800" u="none" cap="none" strike="noStrike">
              <a:solidFill>
                <a:srgbClr val="000000"/>
              </a:solidFill>
              <a:latin typeface="Calibri"/>
              <a:ea typeface="Calibri"/>
              <a:cs typeface="Calibri"/>
              <a:sym typeface="Calibri"/>
            </a:endParaRPr>
          </a:p>
        </p:txBody>
      </p:sp>
      <p:sp>
        <p:nvSpPr>
          <p:cNvPr id="509" name="Google Shape;509;p23"/>
          <p:cNvSpPr/>
          <p:nvPr/>
        </p:nvSpPr>
        <p:spPr>
          <a:xfrm>
            <a:off x="320040" y="1572768"/>
            <a:ext cx="8503800" cy="228600"/>
          </a:xfrm>
          <a:prstGeom prst="rect">
            <a:avLst/>
          </a:prstGeom>
          <a:solidFill>
            <a:srgbClr val="F0F0F0"/>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3"/>
          <p:cNvSpPr/>
          <p:nvPr/>
        </p:nvSpPr>
        <p:spPr>
          <a:xfrm>
            <a:off x="320040" y="1572768"/>
            <a:ext cx="16917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800"/>
              <a:buFont typeface="Calibri"/>
              <a:buNone/>
            </a:pPr>
            <a:r>
              <a:rPr b="1" i="0" lang="en-US" sz="800" u="none" cap="none" strike="noStrike">
                <a:solidFill>
                  <a:srgbClr val="555555"/>
                </a:solidFill>
                <a:latin typeface="Calibri"/>
                <a:ea typeface="Calibri"/>
                <a:cs typeface="Calibri"/>
                <a:sym typeface="Calibri"/>
              </a:rPr>
              <a:t>Metric</a:t>
            </a:r>
            <a:endParaRPr b="0" i="0" sz="800" u="none" cap="none" strike="noStrike">
              <a:solidFill>
                <a:srgbClr val="000000"/>
              </a:solidFill>
              <a:latin typeface="Calibri"/>
              <a:ea typeface="Calibri"/>
              <a:cs typeface="Calibri"/>
              <a:sym typeface="Calibri"/>
            </a:endParaRPr>
          </a:p>
        </p:txBody>
      </p:sp>
      <p:sp>
        <p:nvSpPr>
          <p:cNvPr id="511" name="Google Shape;511;p23"/>
          <p:cNvSpPr/>
          <p:nvPr/>
        </p:nvSpPr>
        <p:spPr>
          <a:xfrm>
            <a:off x="2057400" y="1572768"/>
            <a:ext cx="16641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55555"/>
              </a:buClr>
              <a:buSzPts val="800"/>
              <a:buFont typeface="Calibri"/>
              <a:buNone/>
            </a:pPr>
            <a:r>
              <a:rPr b="1" i="0" lang="en-US" sz="800" u="none" cap="none" strike="noStrike">
                <a:solidFill>
                  <a:srgbClr val="555555"/>
                </a:solidFill>
                <a:latin typeface="Calibri"/>
                <a:ea typeface="Calibri"/>
                <a:cs typeface="Calibri"/>
                <a:sym typeface="Calibri"/>
              </a:rPr>
              <a:t>Variant A</a:t>
            </a:r>
            <a:endParaRPr b="0" i="0" sz="800" u="none" cap="none" strike="noStrike">
              <a:solidFill>
                <a:srgbClr val="000000"/>
              </a:solidFill>
              <a:latin typeface="Calibri"/>
              <a:ea typeface="Calibri"/>
              <a:cs typeface="Calibri"/>
              <a:sym typeface="Calibri"/>
            </a:endParaRPr>
          </a:p>
        </p:txBody>
      </p:sp>
      <p:sp>
        <p:nvSpPr>
          <p:cNvPr id="512" name="Google Shape;512;p23"/>
          <p:cNvSpPr/>
          <p:nvPr/>
        </p:nvSpPr>
        <p:spPr>
          <a:xfrm>
            <a:off x="3767328" y="1572768"/>
            <a:ext cx="16002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0392B"/>
              </a:buClr>
              <a:buSzPts val="800"/>
              <a:buFont typeface="Calibri"/>
              <a:buNone/>
            </a:pPr>
            <a:r>
              <a:rPr b="1" i="0" lang="en-US" sz="800" u="none" cap="none" strike="noStrike">
                <a:solidFill>
                  <a:srgbClr val="C0392B"/>
                </a:solidFill>
                <a:latin typeface="Calibri"/>
                <a:ea typeface="Calibri"/>
                <a:cs typeface="Calibri"/>
                <a:sym typeface="Calibri"/>
              </a:rPr>
              <a:t>Variant B</a:t>
            </a:r>
            <a:endParaRPr b="0" i="0" sz="800" u="none" cap="none" strike="noStrike">
              <a:solidFill>
                <a:srgbClr val="000000"/>
              </a:solidFill>
              <a:latin typeface="Calibri"/>
              <a:ea typeface="Calibri"/>
              <a:cs typeface="Calibri"/>
              <a:sym typeface="Calibri"/>
            </a:endParaRPr>
          </a:p>
        </p:txBody>
      </p:sp>
      <p:sp>
        <p:nvSpPr>
          <p:cNvPr id="513" name="Google Shape;513;p23"/>
          <p:cNvSpPr/>
          <p:nvPr/>
        </p:nvSpPr>
        <p:spPr>
          <a:xfrm>
            <a:off x="5413248" y="1572768"/>
            <a:ext cx="8046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55555"/>
              </a:buClr>
              <a:buSzPts val="800"/>
              <a:buFont typeface="Calibri"/>
              <a:buNone/>
            </a:pPr>
            <a:r>
              <a:rPr b="1" i="0" lang="en-US" sz="800" u="none" cap="none" strike="noStrike">
                <a:solidFill>
                  <a:srgbClr val="555555"/>
                </a:solidFill>
                <a:latin typeface="Calibri"/>
                <a:ea typeface="Calibri"/>
                <a:cs typeface="Calibri"/>
                <a:sym typeface="Calibri"/>
              </a:rPr>
              <a:t>B vs A</a:t>
            </a:r>
            <a:endParaRPr b="0" i="0" sz="800" u="none" cap="none" strike="noStrike">
              <a:solidFill>
                <a:srgbClr val="000000"/>
              </a:solidFill>
              <a:latin typeface="Calibri"/>
              <a:ea typeface="Calibri"/>
              <a:cs typeface="Calibri"/>
              <a:sym typeface="Calibri"/>
            </a:endParaRPr>
          </a:p>
        </p:txBody>
      </p:sp>
      <p:sp>
        <p:nvSpPr>
          <p:cNvPr id="514" name="Google Shape;514;p23"/>
          <p:cNvSpPr/>
          <p:nvPr/>
        </p:nvSpPr>
        <p:spPr>
          <a:xfrm>
            <a:off x="6263640" y="1572768"/>
            <a:ext cx="25329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800"/>
              <a:buFont typeface="Calibri"/>
              <a:buNone/>
            </a:pPr>
            <a:r>
              <a:rPr b="1" i="0" lang="en-US" sz="800" u="none" cap="none" strike="noStrike">
                <a:solidFill>
                  <a:srgbClr val="555555"/>
                </a:solidFill>
                <a:latin typeface="Calibri"/>
                <a:ea typeface="Calibri"/>
                <a:cs typeface="Calibri"/>
                <a:sym typeface="Calibri"/>
              </a:rPr>
              <a:t>Note</a:t>
            </a:r>
            <a:endParaRPr b="0" i="0" sz="800" u="none" cap="none" strike="noStrike">
              <a:solidFill>
                <a:srgbClr val="000000"/>
              </a:solidFill>
              <a:latin typeface="Calibri"/>
              <a:ea typeface="Calibri"/>
              <a:cs typeface="Calibri"/>
              <a:sym typeface="Calibri"/>
            </a:endParaRPr>
          </a:p>
        </p:txBody>
      </p:sp>
      <p:sp>
        <p:nvSpPr>
          <p:cNvPr id="515" name="Google Shape;515;p23"/>
          <p:cNvSpPr/>
          <p:nvPr/>
        </p:nvSpPr>
        <p:spPr>
          <a:xfrm>
            <a:off x="320040" y="1801368"/>
            <a:ext cx="8503800" cy="279000"/>
          </a:xfrm>
          <a:prstGeom prst="rect">
            <a:avLst/>
          </a:prstGeom>
          <a:solidFill>
            <a:srgbClr val="FFFFFF"/>
          </a:solidFill>
          <a:ln cap="flat" cmpd="sng" w="12700">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3"/>
          <p:cNvSpPr/>
          <p:nvPr/>
        </p:nvSpPr>
        <p:spPr>
          <a:xfrm>
            <a:off x="374904" y="1801368"/>
            <a:ext cx="1636800" cy="27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900"/>
              <a:buFont typeface="Calibri"/>
              <a:buNone/>
            </a:pPr>
            <a:r>
              <a:rPr b="0" i="0" lang="en-US" sz="900" u="none" cap="none" strike="noStrike">
                <a:solidFill>
                  <a:srgbClr val="1C1C1C"/>
                </a:solidFill>
                <a:latin typeface="Calibri"/>
                <a:ea typeface="Calibri"/>
                <a:cs typeface="Calibri"/>
                <a:sym typeface="Calibri"/>
              </a:rPr>
              <a:t>Clicks</a:t>
            </a:r>
            <a:endParaRPr b="0" i="0" sz="900" u="none" cap="none" strike="noStrike">
              <a:solidFill>
                <a:srgbClr val="000000"/>
              </a:solidFill>
              <a:latin typeface="Calibri"/>
              <a:ea typeface="Calibri"/>
              <a:cs typeface="Calibri"/>
              <a:sym typeface="Calibri"/>
            </a:endParaRPr>
          </a:p>
        </p:txBody>
      </p:sp>
      <p:sp>
        <p:nvSpPr>
          <p:cNvPr id="517" name="Google Shape;517;p23"/>
          <p:cNvSpPr/>
          <p:nvPr/>
        </p:nvSpPr>
        <p:spPr>
          <a:xfrm>
            <a:off x="2057400" y="1801368"/>
            <a:ext cx="1664100" cy="27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55555"/>
              </a:buClr>
              <a:buSzPts val="900"/>
              <a:buFont typeface="Calibri"/>
              <a:buNone/>
            </a:pPr>
            <a:r>
              <a:rPr b="0" i="0" lang="en-US" sz="900" u="none" cap="none" strike="noStrike">
                <a:solidFill>
                  <a:srgbClr val="555555"/>
                </a:solidFill>
                <a:latin typeface="Calibri"/>
                <a:ea typeface="Calibri"/>
                <a:cs typeface="Calibri"/>
                <a:sym typeface="Calibri"/>
              </a:rPr>
              <a:t>16,790</a:t>
            </a:r>
            <a:endParaRPr b="0" i="0" sz="900" u="none" cap="none" strike="noStrike">
              <a:solidFill>
                <a:srgbClr val="000000"/>
              </a:solidFill>
              <a:latin typeface="Calibri"/>
              <a:ea typeface="Calibri"/>
              <a:cs typeface="Calibri"/>
              <a:sym typeface="Calibri"/>
            </a:endParaRPr>
          </a:p>
        </p:txBody>
      </p:sp>
      <p:sp>
        <p:nvSpPr>
          <p:cNvPr id="518" name="Google Shape;518;p23"/>
          <p:cNvSpPr/>
          <p:nvPr/>
        </p:nvSpPr>
        <p:spPr>
          <a:xfrm>
            <a:off x="3767328" y="1801368"/>
            <a:ext cx="1600200" cy="27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1C1C"/>
              </a:buClr>
              <a:buSzPts val="900"/>
              <a:buFont typeface="Calibri"/>
              <a:buNone/>
            </a:pPr>
            <a:r>
              <a:rPr b="0" i="0" lang="en-US" sz="900" u="none" cap="none" strike="noStrike">
                <a:solidFill>
                  <a:srgbClr val="1C1C1C"/>
                </a:solidFill>
                <a:latin typeface="Calibri"/>
                <a:ea typeface="Calibri"/>
                <a:cs typeface="Calibri"/>
                <a:sym typeface="Calibri"/>
              </a:rPr>
              <a:t>9,540</a:t>
            </a:r>
            <a:endParaRPr b="0" i="0" sz="900" u="none" cap="none" strike="noStrike">
              <a:solidFill>
                <a:srgbClr val="000000"/>
              </a:solidFill>
              <a:latin typeface="Calibri"/>
              <a:ea typeface="Calibri"/>
              <a:cs typeface="Calibri"/>
              <a:sym typeface="Calibri"/>
            </a:endParaRPr>
          </a:p>
        </p:txBody>
      </p:sp>
      <p:sp>
        <p:nvSpPr>
          <p:cNvPr id="519" name="Google Shape;519;p23"/>
          <p:cNvSpPr/>
          <p:nvPr/>
        </p:nvSpPr>
        <p:spPr>
          <a:xfrm>
            <a:off x="5413248" y="1801368"/>
            <a:ext cx="804600" cy="27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8888"/>
              </a:buClr>
              <a:buSzPts val="900"/>
              <a:buFont typeface="Calibri"/>
              <a:buNone/>
            </a:pPr>
            <a:r>
              <a:rPr b="0" i="0" lang="en-US" sz="900" u="none" cap="none" strike="noStrike">
                <a:solidFill>
                  <a:srgbClr val="888888"/>
                </a:solidFill>
                <a:latin typeface="Calibri"/>
                <a:ea typeface="Calibri"/>
                <a:cs typeface="Calibri"/>
                <a:sym typeface="Calibri"/>
              </a:rPr>
              <a:t>-43.2%</a:t>
            </a:r>
            <a:endParaRPr b="0" i="0" sz="900" u="none" cap="none" strike="noStrike">
              <a:solidFill>
                <a:srgbClr val="000000"/>
              </a:solidFill>
              <a:latin typeface="Calibri"/>
              <a:ea typeface="Calibri"/>
              <a:cs typeface="Calibri"/>
              <a:sym typeface="Calibri"/>
            </a:endParaRPr>
          </a:p>
        </p:txBody>
      </p:sp>
      <p:sp>
        <p:nvSpPr>
          <p:cNvPr id="520" name="Google Shape;520;p23"/>
          <p:cNvSpPr/>
          <p:nvPr/>
        </p:nvSpPr>
        <p:spPr>
          <a:xfrm>
            <a:off x="6263640" y="1801368"/>
            <a:ext cx="2532900" cy="27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00"/>
              <a:buFont typeface="Calibri"/>
              <a:buNone/>
            </a:pPr>
            <a:r>
              <a:rPr b="0" i="0" lang="en-US" sz="800" u="none" cap="none" strike="noStrike">
                <a:solidFill>
                  <a:srgbClr val="888888"/>
                </a:solidFill>
                <a:latin typeface="Calibri"/>
                <a:ea typeface="Calibri"/>
                <a:cs typeface="Calibri"/>
                <a:sym typeface="Calibri"/>
              </a:rPr>
              <a:t>Smaller share of budget</a:t>
            </a:r>
            <a:endParaRPr b="0" i="0" sz="800" u="none" cap="none" strike="noStrike">
              <a:solidFill>
                <a:srgbClr val="000000"/>
              </a:solidFill>
              <a:latin typeface="Calibri"/>
              <a:ea typeface="Calibri"/>
              <a:cs typeface="Calibri"/>
              <a:sym typeface="Calibri"/>
            </a:endParaRPr>
          </a:p>
        </p:txBody>
      </p:sp>
      <p:sp>
        <p:nvSpPr>
          <p:cNvPr id="521" name="Google Shape;521;p23"/>
          <p:cNvSpPr/>
          <p:nvPr/>
        </p:nvSpPr>
        <p:spPr>
          <a:xfrm>
            <a:off x="320040" y="2080260"/>
            <a:ext cx="8503800" cy="279000"/>
          </a:xfrm>
          <a:prstGeom prst="rect">
            <a:avLst/>
          </a:prstGeom>
          <a:solidFill>
            <a:srgbClr val="F9F9F9"/>
          </a:solidFill>
          <a:ln cap="flat" cmpd="sng" w="12700">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3"/>
          <p:cNvSpPr/>
          <p:nvPr/>
        </p:nvSpPr>
        <p:spPr>
          <a:xfrm>
            <a:off x="374904" y="2080260"/>
            <a:ext cx="1636800" cy="27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900"/>
              <a:buFont typeface="Calibri"/>
              <a:buNone/>
            </a:pPr>
            <a:r>
              <a:rPr b="0" i="0" lang="en-US" sz="900" u="none" cap="none" strike="noStrike">
                <a:solidFill>
                  <a:srgbClr val="1C1C1C"/>
                </a:solidFill>
                <a:latin typeface="Calibri"/>
                <a:ea typeface="Calibri"/>
                <a:cs typeface="Calibri"/>
                <a:sym typeface="Calibri"/>
              </a:rPr>
              <a:t>Impressions</a:t>
            </a:r>
            <a:endParaRPr b="0" i="0" sz="900" u="none" cap="none" strike="noStrike">
              <a:solidFill>
                <a:srgbClr val="000000"/>
              </a:solidFill>
              <a:latin typeface="Calibri"/>
              <a:ea typeface="Calibri"/>
              <a:cs typeface="Calibri"/>
              <a:sym typeface="Calibri"/>
            </a:endParaRPr>
          </a:p>
        </p:txBody>
      </p:sp>
      <p:sp>
        <p:nvSpPr>
          <p:cNvPr id="523" name="Google Shape;523;p23"/>
          <p:cNvSpPr/>
          <p:nvPr/>
        </p:nvSpPr>
        <p:spPr>
          <a:xfrm>
            <a:off x="2057400" y="2080260"/>
            <a:ext cx="1664100" cy="27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55555"/>
              </a:buClr>
              <a:buSzPts val="900"/>
              <a:buFont typeface="Calibri"/>
              <a:buNone/>
            </a:pPr>
            <a:r>
              <a:rPr b="0" i="0" lang="en-US" sz="900" u="none" cap="none" strike="noStrike">
                <a:solidFill>
                  <a:srgbClr val="555555"/>
                </a:solidFill>
                <a:latin typeface="Calibri"/>
                <a:ea typeface="Calibri"/>
                <a:cs typeface="Calibri"/>
                <a:sym typeface="Calibri"/>
              </a:rPr>
              <a:t>60,169</a:t>
            </a:r>
            <a:endParaRPr b="0" i="0" sz="900" u="none" cap="none" strike="noStrike">
              <a:solidFill>
                <a:srgbClr val="000000"/>
              </a:solidFill>
              <a:latin typeface="Calibri"/>
              <a:ea typeface="Calibri"/>
              <a:cs typeface="Calibri"/>
              <a:sym typeface="Calibri"/>
            </a:endParaRPr>
          </a:p>
        </p:txBody>
      </p:sp>
      <p:sp>
        <p:nvSpPr>
          <p:cNvPr id="524" name="Google Shape;524;p23"/>
          <p:cNvSpPr/>
          <p:nvPr/>
        </p:nvSpPr>
        <p:spPr>
          <a:xfrm>
            <a:off x="3767328" y="2080260"/>
            <a:ext cx="1600200" cy="27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1C1C"/>
              </a:buClr>
              <a:buSzPts val="900"/>
              <a:buFont typeface="Calibri"/>
              <a:buNone/>
            </a:pPr>
            <a:r>
              <a:rPr b="0" i="0" lang="en-US" sz="900" u="none" cap="none" strike="noStrike">
                <a:solidFill>
                  <a:srgbClr val="1C1C1C"/>
                </a:solidFill>
                <a:latin typeface="Calibri"/>
                <a:ea typeface="Calibri"/>
                <a:cs typeface="Calibri"/>
                <a:sym typeface="Calibri"/>
              </a:rPr>
              <a:t>39,310</a:t>
            </a:r>
            <a:endParaRPr b="0" i="0" sz="900" u="none" cap="none" strike="noStrike">
              <a:solidFill>
                <a:srgbClr val="000000"/>
              </a:solidFill>
              <a:latin typeface="Calibri"/>
              <a:ea typeface="Calibri"/>
              <a:cs typeface="Calibri"/>
              <a:sym typeface="Calibri"/>
            </a:endParaRPr>
          </a:p>
        </p:txBody>
      </p:sp>
      <p:sp>
        <p:nvSpPr>
          <p:cNvPr id="525" name="Google Shape;525;p23"/>
          <p:cNvSpPr/>
          <p:nvPr/>
        </p:nvSpPr>
        <p:spPr>
          <a:xfrm>
            <a:off x="5413248" y="2080260"/>
            <a:ext cx="804600" cy="27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8888"/>
              </a:buClr>
              <a:buSzPts val="900"/>
              <a:buFont typeface="Calibri"/>
              <a:buNone/>
            </a:pPr>
            <a:r>
              <a:rPr b="0" i="0" lang="en-US" sz="900" u="none" cap="none" strike="noStrike">
                <a:solidFill>
                  <a:srgbClr val="888888"/>
                </a:solidFill>
                <a:latin typeface="Calibri"/>
                <a:ea typeface="Calibri"/>
                <a:cs typeface="Calibri"/>
                <a:sym typeface="Calibri"/>
              </a:rPr>
              <a:t>-34.7%</a:t>
            </a:r>
            <a:endParaRPr b="0" i="0" sz="900" u="none" cap="none" strike="noStrike">
              <a:solidFill>
                <a:srgbClr val="000000"/>
              </a:solidFill>
              <a:latin typeface="Calibri"/>
              <a:ea typeface="Calibri"/>
              <a:cs typeface="Calibri"/>
              <a:sym typeface="Calibri"/>
            </a:endParaRPr>
          </a:p>
        </p:txBody>
      </p:sp>
      <p:sp>
        <p:nvSpPr>
          <p:cNvPr id="526" name="Google Shape;526;p23"/>
          <p:cNvSpPr/>
          <p:nvPr/>
        </p:nvSpPr>
        <p:spPr>
          <a:xfrm>
            <a:off x="6263640" y="2080260"/>
            <a:ext cx="2532900" cy="27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00"/>
              <a:buFont typeface="Calibri"/>
              <a:buNone/>
            </a:pPr>
            <a:r>
              <a:rPr b="0" i="0" lang="en-US" sz="800" u="none" cap="none" strike="noStrike">
                <a:solidFill>
                  <a:srgbClr val="888888"/>
                </a:solidFill>
                <a:latin typeface="Calibri"/>
                <a:ea typeface="Calibri"/>
                <a:cs typeface="Calibri"/>
                <a:sym typeface="Calibri"/>
              </a:rPr>
              <a:t>Proportional to spend</a:t>
            </a:r>
            <a:endParaRPr b="0" i="0" sz="800" u="none" cap="none" strike="noStrike">
              <a:solidFill>
                <a:srgbClr val="000000"/>
              </a:solidFill>
              <a:latin typeface="Calibri"/>
              <a:ea typeface="Calibri"/>
              <a:cs typeface="Calibri"/>
              <a:sym typeface="Calibri"/>
            </a:endParaRPr>
          </a:p>
        </p:txBody>
      </p:sp>
      <p:sp>
        <p:nvSpPr>
          <p:cNvPr id="527" name="Google Shape;527;p23"/>
          <p:cNvSpPr/>
          <p:nvPr/>
        </p:nvSpPr>
        <p:spPr>
          <a:xfrm>
            <a:off x="320040" y="2359152"/>
            <a:ext cx="8503800" cy="279000"/>
          </a:xfrm>
          <a:prstGeom prst="rect">
            <a:avLst/>
          </a:prstGeom>
          <a:solidFill>
            <a:srgbClr val="FFFFFF"/>
          </a:solidFill>
          <a:ln cap="flat" cmpd="sng" w="12700">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3"/>
          <p:cNvSpPr/>
          <p:nvPr/>
        </p:nvSpPr>
        <p:spPr>
          <a:xfrm>
            <a:off x="374904" y="2359152"/>
            <a:ext cx="1636800" cy="27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900"/>
              <a:buFont typeface="Calibri"/>
              <a:buNone/>
            </a:pPr>
            <a:r>
              <a:rPr b="0" i="0" lang="en-US" sz="900" u="none" cap="none" strike="noStrike">
                <a:solidFill>
                  <a:srgbClr val="1C1C1C"/>
                </a:solidFill>
                <a:latin typeface="Calibri"/>
                <a:ea typeface="Calibri"/>
                <a:cs typeface="Calibri"/>
                <a:sym typeface="Calibri"/>
              </a:rPr>
              <a:t>CTR</a:t>
            </a:r>
            <a:endParaRPr b="0" i="0" sz="900" u="none" cap="none" strike="noStrike">
              <a:solidFill>
                <a:srgbClr val="000000"/>
              </a:solidFill>
              <a:latin typeface="Calibri"/>
              <a:ea typeface="Calibri"/>
              <a:cs typeface="Calibri"/>
              <a:sym typeface="Calibri"/>
            </a:endParaRPr>
          </a:p>
        </p:txBody>
      </p:sp>
      <p:sp>
        <p:nvSpPr>
          <p:cNvPr id="529" name="Google Shape;529;p23"/>
          <p:cNvSpPr/>
          <p:nvPr/>
        </p:nvSpPr>
        <p:spPr>
          <a:xfrm>
            <a:off x="2057400" y="2359152"/>
            <a:ext cx="1664100" cy="27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55555"/>
              </a:buClr>
              <a:buSzPts val="900"/>
              <a:buFont typeface="Calibri"/>
              <a:buNone/>
            </a:pPr>
            <a:r>
              <a:rPr b="0" i="0" lang="en-US" sz="900" u="none" cap="none" strike="noStrike">
                <a:solidFill>
                  <a:srgbClr val="555555"/>
                </a:solidFill>
                <a:latin typeface="Calibri"/>
                <a:ea typeface="Calibri"/>
                <a:cs typeface="Calibri"/>
                <a:sym typeface="Calibri"/>
              </a:rPr>
              <a:t>27.90%</a:t>
            </a:r>
            <a:endParaRPr b="0" i="0" sz="900" u="none" cap="none" strike="noStrike">
              <a:solidFill>
                <a:srgbClr val="000000"/>
              </a:solidFill>
              <a:latin typeface="Calibri"/>
              <a:ea typeface="Calibri"/>
              <a:cs typeface="Calibri"/>
              <a:sym typeface="Calibri"/>
            </a:endParaRPr>
          </a:p>
        </p:txBody>
      </p:sp>
      <p:sp>
        <p:nvSpPr>
          <p:cNvPr id="530" name="Google Shape;530;p23"/>
          <p:cNvSpPr/>
          <p:nvPr/>
        </p:nvSpPr>
        <p:spPr>
          <a:xfrm>
            <a:off x="3767328" y="2359152"/>
            <a:ext cx="1600200" cy="27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1C1C"/>
              </a:buClr>
              <a:buSzPts val="900"/>
              <a:buFont typeface="Calibri"/>
              <a:buNone/>
            </a:pPr>
            <a:r>
              <a:rPr b="0" i="0" lang="en-US" sz="900" u="none" cap="none" strike="noStrike">
                <a:solidFill>
                  <a:srgbClr val="1C1C1C"/>
                </a:solidFill>
                <a:latin typeface="Calibri"/>
                <a:ea typeface="Calibri"/>
                <a:cs typeface="Calibri"/>
                <a:sym typeface="Calibri"/>
              </a:rPr>
              <a:t>24.27%</a:t>
            </a:r>
            <a:endParaRPr b="0" i="0" sz="900" u="none" cap="none" strike="noStrike">
              <a:solidFill>
                <a:srgbClr val="000000"/>
              </a:solidFill>
              <a:latin typeface="Calibri"/>
              <a:ea typeface="Calibri"/>
              <a:cs typeface="Calibri"/>
              <a:sym typeface="Calibri"/>
            </a:endParaRPr>
          </a:p>
        </p:txBody>
      </p:sp>
      <p:sp>
        <p:nvSpPr>
          <p:cNvPr id="531" name="Google Shape;531;p23"/>
          <p:cNvSpPr/>
          <p:nvPr/>
        </p:nvSpPr>
        <p:spPr>
          <a:xfrm>
            <a:off x="5413248" y="2359152"/>
            <a:ext cx="804600" cy="27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0392B"/>
              </a:buClr>
              <a:buSzPts val="900"/>
              <a:buFont typeface="Calibri"/>
              <a:buNone/>
            </a:pPr>
            <a:r>
              <a:rPr b="1" i="0" lang="en-US" sz="900" u="none" cap="none" strike="noStrike">
                <a:solidFill>
                  <a:srgbClr val="C0392B"/>
                </a:solidFill>
                <a:latin typeface="Calibri"/>
                <a:ea typeface="Calibri"/>
                <a:cs typeface="Calibri"/>
                <a:sym typeface="Calibri"/>
              </a:rPr>
              <a:t>-13.0%</a:t>
            </a:r>
            <a:endParaRPr b="0" i="0" sz="900" u="none" cap="none" strike="noStrike">
              <a:solidFill>
                <a:srgbClr val="000000"/>
              </a:solidFill>
              <a:latin typeface="Calibri"/>
              <a:ea typeface="Calibri"/>
              <a:cs typeface="Calibri"/>
              <a:sym typeface="Calibri"/>
            </a:endParaRPr>
          </a:p>
        </p:txBody>
      </p:sp>
      <p:sp>
        <p:nvSpPr>
          <p:cNvPr id="532" name="Google Shape;532;p23"/>
          <p:cNvSpPr/>
          <p:nvPr/>
        </p:nvSpPr>
        <p:spPr>
          <a:xfrm>
            <a:off x="6263640" y="2359152"/>
            <a:ext cx="2532900" cy="27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00"/>
              <a:buFont typeface="Calibri"/>
              <a:buNone/>
            </a:pPr>
            <a:r>
              <a:rPr b="0" i="0" lang="en-US" sz="800" u="none" cap="none" strike="noStrike">
                <a:solidFill>
                  <a:srgbClr val="888888"/>
                </a:solidFill>
                <a:latin typeface="Calibri"/>
                <a:ea typeface="Calibri"/>
                <a:cs typeface="Calibri"/>
                <a:sym typeface="Calibri"/>
              </a:rPr>
              <a:t>Ad identical </a:t>
            </a:r>
            <a:r>
              <a:rPr lang="en-US" sz="800">
                <a:solidFill>
                  <a:srgbClr val="888888"/>
                </a:solidFill>
                <a:latin typeface="Calibri"/>
                <a:ea typeface="Calibri"/>
                <a:cs typeface="Calibri"/>
                <a:sym typeface="Calibri"/>
              </a:rPr>
              <a:t>- </a:t>
            </a:r>
            <a:r>
              <a:rPr b="0" i="0" lang="en-US" sz="800" u="none" cap="none" strike="noStrike">
                <a:solidFill>
                  <a:srgbClr val="888888"/>
                </a:solidFill>
                <a:latin typeface="Calibri"/>
                <a:ea typeface="Calibri"/>
                <a:cs typeface="Calibri"/>
                <a:sym typeface="Calibri"/>
              </a:rPr>
              <a:t> landing page effect</a:t>
            </a:r>
            <a:endParaRPr b="0" i="0" sz="800" u="none" cap="none" strike="noStrike">
              <a:solidFill>
                <a:srgbClr val="000000"/>
              </a:solidFill>
              <a:latin typeface="Calibri"/>
              <a:ea typeface="Calibri"/>
              <a:cs typeface="Calibri"/>
              <a:sym typeface="Calibri"/>
            </a:endParaRPr>
          </a:p>
        </p:txBody>
      </p:sp>
      <p:sp>
        <p:nvSpPr>
          <p:cNvPr id="533" name="Google Shape;533;p23"/>
          <p:cNvSpPr/>
          <p:nvPr/>
        </p:nvSpPr>
        <p:spPr>
          <a:xfrm>
            <a:off x="320040" y="2638044"/>
            <a:ext cx="8503800" cy="279000"/>
          </a:xfrm>
          <a:prstGeom prst="rect">
            <a:avLst/>
          </a:prstGeom>
          <a:solidFill>
            <a:srgbClr val="F9F9F9"/>
          </a:solidFill>
          <a:ln cap="flat" cmpd="sng" w="12700">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3"/>
          <p:cNvSpPr/>
          <p:nvPr/>
        </p:nvSpPr>
        <p:spPr>
          <a:xfrm>
            <a:off x="374904" y="2638044"/>
            <a:ext cx="1636800" cy="27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900"/>
              <a:buFont typeface="Calibri"/>
              <a:buNone/>
            </a:pPr>
            <a:r>
              <a:rPr b="0" i="0" lang="en-US" sz="900" u="none" cap="none" strike="noStrike">
                <a:solidFill>
                  <a:srgbClr val="1C1C1C"/>
                </a:solidFill>
                <a:latin typeface="Calibri"/>
                <a:ea typeface="Calibri"/>
                <a:cs typeface="Calibri"/>
                <a:sym typeface="Calibri"/>
              </a:rPr>
              <a:t>Cost</a:t>
            </a:r>
            <a:endParaRPr b="0" i="0" sz="900" u="none" cap="none" strike="noStrike">
              <a:solidFill>
                <a:srgbClr val="000000"/>
              </a:solidFill>
              <a:latin typeface="Calibri"/>
              <a:ea typeface="Calibri"/>
              <a:cs typeface="Calibri"/>
              <a:sym typeface="Calibri"/>
            </a:endParaRPr>
          </a:p>
        </p:txBody>
      </p:sp>
      <p:sp>
        <p:nvSpPr>
          <p:cNvPr id="535" name="Google Shape;535;p23"/>
          <p:cNvSpPr/>
          <p:nvPr/>
        </p:nvSpPr>
        <p:spPr>
          <a:xfrm>
            <a:off x="2057400" y="2638044"/>
            <a:ext cx="1664100" cy="27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55555"/>
              </a:buClr>
              <a:buSzPts val="900"/>
              <a:buFont typeface="Calibri"/>
              <a:buNone/>
            </a:pPr>
            <a:r>
              <a:rPr b="0" i="0" lang="en-US" sz="900" u="none" cap="none" strike="noStrike">
                <a:solidFill>
                  <a:srgbClr val="555555"/>
                </a:solidFill>
                <a:latin typeface="Calibri"/>
                <a:ea typeface="Calibri"/>
                <a:cs typeface="Calibri"/>
                <a:sym typeface="Calibri"/>
              </a:rPr>
              <a:t>£4,050</a:t>
            </a:r>
            <a:endParaRPr b="0" i="0" sz="900" u="none" cap="none" strike="noStrike">
              <a:solidFill>
                <a:srgbClr val="000000"/>
              </a:solidFill>
              <a:latin typeface="Calibri"/>
              <a:ea typeface="Calibri"/>
              <a:cs typeface="Calibri"/>
              <a:sym typeface="Calibri"/>
            </a:endParaRPr>
          </a:p>
        </p:txBody>
      </p:sp>
      <p:sp>
        <p:nvSpPr>
          <p:cNvPr id="536" name="Google Shape;536;p23"/>
          <p:cNvSpPr/>
          <p:nvPr/>
        </p:nvSpPr>
        <p:spPr>
          <a:xfrm>
            <a:off x="3767328" y="2638044"/>
            <a:ext cx="1600200" cy="27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1C1C"/>
              </a:buClr>
              <a:buSzPts val="900"/>
              <a:buFont typeface="Calibri"/>
              <a:buNone/>
            </a:pPr>
            <a:r>
              <a:rPr b="0" i="0" lang="en-US" sz="900" u="none" cap="none" strike="noStrike">
                <a:solidFill>
                  <a:srgbClr val="1C1C1C"/>
                </a:solidFill>
                <a:latin typeface="Calibri"/>
                <a:ea typeface="Calibri"/>
                <a:cs typeface="Calibri"/>
                <a:sym typeface="Calibri"/>
              </a:rPr>
              <a:t>£2,423</a:t>
            </a:r>
            <a:endParaRPr b="0" i="0" sz="900" u="none" cap="none" strike="noStrike">
              <a:solidFill>
                <a:srgbClr val="000000"/>
              </a:solidFill>
              <a:latin typeface="Calibri"/>
              <a:ea typeface="Calibri"/>
              <a:cs typeface="Calibri"/>
              <a:sym typeface="Calibri"/>
            </a:endParaRPr>
          </a:p>
        </p:txBody>
      </p:sp>
      <p:sp>
        <p:nvSpPr>
          <p:cNvPr id="537" name="Google Shape;537;p23"/>
          <p:cNvSpPr/>
          <p:nvPr/>
        </p:nvSpPr>
        <p:spPr>
          <a:xfrm>
            <a:off x="5413248" y="2638044"/>
            <a:ext cx="804600" cy="27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8888"/>
              </a:buClr>
              <a:buSzPts val="900"/>
              <a:buFont typeface="Calibri"/>
              <a:buNone/>
            </a:pPr>
            <a:r>
              <a:rPr b="0" i="0" lang="en-US" sz="900" u="none" cap="none" strike="noStrike">
                <a:solidFill>
                  <a:srgbClr val="888888"/>
                </a:solidFill>
                <a:latin typeface="Calibri"/>
                <a:ea typeface="Calibri"/>
                <a:cs typeface="Calibri"/>
                <a:sym typeface="Calibri"/>
              </a:rPr>
              <a:t>-40.2%</a:t>
            </a:r>
            <a:endParaRPr b="0" i="0" sz="900" u="none" cap="none" strike="noStrike">
              <a:solidFill>
                <a:srgbClr val="000000"/>
              </a:solidFill>
              <a:latin typeface="Calibri"/>
              <a:ea typeface="Calibri"/>
              <a:cs typeface="Calibri"/>
              <a:sym typeface="Calibri"/>
            </a:endParaRPr>
          </a:p>
        </p:txBody>
      </p:sp>
      <p:sp>
        <p:nvSpPr>
          <p:cNvPr id="538" name="Google Shape;538;p23"/>
          <p:cNvSpPr/>
          <p:nvPr/>
        </p:nvSpPr>
        <p:spPr>
          <a:xfrm>
            <a:off x="6263640" y="2638044"/>
            <a:ext cx="2532900" cy="27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00"/>
              <a:buFont typeface="Calibri"/>
              <a:buNone/>
            </a:pPr>
            <a:r>
              <a:rPr b="0" i="0" lang="en-US" sz="800" u="none" cap="none" strike="noStrike">
                <a:solidFill>
                  <a:srgbClr val="888888"/>
                </a:solidFill>
                <a:latin typeface="Calibri"/>
                <a:ea typeface="Calibri"/>
                <a:cs typeface="Calibri"/>
                <a:sym typeface="Calibri"/>
              </a:rPr>
              <a:t>B received less budget</a:t>
            </a:r>
            <a:endParaRPr b="0" i="0" sz="800" u="none" cap="none" strike="noStrike">
              <a:solidFill>
                <a:srgbClr val="000000"/>
              </a:solidFill>
              <a:latin typeface="Calibri"/>
              <a:ea typeface="Calibri"/>
              <a:cs typeface="Calibri"/>
              <a:sym typeface="Calibri"/>
            </a:endParaRPr>
          </a:p>
        </p:txBody>
      </p:sp>
      <p:sp>
        <p:nvSpPr>
          <p:cNvPr id="539" name="Google Shape;539;p23"/>
          <p:cNvSpPr/>
          <p:nvPr/>
        </p:nvSpPr>
        <p:spPr>
          <a:xfrm>
            <a:off x="320040" y="2916936"/>
            <a:ext cx="8503800" cy="279000"/>
          </a:xfrm>
          <a:prstGeom prst="rect">
            <a:avLst/>
          </a:prstGeom>
          <a:solidFill>
            <a:srgbClr val="FFF8F8"/>
          </a:solidFill>
          <a:ln cap="flat" cmpd="sng" w="12700">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3"/>
          <p:cNvSpPr/>
          <p:nvPr/>
        </p:nvSpPr>
        <p:spPr>
          <a:xfrm>
            <a:off x="320040" y="2916936"/>
            <a:ext cx="36600" cy="2790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3"/>
          <p:cNvSpPr/>
          <p:nvPr/>
        </p:nvSpPr>
        <p:spPr>
          <a:xfrm>
            <a:off x="374904" y="2916936"/>
            <a:ext cx="1636800" cy="27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900"/>
              <a:buFont typeface="Calibri"/>
              <a:buNone/>
            </a:pPr>
            <a:r>
              <a:rPr b="1" i="0" lang="en-US" sz="900" u="none" cap="none" strike="noStrike">
                <a:solidFill>
                  <a:srgbClr val="1C1C1C"/>
                </a:solidFill>
                <a:latin typeface="Calibri"/>
                <a:ea typeface="Calibri"/>
                <a:cs typeface="Calibri"/>
                <a:sym typeface="Calibri"/>
              </a:rPr>
              <a:t>CVR</a:t>
            </a:r>
            <a:endParaRPr b="0" i="0" sz="900" u="none" cap="none" strike="noStrike">
              <a:solidFill>
                <a:srgbClr val="000000"/>
              </a:solidFill>
              <a:latin typeface="Calibri"/>
              <a:ea typeface="Calibri"/>
              <a:cs typeface="Calibri"/>
              <a:sym typeface="Calibri"/>
            </a:endParaRPr>
          </a:p>
        </p:txBody>
      </p:sp>
      <p:sp>
        <p:nvSpPr>
          <p:cNvPr id="542" name="Google Shape;542;p23"/>
          <p:cNvSpPr/>
          <p:nvPr/>
        </p:nvSpPr>
        <p:spPr>
          <a:xfrm>
            <a:off x="2057400" y="2916936"/>
            <a:ext cx="1664100" cy="27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55555"/>
              </a:buClr>
              <a:buSzPts val="900"/>
              <a:buFont typeface="Calibri"/>
              <a:buNone/>
            </a:pPr>
            <a:r>
              <a:rPr b="0" i="0" lang="en-US" sz="900" u="none" cap="none" strike="noStrike">
                <a:solidFill>
                  <a:srgbClr val="555555"/>
                </a:solidFill>
                <a:latin typeface="Calibri"/>
                <a:ea typeface="Calibri"/>
                <a:cs typeface="Calibri"/>
                <a:sym typeface="Calibri"/>
              </a:rPr>
              <a:t>9.17%</a:t>
            </a:r>
            <a:endParaRPr b="0" i="0" sz="900" u="none" cap="none" strike="noStrike">
              <a:solidFill>
                <a:srgbClr val="000000"/>
              </a:solidFill>
              <a:latin typeface="Calibri"/>
              <a:ea typeface="Calibri"/>
              <a:cs typeface="Calibri"/>
              <a:sym typeface="Calibri"/>
            </a:endParaRPr>
          </a:p>
        </p:txBody>
      </p:sp>
      <p:sp>
        <p:nvSpPr>
          <p:cNvPr id="543" name="Google Shape;543;p23"/>
          <p:cNvSpPr/>
          <p:nvPr/>
        </p:nvSpPr>
        <p:spPr>
          <a:xfrm>
            <a:off x="3767328" y="2916936"/>
            <a:ext cx="1600200" cy="27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1C1C"/>
              </a:buClr>
              <a:buSzPts val="900"/>
              <a:buFont typeface="Calibri"/>
              <a:buNone/>
            </a:pPr>
            <a:r>
              <a:rPr b="1" i="0" lang="en-US" sz="900" u="none" cap="none" strike="noStrike">
                <a:solidFill>
                  <a:srgbClr val="1C1C1C"/>
                </a:solidFill>
                <a:latin typeface="Calibri"/>
                <a:ea typeface="Calibri"/>
                <a:cs typeface="Calibri"/>
                <a:sym typeface="Calibri"/>
              </a:rPr>
              <a:t>11.11%</a:t>
            </a:r>
            <a:endParaRPr b="0" i="0" sz="900" u="none" cap="none" strike="noStrike">
              <a:solidFill>
                <a:srgbClr val="000000"/>
              </a:solidFill>
              <a:latin typeface="Calibri"/>
              <a:ea typeface="Calibri"/>
              <a:cs typeface="Calibri"/>
              <a:sym typeface="Calibri"/>
            </a:endParaRPr>
          </a:p>
        </p:txBody>
      </p:sp>
      <p:sp>
        <p:nvSpPr>
          <p:cNvPr id="544" name="Google Shape;544;p23"/>
          <p:cNvSpPr/>
          <p:nvPr/>
        </p:nvSpPr>
        <p:spPr>
          <a:xfrm>
            <a:off x="5413248" y="2916936"/>
            <a:ext cx="804600" cy="27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7A4A"/>
              </a:buClr>
              <a:buSzPts val="900"/>
              <a:buFont typeface="Calibri"/>
              <a:buNone/>
            </a:pPr>
            <a:r>
              <a:rPr b="1" i="0" lang="en-US" sz="900" u="none" cap="none" strike="noStrike">
                <a:solidFill>
                  <a:srgbClr val="1A7A4A"/>
                </a:solidFill>
                <a:latin typeface="Calibri"/>
                <a:ea typeface="Calibri"/>
                <a:cs typeface="Calibri"/>
                <a:sym typeface="Calibri"/>
              </a:rPr>
              <a:t>+21.2%</a:t>
            </a:r>
            <a:endParaRPr b="0" i="0" sz="900" u="none" cap="none" strike="noStrike">
              <a:solidFill>
                <a:srgbClr val="000000"/>
              </a:solidFill>
              <a:latin typeface="Calibri"/>
              <a:ea typeface="Calibri"/>
              <a:cs typeface="Calibri"/>
              <a:sym typeface="Calibri"/>
            </a:endParaRPr>
          </a:p>
        </p:txBody>
      </p:sp>
      <p:sp>
        <p:nvSpPr>
          <p:cNvPr id="545" name="Google Shape;545;p23"/>
          <p:cNvSpPr/>
          <p:nvPr/>
        </p:nvSpPr>
        <p:spPr>
          <a:xfrm>
            <a:off x="6263640" y="2916936"/>
            <a:ext cx="2532900" cy="27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800"/>
              <a:buFont typeface="Calibri"/>
              <a:buNone/>
            </a:pPr>
            <a:r>
              <a:rPr b="0" i="1" lang="en-US" sz="800" u="none" cap="none" strike="noStrike">
                <a:solidFill>
                  <a:srgbClr val="C0392B"/>
                </a:solidFill>
                <a:latin typeface="Calibri"/>
                <a:ea typeface="Calibri"/>
                <a:cs typeface="Calibri"/>
                <a:sym typeface="Calibri"/>
              </a:rPr>
              <a:t>Significant at 99%</a:t>
            </a:r>
            <a:endParaRPr b="0" i="0" sz="800" u="none" cap="none" strike="noStrike">
              <a:solidFill>
                <a:srgbClr val="000000"/>
              </a:solidFill>
              <a:latin typeface="Calibri"/>
              <a:ea typeface="Calibri"/>
              <a:cs typeface="Calibri"/>
              <a:sym typeface="Calibri"/>
            </a:endParaRPr>
          </a:p>
        </p:txBody>
      </p:sp>
      <p:sp>
        <p:nvSpPr>
          <p:cNvPr id="546" name="Google Shape;546;p23"/>
          <p:cNvSpPr/>
          <p:nvPr/>
        </p:nvSpPr>
        <p:spPr>
          <a:xfrm>
            <a:off x="320040" y="3195828"/>
            <a:ext cx="8503800" cy="279000"/>
          </a:xfrm>
          <a:prstGeom prst="rect">
            <a:avLst/>
          </a:prstGeom>
          <a:solidFill>
            <a:srgbClr val="F9F9F9"/>
          </a:solidFill>
          <a:ln cap="flat" cmpd="sng" w="12700">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3"/>
          <p:cNvSpPr/>
          <p:nvPr/>
        </p:nvSpPr>
        <p:spPr>
          <a:xfrm>
            <a:off x="374904" y="3195828"/>
            <a:ext cx="1636800" cy="27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900"/>
              <a:buFont typeface="Calibri"/>
              <a:buNone/>
            </a:pPr>
            <a:r>
              <a:rPr b="0" i="0" lang="en-US" sz="900" u="none" cap="none" strike="noStrike">
                <a:solidFill>
                  <a:srgbClr val="1C1C1C"/>
                </a:solidFill>
                <a:latin typeface="Calibri"/>
                <a:ea typeface="Calibri"/>
                <a:cs typeface="Calibri"/>
                <a:sym typeface="Calibri"/>
              </a:rPr>
              <a:t>Conversions</a:t>
            </a:r>
            <a:endParaRPr b="0" i="0" sz="900" u="none" cap="none" strike="noStrike">
              <a:solidFill>
                <a:srgbClr val="000000"/>
              </a:solidFill>
              <a:latin typeface="Calibri"/>
              <a:ea typeface="Calibri"/>
              <a:cs typeface="Calibri"/>
              <a:sym typeface="Calibri"/>
            </a:endParaRPr>
          </a:p>
        </p:txBody>
      </p:sp>
      <p:sp>
        <p:nvSpPr>
          <p:cNvPr id="548" name="Google Shape;548;p23"/>
          <p:cNvSpPr/>
          <p:nvPr/>
        </p:nvSpPr>
        <p:spPr>
          <a:xfrm>
            <a:off x="2057400" y="3195828"/>
            <a:ext cx="1664100" cy="27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55555"/>
              </a:buClr>
              <a:buSzPts val="900"/>
              <a:buFont typeface="Calibri"/>
              <a:buNone/>
            </a:pPr>
            <a:r>
              <a:rPr b="0" i="0" lang="en-US" sz="900" u="none" cap="none" strike="noStrike">
                <a:solidFill>
                  <a:srgbClr val="555555"/>
                </a:solidFill>
                <a:latin typeface="Calibri"/>
                <a:ea typeface="Calibri"/>
                <a:cs typeface="Calibri"/>
                <a:sym typeface="Calibri"/>
              </a:rPr>
              <a:t>1,539</a:t>
            </a:r>
            <a:endParaRPr b="0" i="0" sz="900" u="none" cap="none" strike="noStrike">
              <a:solidFill>
                <a:srgbClr val="000000"/>
              </a:solidFill>
              <a:latin typeface="Calibri"/>
              <a:ea typeface="Calibri"/>
              <a:cs typeface="Calibri"/>
              <a:sym typeface="Calibri"/>
            </a:endParaRPr>
          </a:p>
        </p:txBody>
      </p:sp>
      <p:sp>
        <p:nvSpPr>
          <p:cNvPr id="549" name="Google Shape;549;p23"/>
          <p:cNvSpPr/>
          <p:nvPr/>
        </p:nvSpPr>
        <p:spPr>
          <a:xfrm>
            <a:off x="3767328" y="3195828"/>
            <a:ext cx="1600200" cy="27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1C1C"/>
              </a:buClr>
              <a:buSzPts val="900"/>
              <a:buFont typeface="Calibri"/>
              <a:buNone/>
            </a:pPr>
            <a:r>
              <a:rPr b="0" i="0" lang="en-US" sz="900" u="none" cap="none" strike="noStrike">
                <a:solidFill>
                  <a:srgbClr val="1C1C1C"/>
                </a:solidFill>
                <a:latin typeface="Calibri"/>
                <a:ea typeface="Calibri"/>
                <a:cs typeface="Calibri"/>
                <a:sym typeface="Calibri"/>
              </a:rPr>
              <a:t>1,060</a:t>
            </a:r>
            <a:endParaRPr b="0" i="0" sz="900" u="none" cap="none" strike="noStrike">
              <a:solidFill>
                <a:srgbClr val="000000"/>
              </a:solidFill>
              <a:latin typeface="Calibri"/>
              <a:ea typeface="Calibri"/>
              <a:cs typeface="Calibri"/>
              <a:sym typeface="Calibri"/>
            </a:endParaRPr>
          </a:p>
        </p:txBody>
      </p:sp>
      <p:sp>
        <p:nvSpPr>
          <p:cNvPr id="550" name="Google Shape;550;p23"/>
          <p:cNvSpPr/>
          <p:nvPr/>
        </p:nvSpPr>
        <p:spPr>
          <a:xfrm>
            <a:off x="5413248" y="3195828"/>
            <a:ext cx="804600" cy="27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8888"/>
              </a:buClr>
              <a:buSzPts val="900"/>
              <a:buFont typeface="Calibri"/>
              <a:buNone/>
            </a:pPr>
            <a:r>
              <a:rPr b="0" i="0" lang="en-US" sz="900" u="none" cap="none" strike="noStrike">
                <a:solidFill>
                  <a:srgbClr val="888888"/>
                </a:solidFill>
                <a:latin typeface="Calibri"/>
                <a:ea typeface="Calibri"/>
                <a:cs typeface="Calibri"/>
                <a:sym typeface="Calibri"/>
              </a:rPr>
              <a:t>-31.1%</a:t>
            </a:r>
            <a:endParaRPr b="0" i="0" sz="900" u="none" cap="none" strike="noStrike">
              <a:solidFill>
                <a:srgbClr val="000000"/>
              </a:solidFill>
              <a:latin typeface="Calibri"/>
              <a:ea typeface="Calibri"/>
              <a:cs typeface="Calibri"/>
              <a:sym typeface="Calibri"/>
            </a:endParaRPr>
          </a:p>
        </p:txBody>
      </p:sp>
      <p:sp>
        <p:nvSpPr>
          <p:cNvPr id="551" name="Google Shape;551;p23"/>
          <p:cNvSpPr/>
          <p:nvPr/>
        </p:nvSpPr>
        <p:spPr>
          <a:xfrm>
            <a:off x="6263640" y="3195828"/>
            <a:ext cx="2532900" cy="27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00"/>
              <a:buFont typeface="Calibri"/>
              <a:buNone/>
            </a:pPr>
            <a:r>
              <a:rPr b="0" i="0" lang="en-US" sz="800" u="none" cap="none" strike="noStrike">
                <a:solidFill>
                  <a:srgbClr val="888888"/>
                </a:solidFill>
                <a:latin typeface="Calibri"/>
                <a:ea typeface="Calibri"/>
                <a:cs typeface="Calibri"/>
                <a:sym typeface="Calibri"/>
              </a:rPr>
              <a:t>Lower due to budget split</a:t>
            </a:r>
            <a:endParaRPr b="0" i="0" sz="800" u="none" cap="none" strike="noStrike">
              <a:solidFill>
                <a:srgbClr val="000000"/>
              </a:solidFill>
              <a:latin typeface="Calibri"/>
              <a:ea typeface="Calibri"/>
              <a:cs typeface="Calibri"/>
              <a:sym typeface="Calibri"/>
            </a:endParaRPr>
          </a:p>
        </p:txBody>
      </p:sp>
      <p:sp>
        <p:nvSpPr>
          <p:cNvPr id="552" name="Google Shape;552;p23"/>
          <p:cNvSpPr/>
          <p:nvPr/>
        </p:nvSpPr>
        <p:spPr>
          <a:xfrm>
            <a:off x="320040" y="3474720"/>
            <a:ext cx="8503800" cy="279000"/>
          </a:xfrm>
          <a:prstGeom prst="rect">
            <a:avLst/>
          </a:prstGeom>
          <a:solidFill>
            <a:srgbClr val="FFFFFF"/>
          </a:solidFill>
          <a:ln cap="flat" cmpd="sng" w="12700">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3"/>
          <p:cNvSpPr/>
          <p:nvPr/>
        </p:nvSpPr>
        <p:spPr>
          <a:xfrm>
            <a:off x="374904" y="3474720"/>
            <a:ext cx="1636800" cy="27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900"/>
              <a:buFont typeface="Calibri"/>
              <a:buNone/>
            </a:pPr>
            <a:r>
              <a:rPr b="0" i="0" lang="en-US" sz="900" u="none" cap="none" strike="noStrike">
                <a:solidFill>
                  <a:srgbClr val="1C1C1C"/>
                </a:solidFill>
                <a:latin typeface="Calibri"/>
                <a:ea typeface="Calibri"/>
                <a:cs typeface="Calibri"/>
                <a:sym typeface="Calibri"/>
              </a:rPr>
              <a:t>Revenue</a:t>
            </a:r>
            <a:endParaRPr b="0" i="0" sz="900" u="none" cap="none" strike="noStrike">
              <a:solidFill>
                <a:srgbClr val="000000"/>
              </a:solidFill>
              <a:latin typeface="Calibri"/>
              <a:ea typeface="Calibri"/>
              <a:cs typeface="Calibri"/>
              <a:sym typeface="Calibri"/>
            </a:endParaRPr>
          </a:p>
        </p:txBody>
      </p:sp>
      <p:sp>
        <p:nvSpPr>
          <p:cNvPr id="554" name="Google Shape;554;p23"/>
          <p:cNvSpPr/>
          <p:nvPr/>
        </p:nvSpPr>
        <p:spPr>
          <a:xfrm>
            <a:off x="2057400" y="3474720"/>
            <a:ext cx="1664100" cy="27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55555"/>
              </a:buClr>
              <a:buSzPts val="900"/>
              <a:buFont typeface="Calibri"/>
              <a:buNone/>
            </a:pPr>
            <a:r>
              <a:rPr b="0" i="0" lang="en-US" sz="900" u="none" cap="none" strike="noStrike">
                <a:solidFill>
                  <a:srgbClr val="555555"/>
                </a:solidFill>
                <a:latin typeface="Calibri"/>
                <a:ea typeface="Calibri"/>
                <a:cs typeface="Calibri"/>
                <a:sym typeface="Calibri"/>
              </a:rPr>
              <a:t>£205,341</a:t>
            </a:r>
            <a:endParaRPr b="0" i="0" sz="900" u="none" cap="none" strike="noStrike">
              <a:solidFill>
                <a:srgbClr val="000000"/>
              </a:solidFill>
              <a:latin typeface="Calibri"/>
              <a:ea typeface="Calibri"/>
              <a:cs typeface="Calibri"/>
              <a:sym typeface="Calibri"/>
            </a:endParaRPr>
          </a:p>
        </p:txBody>
      </p:sp>
      <p:sp>
        <p:nvSpPr>
          <p:cNvPr id="555" name="Google Shape;555;p23"/>
          <p:cNvSpPr/>
          <p:nvPr/>
        </p:nvSpPr>
        <p:spPr>
          <a:xfrm>
            <a:off x="3767328" y="3474720"/>
            <a:ext cx="1600200" cy="27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1C1C"/>
              </a:buClr>
              <a:buSzPts val="900"/>
              <a:buFont typeface="Calibri"/>
              <a:buNone/>
            </a:pPr>
            <a:r>
              <a:rPr b="0" i="0" lang="en-US" sz="900" u="none" cap="none" strike="noStrike">
                <a:solidFill>
                  <a:srgbClr val="1C1C1C"/>
                </a:solidFill>
                <a:latin typeface="Calibri"/>
                <a:ea typeface="Calibri"/>
                <a:cs typeface="Calibri"/>
                <a:sym typeface="Calibri"/>
              </a:rPr>
              <a:t>£134,949</a:t>
            </a:r>
            <a:endParaRPr b="0" i="0" sz="900" u="none" cap="none" strike="noStrike">
              <a:solidFill>
                <a:srgbClr val="000000"/>
              </a:solidFill>
              <a:latin typeface="Calibri"/>
              <a:ea typeface="Calibri"/>
              <a:cs typeface="Calibri"/>
              <a:sym typeface="Calibri"/>
            </a:endParaRPr>
          </a:p>
        </p:txBody>
      </p:sp>
      <p:sp>
        <p:nvSpPr>
          <p:cNvPr id="556" name="Google Shape;556;p23"/>
          <p:cNvSpPr/>
          <p:nvPr/>
        </p:nvSpPr>
        <p:spPr>
          <a:xfrm>
            <a:off x="5413248" y="3474720"/>
            <a:ext cx="804600" cy="27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8888"/>
              </a:buClr>
              <a:buSzPts val="900"/>
              <a:buFont typeface="Calibri"/>
              <a:buNone/>
            </a:pPr>
            <a:r>
              <a:rPr b="0" i="0" lang="en-US" sz="900" u="none" cap="none" strike="noStrike">
                <a:solidFill>
                  <a:srgbClr val="888888"/>
                </a:solidFill>
                <a:latin typeface="Calibri"/>
                <a:ea typeface="Calibri"/>
                <a:cs typeface="Calibri"/>
                <a:sym typeface="Calibri"/>
              </a:rPr>
              <a:t>-34.3%</a:t>
            </a:r>
            <a:endParaRPr b="0" i="0" sz="900" u="none" cap="none" strike="noStrike">
              <a:solidFill>
                <a:srgbClr val="000000"/>
              </a:solidFill>
              <a:latin typeface="Calibri"/>
              <a:ea typeface="Calibri"/>
              <a:cs typeface="Calibri"/>
              <a:sym typeface="Calibri"/>
            </a:endParaRPr>
          </a:p>
        </p:txBody>
      </p:sp>
      <p:sp>
        <p:nvSpPr>
          <p:cNvPr id="557" name="Google Shape;557;p23"/>
          <p:cNvSpPr/>
          <p:nvPr/>
        </p:nvSpPr>
        <p:spPr>
          <a:xfrm>
            <a:off x="6263640" y="3474720"/>
            <a:ext cx="2532900" cy="27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00"/>
              <a:buFont typeface="Calibri"/>
              <a:buNone/>
            </a:pPr>
            <a:r>
              <a:rPr b="0" i="0" lang="en-US" sz="800" u="none" cap="none" strike="noStrike">
                <a:solidFill>
                  <a:srgbClr val="888888"/>
                </a:solidFill>
                <a:latin typeface="Calibri"/>
                <a:ea typeface="Calibri"/>
                <a:cs typeface="Calibri"/>
                <a:sym typeface="Calibri"/>
              </a:rPr>
              <a:t>Normalised by ROAS below</a:t>
            </a:r>
            <a:endParaRPr b="0" i="0" sz="800" u="none" cap="none" strike="noStrike">
              <a:solidFill>
                <a:srgbClr val="000000"/>
              </a:solidFill>
              <a:latin typeface="Calibri"/>
              <a:ea typeface="Calibri"/>
              <a:cs typeface="Calibri"/>
              <a:sym typeface="Calibri"/>
            </a:endParaRPr>
          </a:p>
        </p:txBody>
      </p:sp>
      <p:sp>
        <p:nvSpPr>
          <p:cNvPr id="558" name="Google Shape;558;p23"/>
          <p:cNvSpPr/>
          <p:nvPr/>
        </p:nvSpPr>
        <p:spPr>
          <a:xfrm>
            <a:off x="320040" y="3753612"/>
            <a:ext cx="8503800" cy="279000"/>
          </a:xfrm>
          <a:prstGeom prst="rect">
            <a:avLst/>
          </a:prstGeom>
          <a:solidFill>
            <a:srgbClr val="FFF8F8"/>
          </a:solidFill>
          <a:ln cap="flat" cmpd="sng" w="12700">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3"/>
          <p:cNvSpPr/>
          <p:nvPr/>
        </p:nvSpPr>
        <p:spPr>
          <a:xfrm>
            <a:off x="320040" y="3753612"/>
            <a:ext cx="36600" cy="2790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3"/>
          <p:cNvSpPr/>
          <p:nvPr/>
        </p:nvSpPr>
        <p:spPr>
          <a:xfrm>
            <a:off x="374904" y="3753612"/>
            <a:ext cx="1636800" cy="27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900"/>
              <a:buFont typeface="Calibri"/>
              <a:buNone/>
            </a:pPr>
            <a:r>
              <a:rPr b="1" i="0" lang="en-US" sz="900" u="none" cap="none" strike="noStrike">
                <a:solidFill>
                  <a:srgbClr val="1C1C1C"/>
                </a:solidFill>
                <a:latin typeface="Calibri"/>
                <a:ea typeface="Calibri"/>
                <a:cs typeface="Calibri"/>
                <a:sym typeface="Calibri"/>
              </a:rPr>
              <a:t>ROAS</a:t>
            </a:r>
            <a:endParaRPr b="0" i="0" sz="900" u="none" cap="none" strike="noStrike">
              <a:solidFill>
                <a:srgbClr val="000000"/>
              </a:solidFill>
              <a:latin typeface="Calibri"/>
              <a:ea typeface="Calibri"/>
              <a:cs typeface="Calibri"/>
              <a:sym typeface="Calibri"/>
            </a:endParaRPr>
          </a:p>
        </p:txBody>
      </p:sp>
      <p:sp>
        <p:nvSpPr>
          <p:cNvPr id="561" name="Google Shape;561;p23"/>
          <p:cNvSpPr/>
          <p:nvPr/>
        </p:nvSpPr>
        <p:spPr>
          <a:xfrm>
            <a:off x="2057400" y="3753612"/>
            <a:ext cx="1664100" cy="27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55555"/>
              </a:buClr>
              <a:buSzPts val="900"/>
              <a:buFont typeface="Calibri"/>
              <a:buNone/>
            </a:pPr>
            <a:r>
              <a:rPr b="0" i="0" lang="en-US" sz="900" u="none" cap="none" strike="noStrike">
                <a:solidFill>
                  <a:srgbClr val="555555"/>
                </a:solidFill>
                <a:latin typeface="Calibri"/>
                <a:ea typeface="Calibri"/>
                <a:cs typeface="Calibri"/>
                <a:sym typeface="Calibri"/>
              </a:rPr>
              <a:t>50.70</a:t>
            </a:r>
            <a:endParaRPr b="0" i="0" sz="900" u="none" cap="none" strike="noStrike">
              <a:solidFill>
                <a:srgbClr val="000000"/>
              </a:solidFill>
              <a:latin typeface="Calibri"/>
              <a:ea typeface="Calibri"/>
              <a:cs typeface="Calibri"/>
              <a:sym typeface="Calibri"/>
            </a:endParaRPr>
          </a:p>
        </p:txBody>
      </p:sp>
      <p:sp>
        <p:nvSpPr>
          <p:cNvPr id="562" name="Google Shape;562;p23"/>
          <p:cNvSpPr/>
          <p:nvPr/>
        </p:nvSpPr>
        <p:spPr>
          <a:xfrm>
            <a:off x="3767328" y="3753612"/>
            <a:ext cx="1600200" cy="27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1C1C"/>
              </a:buClr>
              <a:buSzPts val="900"/>
              <a:buFont typeface="Calibri"/>
              <a:buNone/>
            </a:pPr>
            <a:r>
              <a:rPr b="1" i="0" lang="en-US" sz="900" u="none" cap="none" strike="noStrike">
                <a:solidFill>
                  <a:srgbClr val="1C1C1C"/>
                </a:solidFill>
                <a:latin typeface="Calibri"/>
                <a:ea typeface="Calibri"/>
                <a:cs typeface="Calibri"/>
                <a:sym typeface="Calibri"/>
              </a:rPr>
              <a:t>55.70</a:t>
            </a:r>
            <a:endParaRPr b="0" i="0" sz="900" u="none" cap="none" strike="noStrike">
              <a:solidFill>
                <a:srgbClr val="000000"/>
              </a:solidFill>
              <a:latin typeface="Calibri"/>
              <a:ea typeface="Calibri"/>
              <a:cs typeface="Calibri"/>
              <a:sym typeface="Calibri"/>
            </a:endParaRPr>
          </a:p>
        </p:txBody>
      </p:sp>
      <p:sp>
        <p:nvSpPr>
          <p:cNvPr id="563" name="Google Shape;563;p23"/>
          <p:cNvSpPr/>
          <p:nvPr/>
        </p:nvSpPr>
        <p:spPr>
          <a:xfrm>
            <a:off x="5413248" y="3753612"/>
            <a:ext cx="804600" cy="27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7A4A"/>
              </a:buClr>
              <a:buSzPts val="900"/>
              <a:buFont typeface="Calibri"/>
              <a:buNone/>
            </a:pPr>
            <a:r>
              <a:rPr b="1" i="0" lang="en-US" sz="900" u="none" cap="none" strike="noStrike">
                <a:solidFill>
                  <a:srgbClr val="1A7A4A"/>
                </a:solidFill>
                <a:latin typeface="Calibri"/>
                <a:ea typeface="Calibri"/>
                <a:cs typeface="Calibri"/>
                <a:sym typeface="Calibri"/>
              </a:rPr>
              <a:t>+9.9%</a:t>
            </a:r>
            <a:endParaRPr b="0" i="0" sz="900" u="none" cap="none" strike="noStrike">
              <a:solidFill>
                <a:srgbClr val="000000"/>
              </a:solidFill>
              <a:latin typeface="Calibri"/>
              <a:ea typeface="Calibri"/>
              <a:cs typeface="Calibri"/>
              <a:sym typeface="Calibri"/>
            </a:endParaRPr>
          </a:p>
        </p:txBody>
      </p:sp>
      <p:sp>
        <p:nvSpPr>
          <p:cNvPr id="564" name="Google Shape;564;p23"/>
          <p:cNvSpPr/>
          <p:nvPr/>
        </p:nvSpPr>
        <p:spPr>
          <a:xfrm>
            <a:off x="6263640" y="3753612"/>
            <a:ext cx="2532900" cy="27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800"/>
              <a:buFont typeface="Calibri"/>
              <a:buNone/>
            </a:pPr>
            <a:r>
              <a:rPr b="0" i="1" lang="en-US" sz="800" u="none" cap="none" strike="noStrike">
                <a:solidFill>
                  <a:srgbClr val="C0392B"/>
                </a:solidFill>
                <a:latin typeface="Calibri"/>
                <a:ea typeface="Calibri"/>
                <a:cs typeface="Calibri"/>
                <a:sym typeface="Calibri"/>
              </a:rPr>
              <a:t>B delivers more per £ spent</a:t>
            </a:r>
            <a:endParaRPr b="0" i="0" sz="800" u="none" cap="none" strike="noStrike">
              <a:solidFill>
                <a:srgbClr val="000000"/>
              </a:solidFill>
              <a:latin typeface="Calibri"/>
              <a:ea typeface="Calibri"/>
              <a:cs typeface="Calibri"/>
              <a:sym typeface="Calibri"/>
            </a:endParaRPr>
          </a:p>
        </p:txBody>
      </p:sp>
      <p:sp>
        <p:nvSpPr>
          <p:cNvPr id="565" name="Google Shape;565;p23"/>
          <p:cNvSpPr/>
          <p:nvPr/>
        </p:nvSpPr>
        <p:spPr>
          <a:xfrm>
            <a:off x="320040" y="4032504"/>
            <a:ext cx="8503800" cy="279000"/>
          </a:xfrm>
          <a:prstGeom prst="rect">
            <a:avLst/>
          </a:prstGeom>
          <a:solidFill>
            <a:srgbClr val="FFF8F8"/>
          </a:solidFill>
          <a:ln cap="flat" cmpd="sng" w="12700">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3"/>
          <p:cNvSpPr/>
          <p:nvPr/>
        </p:nvSpPr>
        <p:spPr>
          <a:xfrm>
            <a:off x="320040" y="4032504"/>
            <a:ext cx="36600" cy="2790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3"/>
          <p:cNvSpPr/>
          <p:nvPr/>
        </p:nvSpPr>
        <p:spPr>
          <a:xfrm>
            <a:off x="374904" y="4032504"/>
            <a:ext cx="1636800" cy="27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900"/>
              <a:buFont typeface="Calibri"/>
              <a:buNone/>
            </a:pPr>
            <a:r>
              <a:rPr b="1" i="0" lang="en-US" sz="900" u="none" cap="none" strike="noStrike">
                <a:solidFill>
                  <a:srgbClr val="1C1C1C"/>
                </a:solidFill>
                <a:latin typeface="Calibri"/>
                <a:ea typeface="Calibri"/>
                <a:cs typeface="Calibri"/>
                <a:sym typeface="Calibri"/>
              </a:rPr>
              <a:t>CPA</a:t>
            </a:r>
            <a:endParaRPr b="0" i="0" sz="900" u="none" cap="none" strike="noStrike">
              <a:solidFill>
                <a:srgbClr val="000000"/>
              </a:solidFill>
              <a:latin typeface="Calibri"/>
              <a:ea typeface="Calibri"/>
              <a:cs typeface="Calibri"/>
              <a:sym typeface="Calibri"/>
            </a:endParaRPr>
          </a:p>
        </p:txBody>
      </p:sp>
      <p:sp>
        <p:nvSpPr>
          <p:cNvPr id="568" name="Google Shape;568;p23"/>
          <p:cNvSpPr/>
          <p:nvPr/>
        </p:nvSpPr>
        <p:spPr>
          <a:xfrm>
            <a:off x="2057400" y="4032504"/>
            <a:ext cx="1664100" cy="27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55555"/>
              </a:buClr>
              <a:buSzPts val="900"/>
              <a:buFont typeface="Calibri"/>
              <a:buNone/>
            </a:pPr>
            <a:r>
              <a:rPr b="0" i="0" lang="en-US" sz="900" u="none" cap="none" strike="noStrike">
                <a:solidFill>
                  <a:srgbClr val="555555"/>
                </a:solidFill>
                <a:latin typeface="Calibri"/>
                <a:ea typeface="Calibri"/>
                <a:cs typeface="Calibri"/>
                <a:sym typeface="Calibri"/>
              </a:rPr>
              <a:t>£2.63</a:t>
            </a:r>
            <a:endParaRPr b="0" i="0" sz="900" u="none" cap="none" strike="noStrike">
              <a:solidFill>
                <a:srgbClr val="000000"/>
              </a:solidFill>
              <a:latin typeface="Calibri"/>
              <a:ea typeface="Calibri"/>
              <a:cs typeface="Calibri"/>
              <a:sym typeface="Calibri"/>
            </a:endParaRPr>
          </a:p>
        </p:txBody>
      </p:sp>
      <p:sp>
        <p:nvSpPr>
          <p:cNvPr id="569" name="Google Shape;569;p23"/>
          <p:cNvSpPr/>
          <p:nvPr/>
        </p:nvSpPr>
        <p:spPr>
          <a:xfrm>
            <a:off x="3767328" y="4032504"/>
            <a:ext cx="1600200" cy="27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1C1C"/>
              </a:buClr>
              <a:buSzPts val="900"/>
              <a:buFont typeface="Calibri"/>
              <a:buNone/>
            </a:pPr>
            <a:r>
              <a:rPr b="1" i="0" lang="en-US" sz="900" u="none" cap="none" strike="noStrike">
                <a:solidFill>
                  <a:srgbClr val="1C1C1C"/>
                </a:solidFill>
                <a:latin typeface="Calibri"/>
                <a:ea typeface="Calibri"/>
                <a:cs typeface="Calibri"/>
                <a:sym typeface="Calibri"/>
              </a:rPr>
              <a:t>£2.29</a:t>
            </a:r>
            <a:endParaRPr b="0" i="0" sz="900" u="none" cap="none" strike="noStrike">
              <a:solidFill>
                <a:srgbClr val="000000"/>
              </a:solidFill>
              <a:latin typeface="Calibri"/>
              <a:ea typeface="Calibri"/>
              <a:cs typeface="Calibri"/>
              <a:sym typeface="Calibri"/>
            </a:endParaRPr>
          </a:p>
        </p:txBody>
      </p:sp>
      <p:sp>
        <p:nvSpPr>
          <p:cNvPr id="570" name="Google Shape;570;p23"/>
          <p:cNvSpPr/>
          <p:nvPr/>
        </p:nvSpPr>
        <p:spPr>
          <a:xfrm>
            <a:off x="5413248" y="4032504"/>
            <a:ext cx="804600" cy="27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7A4A"/>
              </a:buClr>
              <a:buSzPts val="900"/>
              <a:buFont typeface="Calibri"/>
              <a:buNone/>
            </a:pPr>
            <a:r>
              <a:rPr b="1" i="0" lang="en-US" sz="900" u="none" cap="none" strike="noStrike">
                <a:solidFill>
                  <a:srgbClr val="1A7A4A"/>
                </a:solidFill>
                <a:latin typeface="Calibri"/>
                <a:ea typeface="Calibri"/>
                <a:cs typeface="Calibri"/>
                <a:sym typeface="Calibri"/>
              </a:rPr>
              <a:t>-12.9%</a:t>
            </a:r>
            <a:endParaRPr b="0" i="0" sz="900" u="none" cap="none" strike="noStrike">
              <a:solidFill>
                <a:srgbClr val="000000"/>
              </a:solidFill>
              <a:latin typeface="Calibri"/>
              <a:ea typeface="Calibri"/>
              <a:cs typeface="Calibri"/>
              <a:sym typeface="Calibri"/>
            </a:endParaRPr>
          </a:p>
        </p:txBody>
      </p:sp>
      <p:sp>
        <p:nvSpPr>
          <p:cNvPr id="571" name="Google Shape;571;p23"/>
          <p:cNvSpPr/>
          <p:nvPr/>
        </p:nvSpPr>
        <p:spPr>
          <a:xfrm>
            <a:off x="6263640" y="4032504"/>
            <a:ext cx="2532900" cy="27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800"/>
              <a:buFont typeface="Calibri"/>
              <a:buNone/>
            </a:pPr>
            <a:r>
              <a:rPr b="0" i="1" lang="en-US" sz="800" u="none" cap="none" strike="noStrike">
                <a:solidFill>
                  <a:srgbClr val="C0392B"/>
                </a:solidFill>
                <a:latin typeface="Calibri"/>
                <a:ea typeface="Calibri"/>
                <a:cs typeface="Calibri"/>
                <a:sym typeface="Calibri"/>
              </a:rPr>
              <a:t>B is cheaper to convert</a:t>
            </a:r>
            <a:endParaRPr b="0" i="0" sz="800" u="none" cap="none" strike="noStrike">
              <a:solidFill>
                <a:srgbClr val="000000"/>
              </a:solidFill>
              <a:latin typeface="Calibri"/>
              <a:ea typeface="Calibri"/>
              <a:cs typeface="Calibri"/>
              <a:sym typeface="Calibri"/>
            </a:endParaRPr>
          </a:p>
        </p:txBody>
      </p:sp>
      <p:sp>
        <p:nvSpPr>
          <p:cNvPr id="572" name="Google Shape;572;p23"/>
          <p:cNvSpPr/>
          <p:nvPr/>
        </p:nvSpPr>
        <p:spPr>
          <a:xfrm>
            <a:off x="320040" y="4384548"/>
            <a:ext cx="8503800" cy="384000"/>
          </a:xfrm>
          <a:prstGeom prst="rect">
            <a:avLst/>
          </a:prstGeom>
          <a:solidFill>
            <a:srgbClr val="F0FFF4"/>
          </a:solidFill>
          <a:ln cap="flat" cmpd="sng" w="12700">
            <a:solidFill>
              <a:srgbClr val="1A7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23"/>
          <p:cNvSpPr/>
          <p:nvPr/>
        </p:nvSpPr>
        <p:spPr>
          <a:xfrm>
            <a:off x="457200" y="4421124"/>
            <a:ext cx="14631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7A4A"/>
              </a:buClr>
              <a:buSzPts val="900"/>
              <a:buFont typeface="Calibri"/>
              <a:buNone/>
            </a:pPr>
            <a:r>
              <a:rPr b="1" i="0" lang="en-US" sz="900" u="none" cap="none" strike="noStrike">
                <a:solidFill>
                  <a:srgbClr val="1A7A4A"/>
                </a:solidFill>
                <a:latin typeface="Calibri"/>
                <a:ea typeface="Calibri"/>
                <a:cs typeface="Calibri"/>
                <a:sym typeface="Calibri"/>
              </a:rPr>
              <a:t>Recommendation:</a:t>
            </a:r>
            <a:endParaRPr b="0" i="0" sz="900" u="none" cap="none" strike="noStrike">
              <a:solidFill>
                <a:srgbClr val="000000"/>
              </a:solidFill>
              <a:latin typeface="Calibri"/>
              <a:ea typeface="Calibri"/>
              <a:cs typeface="Calibri"/>
              <a:sym typeface="Calibri"/>
            </a:endParaRPr>
          </a:p>
        </p:txBody>
      </p:sp>
      <p:sp>
        <p:nvSpPr>
          <p:cNvPr id="574" name="Google Shape;574;p23"/>
          <p:cNvSpPr/>
          <p:nvPr/>
        </p:nvSpPr>
        <p:spPr>
          <a:xfrm>
            <a:off x="1920240" y="4421124"/>
            <a:ext cx="68124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850"/>
              <a:buFont typeface="Calibri"/>
              <a:buNone/>
            </a:pPr>
            <a:r>
              <a:rPr b="0" i="0" lang="en-US" sz="850" u="none" cap="none" strike="noStrike">
                <a:solidFill>
                  <a:srgbClr val="1C1C1C"/>
                </a:solidFill>
                <a:latin typeface="Calibri"/>
                <a:ea typeface="Calibri"/>
                <a:cs typeface="Calibri"/>
                <a:sym typeface="Calibri"/>
              </a:rPr>
              <a:t>Implement Variant B as the permanent homepage. CVR improvement of +21.2% is statistically significant at 99% confidence. At equivalent spend levels, B would deliver an estimated +9.9% improvement in ROAS over the control.</a:t>
            </a:r>
            <a:endParaRPr b="0" i="0" sz="850" u="none" cap="none" strike="noStrike">
              <a:solidFill>
                <a:srgbClr val="000000"/>
              </a:solidFill>
              <a:latin typeface="Calibri"/>
              <a:ea typeface="Calibri"/>
              <a:cs typeface="Calibri"/>
              <a:sym typeface="Calibri"/>
            </a:endParaRPr>
          </a:p>
        </p:txBody>
      </p:sp>
      <p:pic>
        <p:nvPicPr>
          <p:cNvPr id="575" name="Google Shape;575;p23"/>
          <p:cNvPicPr preferRelativeResize="0"/>
          <p:nvPr/>
        </p:nvPicPr>
        <p:blipFill>
          <a:blip r:embed="rId3">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0" name="Shape 580"/>
        <p:cNvGrpSpPr/>
        <p:nvPr/>
      </p:nvGrpSpPr>
      <p:grpSpPr>
        <a:xfrm>
          <a:off x="0" y="0"/>
          <a:ext cx="0" cy="0"/>
          <a:chOff x="0" y="0"/>
          <a:chExt cx="0" cy="0"/>
        </a:xfrm>
      </p:grpSpPr>
      <p:sp>
        <p:nvSpPr>
          <p:cNvPr id="581" name="Google Shape;581;p24"/>
          <p:cNvSpPr/>
          <p:nvPr/>
        </p:nvSpPr>
        <p:spPr>
          <a:xfrm>
            <a:off x="0" y="4910328"/>
            <a:ext cx="9144000" cy="233100"/>
          </a:xfrm>
          <a:prstGeom prst="rect">
            <a:avLst/>
          </a:prstGeom>
          <a:solidFill>
            <a:srgbClr val="1C1C1C"/>
          </a:solidFill>
          <a:ln cap="flat" cmpd="sng" w="12700">
            <a:solidFill>
              <a:srgbClr val="1C1C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24"/>
          <p:cNvSpPr/>
          <p:nvPr/>
        </p:nvSpPr>
        <p:spPr>
          <a:xfrm>
            <a:off x="320040" y="4919472"/>
            <a:ext cx="85038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00"/>
              <a:buFont typeface="Calibri"/>
              <a:buNone/>
            </a:pPr>
            <a:r>
              <a:rPr b="0" i="0" lang="en-US" sz="800" u="none" cap="none" strike="noStrike">
                <a:solidFill>
                  <a:srgbClr val="888888"/>
                </a:solidFill>
                <a:latin typeface="Calibri"/>
                <a:ea typeface="Calibri"/>
                <a:cs typeface="Calibri"/>
                <a:sym typeface="Calibri"/>
              </a:rPr>
              <a:t>FY 2025/26  |  Wightlink  |  Confidential</a:t>
            </a:r>
            <a:endParaRPr b="0" i="0" sz="800" u="none" cap="none" strike="noStrike">
              <a:solidFill>
                <a:srgbClr val="000000"/>
              </a:solidFill>
              <a:latin typeface="Calibri"/>
              <a:ea typeface="Calibri"/>
              <a:cs typeface="Calibri"/>
              <a:sym typeface="Calibri"/>
            </a:endParaRPr>
          </a:p>
        </p:txBody>
      </p:sp>
      <p:sp>
        <p:nvSpPr>
          <p:cNvPr id="583" name="Google Shape;583;p24"/>
          <p:cNvSpPr/>
          <p:nvPr/>
        </p:nvSpPr>
        <p:spPr>
          <a:xfrm>
            <a:off x="0" y="0"/>
            <a:ext cx="9144000" cy="868800"/>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24"/>
          <p:cNvSpPr/>
          <p:nvPr/>
        </p:nvSpPr>
        <p:spPr>
          <a:xfrm>
            <a:off x="320040" y="45720"/>
            <a:ext cx="80466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Microsoft Ads – Performance Max Test</a:t>
            </a:r>
            <a:endParaRPr b="0" i="0" sz="2200" u="none" cap="none" strike="noStrike">
              <a:solidFill>
                <a:srgbClr val="000000"/>
              </a:solidFill>
              <a:latin typeface="Calibri"/>
              <a:ea typeface="Calibri"/>
              <a:cs typeface="Calibri"/>
              <a:sym typeface="Calibri"/>
            </a:endParaRPr>
          </a:p>
        </p:txBody>
      </p:sp>
      <p:sp>
        <p:nvSpPr>
          <p:cNvPr id="585" name="Google Shape;585;p24"/>
          <p:cNvSpPr/>
          <p:nvPr/>
        </p:nvSpPr>
        <p:spPr>
          <a:xfrm>
            <a:off x="320040" y="521208"/>
            <a:ext cx="8046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000"/>
              <a:buFont typeface="Calibri"/>
              <a:buNone/>
            </a:pPr>
            <a:r>
              <a:rPr b="0" i="0" lang="en-US" sz="1000" u="none" cap="none" strike="noStrike">
                <a:solidFill>
                  <a:srgbClr val="CCCCCC"/>
                </a:solidFill>
                <a:latin typeface="Calibri"/>
                <a:ea typeface="Calibri"/>
                <a:cs typeface="Calibri"/>
                <a:sym typeface="Calibri"/>
              </a:rPr>
              <a:t>Mid-February 2026 – 28 April 2026  |  New Channel Test  |  No prior year comparison</a:t>
            </a:r>
            <a:endParaRPr b="0" i="0" sz="1000" u="none" cap="none" strike="noStrike">
              <a:solidFill>
                <a:srgbClr val="000000"/>
              </a:solidFill>
              <a:latin typeface="Calibri"/>
              <a:ea typeface="Calibri"/>
              <a:cs typeface="Calibri"/>
              <a:sym typeface="Calibri"/>
            </a:endParaRPr>
          </a:p>
        </p:txBody>
      </p:sp>
      <p:sp>
        <p:nvSpPr>
          <p:cNvPr id="586" name="Google Shape;586;p24"/>
          <p:cNvSpPr/>
          <p:nvPr/>
        </p:nvSpPr>
        <p:spPr>
          <a:xfrm>
            <a:off x="0" y="868680"/>
            <a:ext cx="9144000" cy="366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24"/>
          <p:cNvSpPr/>
          <p:nvPr/>
        </p:nvSpPr>
        <p:spPr>
          <a:xfrm>
            <a:off x="320040" y="969264"/>
            <a:ext cx="1417200" cy="347400"/>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24"/>
          <p:cNvSpPr/>
          <p:nvPr/>
        </p:nvSpPr>
        <p:spPr>
          <a:xfrm>
            <a:off x="320040" y="969264"/>
            <a:ext cx="1417200" cy="34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NEW CHANNEL TEST</a:t>
            </a:r>
            <a:endParaRPr b="1" sz="1100">
              <a:solidFill>
                <a:srgbClr val="FFFFFF"/>
              </a:solidFill>
              <a:latin typeface="Calibri"/>
              <a:ea typeface="Calibri"/>
              <a:cs typeface="Calibri"/>
              <a:sym typeface="Calibri"/>
            </a:endParaRPr>
          </a:p>
        </p:txBody>
      </p:sp>
      <p:sp>
        <p:nvSpPr>
          <p:cNvPr id="589" name="Google Shape;589;p24"/>
          <p:cNvSpPr/>
          <p:nvPr/>
        </p:nvSpPr>
        <p:spPr>
          <a:xfrm>
            <a:off x="1828800" y="969264"/>
            <a:ext cx="69495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900"/>
              <a:buFont typeface="Calibri"/>
              <a:buNone/>
            </a:pPr>
            <a:r>
              <a:rPr b="0" i="0" lang="en-US" sz="900" u="none" cap="none" strike="noStrike">
                <a:solidFill>
                  <a:srgbClr val="1C1C1C"/>
                </a:solidFill>
                <a:latin typeface="Calibri"/>
                <a:ea typeface="Calibri"/>
                <a:cs typeface="Calibri"/>
                <a:sym typeface="Calibri"/>
              </a:rPr>
              <a:t>2 Performance Max campaigns launched on Microsoft Ads mid-February 2026. 2.5 months of data. </a:t>
            </a:r>
            <a:endParaRPr b="0" i="0" sz="900" u="none" cap="none" strike="noStrike">
              <a:solidFill>
                <a:srgbClr val="000000"/>
              </a:solidFill>
              <a:latin typeface="Calibri"/>
              <a:ea typeface="Calibri"/>
              <a:cs typeface="Calibri"/>
              <a:sym typeface="Calibri"/>
            </a:endParaRPr>
          </a:p>
        </p:txBody>
      </p:sp>
      <p:sp>
        <p:nvSpPr>
          <p:cNvPr id="590" name="Google Shape;590;p24"/>
          <p:cNvSpPr/>
          <p:nvPr/>
        </p:nvSpPr>
        <p:spPr>
          <a:xfrm>
            <a:off x="320040" y="1389888"/>
            <a:ext cx="1341000" cy="804600"/>
          </a:xfrm>
          <a:prstGeom prst="rect">
            <a:avLst/>
          </a:prstGeom>
          <a:solidFill>
            <a:srgbClr val="FFFFFF"/>
          </a:solidFill>
          <a:ln cap="flat" cmpd="sng" w="12700">
            <a:solidFill>
              <a:srgbClr val="E0E0E0"/>
            </a:solidFill>
            <a:prstDash val="solid"/>
            <a:round/>
            <a:headEnd len="sm" w="sm" type="none"/>
            <a:tailEnd len="sm" w="sm" type="none"/>
          </a:ln>
          <a:effectLst>
            <a:outerShdw blurRad="50800" rotWithShape="0" algn="bl" dir="8100000" dist="25400">
              <a:srgbClr val="000000">
                <a:alpha val="588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24"/>
          <p:cNvSpPr/>
          <p:nvPr/>
        </p:nvSpPr>
        <p:spPr>
          <a:xfrm>
            <a:off x="320040" y="1389888"/>
            <a:ext cx="1341000" cy="45600"/>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24"/>
          <p:cNvSpPr/>
          <p:nvPr/>
        </p:nvSpPr>
        <p:spPr>
          <a:xfrm>
            <a:off x="411480" y="1453896"/>
            <a:ext cx="11583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00"/>
              <a:buFont typeface="Calibri"/>
              <a:buNone/>
            </a:pPr>
            <a:r>
              <a:rPr b="0" i="0" lang="en-US" sz="800" u="none" cap="none" strike="noStrike">
                <a:solidFill>
                  <a:srgbClr val="888888"/>
                </a:solidFill>
                <a:latin typeface="Calibri"/>
                <a:ea typeface="Calibri"/>
                <a:cs typeface="Calibri"/>
                <a:sym typeface="Calibri"/>
              </a:rPr>
              <a:t>Total Spend</a:t>
            </a:r>
            <a:endParaRPr b="0" i="0" sz="800" u="none" cap="none" strike="noStrike">
              <a:solidFill>
                <a:srgbClr val="000000"/>
              </a:solidFill>
              <a:latin typeface="Calibri"/>
              <a:ea typeface="Calibri"/>
              <a:cs typeface="Calibri"/>
              <a:sym typeface="Calibri"/>
            </a:endParaRPr>
          </a:p>
        </p:txBody>
      </p:sp>
      <p:sp>
        <p:nvSpPr>
          <p:cNvPr id="593" name="Google Shape;593;p24"/>
          <p:cNvSpPr/>
          <p:nvPr/>
        </p:nvSpPr>
        <p:spPr>
          <a:xfrm>
            <a:off x="411480" y="1618488"/>
            <a:ext cx="11583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600"/>
              <a:buFont typeface="Calibri"/>
              <a:buNone/>
            </a:pPr>
            <a:r>
              <a:rPr b="1" i="0" lang="en-US" sz="1600" u="none" cap="none" strike="noStrike">
                <a:solidFill>
                  <a:srgbClr val="1C1C1C"/>
                </a:solidFill>
                <a:latin typeface="Calibri"/>
                <a:ea typeface="Calibri"/>
                <a:cs typeface="Calibri"/>
                <a:sym typeface="Calibri"/>
              </a:rPr>
              <a:t>£489</a:t>
            </a:r>
            <a:endParaRPr b="0" i="0" sz="1600" u="none" cap="none" strike="noStrike">
              <a:solidFill>
                <a:srgbClr val="000000"/>
              </a:solidFill>
              <a:latin typeface="Calibri"/>
              <a:ea typeface="Calibri"/>
              <a:cs typeface="Calibri"/>
              <a:sym typeface="Calibri"/>
            </a:endParaRPr>
          </a:p>
        </p:txBody>
      </p:sp>
      <p:sp>
        <p:nvSpPr>
          <p:cNvPr id="594" name="Google Shape;594;p24"/>
          <p:cNvSpPr/>
          <p:nvPr/>
        </p:nvSpPr>
        <p:spPr>
          <a:xfrm>
            <a:off x="1752600" y="1389888"/>
            <a:ext cx="1341000" cy="804600"/>
          </a:xfrm>
          <a:prstGeom prst="rect">
            <a:avLst/>
          </a:prstGeom>
          <a:solidFill>
            <a:srgbClr val="FFFFFF"/>
          </a:solidFill>
          <a:ln cap="flat" cmpd="sng" w="12700">
            <a:solidFill>
              <a:srgbClr val="E0E0E0"/>
            </a:solidFill>
            <a:prstDash val="solid"/>
            <a:round/>
            <a:headEnd len="sm" w="sm" type="none"/>
            <a:tailEnd len="sm" w="sm" type="none"/>
          </a:ln>
          <a:effectLst>
            <a:outerShdw blurRad="50800" rotWithShape="0" algn="bl" dir="8100000" dist="25400">
              <a:srgbClr val="000000">
                <a:alpha val="588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24"/>
          <p:cNvSpPr/>
          <p:nvPr/>
        </p:nvSpPr>
        <p:spPr>
          <a:xfrm>
            <a:off x="1752600" y="1389888"/>
            <a:ext cx="1341000" cy="45600"/>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4"/>
          <p:cNvSpPr/>
          <p:nvPr/>
        </p:nvSpPr>
        <p:spPr>
          <a:xfrm>
            <a:off x="1844040" y="1453896"/>
            <a:ext cx="11583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00"/>
              <a:buFont typeface="Calibri"/>
              <a:buNone/>
            </a:pPr>
            <a:r>
              <a:rPr b="0" i="0" lang="en-US" sz="800" u="none" cap="none" strike="noStrike">
                <a:solidFill>
                  <a:srgbClr val="888888"/>
                </a:solidFill>
                <a:latin typeface="Calibri"/>
                <a:ea typeface="Calibri"/>
                <a:cs typeface="Calibri"/>
                <a:sym typeface="Calibri"/>
              </a:rPr>
              <a:t>Conversions</a:t>
            </a:r>
            <a:endParaRPr b="0" i="0" sz="800" u="none" cap="none" strike="noStrike">
              <a:solidFill>
                <a:srgbClr val="000000"/>
              </a:solidFill>
              <a:latin typeface="Calibri"/>
              <a:ea typeface="Calibri"/>
              <a:cs typeface="Calibri"/>
              <a:sym typeface="Calibri"/>
            </a:endParaRPr>
          </a:p>
        </p:txBody>
      </p:sp>
      <p:sp>
        <p:nvSpPr>
          <p:cNvPr id="597" name="Google Shape;597;p24"/>
          <p:cNvSpPr/>
          <p:nvPr/>
        </p:nvSpPr>
        <p:spPr>
          <a:xfrm>
            <a:off x="1844040" y="1618488"/>
            <a:ext cx="11583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600"/>
              <a:buFont typeface="Calibri"/>
              <a:buNone/>
            </a:pPr>
            <a:r>
              <a:rPr b="1" i="0" lang="en-US" sz="1600" u="none" cap="none" strike="noStrike">
                <a:solidFill>
                  <a:srgbClr val="1C1C1C"/>
                </a:solidFill>
                <a:latin typeface="Calibri"/>
                <a:ea typeface="Calibri"/>
                <a:cs typeface="Calibri"/>
                <a:sym typeface="Calibri"/>
              </a:rPr>
              <a:t>439</a:t>
            </a:r>
            <a:endParaRPr b="0" i="0" sz="1600" u="none" cap="none" strike="noStrike">
              <a:solidFill>
                <a:srgbClr val="000000"/>
              </a:solidFill>
              <a:latin typeface="Calibri"/>
              <a:ea typeface="Calibri"/>
              <a:cs typeface="Calibri"/>
              <a:sym typeface="Calibri"/>
            </a:endParaRPr>
          </a:p>
        </p:txBody>
      </p:sp>
      <p:sp>
        <p:nvSpPr>
          <p:cNvPr id="598" name="Google Shape;598;p24"/>
          <p:cNvSpPr/>
          <p:nvPr/>
        </p:nvSpPr>
        <p:spPr>
          <a:xfrm>
            <a:off x="1844040" y="1956816"/>
            <a:ext cx="11583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750"/>
              <a:buFont typeface="Calibri"/>
              <a:buNone/>
            </a:pPr>
            <a:r>
              <a:rPr b="0" i="0" lang="en-US" sz="750" u="none" cap="none" strike="noStrike">
                <a:solidFill>
                  <a:srgbClr val="555555"/>
                </a:solidFill>
                <a:latin typeface="Calibri"/>
                <a:ea typeface="Calibri"/>
                <a:cs typeface="Calibri"/>
                <a:sym typeface="Calibri"/>
              </a:rPr>
              <a:t>+ 415 view-through</a:t>
            </a:r>
            <a:endParaRPr b="0" i="0" sz="750" u="none" cap="none" strike="noStrike">
              <a:solidFill>
                <a:srgbClr val="555555"/>
              </a:solidFill>
              <a:latin typeface="Calibri"/>
              <a:ea typeface="Calibri"/>
              <a:cs typeface="Calibri"/>
              <a:sym typeface="Calibri"/>
            </a:endParaRPr>
          </a:p>
        </p:txBody>
      </p:sp>
      <p:sp>
        <p:nvSpPr>
          <p:cNvPr id="599" name="Google Shape;599;p24"/>
          <p:cNvSpPr/>
          <p:nvPr/>
        </p:nvSpPr>
        <p:spPr>
          <a:xfrm>
            <a:off x="3185160" y="1389888"/>
            <a:ext cx="1341000" cy="804600"/>
          </a:xfrm>
          <a:prstGeom prst="rect">
            <a:avLst/>
          </a:prstGeom>
          <a:solidFill>
            <a:srgbClr val="FFFFFF"/>
          </a:solidFill>
          <a:ln cap="flat" cmpd="sng" w="12700">
            <a:solidFill>
              <a:srgbClr val="E0E0E0"/>
            </a:solidFill>
            <a:prstDash val="solid"/>
            <a:round/>
            <a:headEnd len="sm" w="sm" type="none"/>
            <a:tailEnd len="sm" w="sm" type="none"/>
          </a:ln>
          <a:effectLst>
            <a:outerShdw blurRad="50800" rotWithShape="0" algn="bl" dir="8100000" dist="25400">
              <a:srgbClr val="000000">
                <a:alpha val="588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24"/>
          <p:cNvSpPr/>
          <p:nvPr/>
        </p:nvSpPr>
        <p:spPr>
          <a:xfrm>
            <a:off x="3185160" y="1389888"/>
            <a:ext cx="1341000" cy="45600"/>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4"/>
          <p:cNvSpPr/>
          <p:nvPr/>
        </p:nvSpPr>
        <p:spPr>
          <a:xfrm>
            <a:off x="3276600" y="1453896"/>
            <a:ext cx="11583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00"/>
              <a:buFont typeface="Calibri"/>
              <a:buNone/>
            </a:pPr>
            <a:r>
              <a:rPr b="0" i="0" lang="en-US" sz="800" u="none" cap="none" strike="noStrike">
                <a:solidFill>
                  <a:srgbClr val="888888"/>
                </a:solidFill>
                <a:latin typeface="Calibri"/>
                <a:ea typeface="Calibri"/>
                <a:cs typeface="Calibri"/>
                <a:sym typeface="Calibri"/>
              </a:rPr>
              <a:t>Revenue</a:t>
            </a:r>
            <a:endParaRPr b="0" i="0" sz="800" u="none" cap="none" strike="noStrike">
              <a:solidFill>
                <a:srgbClr val="000000"/>
              </a:solidFill>
              <a:latin typeface="Calibri"/>
              <a:ea typeface="Calibri"/>
              <a:cs typeface="Calibri"/>
              <a:sym typeface="Calibri"/>
            </a:endParaRPr>
          </a:p>
        </p:txBody>
      </p:sp>
      <p:sp>
        <p:nvSpPr>
          <p:cNvPr id="602" name="Google Shape;602;p24"/>
          <p:cNvSpPr/>
          <p:nvPr/>
        </p:nvSpPr>
        <p:spPr>
          <a:xfrm>
            <a:off x="3276600" y="1618488"/>
            <a:ext cx="11583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600"/>
              <a:buFont typeface="Calibri"/>
              <a:buNone/>
            </a:pPr>
            <a:r>
              <a:rPr b="1" i="0" lang="en-US" sz="1600" u="none" cap="none" strike="noStrike">
                <a:solidFill>
                  <a:srgbClr val="1C1C1C"/>
                </a:solidFill>
                <a:latin typeface="Calibri"/>
                <a:ea typeface="Calibri"/>
                <a:cs typeface="Calibri"/>
                <a:sym typeface="Calibri"/>
              </a:rPr>
              <a:t>£42,820</a:t>
            </a:r>
            <a:endParaRPr b="0" i="0" sz="1600" u="none" cap="none" strike="noStrike">
              <a:solidFill>
                <a:srgbClr val="000000"/>
              </a:solidFill>
              <a:latin typeface="Calibri"/>
              <a:ea typeface="Calibri"/>
              <a:cs typeface="Calibri"/>
              <a:sym typeface="Calibri"/>
            </a:endParaRPr>
          </a:p>
        </p:txBody>
      </p:sp>
      <p:sp>
        <p:nvSpPr>
          <p:cNvPr id="603" name="Google Shape;603;p24"/>
          <p:cNvSpPr/>
          <p:nvPr/>
        </p:nvSpPr>
        <p:spPr>
          <a:xfrm>
            <a:off x="4617720" y="1389888"/>
            <a:ext cx="1341000" cy="804600"/>
          </a:xfrm>
          <a:prstGeom prst="rect">
            <a:avLst/>
          </a:prstGeom>
          <a:solidFill>
            <a:srgbClr val="FFFFFF"/>
          </a:solidFill>
          <a:ln cap="flat" cmpd="sng" w="12700">
            <a:solidFill>
              <a:srgbClr val="E0E0E0"/>
            </a:solidFill>
            <a:prstDash val="solid"/>
            <a:round/>
            <a:headEnd len="sm" w="sm" type="none"/>
            <a:tailEnd len="sm" w="sm" type="none"/>
          </a:ln>
          <a:effectLst>
            <a:outerShdw blurRad="50800" rotWithShape="0" algn="bl" dir="8100000" dist="25400">
              <a:srgbClr val="000000">
                <a:alpha val="588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4"/>
          <p:cNvSpPr/>
          <p:nvPr/>
        </p:nvSpPr>
        <p:spPr>
          <a:xfrm>
            <a:off x="4617720" y="1389888"/>
            <a:ext cx="1341000" cy="45600"/>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4"/>
          <p:cNvSpPr/>
          <p:nvPr/>
        </p:nvSpPr>
        <p:spPr>
          <a:xfrm>
            <a:off x="4709160" y="1453896"/>
            <a:ext cx="11583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00"/>
              <a:buFont typeface="Calibri"/>
              <a:buNone/>
            </a:pPr>
            <a:r>
              <a:rPr b="0" i="0" lang="en-US" sz="800" u="none" cap="none" strike="noStrike">
                <a:solidFill>
                  <a:srgbClr val="888888"/>
                </a:solidFill>
                <a:latin typeface="Calibri"/>
                <a:ea typeface="Calibri"/>
                <a:cs typeface="Calibri"/>
                <a:sym typeface="Calibri"/>
              </a:rPr>
              <a:t>ROAS</a:t>
            </a:r>
            <a:endParaRPr b="0" i="0" sz="800" u="none" cap="none" strike="noStrike">
              <a:solidFill>
                <a:srgbClr val="000000"/>
              </a:solidFill>
              <a:latin typeface="Calibri"/>
              <a:ea typeface="Calibri"/>
              <a:cs typeface="Calibri"/>
              <a:sym typeface="Calibri"/>
            </a:endParaRPr>
          </a:p>
        </p:txBody>
      </p:sp>
      <p:sp>
        <p:nvSpPr>
          <p:cNvPr id="606" name="Google Shape;606;p24"/>
          <p:cNvSpPr/>
          <p:nvPr/>
        </p:nvSpPr>
        <p:spPr>
          <a:xfrm>
            <a:off x="4709160" y="1618488"/>
            <a:ext cx="11583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600"/>
              <a:buFont typeface="Calibri"/>
              <a:buNone/>
            </a:pPr>
            <a:r>
              <a:rPr b="1" i="0" lang="en-US" sz="1600" u="none" cap="none" strike="noStrike">
                <a:solidFill>
                  <a:srgbClr val="1C1C1C"/>
                </a:solidFill>
                <a:latin typeface="Calibri"/>
                <a:ea typeface="Calibri"/>
                <a:cs typeface="Calibri"/>
                <a:sym typeface="Calibri"/>
              </a:rPr>
              <a:t>87.63</a:t>
            </a:r>
            <a:endParaRPr b="0" i="0" sz="1600" u="none" cap="none" strike="noStrike">
              <a:solidFill>
                <a:srgbClr val="000000"/>
              </a:solidFill>
              <a:latin typeface="Calibri"/>
              <a:ea typeface="Calibri"/>
              <a:cs typeface="Calibri"/>
              <a:sym typeface="Calibri"/>
            </a:endParaRPr>
          </a:p>
        </p:txBody>
      </p:sp>
      <p:sp>
        <p:nvSpPr>
          <p:cNvPr id="607" name="Google Shape;607;p24"/>
          <p:cNvSpPr/>
          <p:nvPr/>
        </p:nvSpPr>
        <p:spPr>
          <a:xfrm>
            <a:off x="4709160" y="1956816"/>
            <a:ext cx="11583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750"/>
              <a:buFont typeface="Calibri"/>
              <a:buNone/>
            </a:pPr>
            <a:r>
              <a:rPr b="0" i="0" lang="en-US" sz="750" u="none" cap="none" strike="noStrike">
                <a:solidFill>
                  <a:srgbClr val="444444"/>
                </a:solidFill>
                <a:latin typeface="Calibri"/>
                <a:ea typeface="Calibri"/>
                <a:cs typeface="Calibri"/>
                <a:sym typeface="Calibri"/>
              </a:rPr>
              <a:t>Strong early signal</a:t>
            </a:r>
            <a:endParaRPr b="0" i="0" sz="750" u="none" cap="none" strike="noStrike">
              <a:solidFill>
                <a:srgbClr val="444444"/>
              </a:solidFill>
              <a:latin typeface="Calibri"/>
              <a:ea typeface="Calibri"/>
              <a:cs typeface="Calibri"/>
              <a:sym typeface="Calibri"/>
            </a:endParaRPr>
          </a:p>
        </p:txBody>
      </p:sp>
      <p:sp>
        <p:nvSpPr>
          <p:cNvPr id="608" name="Google Shape;608;p24"/>
          <p:cNvSpPr/>
          <p:nvPr/>
        </p:nvSpPr>
        <p:spPr>
          <a:xfrm>
            <a:off x="6050280" y="1389888"/>
            <a:ext cx="1341000" cy="804600"/>
          </a:xfrm>
          <a:prstGeom prst="rect">
            <a:avLst/>
          </a:prstGeom>
          <a:solidFill>
            <a:srgbClr val="FFFFFF"/>
          </a:solidFill>
          <a:ln cap="flat" cmpd="sng" w="12700">
            <a:solidFill>
              <a:srgbClr val="E0E0E0"/>
            </a:solidFill>
            <a:prstDash val="solid"/>
            <a:round/>
            <a:headEnd len="sm" w="sm" type="none"/>
            <a:tailEnd len="sm" w="sm" type="none"/>
          </a:ln>
          <a:effectLst>
            <a:outerShdw blurRad="50800" rotWithShape="0" algn="bl" dir="8100000" dist="25400">
              <a:srgbClr val="000000">
                <a:alpha val="588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24"/>
          <p:cNvSpPr/>
          <p:nvPr/>
        </p:nvSpPr>
        <p:spPr>
          <a:xfrm>
            <a:off x="6050280" y="1389888"/>
            <a:ext cx="1341000" cy="45600"/>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4"/>
          <p:cNvSpPr/>
          <p:nvPr/>
        </p:nvSpPr>
        <p:spPr>
          <a:xfrm>
            <a:off x="6141720" y="1453896"/>
            <a:ext cx="11583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00"/>
              <a:buFont typeface="Calibri"/>
              <a:buNone/>
            </a:pPr>
            <a:r>
              <a:rPr b="0" i="0" lang="en-US" sz="800" u="none" cap="none" strike="noStrike">
                <a:solidFill>
                  <a:srgbClr val="888888"/>
                </a:solidFill>
                <a:latin typeface="Calibri"/>
                <a:ea typeface="Calibri"/>
                <a:cs typeface="Calibri"/>
                <a:sym typeface="Calibri"/>
              </a:rPr>
              <a:t>CPA</a:t>
            </a:r>
            <a:endParaRPr b="0" i="0" sz="800" u="none" cap="none" strike="noStrike">
              <a:solidFill>
                <a:srgbClr val="000000"/>
              </a:solidFill>
              <a:latin typeface="Calibri"/>
              <a:ea typeface="Calibri"/>
              <a:cs typeface="Calibri"/>
              <a:sym typeface="Calibri"/>
            </a:endParaRPr>
          </a:p>
        </p:txBody>
      </p:sp>
      <p:sp>
        <p:nvSpPr>
          <p:cNvPr id="611" name="Google Shape;611;p24"/>
          <p:cNvSpPr/>
          <p:nvPr/>
        </p:nvSpPr>
        <p:spPr>
          <a:xfrm>
            <a:off x="6141720" y="1618488"/>
            <a:ext cx="11583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600"/>
              <a:buFont typeface="Calibri"/>
              <a:buNone/>
            </a:pPr>
            <a:r>
              <a:rPr b="1" i="0" lang="en-US" sz="1600" u="none" cap="none" strike="noStrike">
                <a:solidFill>
                  <a:srgbClr val="1C1C1C"/>
                </a:solidFill>
                <a:latin typeface="Calibri"/>
                <a:ea typeface="Calibri"/>
                <a:cs typeface="Calibri"/>
                <a:sym typeface="Calibri"/>
              </a:rPr>
              <a:t>£1.11</a:t>
            </a:r>
            <a:endParaRPr b="0" i="0" sz="1600" u="none" cap="none" strike="noStrike">
              <a:solidFill>
                <a:srgbClr val="000000"/>
              </a:solidFill>
              <a:latin typeface="Calibri"/>
              <a:ea typeface="Calibri"/>
              <a:cs typeface="Calibri"/>
              <a:sym typeface="Calibri"/>
            </a:endParaRPr>
          </a:p>
        </p:txBody>
      </p:sp>
      <p:sp>
        <p:nvSpPr>
          <p:cNvPr id="612" name="Google Shape;612;p24"/>
          <p:cNvSpPr/>
          <p:nvPr/>
        </p:nvSpPr>
        <p:spPr>
          <a:xfrm>
            <a:off x="6141720" y="1956816"/>
            <a:ext cx="11583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750"/>
              <a:buFont typeface="Calibri"/>
              <a:buNone/>
            </a:pPr>
            <a:r>
              <a:rPr b="0" i="0" lang="en-US" sz="750" u="none" cap="none" strike="noStrike">
                <a:solidFill>
                  <a:srgbClr val="444444"/>
                </a:solidFill>
                <a:latin typeface="Calibri"/>
                <a:ea typeface="Calibri"/>
                <a:cs typeface="Calibri"/>
                <a:sym typeface="Calibri"/>
              </a:rPr>
              <a:t>vs £4.64 Google PMax</a:t>
            </a:r>
            <a:endParaRPr b="0" i="0" sz="750" u="none" cap="none" strike="noStrike">
              <a:solidFill>
                <a:srgbClr val="444444"/>
              </a:solidFill>
              <a:latin typeface="Calibri"/>
              <a:ea typeface="Calibri"/>
              <a:cs typeface="Calibri"/>
              <a:sym typeface="Calibri"/>
            </a:endParaRPr>
          </a:p>
        </p:txBody>
      </p:sp>
      <p:sp>
        <p:nvSpPr>
          <p:cNvPr id="613" name="Google Shape;613;p24"/>
          <p:cNvSpPr/>
          <p:nvPr/>
        </p:nvSpPr>
        <p:spPr>
          <a:xfrm>
            <a:off x="7482840" y="1389888"/>
            <a:ext cx="1341000" cy="804600"/>
          </a:xfrm>
          <a:prstGeom prst="rect">
            <a:avLst/>
          </a:prstGeom>
          <a:solidFill>
            <a:srgbClr val="FFFFFF"/>
          </a:solidFill>
          <a:ln cap="flat" cmpd="sng" w="12700">
            <a:solidFill>
              <a:srgbClr val="E0E0E0"/>
            </a:solidFill>
            <a:prstDash val="solid"/>
            <a:round/>
            <a:headEnd len="sm" w="sm" type="none"/>
            <a:tailEnd len="sm" w="sm" type="none"/>
          </a:ln>
          <a:effectLst>
            <a:outerShdw blurRad="50800" rotWithShape="0" algn="bl" dir="8100000" dist="25400">
              <a:srgbClr val="000000">
                <a:alpha val="588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24"/>
          <p:cNvSpPr/>
          <p:nvPr/>
        </p:nvSpPr>
        <p:spPr>
          <a:xfrm>
            <a:off x="7482840" y="1389888"/>
            <a:ext cx="1341000" cy="45600"/>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4"/>
          <p:cNvSpPr/>
          <p:nvPr/>
        </p:nvSpPr>
        <p:spPr>
          <a:xfrm>
            <a:off x="7574280" y="1453896"/>
            <a:ext cx="11583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00"/>
              <a:buFont typeface="Calibri"/>
              <a:buNone/>
            </a:pPr>
            <a:r>
              <a:rPr b="0" i="0" lang="en-US" sz="800" u="none" cap="none" strike="noStrike">
                <a:solidFill>
                  <a:srgbClr val="888888"/>
                </a:solidFill>
                <a:latin typeface="Calibri"/>
                <a:ea typeface="Calibri"/>
                <a:cs typeface="Calibri"/>
                <a:sym typeface="Calibri"/>
              </a:rPr>
              <a:t>Avg. CPC</a:t>
            </a:r>
            <a:endParaRPr b="0" i="0" sz="800" u="none" cap="none" strike="noStrike">
              <a:solidFill>
                <a:srgbClr val="000000"/>
              </a:solidFill>
              <a:latin typeface="Calibri"/>
              <a:ea typeface="Calibri"/>
              <a:cs typeface="Calibri"/>
              <a:sym typeface="Calibri"/>
            </a:endParaRPr>
          </a:p>
        </p:txBody>
      </p:sp>
      <p:sp>
        <p:nvSpPr>
          <p:cNvPr id="616" name="Google Shape;616;p24"/>
          <p:cNvSpPr/>
          <p:nvPr/>
        </p:nvSpPr>
        <p:spPr>
          <a:xfrm>
            <a:off x="7574280" y="1618488"/>
            <a:ext cx="11583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600"/>
              <a:buFont typeface="Calibri"/>
              <a:buNone/>
            </a:pPr>
            <a:r>
              <a:rPr b="1" i="0" lang="en-US" sz="1600" u="none" cap="none" strike="noStrike">
                <a:solidFill>
                  <a:srgbClr val="1C1C1C"/>
                </a:solidFill>
                <a:latin typeface="Calibri"/>
                <a:ea typeface="Calibri"/>
                <a:cs typeface="Calibri"/>
                <a:sym typeface="Calibri"/>
              </a:rPr>
              <a:t>£0.33</a:t>
            </a:r>
            <a:endParaRPr b="0" i="0" sz="1600" u="none" cap="none" strike="noStrike">
              <a:solidFill>
                <a:srgbClr val="000000"/>
              </a:solidFill>
              <a:latin typeface="Calibri"/>
              <a:ea typeface="Calibri"/>
              <a:cs typeface="Calibri"/>
              <a:sym typeface="Calibri"/>
            </a:endParaRPr>
          </a:p>
        </p:txBody>
      </p:sp>
      <p:graphicFrame>
        <p:nvGraphicFramePr>
          <p:cNvPr id="617" name="Google Shape;617;p24"/>
          <p:cNvGraphicFramePr/>
          <p:nvPr/>
        </p:nvGraphicFramePr>
        <p:xfrm>
          <a:off x="320040" y="2402500"/>
          <a:ext cx="3000000" cy="3000000"/>
        </p:xfrm>
        <a:graphic>
          <a:graphicData uri="http://schemas.openxmlformats.org/drawingml/2006/table">
            <a:tbl>
              <a:tblPr>
                <a:noFill/>
                <a:tableStyleId>{A518D24D-EAA6-41D1-AC2E-21A0FAADA655}</a:tableStyleId>
              </a:tblPr>
              <a:tblGrid>
                <a:gridCol w="2057400"/>
                <a:gridCol w="1389900"/>
                <a:gridCol w="475500"/>
                <a:gridCol w="749800"/>
                <a:gridCol w="502925"/>
                <a:gridCol w="822950"/>
                <a:gridCol w="749800"/>
                <a:gridCol w="566925"/>
                <a:gridCol w="530350"/>
              </a:tblGrid>
              <a:tr h="246900">
                <a:tc>
                  <a:txBody>
                    <a:bodyPr/>
                    <a:lstStyle/>
                    <a:p>
                      <a:pPr indent="0" lvl="0" marL="0" marR="0" rtl="0" algn="l">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Campaign</a:t>
                      </a:r>
                      <a:endParaRPr sz="8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c>
                  <a:txBody>
                    <a:bodyPr/>
                    <a:lstStyle/>
                    <a:p>
                      <a:pPr indent="0" lvl="0" marL="0" marR="0" rtl="0" algn="l">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Status</a:t>
                      </a:r>
                      <a:endParaRPr sz="8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c>
                  <a:txBody>
                    <a:bodyPr/>
                    <a:lstStyle/>
                    <a:p>
                      <a:pPr indent="0" lvl="0" marL="0" marR="0" rtl="0" algn="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Clicks</a:t>
                      </a:r>
                      <a:endParaRPr sz="8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c>
                  <a:txBody>
                    <a:bodyPr/>
                    <a:lstStyle/>
                    <a:p>
                      <a:pPr indent="0" lvl="0" marL="0" marR="0" rtl="0" algn="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Impressions</a:t>
                      </a:r>
                      <a:endParaRPr sz="8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c>
                  <a:txBody>
                    <a:bodyPr/>
                    <a:lstStyle/>
                    <a:p>
                      <a:pPr indent="0" lvl="0" marL="0" marR="0" rtl="0" algn="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Conv.</a:t>
                      </a:r>
                      <a:endParaRPr sz="8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c>
                  <a:txBody>
                    <a:bodyPr/>
                    <a:lstStyle/>
                    <a:p>
                      <a:pPr indent="0" lvl="0" marL="0" marR="0" rtl="0" algn="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View-through</a:t>
                      </a:r>
                      <a:endParaRPr sz="8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c>
                  <a:txBody>
                    <a:bodyPr/>
                    <a:lstStyle/>
                    <a:p>
                      <a:pPr indent="0" lvl="0" marL="0" marR="0" rtl="0" algn="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Revenue</a:t>
                      </a:r>
                      <a:endParaRPr sz="8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c>
                  <a:txBody>
                    <a:bodyPr/>
                    <a:lstStyle/>
                    <a:p>
                      <a:pPr indent="0" lvl="0" marL="0" marR="0" rtl="0" algn="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ROAS</a:t>
                      </a:r>
                      <a:endParaRPr sz="8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c>
                  <a:txBody>
                    <a:bodyPr/>
                    <a:lstStyle/>
                    <a:p>
                      <a:pPr indent="0" lvl="0" marL="0" marR="0" rtl="0" algn="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CPA</a:t>
                      </a:r>
                      <a:endParaRPr sz="80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12121"/>
                    </a:solidFill>
                  </a:tcPr>
                </a:tc>
              </a:tr>
              <a:tr h="246900">
                <a:tc>
                  <a:txBody>
                    <a:bodyPr/>
                    <a:lstStyle/>
                    <a:p>
                      <a:pPr indent="0" lvl="0" marL="0" marR="0" rtl="0" algn="l">
                        <a:spcBef>
                          <a:spcPts val="0"/>
                        </a:spcBef>
                        <a:spcAft>
                          <a:spcPts val="0"/>
                        </a:spcAft>
                        <a:buClr>
                          <a:srgbClr val="1C1C1C"/>
                        </a:buClr>
                        <a:buSzPts val="850"/>
                        <a:buFont typeface="Calibri"/>
                        <a:buNone/>
                      </a:pPr>
                      <a:r>
                        <a:rPr lang="en-US" sz="850" u="none" cap="none" strike="noStrike">
                          <a:solidFill>
                            <a:srgbClr val="1C1C1C"/>
                          </a:solidFill>
                          <a:latin typeface="Calibri"/>
                          <a:ea typeface="Calibri"/>
                          <a:cs typeface="Calibri"/>
                          <a:sym typeface="Calibri"/>
                        </a:rPr>
                        <a:t>Performance Max - Mainland</a:t>
                      </a:r>
                      <a:endParaRPr sz="85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rgbClr val="1C1C1C"/>
                        </a:buClr>
                        <a:buSzPts val="850"/>
                        <a:buFont typeface="Calibri"/>
                        <a:buNone/>
                      </a:pPr>
                      <a:r>
                        <a:rPr lang="en-US" sz="850">
                          <a:solidFill>
                            <a:srgbClr val="1C1C1C"/>
                          </a:solidFill>
                          <a:latin typeface="Calibri"/>
                          <a:ea typeface="Calibri"/>
                          <a:cs typeface="Calibri"/>
                          <a:sym typeface="Calibri"/>
                        </a:rPr>
                        <a:t>Active</a:t>
                      </a:r>
                      <a:endParaRPr sz="85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850"/>
                        <a:buFont typeface="Calibri"/>
                        <a:buNone/>
                      </a:pPr>
                      <a:r>
                        <a:rPr lang="en-US" sz="850" u="none" cap="none" strike="noStrike">
                          <a:solidFill>
                            <a:srgbClr val="1C1C1C"/>
                          </a:solidFill>
                          <a:latin typeface="Calibri"/>
                          <a:ea typeface="Calibri"/>
                          <a:cs typeface="Calibri"/>
                          <a:sym typeface="Calibri"/>
                        </a:rPr>
                        <a:t>1,346</a:t>
                      </a:r>
                      <a:endParaRPr sz="85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850"/>
                        <a:buFont typeface="Calibri"/>
                        <a:buNone/>
                      </a:pPr>
                      <a:r>
                        <a:rPr lang="en-US" sz="850" u="none" cap="none" strike="noStrike">
                          <a:solidFill>
                            <a:srgbClr val="1C1C1C"/>
                          </a:solidFill>
                          <a:latin typeface="Calibri"/>
                          <a:ea typeface="Calibri"/>
                          <a:cs typeface="Calibri"/>
                          <a:sym typeface="Calibri"/>
                        </a:rPr>
                        <a:t>41,924</a:t>
                      </a:r>
                      <a:endParaRPr sz="85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850"/>
                        <a:buFont typeface="Calibri"/>
                        <a:buNone/>
                      </a:pPr>
                      <a:r>
                        <a:rPr lang="en-US" sz="850" u="none" cap="none" strike="noStrike">
                          <a:solidFill>
                            <a:srgbClr val="1C1C1C"/>
                          </a:solidFill>
                          <a:latin typeface="Calibri"/>
                          <a:ea typeface="Calibri"/>
                          <a:cs typeface="Calibri"/>
                          <a:sym typeface="Calibri"/>
                        </a:rPr>
                        <a:t>387</a:t>
                      </a:r>
                      <a:endParaRPr sz="85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850"/>
                        <a:buFont typeface="Calibri"/>
                        <a:buNone/>
                      </a:pPr>
                      <a:r>
                        <a:rPr lang="en-US" sz="850" u="none" cap="none" strike="noStrike">
                          <a:solidFill>
                            <a:srgbClr val="1C1C1C"/>
                          </a:solidFill>
                          <a:latin typeface="Calibri"/>
                          <a:ea typeface="Calibri"/>
                          <a:cs typeface="Calibri"/>
                          <a:sym typeface="Calibri"/>
                        </a:rPr>
                        <a:t>215</a:t>
                      </a:r>
                      <a:endParaRPr sz="85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850"/>
                        <a:buFont typeface="Calibri"/>
                        <a:buNone/>
                      </a:pPr>
                      <a:r>
                        <a:rPr lang="en-US" sz="850" u="none" cap="none" strike="noStrike">
                          <a:solidFill>
                            <a:srgbClr val="1C1C1C"/>
                          </a:solidFill>
                          <a:latin typeface="Calibri"/>
                          <a:ea typeface="Calibri"/>
                          <a:cs typeface="Calibri"/>
                          <a:sym typeface="Calibri"/>
                        </a:rPr>
                        <a:t>£39,276</a:t>
                      </a:r>
                      <a:endParaRPr sz="85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850"/>
                        <a:buFont typeface="Calibri"/>
                        <a:buNone/>
                      </a:pPr>
                      <a:r>
                        <a:rPr lang="en-US" sz="850" u="none" cap="none" strike="noStrike">
                          <a:solidFill>
                            <a:srgbClr val="1C1C1C"/>
                          </a:solidFill>
                          <a:latin typeface="Calibri"/>
                          <a:ea typeface="Calibri"/>
                          <a:cs typeface="Calibri"/>
                          <a:sym typeface="Calibri"/>
                        </a:rPr>
                        <a:t>90.81</a:t>
                      </a:r>
                      <a:endParaRPr sz="85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C1C1C"/>
                        </a:buClr>
                        <a:buSzPts val="850"/>
                        <a:buFont typeface="Calibri"/>
                        <a:buNone/>
                      </a:pPr>
                      <a:r>
                        <a:rPr lang="en-US" sz="850" u="none" cap="none" strike="noStrike">
                          <a:solidFill>
                            <a:srgbClr val="1C1C1C"/>
                          </a:solidFill>
                          <a:latin typeface="Calibri"/>
                          <a:ea typeface="Calibri"/>
                          <a:cs typeface="Calibri"/>
                          <a:sym typeface="Calibri"/>
                        </a:rPr>
                        <a:t>£1.12</a:t>
                      </a:r>
                      <a:endParaRPr sz="85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246900">
                <a:tc>
                  <a:txBody>
                    <a:bodyPr/>
                    <a:lstStyle/>
                    <a:p>
                      <a:pPr indent="0" lvl="0" marL="0" marR="0" rtl="0" algn="l">
                        <a:spcBef>
                          <a:spcPts val="0"/>
                        </a:spcBef>
                        <a:spcAft>
                          <a:spcPts val="0"/>
                        </a:spcAft>
                        <a:buClr>
                          <a:srgbClr val="1C1C1C"/>
                        </a:buClr>
                        <a:buSzPts val="850"/>
                        <a:buFont typeface="Calibri"/>
                        <a:buNone/>
                      </a:pPr>
                      <a:r>
                        <a:rPr lang="en-US" sz="850" u="none" cap="none" strike="noStrike">
                          <a:solidFill>
                            <a:srgbClr val="1C1C1C"/>
                          </a:solidFill>
                          <a:latin typeface="Calibri"/>
                          <a:ea typeface="Calibri"/>
                          <a:cs typeface="Calibri"/>
                          <a:sym typeface="Calibri"/>
                        </a:rPr>
                        <a:t>Performance Max - Islander</a:t>
                      </a:r>
                      <a:endParaRPr sz="85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l">
                        <a:spcBef>
                          <a:spcPts val="0"/>
                        </a:spcBef>
                        <a:spcAft>
                          <a:spcPts val="0"/>
                        </a:spcAft>
                        <a:buClr>
                          <a:srgbClr val="1C1C1C"/>
                        </a:buClr>
                        <a:buSzPts val="850"/>
                        <a:buFont typeface="Calibri"/>
                        <a:buNone/>
                      </a:pPr>
                      <a:r>
                        <a:rPr lang="en-US" sz="850" u="none" cap="none" strike="noStrike">
                          <a:solidFill>
                            <a:srgbClr val="1C1C1C"/>
                          </a:solidFill>
                          <a:latin typeface="Calibri"/>
                          <a:ea typeface="Calibri"/>
                          <a:cs typeface="Calibri"/>
                          <a:sym typeface="Calibri"/>
                        </a:rPr>
                        <a:t>Active</a:t>
                      </a:r>
                      <a:endParaRPr sz="85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850"/>
                        <a:buFont typeface="Calibri"/>
                        <a:buNone/>
                      </a:pPr>
                      <a:r>
                        <a:rPr lang="en-US" sz="850" u="none" cap="none" strike="noStrike">
                          <a:solidFill>
                            <a:srgbClr val="1C1C1C"/>
                          </a:solidFill>
                          <a:latin typeface="Calibri"/>
                          <a:ea typeface="Calibri"/>
                          <a:cs typeface="Calibri"/>
                          <a:sym typeface="Calibri"/>
                        </a:rPr>
                        <a:t>149</a:t>
                      </a:r>
                      <a:endParaRPr sz="85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850"/>
                        <a:buFont typeface="Calibri"/>
                        <a:buNone/>
                      </a:pPr>
                      <a:r>
                        <a:rPr lang="en-US" sz="850" u="none" cap="none" strike="noStrike">
                          <a:solidFill>
                            <a:srgbClr val="1C1C1C"/>
                          </a:solidFill>
                          <a:latin typeface="Calibri"/>
                          <a:ea typeface="Calibri"/>
                          <a:cs typeface="Calibri"/>
                          <a:sym typeface="Calibri"/>
                        </a:rPr>
                        <a:t>7,875</a:t>
                      </a:r>
                      <a:endParaRPr sz="85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850"/>
                        <a:buFont typeface="Calibri"/>
                        <a:buNone/>
                      </a:pPr>
                      <a:r>
                        <a:rPr lang="en-US" sz="850" u="none" cap="none" strike="noStrike">
                          <a:solidFill>
                            <a:srgbClr val="1C1C1C"/>
                          </a:solidFill>
                          <a:latin typeface="Calibri"/>
                          <a:ea typeface="Calibri"/>
                          <a:cs typeface="Calibri"/>
                          <a:sym typeface="Calibri"/>
                        </a:rPr>
                        <a:t>52</a:t>
                      </a:r>
                      <a:endParaRPr sz="85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850"/>
                        <a:buFont typeface="Calibri"/>
                        <a:buNone/>
                      </a:pPr>
                      <a:r>
                        <a:rPr lang="en-US" sz="850" u="none" cap="none" strike="noStrike">
                          <a:solidFill>
                            <a:srgbClr val="1C1C1C"/>
                          </a:solidFill>
                          <a:latin typeface="Calibri"/>
                          <a:ea typeface="Calibri"/>
                          <a:cs typeface="Calibri"/>
                          <a:sym typeface="Calibri"/>
                        </a:rPr>
                        <a:t>200</a:t>
                      </a:r>
                      <a:endParaRPr sz="85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850"/>
                        <a:buFont typeface="Calibri"/>
                        <a:buNone/>
                      </a:pPr>
                      <a:r>
                        <a:rPr lang="en-US" sz="850" u="none" cap="none" strike="noStrike">
                          <a:solidFill>
                            <a:srgbClr val="1C1C1C"/>
                          </a:solidFill>
                          <a:latin typeface="Calibri"/>
                          <a:ea typeface="Calibri"/>
                          <a:cs typeface="Calibri"/>
                          <a:sym typeface="Calibri"/>
                        </a:rPr>
                        <a:t>£3,544</a:t>
                      </a:r>
                      <a:endParaRPr sz="85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850"/>
                        <a:buFont typeface="Calibri"/>
                        <a:buNone/>
                      </a:pPr>
                      <a:r>
                        <a:rPr lang="en-US" sz="850" u="none" cap="none" strike="noStrike">
                          <a:solidFill>
                            <a:srgbClr val="1C1C1C"/>
                          </a:solidFill>
                          <a:latin typeface="Calibri"/>
                          <a:ea typeface="Calibri"/>
                          <a:cs typeface="Calibri"/>
                          <a:sym typeface="Calibri"/>
                        </a:rPr>
                        <a:t>63.17</a:t>
                      </a:r>
                      <a:endParaRPr sz="85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c>
                  <a:txBody>
                    <a:bodyPr/>
                    <a:lstStyle/>
                    <a:p>
                      <a:pPr indent="0" lvl="0" marL="0" marR="0" rtl="0" algn="r">
                        <a:spcBef>
                          <a:spcPts val="0"/>
                        </a:spcBef>
                        <a:spcAft>
                          <a:spcPts val="0"/>
                        </a:spcAft>
                        <a:buClr>
                          <a:srgbClr val="1C1C1C"/>
                        </a:buClr>
                        <a:buSzPts val="850"/>
                        <a:buFont typeface="Calibri"/>
                        <a:buNone/>
                      </a:pPr>
                      <a:r>
                        <a:rPr lang="en-US" sz="850" u="none" cap="none" strike="noStrike">
                          <a:solidFill>
                            <a:srgbClr val="1C1C1C"/>
                          </a:solidFill>
                          <a:latin typeface="Calibri"/>
                          <a:ea typeface="Calibri"/>
                          <a:cs typeface="Calibri"/>
                          <a:sym typeface="Calibri"/>
                        </a:rPr>
                        <a:t>£1.08</a:t>
                      </a:r>
                      <a:endParaRPr sz="85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9F9F9"/>
                    </a:solidFill>
                  </a:tcPr>
                </a:tc>
              </a:tr>
              <a:tr h="246900">
                <a:tc>
                  <a:txBody>
                    <a:bodyPr/>
                    <a:lstStyle/>
                    <a:p>
                      <a:pPr indent="0" lvl="0" marL="0" marR="0" rtl="0" algn="l">
                        <a:spcBef>
                          <a:spcPts val="0"/>
                        </a:spcBef>
                        <a:spcAft>
                          <a:spcPts val="0"/>
                        </a:spcAft>
                        <a:buClr>
                          <a:srgbClr val="C0392B"/>
                        </a:buClr>
                        <a:buSzPts val="850"/>
                        <a:buFont typeface="Calibri"/>
                        <a:buNone/>
                      </a:pPr>
                      <a:r>
                        <a:rPr b="1" lang="en-US" sz="850" u="none" cap="none" strike="noStrike">
                          <a:solidFill>
                            <a:srgbClr val="C0392B"/>
                          </a:solidFill>
                          <a:latin typeface="Calibri"/>
                          <a:ea typeface="Calibri"/>
                          <a:cs typeface="Calibri"/>
                          <a:sym typeface="Calibri"/>
                        </a:rPr>
                        <a:t>Total</a:t>
                      </a:r>
                      <a:endParaRPr sz="85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0E8E8"/>
                    </a:solidFill>
                  </a:tcPr>
                </a:tc>
                <a:tc>
                  <a:txBody>
                    <a:bodyPr/>
                    <a:lstStyle/>
                    <a:p>
                      <a:pPr indent="0" lvl="0" marL="0" marR="0" rtl="0" algn="l">
                        <a:spcBef>
                          <a:spcPts val="0"/>
                        </a:spcBef>
                        <a:spcAft>
                          <a:spcPts val="0"/>
                        </a:spcAft>
                        <a:buClr>
                          <a:srgbClr val="1C1C1C"/>
                        </a:buClr>
                        <a:buSzPts val="850"/>
                        <a:buFont typeface="Calibri"/>
                        <a:buNone/>
                      </a:pPr>
                      <a:r>
                        <a:rPr b="1" lang="en-US" sz="850" u="none" cap="none" strike="noStrike">
                          <a:solidFill>
                            <a:srgbClr val="1C1C1C"/>
                          </a:solidFill>
                          <a:latin typeface="Calibri"/>
                          <a:ea typeface="Calibri"/>
                          <a:cs typeface="Calibri"/>
                          <a:sym typeface="Calibri"/>
                        </a:rPr>
                        <a:t>—</a:t>
                      </a:r>
                      <a:endParaRPr sz="85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0E8E8"/>
                    </a:solidFill>
                  </a:tcPr>
                </a:tc>
                <a:tc>
                  <a:txBody>
                    <a:bodyPr/>
                    <a:lstStyle/>
                    <a:p>
                      <a:pPr indent="0" lvl="0" marL="0" marR="0" rtl="0" algn="r">
                        <a:spcBef>
                          <a:spcPts val="0"/>
                        </a:spcBef>
                        <a:spcAft>
                          <a:spcPts val="0"/>
                        </a:spcAft>
                        <a:buClr>
                          <a:srgbClr val="1C1C1C"/>
                        </a:buClr>
                        <a:buSzPts val="850"/>
                        <a:buFont typeface="Calibri"/>
                        <a:buNone/>
                      </a:pPr>
                      <a:r>
                        <a:rPr b="1" lang="en-US" sz="850" u="none" cap="none" strike="noStrike">
                          <a:solidFill>
                            <a:srgbClr val="1C1C1C"/>
                          </a:solidFill>
                          <a:latin typeface="Calibri"/>
                          <a:ea typeface="Calibri"/>
                          <a:cs typeface="Calibri"/>
                          <a:sym typeface="Calibri"/>
                        </a:rPr>
                        <a:t>1,495</a:t>
                      </a:r>
                      <a:endParaRPr sz="85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0E8E8"/>
                    </a:solidFill>
                  </a:tcPr>
                </a:tc>
                <a:tc>
                  <a:txBody>
                    <a:bodyPr/>
                    <a:lstStyle/>
                    <a:p>
                      <a:pPr indent="0" lvl="0" marL="0" marR="0" rtl="0" algn="r">
                        <a:spcBef>
                          <a:spcPts val="0"/>
                        </a:spcBef>
                        <a:spcAft>
                          <a:spcPts val="0"/>
                        </a:spcAft>
                        <a:buClr>
                          <a:srgbClr val="1C1C1C"/>
                        </a:buClr>
                        <a:buSzPts val="850"/>
                        <a:buFont typeface="Calibri"/>
                        <a:buNone/>
                      </a:pPr>
                      <a:r>
                        <a:rPr b="1" lang="en-US" sz="850" u="none" cap="none" strike="noStrike">
                          <a:solidFill>
                            <a:srgbClr val="1C1C1C"/>
                          </a:solidFill>
                          <a:latin typeface="Calibri"/>
                          <a:ea typeface="Calibri"/>
                          <a:cs typeface="Calibri"/>
                          <a:sym typeface="Calibri"/>
                        </a:rPr>
                        <a:t>49,799</a:t>
                      </a:r>
                      <a:endParaRPr sz="85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0E8E8"/>
                    </a:solidFill>
                  </a:tcPr>
                </a:tc>
                <a:tc>
                  <a:txBody>
                    <a:bodyPr/>
                    <a:lstStyle/>
                    <a:p>
                      <a:pPr indent="0" lvl="0" marL="0" marR="0" rtl="0" algn="r">
                        <a:spcBef>
                          <a:spcPts val="0"/>
                        </a:spcBef>
                        <a:spcAft>
                          <a:spcPts val="0"/>
                        </a:spcAft>
                        <a:buClr>
                          <a:srgbClr val="1C1C1C"/>
                        </a:buClr>
                        <a:buSzPts val="850"/>
                        <a:buFont typeface="Calibri"/>
                        <a:buNone/>
                      </a:pPr>
                      <a:r>
                        <a:rPr b="1" lang="en-US" sz="850" u="none" cap="none" strike="noStrike">
                          <a:solidFill>
                            <a:srgbClr val="1C1C1C"/>
                          </a:solidFill>
                          <a:latin typeface="Calibri"/>
                          <a:ea typeface="Calibri"/>
                          <a:cs typeface="Calibri"/>
                          <a:sym typeface="Calibri"/>
                        </a:rPr>
                        <a:t>439</a:t>
                      </a:r>
                      <a:endParaRPr sz="85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0E8E8"/>
                    </a:solidFill>
                  </a:tcPr>
                </a:tc>
                <a:tc>
                  <a:txBody>
                    <a:bodyPr/>
                    <a:lstStyle/>
                    <a:p>
                      <a:pPr indent="0" lvl="0" marL="0" marR="0" rtl="0" algn="r">
                        <a:spcBef>
                          <a:spcPts val="0"/>
                        </a:spcBef>
                        <a:spcAft>
                          <a:spcPts val="0"/>
                        </a:spcAft>
                        <a:buClr>
                          <a:srgbClr val="1C1C1C"/>
                        </a:buClr>
                        <a:buSzPts val="850"/>
                        <a:buFont typeface="Calibri"/>
                        <a:buNone/>
                      </a:pPr>
                      <a:r>
                        <a:rPr b="1" lang="en-US" sz="850" u="none" cap="none" strike="noStrike">
                          <a:solidFill>
                            <a:srgbClr val="1C1C1C"/>
                          </a:solidFill>
                          <a:latin typeface="Calibri"/>
                          <a:ea typeface="Calibri"/>
                          <a:cs typeface="Calibri"/>
                          <a:sym typeface="Calibri"/>
                        </a:rPr>
                        <a:t>415</a:t>
                      </a:r>
                      <a:endParaRPr sz="85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0E8E8"/>
                    </a:solidFill>
                  </a:tcPr>
                </a:tc>
                <a:tc>
                  <a:txBody>
                    <a:bodyPr/>
                    <a:lstStyle/>
                    <a:p>
                      <a:pPr indent="0" lvl="0" marL="0" marR="0" rtl="0" algn="r">
                        <a:spcBef>
                          <a:spcPts val="0"/>
                        </a:spcBef>
                        <a:spcAft>
                          <a:spcPts val="0"/>
                        </a:spcAft>
                        <a:buClr>
                          <a:srgbClr val="1C1C1C"/>
                        </a:buClr>
                        <a:buSzPts val="850"/>
                        <a:buFont typeface="Calibri"/>
                        <a:buNone/>
                      </a:pPr>
                      <a:r>
                        <a:rPr b="1" lang="en-US" sz="850" u="none" cap="none" strike="noStrike">
                          <a:solidFill>
                            <a:srgbClr val="1C1C1C"/>
                          </a:solidFill>
                          <a:latin typeface="Calibri"/>
                          <a:ea typeface="Calibri"/>
                          <a:cs typeface="Calibri"/>
                          <a:sym typeface="Calibri"/>
                        </a:rPr>
                        <a:t>£42,820</a:t>
                      </a:r>
                      <a:endParaRPr sz="85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0E8E8"/>
                    </a:solidFill>
                  </a:tcPr>
                </a:tc>
                <a:tc>
                  <a:txBody>
                    <a:bodyPr/>
                    <a:lstStyle/>
                    <a:p>
                      <a:pPr indent="0" lvl="0" marL="0" marR="0" rtl="0" algn="r">
                        <a:spcBef>
                          <a:spcPts val="0"/>
                        </a:spcBef>
                        <a:spcAft>
                          <a:spcPts val="0"/>
                        </a:spcAft>
                        <a:buClr>
                          <a:srgbClr val="1C1C1C"/>
                        </a:buClr>
                        <a:buSzPts val="850"/>
                        <a:buFont typeface="Calibri"/>
                        <a:buNone/>
                      </a:pPr>
                      <a:r>
                        <a:rPr b="1" lang="en-US" sz="850" u="none" cap="none" strike="noStrike">
                          <a:solidFill>
                            <a:srgbClr val="1C1C1C"/>
                          </a:solidFill>
                          <a:latin typeface="Calibri"/>
                          <a:ea typeface="Calibri"/>
                          <a:cs typeface="Calibri"/>
                          <a:sym typeface="Calibri"/>
                        </a:rPr>
                        <a:t>87.63</a:t>
                      </a:r>
                      <a:endParaRPr sz="85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0E8E8"/>
                    </a:solidFill>
                  </a:tcPr>
                </a:tc>
                <a:tc>
                  <a:txBody>
                    <a:bodyPr/>
                    <a:lstStyle/>
                    <a:p>
                      <a:pPr indent="0" lvl="0" marL="0" marR="0" rtl="0" algn="r">
                        <a:spcBef>
                          <a:spcPts val="0"/>
                        </a:spcBef>
                        <a:spcAft>
                          <a:spcPts val="0"/>
                        </a:spcAft>
                        <a:buClr>
                          <a:srgbClr val="1C1C1C"/>
                        </a:buClr>
                        <a:buSzPts val="850"/>
                        <a:buFont typeface="Calibri"/>
                        <a:buNone/>
                      </a:pPr>
                      <a:r>
                        <a:rPr b="1" lang="en-US" sz="850" u="none" cap="none" strike="noStrike">
                          <a:solidFill>
                            <a:srgbClr val="1C1C1C"/>
                          </a:solidFill>
                          <a:latin typeface="Calibri"/>
                          <a:ea typeface="Calibri"/>
                          <a:cs typeface="Calibri"/>
                          <a:sym typeface="Calibri"/>
                        </a:rPr>
                        <a:t>£1.11</a:t>
                      </a:r>
                      <a:endParaRPr sz="850" u="none" cap="none" strike="noStrike">
                        <a:latin typeface="Calibri"/>
                        <a:ea typeface="Calibri"/>
                        <a:cs typeface="Calibri"/>
                        <a:sym typeface="Calibri"/>
                      </a:endParaRPr>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0E8E8"/>
                    </a:solidFill>
                  </a:tcPr>
                </a:tc>
              </a:tr>
            </a:tbl>
          </a:graphicData>
        </a:graphic>
      </p:graphicFrame>
      <p:sp>
        <p:nvSpPr>
          <p:cNvPr id="618" name="Google Shape;618;p24"/>
          <p:cNvSpPr/>
          <p:nvPr/>
        </p:nvSpPr>
        <p:spPr>
          <a:xfrm>
            <a:off x="320113" y="3598103"/>
            <a:ext cx="8503800" cy="1076100"/>
          </a:xfrm>
          <a:prstGeom prst="rect">
            <a:avLst/>
          </a:prstGeom>
          <a:noFill/>
          <a:ln>
            <a:noFill/>
          </a:ln>
        </p:spPr>
        <p:txBody>
          <a:bodyPr anchorCtr="0" anchor="t" bIns="45700" lIns="91425" spcFirstLastPara="1" rIns="91425" wrap="square" tIns="45700">
            <a:noAutofit/>
          </a:bodyPr>
          <a:lstStyle/>
          <a:p>
            <a:pPr indent="-120650" lvl="0" marL="127000" marR="0" rtl="0" algn="l">
              <a:spcBef>
                <a:spcPts val="0"/>
              </a:spcBef>
              <a:spcAft>
                <a:spcPts val="0"/>
              </a:spcAft>
              <a:buClr>
                <a:srgbClr val="1C1C1C"/>
              </a:buClr>
              <a:buSzPts val="950"/>
              <a:buFont typeface="Calibri"/>
              <a:buChar char="•"/>
            </a:pPr>
            <a:r>
              <a:rPr b="0" i="0" lang="en-US" sz="950" u="none" cap="none" strike="noStrike">
                <a:solidFill>
                  <a:srgbClr val="1C1C1C"/>
                </a:solidFill>
                <a:latin typeface="Calibri"/>
                <a:ea typeface="Calibri"/>
                <a:cs typeface="Calibri"/>
                <a:sym typeface="Calibri"/>
              </a:rPr>
              <a:t>Early results are highly encouraging </a:t>
            </a:r>
            <a:r>
              <a:rPr lang="en-US" sz="950">
                <a:solidFill>
                  <a:srgbClr val="1C1C1C"/>
                </a:solidFill>
                <a:latin typeface="Calibri"/>
                <a:ea typeface="Calibri"/>
                <a:cs typeface="Calibri"/>
                <a:sym typeface="Calibri"/>
              </a:rPr>
              <a:t>- </a:t>
            </a:r>
            <a:r>
              <a:rPr b="0" i="0" lang="en-US" sz="950" u="none" cap="none" strike="noStrike">
                <a:solidFill>
                  <a:srgbClr val="1C1C1C"/>
                </a:solidFill>
                <a:latin typeface="Calibri"/>
                <a:ea typeface="Calibri"/>
                <a:cs typeface="Calibri"/>
                <a:sym typeface="Calibri"/>
              </a:rPr>
              <a:t> ROAS of 87.63 significantly outperforms Google PMax (16.64) and Generic Search (24.81) over the same period</a:t>
            </a:r>
            <a:r>
              <a:rPr lang="en-US" sz="950">
                <a:solidFill>
                  <a:srgbClr val="1C1C1C"/>
                </a:solidFill>
                <a:latin typeface="Calibri"/>
                <a:ea typeface="Calibri"/>
                <a:cs typeface="Calibri"/>
                <a:sym typeface="Calibri"/>
              </a:rPr>
              <a:t>.</a:t>
            </a:r>
            <a:br>
              <a:rPr b="0" i="0" lang="en-US" sz="950" u="none" cap="none" strike="noStrike">
                <a:solidFill>
                  <a:srgbClr val="1C1C1C"/>
                </a:solidFill>
                <a:latin typeface="Calibri"/>
                <a:ea typeface="Calibri"/>
                <a:cs typeface="Calibri"/>
                <a:sym typeface="Calibri"/>
              </a:rPr>
            </a:br>
            <a:endParaRPr b="0" i="0" sz="950" u="none" cap="none" strike="noStrike">
              <a:solidFill>
                <a:srgbClr val="000000"/>
              </a:solidFill>
              <a:latin typeface="Calibri"/>
              <a:ea typeface="Calibri"/>
              <a:cs typeface="Calibri"/>
              <a:sym typeface="Calibri"/>
            </a:endParaRPr>
          </a:p>
          <a:p>
            <a:pPr indent="-120650" lvl="0" marL="127000" marR="0" rtl="0" algn="l">
              <a:spcBef>
                <a:spcPts val="300"/>
              </a:spcBef>
              <a:spcAft>
                <a:spcPts val="0"/>
              </a:spcAft>
              <a:buClr>
                <a:srgbClr val="1C1C1C"/>
              </a:buClr>
              <a:buSzPts val="950"/>
              <a:buFont typeface="Calibri"/>
              <a:buChar char="•"/>
            </a:pPr>
            <a:r>
              <a:rPr b="0" i="0" lang="en-US" sz="950" u="none" cap="none" strike="noStrike">
                <a:solidFill>
                  <a:srgbClr val="1C1C1C"/>
                </a:solidFill>
                <a:latin typeface="Calibri"/>
                <a:ea typeface="Calibri"/>
                <a:cs typeface="Calibri"/>
                <a:sym typeface="Calibri"/>
              </a:rPr>
              <a:t>View-through conversions (415) are almost equal to direct conversions (439), suggesting strong brand visibility and assisted attribution not captured in the direct conversion figure alone.</a:t>
            </a:r>
            <a:br>
              <a:rPr b="0" i="0" lang="en-US" sz="950" u="none" cap="none" strike="noStrike">
                <a:solidFill>
                  <a:srgbClr val="1C1C1C"/>
                </a:solidFill>
                <a:latin typeface="Calibri"/>
                <a:ea typeface="Calibri"/>
                <a:cs typeface="Calibri"/>
                <a:sym typeface="Calibri"/>
              </a:rPr>
            </a:br>
            <a:endParaRPr sz="950">
              <a:solidFill>
                <a:srgbClr val="1C1C1C"/>
              </a:solidFill>
              <a:latin typeface="Calibri"/>
              <a:ea typeface="Calibri"/>
              <a:cs typeface="Calibri"/>
              <a:sym typeface="Calibri"/>
            </a:endParaRPr>
          </a:p>
          <a:p>
            <a:pPr indent="-120650" lvl="0" marL="127000" marR="0" rtl="0" algn="l">
              <a:spcBef>
                <a:spcPts val="300"/>
              </a:spcBef>
              <a:spcAft>
                <a:spcPts val="0"/>
              </a:spcAft>
              <a:buClr>
                <a:srgbClr val="1C1C1C"/>
              </a:buClr>
              <a:buSzPts val="950"/>
              <a:buFont typeface="Calibri"/>
              <a:buChar char="•"/>
            </a:pPr>
            <a:r>
              <a:rPr lang="en-US" sz="950">
                <a:solidFill>
                  <a:srgbClr val="1C1C1C"/>
                </a:solidFill>
                <a:latin typeface="Calibri"/>
                <a:ea typeface="Calibri"/>
                <a:cs typeface="Calibri"/>
                <a:sym typeface="Calibri"/>
              </a:rPr>
              <a:t>Next steps here are to fully analyse search terms coming through PMax and align negative keyword strategy with Google Ads. We have £500 spend to go before 20th May to reach our threshold to get £1000 </a:t>
            </a:r>
            <a:r>
              <a:rPr lang="en-US" sz="950">
                <a:solidFill>
                  <a:srgbClr val="1C1C1C"/>
                </a:solidFill>
                <a:latin typeface="Calibri"/>
                <a:ea typeface="Calibri"/>
                <a:cs typeface="Calibri"/>
                <a:sym typeface="Calibri"/>
              </a:rPr>
              <a:t>promotional</a:t>
            </a:r>
            <a:r>
              <a:rPr lang="en-US" sz="950">
                <a:solidFill>
                  <a:srgbClr val="1C1C1C"/>
                </a:solidFill>
                <a:latin typeface="Calibri"/>
                <a:ea typeface="Calibri"/>
                <a:cs typeface="Calibri"/>
                <a:sym typeface="Calibri"/>
              </a:rPr>
              <a:t> credit, so increasing investment here for the next few week would be recommended.</a:t>
            </a:r>
            <a:endParaRPr sz="950">
              <a:solidFill>
                <a:srgbClr val="1C1C1C"/>
              </a:solidFill>
              <a:latin typeface="Calibri"/>
              <a:ea typeface="Calibri"/>
              <a:cs typeface="Calibri"/>
              <a:sym typeface="Calibri"/>
            </a:endParaRPr>
          </a:p>
        </p:txBody>
      </p:sp>
      <p:pic>
        <p:nvPicPr>
          <p:cNvPr id="619" name="Google Shape;619;p24"/>
          <p:cNvPicPr preferRelativeResize="0"/>
          <p:nvPr/>
        </p:nvPicPr>
        <p:blipFill>
          <a:blip r:embed="rId3">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1C1C"/>
        </a:solidFill>
      </p:bgPr>
    </p:bg>
    <p:spTree>
      <p:nvGrpSpPr>
        <p:cNvPr id="624" name="Shape 624"/>
        <p:cNvGrpSpPr/>
        <p:nvPr/>
      </p:nvGrpSpPr>
      <p:grpSpPr>
        <a:xfrm>
          <a:off x="0" y="0"/>
          <a:ext cx="0" cy="0"/>
          <a:chOff x="0" y="0"/>
          <a:chExt cx="0" cy="0"/>
        </a:xfrm>
      </p:grpSpPr>
      <p:sp>
        <p:nvSpPr>
          <p:cNvPr id="625" name="Google Shape;625;p25"/>
          <p:cNvSpPr/>
          <p:nvPr/>
        </p:nvSpPr>
        <p:spPr>
          <a:xfrm>
            <a:off x="411480" y="1463040"/>
            <a:ext cx="7772400" cy="13716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000"/>
              <a:buFont typeface="Calibri"/>
              <a:buNone/>
            </a:pPr>
            <a:r>
              <a:rPr b="1" lang="en-US" sz="4000">
                <a:solidFill>
                  <a:srgbClr val="FFFFFF"/>
                </a:solidFill>
                <a:latin typeface="Calibri"/>
                <a:ea typeface="Calibri"/>
                <a:cs typeface="Calibri"/>
                <a:sym typeface="Calibri"/>
              </a:rPr>
              <a:t>Next Steps</a:t>
            </a:r>
            <a:endParaRPr b="0" i="0" sz="4000" u="none" cap="none" strike="noStrike">
              <a:solidFill>
                <a:schemeClr val="dk1"/>
              </a:solidFill>
              <a:latin typeface="Calibri"/>
              <a:ea typeface="Calibri"/>
              <a:cs typeface="Calibri"/>
              <a:sym typeface="Calibri"/>
            </a:endParaRPr>
          </a:p>
        </p:txBody>
      </p:sp>
      <p:sp>
        <p:nvSpPr>
          <p:cNvPr id="626" name="Google Shape;626;p25"/>
          <p:cNvSpPr/>
          <p:nvPr/>
        </p:nvSpPr>
        <p:spPr>
          <a:xfrm>
            <a:off x="0" y="3090672"/>
            <a:ext cx="9144000" cy="732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25"/>
          <p:cNvSpPr/>
          <p:nvPr/>
        </p:nvSpPr>
        <p:spPr>
          <a:xfrm>
            <a:off x="0" y="3200400"/>
            <a:ext cx="9144000" cy="36600"/>
          </a:xfrm>
          <a:prstGeom prst="rect">
            <a:avLst/>
          </a:prstGeom>
          <a:solidFill>
            <a:srgbClr val="922B21"/>
          </a:solidFill>
          <a:ln cap="flat" cmpd="sng" w="12700">
            <a:solidFill>
              <a:srgbClr val="922B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25"/>
          <p:cNvSpPr/>
          <p:nvPr/>
        </p:nvSpPr>
        <p:spPr>
          <a:xfrm>
            <a:off x="411480" y="3310128"/>
            <a:ext cx="77724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200"/>
              <a:buFont typeface="Calibri"/>
              <a:buNone/>
            </a:pPr>
            <a:r>
              <a:rPr b="0" i="0" lang="en-US" sz="1200" u="none" cap="none" strike="noStrike">
                <a:solidFill>
                  <a:srgbClr val="C0392B"/>
                </a:solidFill>
                <a:latin typeface="Calibri"/>
                <a:ea typeface="Calibri"/>
                <a:cs typeface="Calibri"/>
                <a:sym typeface="Calibri"/>
              </a:rPr>
              <a:t>Wightlink  |  FY 2025/26  |  Summon</a:t>
            </a:r>
            <a:endParaRPr b="0" i="0" sz="1200" u="none" cap="none" strike="noStrike">
              <a:solidFill>
                <a:schemeClr val="dk1"/>
              </a:solidFill>
              <a:latin typeface="Calibri"/>
              <a:ea typeface="Calibri"/>
              <a:cs typeface="Calibri"/>
              <a:sym typeface="Calibri"/>
            </a:endParaRPr>
          </a:p>
        </p:txBody>
      </p:sp>
      <p:sp>
        <p:nvSpPr>
          <p:cNvPr id="629" name="Google Shape;629;p25"/>
          <p:cNvSpPr/>
          <p:nvPr/>
        </p:nvSpPr>
        <p:spPr>
          <a:xfrm>
            <a:off x="411480" y="4800600"/>
            <a:ext cx="83211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900"/>
              <a:buFont typeface="Calibri"/>
              <a:buNone/>
            </a:pPr>
            <a:r>
              <a:rPr b="0" i="0" lang="en-US" sz="900" u="none" cap="none" strike="noStrike">
                <a:solidFill>
                  <a:srgbClr val="666666"/>
                </a:solidFill>
                <a:latin typeface="Calibri"/>
                <a:ea typeface="Calibri"/>
                <a:cs typeface="Calibri"/>
                <a:sym typeface="Calibri"/>
              </a:rPr>
              <a:t>Wightlink  |  FY 2025/26  |  Confidential</a:t>
            </a:r>
            <a:endParaRPr b="0" i="0" sz="900" u="none" cap="none" strike="noStrike">
              <a:solidFill>
                <a:schemeClr val="dk1"/>
              </a:solidFill>
              <a:latin typeface="Calibri"/>
              <a:ea typeface="Calibri"/>
              <a:cs typeface="Calibri"/>
              <a:sym typeface="Calibri"/>
            </a:endParaRPr>
          </a:p>
        </p:txBody>
      </p:sp>
      <p:sp>
        <p:nvSpPr>
          <p:cNvPr id="630" name="Google Shape;630;p25"/>
          <p:cNvSpPr/>
          <p:nvPr/>
        </p:nvSpPr>
        <p:spPr>
          <a:xfrm>
            <a:off x="411480" y="1463040"/>
            <a:ext cx="7772400" cy="13716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000"/>
              <a:buFont typeface="Calibri"/>
              <a:buNone/>
            </a:pPr>
            <a:r>
              <a:rPr b="1" lang="en-US" sz="4000">
                <a:solidFill>
                  <a:srgbClr val="FFFFFF"/>
                </a:solidFill>
                <a:latin typeface="Calibri"/>
                <a:ea typeface="Calibri"/>
                <a:cs typeface="Calibri"/>
                <a:sym typeface="Calibri"/>
              </a:rPr>
              <a:t>Testing</a:t>
            </a:r>
            <a:endParaRPr b="0" i="0" sz="4000" u="none" cap="none" strike="noStrike">
              <a:solidFill>
                <a:schemeClr val="dk1"/>
              </a:solidFill>
              <a:latin typeface="Calibri"/>
              <a:ea typeface="Calibri"/>
              <a:cs typeface="Calibri"/>
              <a:sym typeface="Calibri"/>
            </a:endParaRPr>
          </a:p>
        </p:txBody>
      </p:sp>
      <p:sp>
        <p:nvSpPr>
          <p:cNvPr id="631" name="Google Shape;631;p25"/>
          <p:cNvSpPr/>
          <p:nvPr/>
        </p:nvSpPr>
        <p:spPr>
          <a:xfrm>
            <a:off x="0" y="3090672"/>
            <a:ext cx="9144000" cy="732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5"/>
          <p:cNvSpPr/>
          <p:nvPr/>
        </p:nvSpPr>
        <p:spPr>
          <a:xfrm>
            <a:off x="0" y="3200400"/>
            <a:ext cx="9144000" cy="36600"/>
          </a:xfrm>
          <a:prstGeom prst="rect">
            <a:avLst/>
          </a:prstGeom>
          <a:solidFill>
            <a:srgbClr val="922B21"/>
          </a:solidFill>
          <a:ln cap="flat" cmpd="sng" w="12700">
            <a:solidFill>
              <a:srgbClr val="922B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25"/>
          <p:cNvSpPr/>
          <p:nvPr/>
        </p:nvSpPr>
        <p:spPr>
          <a:xfrm>
            <a:off x="411480" y="3310128"/>
            <a:ext cx="77724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200"/>
              <a:buFont typeface="Calibri"/>
              <a:buNone/>
            </a:pPr>
            <a:r>
              <a:rPr b="0" i="0" lang="en-US" sz="1200" u="none" cap="none" strike="noStrike">
                <a:solidFill>
                  <a:srgbClr val="C0392B"/>
                </a:solidFill>
                <a:latin typeface="Calibri"/>
                <a:ea typeface="Calibri"/>
                <a:cs typeface="Calibri"/>
                <a:sym typeface="Calibri"/>
              </a:rPr>
              <a:t>Wightlink  |  FY 2025/26  |  Summon</a:t>
            </a:r>
            <a:endParaRPr b="0" i="0" sz="1200" u="none" cap="none" strike="noStrike">
              <a:solidFill>
                <a:schemeClr val="dk1"/>
              </a:solidFill>
              <a:latin typeface="Calibri"/>
              <a:ea typeface="Calibri"/>
              <a:cs typeface="Calibri"/>
              <a:sym typeface="Calibri"/>
            </a:endParaRPr>
          </a:p>
        </p:txBody>
      </p:sp>
      <p:sp>
        <p:nvSpPr>
          <p:cNvPr id="634" name="Google Shape;634;p25"/>
          <p:cNvSpPr/>
          <p:nvPr/>
        </p:nvSpPr>
        <p:spPr>
          <a:xfrm>
            <a:off x="25" y="0"/>
            <a:ext cx="9144000" cy="51435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5"/>
          <p:cNvSpPr/>
          <p:nvPr/>
        </p:nvSpPr>
        <p:spPr>
          <a:xfrm>
            <a:off x="25" y="0"/>
            <a:ext cx="128100" cy="51435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25"/>
          <p:cNvSpPr/>
          <p:nvPr/>
        </p:nvSpPr>
        <p:spPr>
          <a:xfrm>
            <a:off x="128041" y="2934099"/>
            <a:ext cx="9015900" cy="639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25"/>
          <p:cNvSpPr/>
          <p:nvPr/>
        </p:nvSpPr>
        <p:spPr>
          <a:xfrm>
            <a:off x="914425" y="1840230"/>
            <a:ext cx="7315200" cy="128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Trebuchet MS"/>
              <a:buNone/>
            </a:pPr>
            <a:r>
              <a:rPr b="1" lang="en-US" sz="3600">
                <a:solidFill>
                  <a:srgbClr val="FFFFFF"/>
                </a:solidFill>
                <a:latin typeface="Trebuchet MS"/>
                <a:ea typeface="Trebuchet MS"/>
                <a:cs typeface="Trebuchet MS"/>
                <a:sym typeface="Trebuchet MS"/>
              </a:rPr>
              <a:t>Next Steps</a:t>
            </a:r>
            <a:endParaRPr b="0" i="0" sz="3600" u="none" cap="none" strike="noStrike">
              <a:solidFill>
                <a:srgbClr val="000000"/>
              </a:solidFill>
              <a:latin typeface="Calibri"/>
              <a:ea typeface="Calibri"/>
              <a:cs typeface="Calibri"/>
              <a:sym typeface="Calibri"/>
            </a:endParaRPr>
          </a:p>
        </p:txBody>
      </p:sp>
      <p:sp>
        <p:nvSpPr>
          <p:cNvPr id="638" name="Google Shape;638;p25"/>
          <p:cNvSpPr/>
          <p:nvPr/>
        </p:nvSpPr>
        <p:spPr>
          <a:xfrm>
            <a:off x="914425" y="3166110"/>
            <a:ext cx="7315200" cy="32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C0392B"/>
              </a:buClr>
              <a:buSzPts val="1200"/>
              <a:buFont typeface="Calibri"/>
              <a:buNone/>
            </a:pPr>
            <a:r>
              <a:rPr lang="en-US" sz="1100">
                <a:solidFill>
                  <a:srgbClr val="F5C6CB"/>
                </a:solidFill>
                <a:latin typeface="Calibri"/>
                <a:ea typeface="Calibri"/>
                <a:cs typeface="Calibri"/>
                <a:sym typeface="Calibri"/>
              </a:rPr>
              <a:t>Wightlink  |  FY 2025/26  |  Summon</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F5C6CB"/>
              </a:buClr>
              <a:buSzPts val="1100"/>
              <a:buFont typeface="Calibri"/>
              <a:buNone/>
            </a:pPr>
            <a:r>
              <a:t/>
            </a:r>
            <a:endParaRPr sz="1100">
              <a:solidFill>
                <a:srgbClr val="F5C6CB"/>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3" name="Shape 643"/>
        <p:cNvGrpSpPr/>
        <p:nvPr/>
      </p:nvGrpSpPr>
      <p:grpSpPr>
        <a:xfrm>
          <a:off x="0" y="0"/>
          <a:ext cx="0" cy="0"/>
          <a:chOff x="0" y="0"/>
          <a:chExt cx="0" cy="0"/>
        </a:xfrm>
      </p:grpSpPr>
      <p:sp>
        <p:nvSpPr>
          <p:cNvPr id="644" name="Google Shape;644;p26"/>
          <p:cNvSpPr/>
          <p:nvPr/>
        </p:nvSpPr>
        <p:spPr>
          <a:xfrm>
            <a:off x="0" y="0"/>
            <a:ext cx="9144000" cy="868800"/>
          </a:xfrm>
          <a:prstGeom prst="rect">
            <a:avLst/>
          </a:prstGeom>
          <a:solidFill>
            <a:srgbClr val="212121"/>
          </a:solidFill>
          <a:ln cap="flat" cmpd="sng" w="12700">
            <a:solidFill>
              <a:srgbClr val="212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26"/>
          <p:cNvSpPr/>
          <p:nvPr/>
        </p:nvSpPr>
        <p:spPr>
          <a:xfrm>
            <a:off x="320040" y="45720"/>
            <a:ext cx="80466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Next Steps</a:t>
            </a:r>
            <a:endParaRPr b="0" i="0" sz="2200" u="none" cap="none" strike="noStrike">
              <a:solidFill>
                <a:srgbClr val="000000"/>
              </a:solidFill>
              <a:latin typeface="Calibri"/>
              <a:ea typeface="Calibri"/>
              <a:cs typeface="Calibri"/>
              <a:sym typeface="Calibri"/>
            </a:endParaRPr>
          </a:p>
        </p:txBody>
      </p:sp>
      <p:sp>
        <p:nvSpPr>
          <p:cNvPr id="646" name="Google Shape;646;p26"/>
          <p:cNvSpPr/>
          <p:nvPr/>
        </p:nvSpPr>
        <p:spPr>
          <a:xfrm>
            <a:off x="0" y="868680"/>
            <a:ext cx="9144000" cy="366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26"/>
          <p:cNvSpPr/>
          <p:nvPr/>
        </p:nvSpPr>
        <p:spPr>
          <a:xfrm>
            <a:off x="0" y="4910328"/>
            <a:ext cx="9144000" cy="233100"/>
          </a:xfrm>
          <a:prstGeom prst="rect">
            <a:avLst/>
          </a:prstGeom>
          <a:solidFill>
            <a:srgbClr val="1C1C1C"/>
          </a:solidFill>
          <a:ln cap="flat" cmpd="sng" w="12700">
            <a:solidFill>
              <a:srgbClr val="1C1C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26"/>
          <p:cNvSpPr/>
          <p:nvPr/>
        </p:nvSpPr>
        <p:spPr>
          <a:xfrm>
            <a:off x="320040" y="4919472"/>
            <a:ext cx="85038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00"/>
              <a:buFont typeface="Calibri"/>
              <a:buNone/>
            </a:pPr>
            <a:r>
              <a:rPr b="0" i="0" lang="en-US" sz="800" u="none" cap="none" strike="noStrike">
                <a:solidFill>
                  <a:srgbClr val="888888"/>
                </a:solidFill>
                <a:latin typeface="Calibri"/>
                <a:ea typeface="Calibri"/>
                <a:cs typeface="Calibri"/>
                <a:sym typeface="Calibri"/>
              </a:rPr>
              <a:t>FY 2025/26  |  Wightlink  |  Confidential</a:t>
            </a:r>
            <a:endParaRPr b="0" i="0" sz="800" u="none" cap="none" strike="noStrike">
              <a:solidFill>
                <a:srgbClr val="000000"/>
              </a:solidFill>
              <a:latin typeface="Calibri"/>
              <a:ea typeface="Calibri"/>
              <a:cs typeface="Calibri"/>
              <a:sym typeface="Calibri"/>
            </a:endParaRPr>
          </a:p>
        </p:txBody>
      </p:sp>
      <p:sp>
        <p:nvSpPr>
          <p:cNvPr id="649" name="Google Shape;649;p26"/>
          <p:cNvSpPr/>
          <p:nvPr/>
        </p:nvSpPr>
        <p:spPr>
          <a:xfrm>
            <a:off x="1505462" y="1070712"/>
            <a:ext cx="2984700" cy="1684800"/>
          </a:xfrm>
          <a:prstGeom prst="rect">
            <a:avLst/>
          </a:prstGeom>
          <a:solidFill>
            <a:srgbClr val="FFFFFF"/>
          </a:solidFill>
          <a:ln cap="flat" cmpd="sng" w="10025">
            <a:solidFill>
              <a:srgbClr val="E0E0E0"/>
            </a:solidFill>
            <a:prstDash val="solid"/>
            <a:round/>
            <a:headEnd len="sm" w="sm" type="none"/>
            <a:tailEnd len="sm" w="sm" type="none"/>
          </a:ln>
          <a:effectLst>
            <a:outerShdw blurRad="106978" rotWithShape="0" algn="bl" dir="8100000" dist="26744">
              <a:srgbClr val="000000">
                <a:alpha val="10199"/>
              </a:srgbClr>
            </a:outerShdw>
          </a:effectLst>
        </p:spPr>
        <p:txBody>
          <a:bodyPr anchorCtr="0" anchor="ctr" bIns="96275" lIns="96275" spcFirstLastPara="1" rIns="96275" wrap="square" tIns="96275">
            <a:noAutofit/>
          </a:bodyPr>
          <a:lstStyle/>
          <a:p>
            <a:pPr indent="0" lvl="0" marL="0" rtl="0" algn="l">
              <a:spcBef>
                <a:spcPts val="0"/>
              </a:spcBef>
              <a:spcAft>
                <a:spcPts val="0"/>
              </a:spcAft>
              <a:buNone/>
            </a:pPr>
            <a:r>
              <a:t/>
            </a:r>
            <a:endParaRPr/>
          </a:p>
        </p:txBody>
      </p:sp>
      <p:sp>
        <p:nvSpPr>
          <p:cNvPr id="650" name="Google Shape;650;p26"/>
          <p:cNvSpPr/>
          <p:nvPr/>
        </p:nvSpPr>
        <p:spPr>
          <a:xfrm>
            <a:off x="1505462" y="1070712"/>
            <a:ext cx="2984700" cy="48000"/>
          </a:xfrm>
          <a:prstGeom prst="rect">
            <a:avLst/>
          </a:prstGeom>
          <a:solidFill>
            <a:srgbClr val="D01F2E"/>
          </a:solidFill>
          <a:ln cap="flat" cmpd="sng" w="13375">
            <a:solidFill>
              <a:srgbClr val="D01F2E"/>
            </a:solidFill>
            <a:prstDash val="solid"/>
            <a:round/>
            <a:headEnd len="sm" w="sm" type="none"/>
            <a:tailEnd len="sm" w="sm" type="none"/>
          </a:ln>
        </p:spPr>
        <p:txBody>
          <a:bodyPr anchorCtr="0" anchor="ctr" bIns="96275" lIns="96275" spcFirstLastPara="1" rIns="96275" wrap="square" tIns="96275">
            <a:noAutofit/>
          </a:bodyPr>
          <a:lstStyle/>
          <a:p>
            <a:pPr indent="0" lvl="0" marL="0" rtl="0" algn="l">
              <a:spcBef>
                <a:spcPts val="0"/>
              </a:spcBef>
              <a:spcAft>
                <a:spcPts val="0"/>
              </a:spcAft>
              <a:buNone/>
            </a:pPr>
            <a:r>
              <a:t/>
            </a:r>
            <a:endParaRPr/>
          </a:p>
        </p:txBody>
      </p:sp>
      <p:sp>
        <p:nvSpPr>
          <p:cNvPr id="651" name="Google Shape;651;p26"/>
          <p:cNvSpPr/>
          <p:nvPr/>
        </p:nvSpPr>
        <p:spPr>
          <a:xfrm>
            <a:off x="1620998" y="1186248"/>
            <a:ext cx="2753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158"/>
              <a:buFont typeface="Trebuchet MS"/>
              <a:buNone/>
            </a:pPr>
            <a:r>
              <a:rPr b="1" lang="en-US" sz="1158">
                <a:solidFill>
                  <a:srgbClr val="1A1A1A"/>
                </a:solidFill>
                <a:latin typeface="Trebuchet MS"/>
                <a:ea typeface="Trebuchet MS"/>
                <a:cs typeface="Trebuchet MS"/>
                <a:sym typeface="Trebuchet MS"/>
              </a:rPr>
              <a:t>Ad copy testing</a:t>
            </a:r>
            <a:endParaRPr b="0" i="0" sz="1158" u="none" cap="none" strike="noStrike">
              <a:solidFill>
                <a:srgbClr val="000000"/>
              </a:solidFill>
              <a:latin typeface="Calibri"/>
              <a:ea typeface="Calibri"/>
              <a:cs typeface="Calibri"/>
              <a:sym typeface="Calibri"/>
            </a:endParaRPr>
          </a:p>
        </p:txBody>
      </p:sp>
      <p:sp>
        <p:nvSpPr>
          <p:cNvPr id="652" name="Google Shape;652;p26"/>
          <p:cNvSpPr/>
          <p:nvPr/>
        </p:nvSpPr>
        <p:spPr>
          <a:xfrm>
            <a:off x="1620998" y="1600253"/>
            <a:ext cx="2753400" cy="1059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66666"/>
              </a:buClr>
              <a:buSzPts val="1000"/>
              <a:buFont typeface="Calibri"/>
              <a:buNone/>
            </a:pPr>
            <a:r>
              <a:rPr lang="en-US" sz="1000">
                <a:solidFill>
                  <a:srgbClr val="666666"/>
                </a:solidFill>
                <a:latin typeface="Calibri"/>
                <a:ea typeface="Calibri"/>
                <a:cs typeface="Calibri"/>
                <a:sym typeface="Calibri"/>
              </a:rPr>
              <a:t>Ad copy testing will be carried out across campaigns. New ad copy will </a:t>
            </a:r>
            <a:r>
              <a:rPr lang="en-US" sz="1000">
                <a:solidFill>
                  <a:srgbClr val="666666"/>
                </a:solidFill>
                <a:latin typeface="Calibri"/>
                <a:ea typeface="Calibri"/>
                <a:cs typeface="Calibri"/>
                <a:sym typeface="Calibri"/>
              </a:rPr>
              <a:t>incorporate</a:t>
            </a:r>
            <a:r>
              <a:rPr lang="en-US" sz="1000">
                <a:solidFill>
                  <a:srgbClr val="666666"/>
                </a:solidFill>
                <a:latin typeface="Calibri"/>
                <a:ea typeface="Calibri"/>
                <a:cs typeface="Calibri"/>
                <a:sym typeface="Calibri"/>
              </a:rPr>
              <a:t> messaging from other </a:t>
            </a:r>
            <a:r>
              <a:rPr lang="en-US" sz="1000">
                <a:solidFill>
                  <a:srgbClr val="666666"/>
                </a:solidFill>
                <a:latin typeface="Calibri"/>
                <a:ea typeface="Calibri"/>
                <a:cs typeface="Calibri"/>
                <a:sym typeface="Calibri"/>
              </a:rPr>
              <a:t>marketing</a:t>
            </a:r>
            <a:r>
              <a:rPr lang="en-US" sz="1000">
                <a:solidFill>
                  <a:srgbClr val="666666"/>
                </a:solidFill>
                <a:latin typeface="Calibri"/>
                <a:ea typeface="Calibri"/>
                <a:cs typeface="Calibri"/>
                <a:sym typeface="Calibri"/>
              </a:rPr>
              <a:t> channels </a:t>
            </a:r>
            <a:r>
              <a:rPr lang="en-US" sz="1000">
                <a:solidFill>
                  <a:srgbClr val="666666"/>
                </a:solidFill>
                <a:latin typeface="Calibri"/>
                <a:ea typeface="Calibri"/>
                <a:cs typeface="Calibri"/>
                <a:sym typeface="Calibri"/>
              </a:rPr>
              <a:t>including the</a:t>
            </a:r>
            <a:r>
              <a:rPr lang="en-US" sz="1000">
                <a:solidFill>
                  <a:srgbClr val="666666"/>
                </a:solidFill>
                <a:latin typeface="Calibri"/>
                <a:ea typeface="Calibri"/>
                <a:cs typeface="Calibri"/>
                <a:sym typeface="Calibri"/>
              </a:rPr>
              <a:t> TV ads to ensure consistent brand tone of voice across channels. Unpinning headline tests will be </a:t>
            </a:r>
            <a:r>
              <a:rPr lang="en-US" sz="1000">
                <a:solidFill>
                  <a:srgbClr val="666666"/>
                </a:solidFill>
                <a:latin typeface="Calibri"/>
                <a:ea typeface="Calibri"/>
                <a:cs typeface="Calibri"/>
                <a:sym typeface="Calibri"/>
              </a:rPr>
              <a:t>continued</a:t>
            </a:r>
            <a:endParaRPr b="0" i="0" sz="1000" u="none" cap="none" strike="noStrike">
              <a:solidFill>
                <a:srgbClr val="000000"/>
              </a:solidFill>
              <a:latin typeface="Calibri"/>
              <a:ea typeface="Calibri"/>
              <a:cs typeface="Calibri"/>
              <a:sym typeface="Calibri"/>
            </a:endParaRPr>
          </a:p>
        </p:txBody>
      </p:sp>
      <p:sp>
        <p:nvSpPr>
          <p:cNvPr id="653" name="Google Shape;653;p26"/>
          <p:cNvSpPr/>
          <p:nvPr/>
        </p:nvSpPr>
        <p:spPr>
          <a:xfrm>
            <a:off x="4653824" y="1070712"/>
            <a:ext cx="2984700" cy="1684800"/>
          </a:xfrm>
          <a:prstGeom prst="rect">
            <a:avLst/>
          </a:prstGeom>
          <a:solidFill>
            <a:srgbClr val="FFFFFF"/>
          </a:solidFill>
          <a:ln cap="flat" cmpd="sng" w="10025">
            <a:solidFill>
              <a:srgbClr val="E0E0E0"/>
            </a:solidFill>
            <a:prstDash val="solid"/>
            <a:round/>
            <a:headEnd len="sm" w="sm" type="none"/>
            <a:tailEnd len="sm" w="sm" type="none"/>
          </a:ln>
          <a:effectLst>
            <a:outerShdw blurRad="106978" rotWithShape="0" algn="bl" dir="8100000" dist="26744">
              <a:srgbClr val="000000">
                <a:alpha val="10199"/>
              </a:srgbClr>
            </a:outerShdw>
          </a:effectLst>
        </p:spPr>
        <p:txBody>
          <a:bodyPr anchorCtr="0" anchor="ctr" bIns="96275" lIns="96275" spcFirstLastPara="1" rIns="96275" wrap="square" tIns="96275">
            <a:noAutofit/>
          </a:bodyPr>
          <a:lstStyle/>
          <a:p>
            <a:pPr indent="0" lvl="0" marL="0" rtl="0" algn="l">
              <a:spcBef>
                <a:spcPts val="0"/>
              </a:spcBef>
              <a:spcAft>
                <a:spcPts val="0"/>
              </a:spcAft>
              <a:buNone/>
            </a:pPr>
            <a:r>
              <a:t/>
            </a:r>
            <a:endParaRPr/>
          </a:p>
        </p:txBody>
      </p:sp>
      <p:sp>
        <p:nvSpPr>
          <p:cNvPr id="654" name="Google Shape;654;p26"/>
          <p:cNvSpPr/>
          <p:nvPr/>
        </p:nvSpPr>
        <p:spPr>
          <a:xfrm>
            <a:off x="4653824" y="1070712"/>
            <a:ext cx="2984700" cy="48000"/>
          </a:xfrm>
          <a:prstGeom prst="rect">
            <a:avLst/>
          </a:prstGeom>
          <a:solidFill>
            <a:srgbClr val="D01F2E"/>
          </a:solidFill>
          <a:ln cap="flat" cmpd="sng" w="13375">
            <a:solidFill>
              <a:srgbClr val="D01F2E"/>
            </a:solidFill>
            <a:prstDash val="solid"/>
            <a:round/>
            <a:headEnd len="sm" w="sm" type="none"/>
            <a:tailEnd len="sm" w="sm" type="none"/>
          </a:ln>
        </p:spPr>
        <p:txBody>
          <a:bodyPr anchorCtr="0" anchor="ctr" bIns="96275" lIns="96275" spcFirstLastPara="1" rIns="96275" wrap="square" tIns="96275">
            <a:noAutofit/>
          </a:bodyPr>
          <a:lstStyle/>
          <a:p>
            <a:pPr indent="0" lvl="0" marL="0" rtl="0" algn="l">
              <a:spcBef>
                <a:spcPts val="0"/>
              </a:spcBef>
              <a:spcAft>
                <a:spcPts val="0"/>
              </a:spcAft>
              <a:buNone/>
            </a:pPr>
            <a:r>
              <a:t/>
            </a:r>
            <a:endParaRPr/>
          </a:p>
        </p:txBody>
      </p:sp>
      <p:sp>
        <p:nvSpPr>
          <p:cNvPr id="655" name="Google Shape;655;p26"/>
          <p:cNvSpPr/>
          <p:nvPr/>
        </p:nvSpPr>
        <p:spPr>
          <a:xfrm>
            <a:off x="4769360" y="1186248"/>
            <a:ext cx="2753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158"/>
              <a:buFont typeface="Trebuchet MS"/>
              <a:buNone/>
            </a:pPr>
            <a:r>
              <a:rPr b="1" lang="en-US" sz="1158">
                <a:solidFill>
                  <a:srgbClr val="1A1A1A"/>
                </a:solidFill>
                <a:latin typeface="Trebuchet MS"/>
                <a:ea typeface="Trebuchet MS"/>
                <a:cs typeface="Trebuchet MS"/>
                <a:sym typeface="Trebuchet MS"/>
              </a:rPr>
              <a:t>GTM audit and tracking</a:t>
            </a:r>
            <a:endParaRPr b="0" i="0" sz="1158" u="none" cap="none" strike="noStrike">
              <a:solidFill>
                <a:srgbClr val="000000"/>
              </a:solidFill>
              <a:latin typeface="Calibri"/>
              <a:ea typeface="Calibri"/>
              <a:cs typeface="Calibri"/>
              <a:sym typeface="Calibri"/>
            </a:endParaRPr>
          </a:p>
        </p:txBody>
      </p:sp>
      <p:sp>
        <p:nvSpPr>
          <p:cNvPr id="656" name="Google Shape;656;p26"/>
          <p:cNvSpPr/>
          <p:nvPr/>
        </p:nvSpPr>
        <p:spPr>
          <a:xfrm>
            <a:off x="4769360" y="1600253"/>
            <a:ext cx="2753400" cy="1059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66666"/>
              </a:buClr>
              <a:buSzPts val="1000"/>
              <a:buFont typeface="Calibri"/>
              <a:buNone/>
            </a:pPr>
            <a:r>
              <a:rPr lang="en-US" sz="1000">
                <a:solidFill>
                  <a:srgbClr val="666666"/>
                </a:solidFill>
                <a:latin typeface="Calibri"/>
                <a:ea typeface="Calibri"/>
                <a:cs typeface="Calibri"/>
                <a:sym typeface="Calibri"/>
              </a:rPr>
              <a:t>Initial</a:t>
            </a:r>
            <a:r>
              <a:rPr lang="en-US" sz="1000">
                <a:solidFill>
                  <a:srgbClr val="666666"/>
                </a:solidFill>
                <a:latin typeface="Calibri"/>
                <a:ea typeface="Calibri"/>
                <a:cs typeface="Calibri"/>
                <a:sym typeface="Calibri"/>
              </a:rPr>
              <a:t> changes to GTM and tracking have had positive results. After </a:t>
            </a:r>
            <a:r>
              <a:rPr lang="en-US" sz="1000">
                <a:solidFill>
                  <a:srgbClr val="666666"/>
                </a:solidFill>
                <a:latin typeface="Calibri"/>
                <a:ea typeface="Calibri"/>
                <a:cs typeface="Calibri"/>
                <a:sym typeface="Calibri"/>
              </a:rPr>
              <a:t>conversations</a:t>
            </a:r>
            <a:r>
              <a:rPr lang="en-US" sz="1000">
                <a:solidFill>
                  <a:srgbClr val="666666"/>
                </a:solidFill>
                <a:latin typeface="Calibri"/>
                <a:ea typeface="Calibri"/>
                <a:cs typeface="Calibri"/>
                <a:sym typeface="Calibri"/>
              </a:rPr>
              <a:t> with Google reps there are some more things to work on such as ensuring enhanced conversion are set up properly in both Google Ads and GA4</a:t>
            </a:r>
            <a:endParaRPr b="0" i="0" sz="1000" u="none" cap="none" strike="noStrike">
              <a:solidFill>
                <a:srgbClr val="000000"/>
              </a:solidFill>
              <a:latin typeface="Calibri"/>
              <a:ea typeface="Calibri"/>
              <a:cs typeface="Calibri"/>
              <a:sym typeface="Calibri"/>
            </a:endParaRPr>
          </a:p>
        </p:txBody>
      </p:sp>
      <p:sp>
        <p:nvSpPr>
          <p:cNvPr id="657" name="Google Shape;657;p26"/>
          <p:cNvSpPr/>
          <p:nvPr/>
        </p:nvSpPr>
        <p:spPr>
          <a:xfrm>
            <a:off x="4653838" y="2871147"/>
            <a:ext cx="2984700" cy="1684800"/>
          </a:xfrm>
          <a:prstGeom prst="rect">
            <a:avLst/>
          </a:prstGeom>
          <a:solidFill>
            <a:srgbClr val="FFFFFF"/>
          </a:solidFill>
          <a:ln cap="flat" cmpd="sng" w="10025">
            <a:solidFill>
              <a:srgbClr val="E0E0E0"/>
            </a:solidFill>
            <a:prstDash val="solid"/>
            <a:round/>
            <a:headEnd len="sm" w="sm" type="none"/>
            <a:tailEnd len="sm" w="sm" type="none"/>
          </a:ln>
          <a:effectLst>
            <a:outerShdw blurRad="106978" rotWithShape="0" algn="bl" dir="8100000" dist="26744">
              <a:srgbClr val="000000">
                <a:alpha val="10199"/>
              </a:srgbClr>
            </a:outerShdw>
          </a:effectLst>
        </p:spPr>
        <p:txBody>
          <a:bodyPr anchorCtr="0" anchor="ctr" bIns="96275" lIns="96275" spcFirstLastPara="1" rIns="96275" wrap="square" tIns="96275">
            <a:noAutofit/>
          </a:bodyPr>
          <a:lstStyle/>
          <a:p>
            <a:pPr indent="0" lvl="0" marL="0" rtl="0" algn="l">
              <a:spcBef>
                <a:spcPts val="0"/>
              </a:spcBef>
              <a:spcAft>
                <a:spcPts val="0"/>
              </a:spcAft>
              <a:buNone/>
            </a:pPr>
            <a:r>
              <a:t/>
            </a:r>
            <a:endParaRPr/>
          </a:p>
        </p:txBody>
      </p:sp>
      <p:sp>
        <p:nvSpPr>
          <p:cNvPr id="658" name="Google Shape;658;p26"/>
          <p:cNvSpPr/>
          <p:nvPr/>
        </p:nvSpPr>
        <p:spPr>
          <a:xfrm>
            <a:off x="4653838" y="2871147"/>
            <a:ext cx="2984700" cy="48000"/>
          </a:xfrm>
          <a:prstGeom prst="rect">
            <a:avLst/>
          </a:prstGeom>
          <a:solidFill>
            <a:srgbClr val="D01F2E"/>
          </a:solidFill>
          <a:ln cap="flat" cmpd="sng" w="13375">
            <a:solidFill>
              <a:srgbClr val="D01F2E"/>
            </a:solidFill>
            <a:prstDash val="solid"/>
            <a:round/>
            <a:headEnd len="sm" w="sm" type="none"/>
            <a:tailEnd len="sm" w="sm" type="none"/>
          </a:ln>
        </p:spPr>
        <p:txBody>
          <a:bodyPr anchorCtr="0" anchor="ctr" bIns="96275" lIns="96275" spcFirstLastPara="1" rIns="96275" wrap="square" tIns="96275">
            <a:noAutofit/>
          </a:bodyPr>
          <a:lstStyle/>
          <a:p>
            <a:pPr indent="0" lvl="0" marL="0" rtl="0" algn="l">
              <a:spcBef>
                <a:spcPts val="0"/>
              </a:spcBef>
              <a:spcAft>
                <a:spcPts val="0"/>
              </a:spcAft>
              <a:buNone/>
            </a:pPr>
            <a:r>
              <a:t/>
            </a:r>
            <a:endParaRPr/>
          </a:p>
        </p:txBody>
      </p:sp>
      <p:sp>
        <p:nvSpPr>
          <p:cNvPr id="659" name="Google Shape;659;p26"/>
          <p:cNvSpPr/>
          <p:nvPr/>
        </p:nvSpPr>
        <p:spPr>
          <a:xfrm>
            <a:off x="4769374" y="2986684"/>
            <a:ext cx="2753400" cy="365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1A1A1A"/>
              </a:buClr>
              <a:buSzPts val="1158"/>
              <a:buFont typeface="Trebuchet MS"/>
              <a:buNone/>
            </a:pPr>
            <a:r>
              <a:rPr b="1" lang="en-US" sz="1158">
                <a:solidFill>
                  <a:srgbClr val="1A1A1A"/>
                </a:solidFill>
                <a:latin typeface="Trebuchet MS"/>
                <a:ea typeface="Trebuchet MS"/>
                <a:cs typeface="Trebuchet MS"/>
                <a:sym typeface="Trebuchet MS"/>
              </a:rPr>
              <a:t>Target ROAS testing</a:t>
            </a:r>
            <a:endParaRPr b="1" sz="1158">
              <a:solidFill>
                <a:srgbClr val="1A1A1A"/>
              </a:solidFill>
              <a:latin typeface="Trebuchet MS"/>
              <a:ea typeface="Trebuchet MS"/>
              <a:cs typeface="Trebuchet MS"/>
              <a:sym typeface="Trebuchet MS"/>
            </a:endParaRPr>
          </a:p>
        </p:txBody>
      </p:sp>
      <p:sp>
        <p:nvSpPr>
          <p:cNvPr id="660" name="Google Shape;660;p26"/>
          <p:cNvSpPr/>
          <p:nvPr/>
        </p:nvSpPr>
        <p:spPr>
          <a:xfrm>
            <a:off x="4769374" y="3400688"/>
            <a:ext cx="2753400" cy="1059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666666"/>
              </a:buClr>
              <a:buSzPts val="1000"/>
              <a:buFont typeface="Calibri"/>
              <a:buNone/>
            </a:pPr>
            <a:r>
              <a:rPr lang="en-US" sz="1000">
                <a:solidFill>
                  <a:srgbClr val="666666"/>
                </a:solidFill>
                <a:latin typeface="Calibri"/>
                <a:ea typeface="Calibri"/>
                <a:cs typeface="Calibri"/>
                <a:sym typeface="Calibri"/>
              </a:rPr>
              <a:t>There is potential to test target ROAS bidding once we are confident that all tracking and measurement is as accurate as it can be. Target CPA bidding has worked very well for this account, so this would be a limited test to see if any bidding efficiencies could be made.  </a:t>
            </a:r>
            <a:endParaRPr b="0" i="0" sz="1000" u="none" cap="none" strike="noStrike">
              <a:solidFill>
                <a:srgbClr val="000000"/>
              </a:solidFill>
              <a:latin typeface="Calibri"/>
              <a:ea typeface="Calibri"/>
              <a:cs typeface="Calibri"/>
              <a:sym typeface="Calibri"/>
            </a:endParaRPr>
          </a:p>
        </p:txBody>
      </p:sp>
      <p:sp>
        <p:nvSpPr>
          <p:cNvPr id="661" name="Google Shape;661;p26"/>
          <p:cNvSpPr/>
          <p:nvPr/>
        </p:nvSpPr>
        <p:spPr>
          <a:xfrm>
            <a:off x="1505462" y="2900035"/>
            <a:ext cx="2984700" cy="1684800"/>
          </a:xfrm>
          <a:prstGeom prst="rect">
            <a:avLst/>
          </a:prstGeom>
          <a:solidFill>
            <a:srgbClr val="FFFFFF"/>
          </a:solidFill>
          <a:ln cap="flat" cmpd="sng" w="10025">
            <a:solidFill>
              <a:srgbClr val="E0E0E0"/>
            </a:solidFill>
            <a:prstDash val="solid"/>
            <a:round/>
            <a:headEnd len="sm" w="sm" type="none"/>
            <a:tailEnd len="sm" w="sm" type="none"/>
          </a:ln>
          <a:effectLst>
            <a:outerShdw blurRad="106978" rotWithShape="0" algn="bl" dir="8100000" dist="26744">
              <a:srgbClr val="000000">
                <a:alpha val="10199"/>
              </a:srgbClr>
            </a:outerShdw>
          </a:effectLst>
        </p:spPr>
        <p:txBody>
          <a:bodyPr anchorCtr="0" anchor="ctr" bIns="96275" lIns="96275" spcFirstLastPara="1" rIns="96275" wrap="square" tIns="96275">
            <a:noAutofit/>
          </a:bodyPr>
          <a:lstStyle/>
          <a:p>
            <a:pPr indent="0" lvl="0" marL="0" rtl="0" algn="l">
              <a:spcBef>
                <a:spcPts val="0"/>
              </a:spcBef>
              <a:spcAft>
                <a:spcPts val="0"/>
              </a:spcAft>
              <a:buNone/>
            </a:pPr>
            <a:r>
              <a:t/>
            </a:r>
            <a:endParaRPr/>
          </a:p>
        </p:txBody>
      </p:sp>
      <p:sp>
        <p:nvSpPr>
          <p:cNvPr id="662" name="Google Shape;662;p26"/>
          <p:cNvSpPr/>
          <p:nvPr/>
        </p:nvSpPr>
        <p:spPr>
          <a:xfrm>
            <a:off x="1505462" y="2900035"/>
            <a:ext cx="2984700" cy="48000"/>
          </a:xfrm>
          <a:prstGeom prst="rect">
            <a:avLst/>
          </a:prstGeom>
          <a:solidFill>
            <a:srgbClr val="D01F2E"/>
          </a:solidFill>
          <a:ln cap="flat" cmpd="sng" w="13375">
            <a:solidFill>
              <a:srgbClr val="D01F2E"/>
            </a:solidFill>
            <a:prstDash val="solid"/>
            <a:round/>
            <a:headEnd len="sm" w="sm" type="none"/>
            <a:tailEnd len="sm" w="sm" type="none"/>
          </a:ln>
        </p:spPr>
        <p:txBody>
          <a:bodyPr anchorCtr="0" anchor="ctr" bIns="96275" lIns="96275" spcFirstLastPara="1" rIns="96275" wrap="square" tIns="96275">
            <a:noAutofit/>
          </a:bodyPr>
          <a:lstStyle/>
          <a:p>
            <a:pPr indent="0" lvl="0" marL="0" rtl="0" algn="l">
              <a:spcBef>
                <a:spcPts val="0"/>
              </a:spcBef>
              <a:spcAft>
                <a:spcPts val="0"/>
              </a:spcAft>
              <a:buNone/>
            </a:pPr>
            <a:r>
              <a:t/>
            </a:r>
            <a:endParaRPr/>
          </a:p>
        </p:txBody>
      </p:sp>
      <p:sp>
        <p:nvSpPr>
          <p:cNvPr id="663" name="Google Shape;663;p26"/>
          <p:cNvSpPr/>
          <p:nvPr/>
        </p:nvSpPr>
        <p:spPr>
          <a:xfrm>
            <a:off x="1620998" y="3015571"/>
            <a:ext cx="2753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158"/>
              <a:buFont typeface="Trebuchet MS"/>
              <a:buNone/>
            </a:pPr>
            <a:r>
              <a:rPr b="1" lang="en-US" sz="1158">
                <a:solidFill>
                  <a:srgbClr val="1A1A1A"/>
                </a:solidFill>
                <a:latin typeface="Trebuchet MS"/>
                <a:ea typeface="Trebuchet MS"/>
                <a:cs typeface="Trebuchet MS"/>
                <a:sym typeface="Trebuchet MS"/>
              </a:rPr>
              <a:t>Events / Festivals</a:t>
            </a:r>
            <a:endParaRPr b="0" i="0" sz="1158" u="none" cap="none" strike="noStrike">
              <a:solidFill>
                <a:srgbClr val="000000"/>
              </a:solidFill>
              <a:latin typeface="Calibri"/>
              <a:ea typeface="Calibri"/>
              <a:cs typeface="Calibri"/>
              <a:sym typeface="Calibri"/>
            </a:endParaRPr>
          </a:p>
        </p:txBody>
      </p:sp>
      <p:sp>
        <p:nvSpPr>
          <p:cNvPr id="664" name="Google Shape;664;p26"/>
          <p:cNvSpPr/>
          <p:nvPr/>
        </p:nvSpPr>
        <p:spPr>
          <a:xfrm>
            <a:off x="1620998" y="3429575"/>
            <a:ext cx="2753400" cy="1059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66666"/>
              </a:buClr>
              <a:buSzPts val="1000"/>
              <a:buFont typeface="Calibri"/>
              <a:buNone/>
            </a:pPr>
            <a:r>
              <a:rPr lang="en-US" sz="1000">
                <a:solidFill>
                  <a:srgbClr val="666666"/>
                </a:solidFill>
                <a:latin typeface="Calibri"/>
                <a:ea typeface="Calibri"/>
                <a:cs typeface="Calibri"/>
                <a:sym typeface="Calibri"/>
              </a:rPr>
              <a:t>Create a new campaign that can be used to </a:t>
            </a:r>
            <a:r>
              <a:rPr lang="en-US" sz="1000">
                <a:solidFill>
                  <a:srgbClr val="666666"/>
                </a:solidFill>
                <a:latin typeface="Calibri"/>
                <a:ea typeface="Calibri"/>
                <a:cs typeface="Calibri"/>
                <a:sym typeface="Calibri"/>
              </a:rPr>
              <a:t>promote</a:t>
            </a:r>
            <a:r>
              <a:rPr lang="en-US" sz="1000">
                <a:solidFill>
                  <a:srgbClr val="666666"/>
                </a:solidFill>
                <a:latin typeface="Calibri"/>
                <a:ea typeface="Calibri"/>
                <a:cs typeface="Calibri"/>
                <a:sym typeface="Calibri"/>
              </a:rPr>
              <a:t> ferry travel to specific events on the Island - especially IOW Festival, Walk The Wight and Cowes week and any other events you suggest promoting. </a:t>
            </a:r>
            <a:endParaRPr b="0" i="0" sz="1000" u="none" cap="none" strike="noStrike">
              <a:solidFill>
                <a:srgbClr val="000000"/>
              </a:solidFill>
              <a:latin typeface="Calibri"/>
              <a:ea typeface="Calibri"/>
              <a:cs typeface="Calibri"/>
              <a:sym typeface="Calibri"/>
            </a:endParaRPr>
          </a:p>
        </p:txBody>
      </p:sp>
      <p:pic>
        <p:nvPicPr>
          <p:cNvPr id="665" name="Google Shape;665;p26"/>
          <p:cNvPicPr preferRelativeResize="0"/>
          <p:nvPr/>
        </p:nvPicPr>
        <p:blipFill>
          <a:blip r:embed="rId3">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1C1C"/>
        </a:solidFill>
      </p:bgPr>
    </p:bg>
    <p:spTree>
      <p:nvGrpSpPr>
        <p:cNvPr id="670" name="Shape 670"/>
        <p:cNvGrpSpPr/>
        <p:nvPr/>
      </p:nvGrpSpPr>
      <p:grpSpPr>
        <a:xfrm>
          <a:off x="0" y="0"/>
          <a:ext cx="0" cy="0"/>
          <a:chOff x="0" y="0"/>
          <a:chExt cx="0" cy="0"/>
        </a:xfrm>
      </p:grpSpPr>
      <p:sp>
        <p:nvSpPr>
          <p:cNvPr id="671" name="Google Shape;671;p27"/>
          <p:cNvSpPr/>
          <p:nvPr/>
        </p:nvSpPr>
        <p:spPr>
          <a:xfrm>
            <a:off x="411480" y="1463040"/>
            <a:ext cx="7772400" cy="13716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000"/>
              <a:buFont typeface="Calibri"/>
              <a:buNone/>
            </a:pPr>
            <a:r>
              <a:rPr b="1" lang="en-US" sz="4000">
                <a:solidFill>
                  <a:srgbClr val="FFFFFF"/>
                </a:solidFill>
                <a:latin typeface="Calibri"/>
                <a:ea typeface="Calibri"/>
                <a:cs typeface="Calibri"/>
                <a:sym typeface="Calibri"/>
              </a:rPr>
              <a:t>Next Steps</a:t>
            </a:r>
            <a:endParaRPr b="0" i="0" sz="4000" u="none" cap="none" strike="noStrike">
              <a:solidFill>
                <a:schemeClr val="dk1"/>
              </a:solidFill>
              <a:latin typeface="Calibri"/>
              <a:ea typeface="Calibri"/>
              <a:cs typeface="Calibri"/>
              <a:sym typeface="Calibri"/>
            </a:endParaRPr>
          </a:p>
        </p:txBody>
      </p:sp>
      <p:sp>
        <p:nvSpPr>
          <p:cNvPr id="672" name="Google Shape;672;p27"/>
          <p:cNvSpPr/>
          <p:nvPr/>
        </p:nvSpPr>
        <p:spPr>
          <a:xfrm>
            <a:off x="0" y="3090672"/>
            <a:ext cx="9144000" cy="732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27"/>
          <p:cNvSpPr/>
          <p:nvPr/>
        </p:nvSpPr>
        <p:spPr>
          <a:xfrm>
            <a:off x="0" y="3200400"/>
            <a:ext cx="9144000" cy="36600"/>
          </a:xfrm>
          <a:prstGeom prst="rect">
            <a:avLst/>
          </a:prstGeom>
          <a:solidFill>
            <a:srgbClr val="922B21"/>
          </a:solidFill>
          <a:ln cap="flat" cmpd="sng" w="12700">
            <a:solidFill>
              <a:srgbClr val="922B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27"/>
          <p:cNvSpPr/>
          <p:nvPr/>
        </p:nvSpPr>
        <p:spPr>
          <a:xfrm>
            <a:off x="411480" y="3310128"/>
            <a:ext cx="77724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200"/>
              <a:buFont typeface="Calibri"/>
              <a:buNone/>
            </a:pPr>
            <a:r>
              <a:rPr b="0" i="0" lang="en-US" sz="1200" u="none" cap="none" strike="noStrike">
                <a:solidFill>
                  <a:srgbClr val="C0392B"/>
                </a:solidFill>
                <a:latin typeface="Calibri"/>
                <a:ea typeface="Calibri"/>
                <a:cs typeface="Calibri"/>
                <a:sym typeface="Calibri"/>
              </a:rPr>
              <a:t>Wightlink  |  FY 2025/26  |  Summon</a:t>
            </a:r>
            <a:endParaRPr b="0" i="0" sz="1200" u="none" cap="none" strike="noStrike">
              <a:solidFill>
                <a:schemeClr val="dk1"/>
              </a:solidFill>
              <a:latin typeface="Calibri"/>
              <a:ea typeface="Calibri"/>
              <a:cs typeface="Calibri"/>
              <a:sym typeface="Calibri"/>
            </a:endParaRPr>
          </a:p>
        </p:txBody>
      </p:sp>
      <p:sp>
        <p:nvSpPr>
          <p:cNvPr id="675" name="Google Shape;675;p27"/>
          <p:cNvSpPr/>
          <p:nvPr/>
        </p:nvSpPr>
        <p:spPr>
          <a:xfrm>
            <a:off x="411480" y="4800600"/>
            <a:ext cx="83211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900"/>
              <a:buFont typeface="Calibri"/>
              <a:buNone/>
            </a:pPr>
            <a:r>
              <a:rPr b="0" i="0" lang="en-US" sz="900" u="none" cap="none" strike="noStrike">
                <a:solidFill>
                  <a:srgbClr val="666666"/>
                </a:solidFill>
                <a:latin typeface="Calibri"/>
                <a:ea typeface="Calibri"/>
                <a:cs typeface="Calibri"/>
                <a:sym typeface="Calibri"/>
              </a:rPr>
              <a:t>Wightlink  |  FY 2025/26  |  Confidential</a:t>
            </a:r>
            <a:endParaRPr b="0" i="0" sz="900" u="none" cap="none" strike="noStrike">
              <a:solidFill>
                <a:schemeClr val="dk1"/>
              </a:solidFill>
              <a:latin typeface="Calibri"/>
              <a:ea typeface="Calibri"/>
              <a:cs typeface="Calibri"/>
              <a:sym typeface="Calibri"/>
            </a:endParaRPr>
          </a:p>
        </p:txBody>
      </p:sp>
      <p:sp>
        <p:nvSpPr>
          <p:cNvPr id="676" name="Google Shape;676;p27"/>
          <p:cNvSpPr/>
          <p:nvPr/>
        </p:nvSpPr>
        <p:spPr>
          <a:xfrm>
            <a:off x="411480" y="1463040"/>
            <a:ext cx="7772400" cy="13716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000"/>
              <a:buFont typeface="Calibri"/>
              <a:buNone/>
            </a:pPr>
            <a:r>
              <a:rPr b="1" lang="en-US" sz="4000">
                <a:solidFill>
                  <a:srgbClr val="FFFFFF"/>
                </a:solidFill>
                <a:latin typeface="Calibri"/>
                <a:ea typeface="Calibri"/>
                <a:cs typeface="Calibri"/>
                <a:sym typeface="Calibri"/>
              </a:rPr>
              <a:t>Testing</a:t>
            </a:r>
            <a:endParaRPr b="0" i="0" sz="4000" u="none" cap="none" strike="noStrike">
              <a:solidFill>
                <a:schemeClr val="dk1"/>
              </a:solidFill>
              <a:latin typeface="Calibri"/>
              <a:ea typeface="Calibri"/>
              <a:cs typeface="Calibri"/>
              <a:sym typeface="Calibri"/>
            </a:endParaRPr>
          </a:p>
        </p:txBody>
      </p:sp>
      <p:sp>
        <p:nvSpPr>
          <p:cNvPr id="677" name="Google Shape;677;p27"/>
          <p:cNvSpPr/>
          <p:nvPr/>
        </p:nvSpPr>
        <p:spPr>
          <a:xfrm>
            <a:off x="0" y="3090672"/>
            <a:ext cx="9144000" cy="732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27"/>
          <p:cNvSpPr/>
          <p:nvPr/>
        </p:nvSpPr>
        <p:spPr>
          <a:xfrm>
            <a:off x="0" y="3200400"/>
            <a:ext cx="9144000" cy="36600"/>
          </a:xfrm>
          <a:prstGeom prst="rect">
            <a:avLst/>
          </a:prstGeom>
          <a:solidFill>
            <a:srgbClr val="922B21"/>
          </a:solidFill>
          <a:ln cap="flat" cmpd="sng" w="12700">
            <a:solidFill>
              <a:srgbClr val="922B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27"/>
          <p:cNvSpPr/>
          <p:nvPr/>
        </p:nvSpPr>
        <p:spPr>
          <a:xfrm>
            <a:off x="411480" y="3310128"/>
            <a:ext cx="77724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200"/>
              <a:buFont typeface="Calibri"/>
              <a:buNone/>
            </a:pPr>
            <a:r>
              <a:rPr b="0" i="0" lang="en-US" sz="1200" u="none" cap="none" strike="noStrike">
                <a:solidFill>
                  <a:srgbClr val="C0392B"/>
                </a:solidFill>
                <a:latin typeface="Calibri"/>
                <a:ea typeface="Calibri"/>
                <a:cs typeface="Calibri"/>
                <a:sym typeface="Calibri"/>
              </a:rPr>
              <a:t>Wightlink  |  FY 2025/26  |  Summon</a:t>
            </a:r>
            <a:endParaRPr b="0" i="0" sz="1200" u="none" cap="none" strike="noStrike">
              <a:solidFill>
                <a:schemeClr val="dk1"/>
              </a:solidFill>
              <a:latin typeface="Calibri"/>
              <a:ea typeface="Calibri"/>
              <a:cs typeface="Calibri"/>
              <a:sym typeface="Calibri"/>
            </a:endParaRPr>
          </a:p>
        </p:txBody>
      </p:sp>
      <p:sp>
        <p:nvSpPr>
          <p:cNvPr id="680" name="Google Shape;680;p27"/>
          <p:cNvSpPr/>
          <p:nvPr/>
        </p:nvSpPr>
        <p:spPr>
          <a:xfrm>
            <a:off x="25" y="0"/>
            <a:ext cx="9144000" cy="51435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7"/>
          <p:cNvSpPr/>
          <p:nvPr/>
        </p:nvSpPr>
        <p:spPr>
          <a:xfrm>
            <a:off x="25" y="0"/>
            <a:ext cx="128100" cy="51435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27"/>
          <p:cNvSpPr/>
          <p:nvPr/>
        </p:nvSpPr>
        <p:spPr>
          <a:xfrm>
            <a:off x="128041" y="2934099"/>
            <a:ext cx="9015900" cy="639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7"/>
          <p:cNvSpPr/>
          <p:nvPr/>
        </p:nvSpPr>
        <p:spPr>
          <a:xfrm>
            <a:off x="914425" y="1840230"/>
            <a:ext cx="7315200" cy="128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Trebuchet MS"/>
              <a:buNone/>
            </a:pPr>
            <a:r>
              <a:rPr b="1" lang="en-US" sz="3600">
                <a:solidFill>
                  <a:srgbClr val="FFFFFF"/>
                </a:solidFill>
                <a:latin typeface="Trebuchet MS"/>
                <a:ea typeface="Trebuchet MS"/>
                <a:cs typeface="Trebuchet MS"/>
                <a:sym typeface="Trebuchet MS"/>
              </a:rPr>
              <a:t>Other Updates</a:t>
            </a:r>
            <a:endParaRPr b="0" i="0" sz="3600" u="none" cap="none" strike="noStrike">
              <a:solidFill>
                <a:srgbClr val="000000"/>
              </a:solidFill>
              <a:latin typeface="Calibri"/>
              <a:ea typeface="Calibri"/>
              <a:cs typeface="Calibri"/>
              <a:sym typeface="Calibri"/>
            </a:endParaRPr>
          </a:p>
        </p:txBody>
      </p:sp>
      <p:sp>
        <p:nvSpPr>
          <p:cNvPr id="684" name="Google Shape;684;p27"/>
          <p:cNvSpPr/>
          <p:nvPr/>
        </p:nvSpPr>
        <p:spPr>
          <a:xfrm>
            <a:off x="914425" y="3166110"/>
            <a:ext cx="7315200" cy="32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C0392B"/>
              </a:buClr>
              <a:buSzPts val="1200"/>
              <a:buFont typeface="Calibri"/>
              <a:buNone/>
            </a:pPr>
            <a:r>
              <a:rPr lang="en-US" sz="1100">
                <a:solidFill>
                  <a:srgbClr val="F5C6CB"/>
                </a:solidFill>
                <a:latin typeface="Calibri"/>
                <a:ea typeface="Calibri"/>
                <a:cs typeface="Calibri"/>
                <a:sym typeface="Calibri"/>
              </a:rPr>
              <a:t>Wightlink  |  FY 2025/26  |  Summon</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F5C6CB"/>
              </a:buClr>
              <a:buSzPts val="1100"/>
              <a:buFont typeface="Calibri"/>
              <a:buNone/>
            </a:pPr>
            <a:r>
              <a:t/>
            </a:r>
            <a:endParaRPr sz="1100">
              <a:solidFill>
                <a:srgbClr val="F5C6CB"/>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9" name="Shape 689"/>
        <p:cNvGrpSpPr/>
        <p:nvPr/>
      </p:nvGrpSpPr>
      <p:grpSpPr>
        <a:xfrm>
          <a:off x="0" y="0"/>
          <a:ext cx="0" cy="0"/>
          <a:chOff x="0" y="0"/>
          <a:chExt cx="0" cy="0"/>
        </a:xfrm>
      </p:grpSpPr>
      <p:sp>
        <p:nvSpPr>
          <p:cNvPr id="690" name="Google Shape;690;p28"/>
          <p:cNvSpPr/>
          <p:nvPr/>
        </p:nvSpPr>
        <p:spPr>
          <a:xfrm>
            <a:off x="182880" y="54864"/>
            <a:ext cx="6217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Trebuchet MS"/>
              <a:buNone/>
            </a:pPr>
            <a:r>
              <a:rPr b="1" lang="en-US" sz="2000">
                <a:solidFill>
                  <a:srgbClr val="FFFFFF"/>
                </a:solidFill>
                <a:latin typeface="Trebuchet MS"/>
                <a:ea typeface="Trebuchet MS"/>
                <a:cs typeface="Trebuchet MS"/>
                <a:sym typeface="Trebuchet MS"/>
              </a:rPr>
              <a:t>China AI Max 80% Test</a:t>
            </a:r>
            <a:endParaRPr b="0" i="0" sz="2000" u="none" cap="none" strike="noStrike">
              <a:solidFill>
                <a:srgbClr val="000000"/>
              </a:solidFill>
              <a:latin typeface="Calibri"/>
              <a:ea typeface="Calibri"/>
              <a:cs typeface="Calibri"/>
              <a:sym typeface="Calibri"/>
            </a:endParaRPr>
          </a:p>
        </p:txBody>
      </p:sp>
      <p:sp>
        <p:nvSpPr>
          <p:cNvPr id="691" name="Google Shape;691;p28"/>
          <p:cNvSpPr/>
          <p:nvPr/>
        </p:nvSpPr>
        <p:spPr>
          <a:xfrm>
            <a:off x="0" y="0"/>
            <a:ext cx="9144000" cy="7131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8"/>
          <p:cNvSpPr/>
          <p:nvPr/>
        </p:nvSpPr>
        <p:spPr>
          <a:xfrm>
            <a:off x="0" y="0"/>
            <a:ext cx="63900" cy="7131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8"/>
          <p:cNvSpPr/>
          <p:nvPr/>
        </p:nvSpPr>
        <p:spPr>
          <a:xfrm>
            <a:off x="182880" y="54864"/>
            <a:ext cx="6217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Trebuchet MS"/>
              <a:buNone/>
            </a:pPr>
            <a:r>
              <a:rPr b="1" lang="en-US" sz="2000">
                <a:solidFill>
                  <a:srgbClr val="FFFFFF"/>
                </a:solidFill>
                <a:latin typeface="Trebuchet MS"/>
                <a:ea typeface="Trebuchet MS"/>
                <a:cs typeface="Trebuchet MS"/>
                <a:sym typeface="Trebuchet MS"/>
              </a:rPr>
              <a:t>Ad Monitor Now Live</a:t>
            </a:r>
            <a:endParaRPr b="0" i="0" sz="2000" u="none" cap="none" strike="noStrike">
              <a:solidFill>
                <a:srgbClr val="000000"/>
              </a:solidFill>
              <a:latin typeface="Calibri"/>
              <a:ea typeface="Calibri"/>
              <a:cs typeface="Calibri"/>
              <a:sym typeface="Calibri"/>
            </a:endParaRPr>
          </a:p>
        </p:txBody>
      </p:sp>
      <p:sp>
        <p:nvSpPr>
          <p:cNvPr id="694" name="Google Shape;694;p28"/>
          <p:cNvSpPr/>
          <p:nvPr/>
        </p:nvSpPr>
        <p:spPr>
          <a:xfrm>
            <a:off x="182880" y="402336"/>
            <a:ext cx="62178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000"/>
              <a:buFont typeface="Calibri"/>
              <a:buNone/>
            </a:pPr>
            <a:r>
              <a:rPr lang="en-US" sz="1000">
                <a:solidFill>
                  <a:srgbClr val="F5C6CB"/>
                </a:solidFill>
                <a:latin typeface="Calibri"/>
                <a:ea typeface="Calibri"/>
                <a:cs typeface="Calibri"/>
                <a:sym typeface="Calibri"/>
              </a:rPr>
              <a:t>Tracking competitor changes in real time</a:t>
            </a:r>
            <a:endParaRPr b="0" i="0" sz="1000" u="none" cap="none" strike="noStrike">
              <a:solidFill>
                <a:srgbClr val="000000"/>
              </a:solidFill>
              <a:latin typeface="Calibri"/>
              <a:ea typeface="Calibri"/>
              <a:cs typeface="Calibri"/>
              <a:sym typeface="Calibri"/>
            </a:endParaRPr>
          </a:p>
        </p:txBody>
      </p:sp>
      <p:sp>
        <p:nvSpPr>
          <p:cNvPr id="695" name="Google Shape;695;p28"/>
          <p:cNvSpPr/>
          <p:nvPr/>
        </p:nvSpPr>
        <p:spPr>
          <a:xfrm>
            <a:off x="0" y="4942332"/>
            <a:ext cx="9144000" cy="2013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8"/>
          <p:cNvSpPr/>
          <p:nvPr/>
        </p:nvSpPr>
        <p:spPr>
          <a:xfrm>
            <a:off x="182880" y="4951476"/>
            <a:ext cx="5486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E0E0"/>
              </a:buClr>
              <a:buSzPts val="800"/>
              <a:buFont typeface="Calibri"/>
              <a:buNone/>
            </a:pPr>
            <a:r>
              <a:rPr b="0" i="0" lang="en-US" sz="800" u="none" cap="none" strike="noStrike">
                <a:solidFill>
                  <a:srgbClr val="E0E0E0"/>
                </a:solidFill>
                <a:latin typeface="Calibri"/>
                <a:ea typeface="Calibri"/>
                <a:cs typeface="Calibri"/>
                <a:sym typeface="Calibri"/>
              </a:rPr>
              <a:t>Q1 2026 | Summon Digital | Confidential</a:t>
            </a:r>
            <a:endParaRPr b="0" i="0" sz="800" u="none" cap="none" strike="noStrike">
              <a:solidFill>
                <a:srgbClr val="000000"/>
              </a:solidFill>
              <a:latin typeface="Calibri"/>
              <a:ea typeface="Calibri"/>
              <a:cs typeface="Calibri"/>
              <a:sym typeface="Calibri"/>
            </a:endParaRPr>
          </a:p>
        </p:txBody>
      </p:sp>
      <p:sp>
        <p:nvSpPr>
          <p:cNvPr id="697" name="Google Shape;697;p28"/>
          <p:cNvSpPr/>
          <p:nvPr/>
        </p:nvSpPr>
        <p:spPr>
          <a:xfrm>
            <a:off x="242650" y="2398525"/>
            <a:ext cx="8070300" cy="168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300"/>
              </a:spcBef>
              <a:spcAft>
                <a:spcPts val="0"/>
              </a:spcAft>
              <a:buNone/>
            </a:pPr>
            <a:r>
              <a:rPr lang="en-US" sz="1000">
                <a:solidFill>
                  <a:srgbClr val="111111"/>
                </a:solidFill>
                <a:latin typeface="Calibri"/>
                <a:ea typeface="Calibri"/>
                <a:cs typeface="Calibri"/>
                <a:sym typeface="Calibri"/>
              </a:rPr>
              <a:t>In a fast moving competitor landscape, we wanted to provide an easy solution to monitor competitor offers</a:t>
            </a:r>
            <a:endParaRPr sz="1000">
              <a:solidFill>
                <a:srgbClr val="111111"/>
              </a:solidFill>
              <a:latin typeface="Calibri"/>
              <a:ea typeface="Calibri"/>
              <a:cs typeface="Calibri"/>
              <a:sym typeface="Calibri"/>
            </a:endParaRPr>
          </a:p>
          <a:p>
            <a:pPr indent="0" lvl="0" marL="0" marR="0" rtl="0" algn="l">
              <a:lnSpc>
                <a:spcPct val="100000"/>
              </a:lnSpc>
              <a:spcBef>
                <a:spcPts val="300"/>
              </a:spcBef>
              <a:spcAft>
                <a:spcPts val="0"/>
              </a:spcAft>
              <a:buNone/>
            </a:pPr>
            <a:r>
              <a:t/>
            </a:r>
            <a:endParaRPr sz="1000">
              <a:solidFill>
                <a:srgbClr val="111111"/>
              </a:solidFill>
              <a:latin typeface="Calibri"/>
              <a:ea typeface="Calibri"/>
              <a:cs typeface="Calibri"/>
              <a:sym typeface="Calibri"/>
            </a:endParaRPr>
          </a:p>
          <a:p>
            <a:pPr indent="0" lvl="0" marL="0" marR="0" rtl="0" algn="l">
              <a:lnSpc>
                <a:spcPct val="100000"/>
              </a:lnSpc>
              <a:spcBef>
                <a:spcPts val="300"/>
              </a:spcBef>
              <a:spcAft>
                <a:spcPts val="0"/>
              </a:spcAft>
              <a:buNone/>
            </a:pPr>
            <a:r>
              <a:rPr lang="en-US" sz="1000">
                <a:solidFill>
                  <a:srgbClr val="111111"/>
                </a:solidFill>
                <a:latin typeface="Calibri"/>
                <a:ea typeface="Calibri"/>
                <a:cs typeface="Calibri"/>
                <a:sym typeface="Calibri"/>
              </a:rPr>
              <a:t>So we created the Ad Monitor tool</a:t>
            </a:r>
            <a:endParaRPr sz="1000">
              <a:solidFill>
                <a:srgbClr val="111111"/>
              </a:solidFill>
              <a:latin typeface="Calibri"/>
              <a:ea typeface="Calibri"/>
              <a:cs typeface="Calibri"/>
              <a:sym typeface="Calibri"/>
            </a:endParaRPr>
          </a:p>
          <a:p>
            <a:pPr indent="0" lvl="0" marL="0" marR="0" rtl="0" algn="l">
              <a:lnSpc>
                <a:spcPct val="100000"/>
              </a:lnSpc>
              <a:spcBef>
                <a:spcPts val="300"/>
              </a:spcBef>
              <a:spcAft>
                <a:spcPts val="0"/>
              </a:spcAft>
              <a:buNone/>
            </a:pPr>
            <a:r>
              <a:t/>
            </a:r>
            <a:endParaRPr sz="1000">
              <a:solidFill>
                <a:srgbClr val="111111"/>
              </a:solidFill>
              <a:latin typeface="Calibri"/>
              <a:ea typeface="Calibri"/>
              <a:cs typeface="Calibri"/>
              <a:sym typeface="Calibri"/>
            </a:endParaRPr>
          </a:p>
          <a:p>
            <a:pPr indent="0" lvl="0" marL="0" marR="0" rtl="0" algn="l">
              <a:lnSpc>
                <a:spcPct val="100000"/>
              </a:lnSpc>
              <a:spcBef>
                <a:spcPts val="300"/>
              </a:spcBef>
              <a:spcAft>
                <a:spcPts val="0"/>
              </a:spcAft>
              <a:buNone/>
            </a:pPr>
            <a:r>
              <a:rPr lang="en-US" sz="1000">
                <a:solidFill>
                  <a:srgbClr val="111111"/>
                </a:solidFill>
                <a:latin typeface="Calibri"/>
                <a:ea typeface="Calibri"/>
                <a:cs typeface="Calibri"/>
                <a:sym typeface="Calibri"/>
              </a:rPr>
              <a:t>The platform can include separate views for:</a:t>
            </a:r>
            <a:endParaRPr sz="1000">
              <a:solidFill>
                <a:srgbClr val="111111"/>
              </a:solidFill>
              <a:latin typeface="Calibri"/>
              <a:ea typeface="Calibri"/>
              <a:cs typeface="Calibri"/>
              <a:sym typeface="Calibri"/>
            </a:endParaRPr>
          </a:p>
          <a:p>
            <a:pPr indent="0" lvl="0" marL="0" marR="0" rtl="0" algn="l">
              <a:lnSpc>
                <a:spcPct val="100000"/>
              </a:lnSpc>
              <a:spcBef>
                <a:spcPts val="300"/>
              </a:spcBef>
              <a:spcAft>
                <a:spcPts val="0"/>
              </a:spcAft>
              <a:buNone/>
            </a:pPr>
            <a:r>
              <a:t/>
            </a:r>
            <a:endParaRPr sz="1000">
              <a:solidFill>
                <a:srgbClr val="111111"/>
              </a:solidFill>
              <a:latin typeface="Calibri"/>
              <a:ea typeface="Calibri"/>
              <a:cs typeface="Calibri"/>
              <a:sym typeface="Calibri"/>
            </a:endParaRPr>
          </a:p>
          <a:p>
            <a:pPr indent="-342900" lvl="0" marL="342900" marR="0" rtl="0" algn="l">
              <a:lnSpc>
                <a:spcPct val="100000"/>
              </a:lnSpc>
              <a:spcBef>
                <a:spcPts val="30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Live prices / offers</a:t>
            </a:r>
            <a:endParaRPr sz="1000">
              <a:solidFill>
                <a:srgbClr val="111111"/>
              </a:solidFill>
              <a:latin typeface="Calibri"/>
              <a:ea typeface="Calibri"/>
              <a:cs typeface="Calibri"/>
              <a:sym typeface="Calibri"/>
            </a:endParaRPr>
          </a:p>
          <a:p>
            <a:pPr indent="-342900" lvl="0" marL="342900" marR="0" rtl="0" algn="l">
              <a:lnSpc>
                <a:spcPct val="100000"/>
              </a:lnSpc>
              <a:spcBef>
                <a:spcPts val="30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Marketing offers</a:t>
            </a:r>
            <a:endParaRPr sz="1000">
              <a:solidFill>
                <a:srgbClr val="111111"/>
              </a:solidFill>
              <a:latin typeface="Calibri"/>
              <a:ea typeface="Calibri"/>
              <a:cs typeface="Calibri"/>
              <a:sym typeface="Calibri"/>
            </a:endParaRPr>
          </a:p>
          <a:p>
            <a:pPr indent="-342900" lvl="0" marL="342900" marR="0" rtl="0" algn="l">
              <a:lnSpc>
                <a:spcPct val="100000"/>
              </a:lnSpc>
              <a:spcBef>
                <a:spcPts val="30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Notification</a:t>
            </a:r>
            <a:endParaRPr sz="1000">
              <a:solidFill>
                <a:srgbClr val="111111"/>
              </a:solidFill>
              <a:latin typeface="Calibri"/>
              <a:ea typeface="Calibri"/>
              <a:cs typeface="Calibri"/>
              <a:sym typeface="Calibri"/>
            </a:endParaRPr>
          </a:p>
          <a:p>
            <a:pPr indent="0" lvl="0" marL="457200" marR="0" rtl="0" algn="l">
              <a:lnSpc>
                <a:spcPct val="100000"/>
              </a:lnSpc>
              <a:spcBef>
                <a:spcPts val="300"/>
              </a:spcBef>
              <a:spcAft>
                <a:spcPts val="0"/>
              </a:spcAft>
              <a:buNone/>
            </a:pPr>
            <a:r>
              <a:t/>
            </a:r>
            <a:endParaRPr sz="1000">
              <a:solidFill>
                <a:srgbClr val="111111"/>
              </a:solidFill>
              <a:latin typeface="Calibri"/>
              <a:ea typeface="Calibri"/>
              <a:cs typeface="Calibri"/>
              <a:sym typeface="Calibri"/>
            </a:endParaRPr>
          </a:p>
          <a:p>
            <a:pPr indent="0" lvl="0" marL="0" marR="0" rtl="0" algn="l">
              <a:lnSpc>
                <a:spcPct val="100000"/>
              </a:lnSpc>
              <a:spcBef>
                <a:spcPts val="300"/>
              </a:spcBef>
              <a:spcAft>
                <a:spcPts val="0"/>
              </a:spcAft>
              <a:buNone/>
            </a:pPr>
            <a:r>
              <a:rPr lang="en-US" sz="1000">
                <a:solidFill>
                  <a:srgbClr val="111111"/>
                </a:solidFill>
                <a:latin typeface="Calibri"/>
                <a:ea typeface="Calibri"/>
                <a:cs typeface="Calibri"/>
                <a:sym typeface="Calibri"/>
              </a:rPr>
              <a:t>This is used by us internally. but we hope it will also prove a useful resources for the business too</a:t>
            </a:r>
            <a:br>
              <a:rPr lang="en-US" sz="1000">
                <a:solidFill>
                  <a:srgbClr val="111111"/>
                </a:solidFill>
                <a:latin typeface="Calibri"/>
                <a:ea typeface="Calibri"/>
                <a:cs typeface="Calibri"/>
                <a:sym typeface="Calibri"/>
              </a:rPr>
            </a:br>
            <a:br>
              <a:rPr lang="en-US" sz="1000">
                <a:solidFill>
                  <a:srgbClr val="111111"/>
                </a:solidFill>
                <a:latin typeface="Calibri"/>
                <a:ea typeface="Calibri"/>
                <a:cs typeface="Calibri"/>
                <a:sym typeface="Calibri"/>
              </a:rPr>
            </a:br>
            <a:r>
              <a:rPr lang="en-US" sz="1000" u="sng">
                <a:solidFill>
                  <a:schemeClr val="hlink"/>
                </a:solidFill>
                <a:latin typeface="Calibri"/>
                <a:ea typeface="Calibri"/>
                <a:cs typeface="Calibri"/>
                <a:sym typeface="Calibri"/>
                <a:hlinkClick r:id="rId3"/>
              </a:rPr>
              <a:t>https://ad-transparency-hub.vercel.app/</a:t>
            </a:r>
            <a:endParaRPr sz="1000">
              <a:solidFill>
                <a:srgbClr val="111111"/>
              </a:solidFill>
              <a:latin typeface="Calibri"/>
              <a:ea typeface="Calibri"/>
              <a:cs typeface="Calibri"/>
              <a:sym typeface="Calibri"/>
            </a:endParaRPr>
          </a:p>
          <a:p>
            <a:pPr indent="0" lvl="0" marL="0" marR="0" rtl="0" algn="l">
              <a:lnSpc>
                <a:spcPct val="100000"/>
              </a:lnSpc>
              <a:spcBef>
                <a:spcPts val="300"/>
              </a:spcBef>
              <a:spcAft>
                <a:spcPts val="0"/>
              </a:spcAft>
              <a:buNone/>
            </a:pPr>
            <a:r>
              <a:t/>
            </a:r>
            <a:endParaRPr sz="1000">
              <a:solidFill>
                <a:srgbClr val="111111"/>
              </a:solidFill>
              <a:latin typeface="Calibri"/>
              <a:ea typeface="Calibri"/>
              <a:cs typeface="Calibri"/>
              <a:sym typeface="Calibri"/>
            </a:endParaRPr>
          </a:p>
          <a:p>
            <a:pPr indent="0" lvl="0" marL="0" marR="0" rtl="0" algn="l">
              <a:lnSpc>
                <a:spcPct val="100000"/>
              </a:lnSpc>
              <a:spcBef>
                <a:spcPts val="300"/>
              </a:spcBef>
              <a:spcAft>
                <a:spcPts val="0"/>
              </a:spcAft>
              <a:buNone/>
            </a:pPr>
            <a:r>
              <a:t/>
            </a:r>
            <a:endParaRPr sz="1000">
              <a:solidFill>
                <a:srgbClr val="111111"/>
              </a:solidFill>
              <a:latin typeface="Calibri"/>
              <a:ea typeface="Calibri"/>
              <a:cs typeface="Calibri"/>
              <a:sym typeface="Calibri"/>
            </a:endParaRPr>
          </a:p>
          <a:p>
            <a:pPr indent="0" lvl="0" marL="0" marR="0" rtl="0" algn="l">
              <a:lnSpc>
                <a:spcPct val="100000"/>
              </a:lnSpc>
              <a:spcBef>
                <a:spcPts val="300"/>
              </a:spcBef>
              <a:spcAft>
                <a:spcPts val="0"/>
              </a:spcAft>
              <a:buNone/>
            </a:pPr>
            <a:r>
              <a:t/>
            </a:r>
            <a:endParaRPr sz="1000">
              <a:solidFill>
                <a:srgbClr val="111111"/>
              </a:solidFill>
              <a:latin typeface="Calibri"/>
              <a:ea typeface="Calibri"/>
              <a:cs typeface="Calibri"/>
              <a:sym typeface="Calibri"/>
            </a:endParaRPr>
          </a:p>
          <a:p>
            <a:pPr indent="0" lvl="0" marL="457200" marR="0" rtl="0" algn="l">
              <a:lnSpc>
                <a:spcPct val="100000"/>
              </a:lnSpc>
              <a:spcBef>
                <a:spcPts val="300"/>
              </a:spcBef>
              <a:spcAft>
                <a:spcPts val="0"/>
              </a:spcAft>
              <a:buNone/>
            </a:pPr>
            <a:r>
              <a:t/>
            </a:r>
            <a:endParaRPr sz="1000">
              <a:solidFill>
                <a:srgbClr val="111111"/>
              </a:solidFill>
              <a:latin typeface="Calibri"/>
              <a:ea typeface="Calibri"/>
              <a:cs typeface="Calibri"/>
              <a:sym typeface="Calibri"/>
            </a:endParaRPr>
          </a:p>
        </p:txBody>
      </p:sp>
      <p:pic>
        <p:nvPicPr>
          <p:cNvPr id="698" name="Google Shape;698;p28"/>
          <p:cNvPicPr preferRelativeResize="0"/>
          <p:nvPr/>
        </p:nvPicPr>
        <p:blipFill>
          <a:blip r:embed="rId4">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pic>
        <p:nvPicPr>
          <p:cNvPr id="699" name="Google Shape;699;p28"/>
          <p:cNvPicPr preferRelativeResize="0"/>
          <p:nvPr/>
        </p:nvPicPr>
        <p:blipFill>
          <a:blip r:embed="rId5">
            <a:alphaModFix/>
          </a:blip>
          <a:stretch>
            <a:fillRect/>
          </a:stretch>
        </p:blipFill>
        <p:spPr>
          <a:xfrm>
            <a:off x="242648" y="840275"/>
            <a:ext cx="7401315" cy="143108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1C1C"/>
        </a:solidFill>
      </p:bgPr>
    </p:bg>
    <p:spTree>
      <p:nvGrpSpPr>
        <p:cNvPr id="704" name="Shape 704"/>
        <p:cNvGrpSpPr/>
        <p:nvPr/>
      </p:nvGrpSpPr>
      <p:grpSpPr>
        <a:xfrm>
          <a:off x="0" y="0"/>
          <a:ext cx="0" cy="0"/>
          <a:chOff x="0" y="0"/>
          <a:chExt cx="0" cy="0"/>
        </a:xfrm>
      </p:grpSpPr>
      <p:sp>
        <p:nvSpPr>
          <p:cNvPr id="705" name="Google Shape;705;p29"/>
          <p:cNvSpPr/>
          <p:nvPr/>
        </p:nvSpPr>
        <p:spPr>
          <a:xfrm>
            <a:off x="411480" y="1463040"/>
            <a:ext cx="7772400" cy="13716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000"/>
              <a:buFont typeface="Calibri"/>
              <a:buNone/>
            </a:pPr>
            <a:r>
              <a:rPr b="1" lang="en-US" sz="4000">
                <a:solidFill>
                  <a:srgbClr val="FFFFFF"/>
                </a:solidFill>
                <a:latin typeface="Calibri"/>
                <a:ea typeface="Calibri"/>
                <a:cs typeface="Calibri"/>
                <a:sym typeface="Calibri"/>
              </a:rPr>
              <a:t>Next Steps</a:t>
            </a:r>
            <a:endParaRPr b="0" i="0" sz="4000" u="none" cap="none" strike="noStrike">
              <a:solidFill>
                <a:schemeClr val="dk1"/>
              </a:solidFill>
              <a:latin typeface="Calibri"/>
              <a:ea typeface="Calibri"/>
              <a:cs typeface="Calibri"/>
              <a:sym typeface="Calibri"/>
            </a:endParaRPr>
          </a:p>
        </p:txBody>
      </p:sp>
      <p:sp>
        <p:nvSpPr>
          <p:cNvPr id="706" name="Google Shape;706;p29"/>
          <p:cNvSpPr/>
          <p:nvPr/>
        </p:nvSpPr>
        <p:spPr>
          <a:xfrm>
            <a:off x="0" y="3090672"/>
            <a:ext cx="9144000" cy="732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29"/>
          <p:cNvSpPr/>
          <p:nvPr/>
        </p:nvSpPr>
        <p:spPr>
          <a:xfrm>
            <a:off x="0" y="3200400"/>
            <a:ext cx="9144000" cy="36600"/>
          </a:xfrm>
          <a:prstGeom prst="rect">
            <a:avLst/>
          </a:prstGeom>
          <a:solidFill>
            <a:srgbClr val="922B21"/>
          </a:solidFill>
          <a:ln cap="flat" cmpd="sng" w="12700">
            <a:solidFill>
              <a:srgbClr val="922B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29"/>
          <p:cNvSpPr/>
          <p:nvPr/>
        </p:nvSpPr>
        <p:spPr>
          <a:xfrm>
            <a:off x="411480" y="3310128"/>
            <a:ext cx="77724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200"/>
              <a:buFont typeface="Calibri"/>
              <a:buNone/>
            </a:pPr>
            <a:r>
              <a:rPr b="0" i="0" lang="en-US" sz="1200" u="none" cap="none" strike="noStrike">
                <a:solidFill>
                  <a:srgbClr val="C0392B"/>
                </a:solidFill>
                <a:latin typeface="Calibri"/>
                <a:ea typeface="Calibri"/>
                <a:cs typeface="Calibri"/>
                <a:sym typeface="Calibri"/>
              </a:rPr>
              <a:t>Wightlink  |  FY 2025/26  |  Summon</a:t>
            </a:r>
            <a:endParaRPr b="0" i="0" sz="1200" u="none" cap="none" strike="noStrike">
              <a:solidFill>
                <a:schemeClr val="dk1"/>
              </a:solidFill>
              <a:latin typeface="Calibri"/>
              <a:ea typeface="Calibri"/>
              <a:cs typeface="Calibri"/>
              <a:sym typeface="Calibri"/>
            </a:endParaRPr>
          </a:p>
        </p:txBody>
      </p:sp>
      <p:sp>
        <p:nvSpPr>
          <p:cNvPr id="709" name="Google Shape;709;p29"/>
          <p:cNvSpPr/>
          <p:nvPr/>
        </p:nvSpPr>
        <p:spPr>
          <a:xfrm>
            <a:off x="411480" y="4800600"/>
            <a:ext cx="83211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900"/>
              <a:buFont typeface="Calibri"/>
              <a:buNone/>
            </a:pPr>
            <a:r>
              <a:rPr b="0" i="0" lang="en-US" sz="900" u="none" cap="none" strike="noStrike">
                <a:solidFill>
                  <a:srgbClr val="666666"/>
                </a:solidFill>
                <a:latin typeface="Calibri"/>
                <a:ea typeface="Calibri"/>
                <a:cs typeface="Calibri"/>
                <a:sym typeface="Calibri"/>
              </a:rPr>
              <a:t>Wightlink  |  FY 2025/26  |  Confidential</a:t>
            </a:r>
            <a:endParaRPr b="0" i="0" sz="900" u="none" cap="none" strike="noStrike">
              <a:solidFill>
                <a:schemeClr val="dk1"/>
              </a:solidFill>
              <a:latin typeface="Calibri"/>
              <a:ea typeface="Calibri"/>
              <a:cs typeface="Calibri"/>
              <a:sym typeface="Calibri"/>
            </a:endParaRPr>
          </a:p>
        </p:txBody>
      </p:sp>
      <p:sp>
        <p:nvSpPr>
          <p:cNvPr id="710" name="Google Shape;710;p29"/>
          <p:cNvSpPr/>
          <p:nvPr/>
        </p:nvSpPr>
        <p:spPr>
          <a:xfrm>
            <a:off x="411480" y="1463040"/>
            <a:ext cx="7772400" cy="13716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000"/>
              <a:buFont typeface="Calibri"/>
              <a:buNone/>
            </a:pPr>
            <a:r>
              <a:rPr b="1" lang="en-US" sz="4000">
                <a:solidFill>
                  <a:srgbClr val="FFFFFF"/>
                </a:solidFill>
                <a:latin typeface="Calibri"/>
                <a:ea typeface="Calibri"/>
                <a:cs typeface="Calibri"/>
                <a:sym typeface="Calibri"/>
              </a:rPr>
              <a:t>Testing</a:t>
            </a:r>
            <a:endParaRPr b="0" i="0" sz="4000" u="none" cap="none" strike="noStrike">
              <a:solidFill>
                <a:schemeClr val="dk1"/>
              </a:solidFill>
              <a:latin typeface="Calibri"/>
              <a:ea typeface="Calibri"/>
              <a:cs typeface="Calibri"/>
              <a:sym typeface="Calibri"/>
            </a:endParaRPr>
          </a:p>
        </p:txBody>
      </p:sp>
      <p:sp>
        <p:nvSpPr>
          <p:cNvPr id="711" name="Google Shape;711;p29"/>
          <p:cNvSpPr/>
          <p:nvPr/>
        </p:nvSpPr>
        <p:spPr>
          <a:xfrm>
            <a:off x="0" y="3090672"/>
            <a:ext cx="9144000" cy="732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29"/>
          <p:cNvSpPr/>
          <p:nvPr/>
        </p:nvSpPr>
        <p:spPr>
          <a:xfrm>
            <a:off x="0" y="3200400"/>
            <a:ext cx="9144000" cy="36600"/>
          </a:xfrm>
          <a:prstGeom prst="rect">
            <a:avLst/>
          </a:prstGeom>
          <a:solidFill>
            <a:srgbClr val="922B21"/>
          </a:solidFill>
          <a:ln cap="flat" cmpd="sng" w="12700">
            <a:solidFill>
              <a:srgbClr val="922B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29"/>
          <p:cNvSpPr/>
          <p:nvPr/>
        </p:nvSpPr>
        <p:spPr>
          <a:xfrm>
            <a:off x="411480" y="3310128"/>
            <a:ext cx="77724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200"/>
              <a:buFont typeface="Calibri"/>
              <a:buNone/>
            </a:pPr>
            <a:r>
              <a:rPr b="0" i="0" lang="en-US" sz="1200" u="none" cap="none" strike="noStrike">
                <a:solidFill>
                  <a:srgbClr val="C0392B"/>
                </a:solidFill>
                <a:latin typeface="Calibri"/>
                <a:ea typeface="Calibri"/>
                <a:cs typeface="Calibri"/>
                <a:sym typeface="Calibri"/>
              </a:rPr>
              <a:t>Wightlink  |  FY 2025/26  |  Summon</a:t>
            </a:r>
            <a:endParaRPr b="0" i="0" sz="1200" u="none" cap="none" strike="noStrike">
              <a:solidFill>
                <a:schemeClr val="dk1"/>
              </a:solidFill>
              <a:latin typeface="Calibri"/>
              <a:ea typeface="Calibri"/>
              <a:cs typeface="Calibri"/>
              <a:sym typeface="Calibri"/>
            </a:endParaRPr>
          </a:p>
        </p:txBody>
      </p:sp>
      <p:sp>
        <p:nvSpPr>
          <p:cNvPr id="714" name="Google Shape;714;p29"/>
          <p:cNvSpPr/>
          <p:nvPr/>
        </p:nvSpPr>
        <p:spPr>
          <a:xfrm>
            <a:off x="25" y="0"/>
            <a:ext cx="9144000" cy="51435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29"/>
          <p:cNvSpPr/>
          <p:nvPr/>
        </p:nvSpPr>
        <p:spPr>
          <a:xfrm>
            <a:off x="25" y="0"/>
            <a:ext cx="128100" cy="51435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29"/>
          <p:cNvSpPr/>
          <p:nvPr/>
        </p:nvSpPr>
        <p:spPr>
          <a:xfrm>
            <a:off x="128041" y="2934099"/>
            <a:ext cx="9015900" cy="639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9"/>
          <p:cNvSpPr/>
          <p:nvPr/>
        </p:nvSpPr>
        <p:spPr>
          <a:xfrm>
            <a:off x="914425" y="1840230"/>
            <a:ext cx="7315200" cy="128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Trebuchet MS"/>
              <a:buNone/>
            </a:pPr>
            <a:r>
              <a:rPr b="1" lang="en-US" sz="3600">
                <a:solidFill>
                  <a:srgbClr val="FFFFFF"/>
                </a:solidFill>
                <a:latin typeface="Trebuchet MS"/>
                <a:ea typeface="Trebuchet MS"/>
                <a:cs typeface="Trebuchet MS"/>
                <a:sym typeface="Trebuchet MS"/>
              </a:rPr>
              <a:t>Thank you!</a:t>
            </a:r>
            <a:endParaRPr b="0" i="0" sz="3600" u="none" cap="none" strike="noStrike">
              <a:solidFill>
                <a:srgbClr val="000000"/>
              </a:solidFill>
              <a:latin typeface="Calibri"/>
              <a:ea typeface="Calibri"/>
              <a:cs typeface="Calibri"/>
              <a:sym typeface="Calibri"/>
            </a:endParaRPr>
          </a:p>
        </p:txBody>
      </p:sp>
      <p:sp>
        <p:nvSpPr>
          <p:cNvPr id="718" name="Google Shape;718;p29"/>
          <p:cNvSpPr/>
          <p:nvPr/>
        </p:nvSpPr>
        <p:spPr>
          <a:xfrm>
            <a:off x="914425" y="3166110"/>
            <a:ext cx="7315200" cy="32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C0392B"/>
              </a:buClr>
              <a:buSzPts val="1200"/>
              <a:buFont typeface="Calibri"/>
              <a:buNone/>
            </a:pPr>
            <a:r>
              <a:rPr lang="en-US" sz="1100">
                <a:solidFill>
                  <a:srgbClr val="F5C6CB"/>
                </a:solidFill>
                <a:latin typeface="Calibri"/>
                <a:ea typeface="Calibri"/>
                <a:cs typeface="Calibri"/>
                <a:sym typeface="Calibri"/>
              </a:rPr>
              <a:t>Wightlink  |  FY 2025/26  |  Summon</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F5C6CB"/>
              </a:buClr>
              <a:buSzPts val="1100"/>
              <a:buFont typeface="Calibri"/>
              <a:buNone/>
            </a:pPr>
            <a:r>
              <a:t/>
            </a:r>
            <a:endParaRPr sz="1100">
              <a:solidFill>
                <a:srgbClr val="F5C6CB"/>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