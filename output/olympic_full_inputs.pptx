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Olympic Holidays | Q1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Revenue declined across the review period, while efficiency weakened as CPA moved 71.4% from the starting month.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Best revenue month was Jan 2026 at £205,977.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YoY revenue for matched months is down 65.4% versus 2025.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End-period efficiency did not materially deteriorate versus the previous month.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Cyprus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Google Trends</a:t>
            </a:r>
          </a:p>
        </p:txBody>
      </p:sp>
      <p:pic>
        <p:nvPicPr>
          <p:cNvPr id="4" name="Picture 3" descr="cyprus_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Search interest across this upload changed -6.8% YoY across matched months.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Peak interest occurred in Oct 2024 with an indexed value of 54.0.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Latest month interest fell from 45.0 to 40.0.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Greece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Google Trends</a:t>
            </a:r>
          </a:p>
        </p:txBody>
      </p:sp>
      <p:pic>
        <p:nvPicPr>
          <p:cNvPr id="4" name="Picture 3" descr="greece_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Search interest across this upload changed -7.9% YoY across matched months.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Peak interest occurred in Oct 2024 with an indexed value of 145.0.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Latest month interest fell from 125.0 to 111.0.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Auction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Uploaded auction report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749807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154"/>
                <a:gridCol w="1071154"/>
                <a:gridCol w="1071154"/>
                <a:gridCol w="1071154"/>
                <a:gridCol w="1071154"/>
                <a:gridCol w="1071154"/>
                <a:gridCol w="1071155"/>
              </a:tblGrid>
              <a:tr h="37592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2A4D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2A4D"/>
                          </a:solidFill>
                        </a:rPr>
                        <a:t>Impression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2A4D"/>
                          </a:solidFill>
                        </a:rPr>
                        <a:t>Overlap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2A4D"/>
                          </a:solidFill>
                        </a:rPr>
                        <a:t>Position Above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2A4D"/>
                          </a:solidFill>
                        </a:rPr>
                        <a:t>Top of Page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2A4D"/>
                          </a:solidFill>
                        </a:rPr>
                        <a:t>Absolute Top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2A4D"/>
                          </a:solidFill>
                        </a:rPr>
                        <a:t>Outranking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airbnb.co.uk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80.2%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15.5%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5.4%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thomascook.com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65.6%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5.4%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firstchoice.co.uk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5.4%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britishairways.com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5.4%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77.1%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jet2holidays.com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3.0%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tui.co.uk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77.1%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3.4%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loveholidays.com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29.9%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000">
                          <a:solidFill>
                            <a:srgbClr val="142A4D"/>
                          </a:solidFill>
                        </a:rPr>
                        <a:t>4.5%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83879" y="1325880"/>
            <a:ext cx="2971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jet2holidays.com had the highest impression share at 64.1%.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jet2holidays.com had the highest overlap rate at 56.5%.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The average top of page rate across competitors was 80.4%.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Overall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Olympic Holidays | Q1 2026</a:t>
            </a:r>
          </a:p>
        </p:txBody>
      </p:sp>
      <p:pic>
        <p:nvPicPr>
          <p:cNvPr id="4" name="Picture 3" descr="overal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Revenue fell 86.3% from Jan 2026 to Mar 2026.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CPA worsened 71.4% over the same period, linking spend to lower output efficiency.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Spend decreased 72.4%, helping explain the gap between investment and returned revenue.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YoY matched-month revenue moved -65.4% while CPA moved 75.6%.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End of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Latest months</a:t>
            </a:r>
          </a:p>
        </p:txBody>
      </p:sp>
      <p:pic>
        <p:nvPicPr>
          <p:cNvPr id="4" name="Picture 3" descr="end_of_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Mar 2026 revenue was £28,148, versus £81,535 in Feb 2026.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CPA fell from £604 to £406 across the closing months.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Purchases moved from 45.3 to 18.6 over the same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Channel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Cost and revenue share</a:t>
            </a:r>
          </a:p>
        </p:txBody>
      </p:sp>
      <p:pic>
        <p:nvPicPr>
          <p:cNvPr id="4" name="Picture 3" descr="channe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3840480" cy="3474720"/>
          </a:xfrm>
          <a:prstGeom prst="rect">
            <a:avLst/>
          </a:prstGeom>
        </p:spPr>
      </p:pic>
      <p:pic>
        <p:nvPicPr>
          <p:cNvPr id="5" name="Picture 4" descr="channel_revenue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34440"/>
            <a:ext cx="384048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25880"/>
            <a:ext cx="2697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Brand is the strongest channel, delivering 69.6% of revenue at £68 CPA.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Generic is the weakest budget allocation, taking 69.7% of cost while running at £1,076 CPA.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Generic carries the largest cost share at 69.7%, so budget discipline there has the biggest account impact.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Budget efficiency is strongest where revenue share materially exceeds cost share, and weakest where cost concentration is not matched by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ATC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Add to cart and CPATC</a:t>
            </a:r>
          </a:p>
        </p:txBody>
      </p:sp>
      <p:pic>
        <p:nvPicPr>
          <p:cNvPr id="4" name="Picture 3" descr="atc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Add-to-cart volume declined 87.8% from Jan 2026 to Mar 2026.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CPATC rose 125.2% across the same period.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Both add-to-cart volume and revenue decreased in the latest period.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Purchases totalled 179.2 across the period covered by the add-to-cart 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Manual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Review final-month efficiency by channel.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Carry forward budget toward highest revenue-share themes.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