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Olympic Holidays | Feb 2025 to Mar 2026</a:t>
            </a:r>
          </a:p>
        </p:txBody>
      </p:sp>
      <p:pic>
        <p:nvPicPr>
          <p:cNvPr id="4" name="Picture 3" descr="executive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658368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1325880"/>
            <a:ext cx="3840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</a:defRPr>
            </a:pPr>
            <a:r>
              <a:t>Revenue declined across the review period, while efficiency declined as CPA moved 12.9% from the starting month. Both intent and conversion softened, pointing to weaker audience demand at the end of the period.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</a:defRPr>
            </a:pPr>
            <a:r>
              <a:t>Best revenue month was May 2025 at £221,159.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</a:defRPr>
            </a:pPr>
            <a:r>
              <a:t>YoY revenue for matched months is down 59.9% versus 2025.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</a:defRPr>
            </a:pPr>
            <a:r>
              <a:t>End-period efficiency did not materially deteriorate versus the previous month.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Overall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Olympic Holidays | Feb 2025 to Mar 2026</a:t>
            </a:r>
          </a:p>
        </p:txBody>
      </p:sp>
      <p:pic>
        <p:nvPicPr>
          <p:cNvPr id="4" name="Picture 3" descr="overall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658368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1325880"/>
            <a:ext cx="3840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</a:defRPr>
            </a:pPr>
            <a:r>
              <a:t>Revenue fell 64.7% from Feb 2025 to Mar 2026.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</a:defRPr>
            </a:pPr>
            <a:r>
              <a:t>CPA worsened 12.9% over the same period, linking spend to lower output efficiency.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</a:defRPr>
            </a:pPr>
            <a:r>
              <a:t>Spend decreased 55.9%, helping explain the gap between investment and returned revenue.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</a:defRPr>
            </a:pPr>
            <a:r>
              <a:t>YoY matched-month revenue moved -59.9% while CPA moved 74.9%.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End of Period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Latest months focus</a:t>
            </a:r>
          </a:p>
        </p:txBody>
      </p:sp>
      <p:pic>
        <p:nvPicPr>
          <p:cNvPr id="4" name="Picture 3" descr="end_of_peri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658368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1325880"/>
            <a:ext cx="3840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</a:defRPr>
            </a:pPr>
            <a:r>
              <a:t>Mar 2026 revenue was £45,555, versus £81,535 in Feb 2026.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</a:defRPr>
            </a:pPr>
            <a:r>
              <a:t>CPA fell from £604 to £442 across the closing months.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</a:defRPr>
            </a:pPr>
            <a:r>
              <a:t>Both intent and conversion softened, pointing to weaker audience demand at the end of the period.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Channel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Cost share, revenue share and efficiency</a:t>
            </a:r>
          </a:p>
        </p:txBody>
      </p:sp>
      <p:pic>
        <p:nvPicPr>
          <p:cNvPr id="4" name="Picture 3" descr="channel_cos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3931920" cy="3474720"/>
          </a:xfrm>
          <a:prstGeom prst="rect">
            <a:avLst/>
          </a:prstGeom>
        </p:spPr>
      </p:pic>
      <p:pic>
        <p:nvPicPr>
          <p:cNvPr id="5" name="Picture 4" descr="channel_revenue_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1234440"/>
            <a:ext cx="3931920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1280160"/>
            <a:ext cx="27432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</a:defRPr>
            </a:pPr>
            <a:r>
              <a:t>Brand is the strongest channel, delivering 72.8% of revenue at £43 CPA.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</a:defRPr>
            </a:pPr>
            <a:r>
              <a:t>Demand Gen is the weakest budget allocation, taking 4.4% of cost while running at £4,777 CPA.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</a:defRPr>
            </a:pPr>
            <a:r>
              <a:t>Generic carries the largest cost share at 73.0%, so budget discipline there has the biggest account impact.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</a:defRPr>
            </a:pPr>
            <a:r>
              <a:t>Budget efficiency is strongest where revenue share materially exceeds cost share, and weakest where cost concentration is not matched by returns.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Add to Cart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Intent generation and CPATC trend</a:t>
            </a:r>
          </a:p>
        </p:txBody>
      </p:sp>
      <p:pic>
        <p:nvPicPr>
          <p:cNvPr id="4" name="Picture 3" descr="atc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658368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1325880"/>
            <a:ext cx="3840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</a:defRPr>
            </a:pPr>
            <a:r>
              <a:t>Add-to-cart volume declined 77.3% from Feb 2025 to Mar 2026.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</a:defRPr>
            </a:pPr>
            <a:r>
              <a:t>CPATC rose 94.7%, showing higher cost to generate intent.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</a:defRPr>
            </a:pPr>
            <a:r>
              <a:t>Upper-funnel intent and lower-funnel output both weakened, indicating a broader demand softness rather than a single-step conversion issue.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</a:defRPr>
            </a:pPr>
            <a:r>
              <a:t>Any sustained gap between ATC trend and purchase trend should be treated as a funnel drop-off signal.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Trends &amp;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Patterns, anomalies and YoY context</a:t>
            </a:r>
          </a:p>
        </p:txBody>
      </p:sp>
      <p:pic>
        <p:nvPicPr>
          <p:cNvPr id="4" name="Picture 3" descr="trends_ins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658368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1325880"/>
            <a:ext cx="3840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</a:defRPr>
            </a:pPr>
            <a:r>
              <a:t>Revenue only partially tracked spend, implying conversion efficiency shifted during the period.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</a:defRPr>
            </a:pPr>
            <a:r>
              <a:t>The main anomaly was Dec 2025, when CPA peaked at £610 despite revenue of £58,520.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</a:defRPr>
            </a:pPr>
            <a:r>
              <a:t>Add-to-cart volume declined 77.3%, pointing to a meaningful change in upper-funnel intent.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</a:defRPr>
            </a:pPr>
            <a:r>
              <a:t>YoY matched-month revenue changed -59.9% comparing 2026 against 2025.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Actions /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Priority actions linked to observed performance</a:t>
            </a:r>
          </a:p>
        </p:txBody>
      </p:sp>
      <p:pic>
        <p:nvPicPr>
          <p:cNvPr id="4" name="Picture 3" descr="a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658368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1325880"/>
            <a:ext cx="3840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</a:defRPr>
            </a:pPr>
            <a:r>
              <a:t>Reallocate budget away from Demand Gen until its CPA is brought closer to account average.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</a:defRPr>
            </a:pPr>
            <a:r>
              <a:t>Optimise landing pages and pre-booking journeys to recover add-to-cart volume before scaling budget.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</a:defRPr>
            </a:pPr>
            <a:r>
              <a:t>Build a recovery plan for matched 2026 months, as revenue is below 2025 despite comparable seasonality.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