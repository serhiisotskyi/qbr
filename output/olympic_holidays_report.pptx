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2A4D"/>
                </a:solidFill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Olympic Holidays | Q1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2412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Revenue declined across the review period, while efficiency weakened as CPA moved 86.6% from the starting month.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Best revenue month was Jan 2026 at £205,977.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YoY revenue for matched months is down 59.9% versus 2025.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End-period efficiency did not materially deteriorate versus the previous month.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2A4D"/>
                </a:solidFill>
              </a:rPr>
              <a:t>Time Series GB 20251220 1217 20260320 1217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Google Trends</a:t>
            </a:r>
          </a:p>
        </p:txBody>
      </p:sp>
      <p:pic>
        <p:nvPicPr>
          <p:cNvPr id="4" name="Picture 3" descr="time_series_gb_20251220_1217_20260320_1217_c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5836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1325880"/>
            <a:ext cx="3840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Peak interest occurred in Feb 2026 with an indexed value of 30.5.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Latest month interest fell from 30.5 to 20.4.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2A4D"/>
                </a:solidFill>
              </a:rPr>
              <a:t>Auction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Uploaded auction report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34440"/>
          <a:ext cx="7498079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1154"/>
                <a:gridCol w="1071154"/>
                <a:gridCol w="1071154"/>
                <a:gridCol w="1071154"/>
                <a:gridCol w="1071154"/>
                <a:gridCol w="1071154"/>
                <a:gridCol w="1071155"/>
              </a:tblGrid>
              <a:tr h="375920"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142A4D"/>
                          </a:solidFill>
                        </a:rPr>
                        <a:t>Domain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142A4D"/>
                          </a:solidFill>
                        </a:rPr>
                        <a:t>Impression Share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142A4D"/>
                          </a:solidFill>
                        </a:rPr>
                        <a:t>Overlap Rate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142A4D"/>
                          </a:solidFill>
                        </a:rPr>
                        <a:t>Position Above Rate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142A4D"/>
                          </a:solidFill>
                        </a:rPr>
                        <a:t>Top of Page Rate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142A4D"/>
                          </a:solidFill>
                        </a:rPr>
                        <a:t>Absolute Top Rate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000">
                          <a:solidFill>
                            <a:srgbClr val="142A4D"/>
                          </a:solidFill>
                        </a:rPr>
                        <a:t>Outranking Share</a:t>
                      </a:r>
                    </a:p>
                  </a:txBody>
                  <a:tcPr>
                    <a:solidFill>
                      <a:srgbClr val="DBE6F4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airbnb.co.uk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80.2%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15.5%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5.4%</a:t>
                      </a:r>
                    </a:p>
                  </a:txBody>
                  <a:tcPr/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thomascook.com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65.6%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5.4%</a:t>
                      </a:r>
                    </a:p>
                  </a:txBody>
                  <a:tcPr/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firstchoice.co.uk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53.5%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59.0%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5.4%</a:t>
                      </a:r>
                    </a:p>
                  </a:txBody>
                  <a:tcPr/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britishairways.com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54.0%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77.5%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12.7%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5.4%</a:t>
                      </a:r>
                    </a:p>
                  </a:txBody>
                  <a:tcPr/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you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77.1%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16.2%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n/a</a:t>
                      </a:r>
                    </a:p>
                  </a:txBody>
                  <a:tcPr/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jet2holidays.com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3.0%</a:t>
                      </a:r>
                    </a:p>
                  </a:txBody>
                  <a:tcPr/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tui.co.uk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52.0%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77.1%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89.7%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3.4%</a:t>
                      </a:r>
                    </a:p>
                  </a:txBody>
                  <a:tcPr/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loveholidays.com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45.0%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29.9%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64.0%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85.0%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16.9%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0" sz="1000">
                          <a:solidFill>
                            <a:srgbClr val="142A4D"/>
                          </a:solidFill>
                        </a:rPr>
                        <a:t>4.5%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183879" y="1325880"/>
            <a:ext cx="29718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jet2holidays.com had the highest impression share at 64.1%.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jet2holidays.com had the highest overlap rate at 56.5%.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The average top of page rate across competitors was 80.4%.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2A4D"/>
                </a:solidFill>
              </a:rPr>
              <a:t>Overall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Olympic Holidays | Q1 2026</a:t>
            </a:r>
          </a:p>
        </p:txBody>
      </p:sp>
      <p:pic>
        <p:nvPicPr>
          <p:cNvPr id="4" name="Picture 3" descr="overall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5836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1325880"/>
            <a:ext cx="3840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Revenue fell 77.9% from Jan 2026 to Mar 2026.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CPA worsened 86.6% over the same period, linking spend to lower output efficiency.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Spend decreased 57.1%, helping explain the gap between investment and returned revenue.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YoY matched-month revenue moved -59.9% while CPA moved 74.9%.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2A4D"/>
                </a:solidFill>
              </a:rPr>
              <a:t>End of Period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Latest months</a:t>
            </a:r>
          </a:p>
        </p:txBody>
      </p:sp>
      <p:pic>
        <p:nvPicPr>
          <p:cNvPr id="4" name="Picture 3" descr="end_of_peri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5836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1325880"/>
            <a:ext cx="3840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Mar 2026 revenue was £45,555, versus £81,535 in Feb 2026.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CPA fell from £604 to £442 across the closing months.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Purchases moved from 45.3 to 26.6 over the same period.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2A4D"/>
                </a:solidFill>
              </a:rPr>
              <a:t>Channel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Cost and revenue share</a:t>
            </a:r>
          </a:p>
        </p:txBody>
      </p:sp>
      <p:pic>
        <p:nvPicPr>
          <p:cNvPr id="4" name="Picture 3" descr="channel_cos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840480" cy="3474720"/>
          </a:xfrm>
          <a:prstGeom prst="rect">
            <a:avLst/>
          </a:prstGeom>
        </p:spPr>
      </p:pic>
      <p:pic>
        <p:nvPicPr>
          <p:cNvPr id="5" name="Picture 4" descr="channel_revenue_sh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234440"/>
            <a:ext cx="3840480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03920" y="1325880"/>
            <a:ext cx="26974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Brand is the strongest channel, delivering 67.9% of revenue at £75 CPA.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Generic is the weakest budget allocation, taking 69.2% of cost while running at £1,049 CPA.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Generic carries the largest cost share at 69.2%, so budget discipline there has the biggest account impact.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Budget efficiency is strongest where revenue share materially exceeds cost share, and weakest where cost concentration is not matched by returns.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42A4D"/>
                </a:solidFill>
              </a:rPr>
              <a:t>ATC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A5A"/>
                </a:solidFill>
              </a:rPr>
              <a:t>Add to cart and CPATC</a:t>
            </a:r>
          </a:p>
        </p:txBody>
      </p:sp>
      <p:pic>
        <p:nvPicPr>
          <p:cNvPr id="4" name="Picture 3" descr="atc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583680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52360" y="1325880"/>
            <a:ext cx="3840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Add-to-cart volume declined 77.5% from Jan 2026 to Mar 2026.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CPATC rose 90.5% across the same period.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Both add-to-cart volume and revenue decreased in the latest period.</a:t>
            </a:r>
          </a:p>
          <a:p>
            <a:pPr>
              <a:spcAft>
                <a:spcPts val="1000"/>
              </a:spcAft>
              <a:defRPr sz="1300">
                <a:solidFill>
                  <a:srgbClr val="2D2D2D"/>
                </a:solidFill>
              </a:defRPr>
            </a:pPr>
            <a:r>
              <a:t>Purchases totalled 187.2 across the period covered by the add-to-cart 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