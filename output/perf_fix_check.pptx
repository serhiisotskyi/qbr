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">
                <a:solidFill>
                  <a:srgbClr val="F7F9FC"/>
                </a:solidFill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>
                <a:solidFill>
                  <a:srgbClr val="142A4D"/>
                </a:solidFill>
              </a:rPr>
              <a:t>Wendy Wu Tours | Quarterly PPC Performance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5A5A5A"/>
                </a:solidFill>
              </a:rPr>
              <a:t>Q4 2025 (Oct - Dec 2025) | Summon Digital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">
                <a:solidFill>
                  <a:srgbClr val="F7F9FC"/>
                </a:solidFill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560320"/>
            <a:ext cx="100584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>
                <a:solidFill>
                  <a:srgbClr val="142A4D"/>
                </a:solidFill>
              </a:rPr>
              <a:t>Performance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">
                <a:solidFill>
                  <a:srgbClr val="F7F9FC"/>
                </a:solidFill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>
                <a:solidFill>
                  <a:srgbClr val="142A4D"/>
                </a:solidFill>
              </a:rPr>
              <a:t>Overall Performance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A5A5A"/>
                </a:solidFill>
              </a:rPr>
              <a:t>Q4 2025 (Oct - Dec 2025)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4663440"/>
            <a:ext cx="10972800" cy="1371600"/>
          </a:xfrm>
          <a:prstGeom prst="roundRect">
            <a:avLst/>
          </a:prstGeom>
          <a:solidFill>
            <a:srgbClr val="DDE6F2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>
                <a:solidFill>
                  <a:srgbClr val="2D2D2D"/>
                </a:solidFill>
              </a:defRPr>
            </a:pPr>
            <a:r>
              <a:t>Oct delivered the lowest CPL of the quarter (£18.81), while Oct had the highest CVR (6.77%).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Quarter total: 42 leads from £790.00 spend at a blended CPL of £18.81.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Performance Max generated the highest share of leads (42.9%).</a:t>
            </a:r>
          </a:p>
        </p:txBody>
      </p:sp>
      <p:pic>
        <p:nvPicPr>
          <p:cNvPr id="8" name="Picture 7" descr="overall_cpl_cv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34440"/>
            <a:ext cx="5577840" cy="3108960"/>
          </a:xfrm>
          <a:prstGeom prst="rect">
            <a:avLst/>
          </a:prstGeom>
        </p:spPr>
      </p:pic>
      <p:pic>
        <p:nvPicPr>
          <p:cNvPr id="9" name="Picture 8" descr="overall_cost_lead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234440"/>
            <a:ext cx="5303520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">
                <a:solidFill>
                  <a:srgbClr val="F7F9FC"/>
                </a:solidFill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>
                <a:solidFill>
                  <a:srgbClr val="142A4D"/>
                </a:solidFill>
              </a:rPr>
              <a:t>Overall Quarter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A5A5A"/>
                </a:solidFill>
              </a:rPr>
              <a:t>Q4 2025 (Oct - Dec 2025)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4572000"/>
            <a:ext cx="10972800" cy="1463040"/>
          </a:xfrm>
          <a:prstGeom prst="roundRect">
            <a:avLst/>
          </a:prstGeom>
          <a:solidFill>
            <a:srgbClr val="DDE6F2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>
                <a:solidFill>
                  <a:srgbClr val="2D2D2D"/>
                </a:solidFill>
              </a:defRPr>
            </a:pPr>
            <a:r>
              <a:t>Overall generated 42 leads from £790.00 with a quarter CPL of £18.81.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Best efficiency was in Oct (£18.81 CPL), while Oct was highest at £18.81.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YoY comparison is unavailable due to missing or zero baseline in prior year data.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11480" y="1234440"/>
          <a:ext cx="1133856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3856"/>
                <a:gridCol w="1133856"/>
                <a:gridCol w="1133856"/>
                <a:gridCol w="1133856"/>
                <a:gridCol w="1133856"/>
                <a:gridCol w="1133856"/>
                <a:gridCol w="1133856"/>
                <a:gridCol w="1133856"/>
                <a:gridCol w="1133856"/>
                <a:gridCol w="1133856"/>
              </a:tblGrid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Month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Impressions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Clicks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CTR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CPC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Cost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Sales Leads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CPL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CVR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Revenue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Oct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11,700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620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5.30%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£1.27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£790.00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£18.81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6.77%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£8,500.00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Nov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£0.00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Dec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£0.00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Total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11,700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620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5.30%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£1.27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£790.00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42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£18.81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6.77%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£8,500.00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">
                <a:solidFill>
                  <a:srgbClr val="F7F9FC"/>
                </a:solidFill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>
                <a:solidFill>
                  <a:srgbClr val="142A4D"/>
                </a:solidFill>
              </a:rPr>
              <a:t>Campaign Type Mix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A5A5A"/>
                </a:solidFill>
              </a:rPr>
              <a:t>Q4 2025 (Oct - Dec 2025)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4754880"/>
            <a:ext cx="10972800" cy="1325880"/>
          </a:xfrm>
          <a:prstGeom prst="roundRect">
            <a:avLst/>
          </a:prstGeom>
          <a:solidFill>
            <a:srgbClr val="DDE6F2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>
                <a:solidFill>
                  <a:srgbClr val="2D2D2D"/>
                </a:solidFill>
              </a:defRPr>
            </a:pPr>
            <a:r>
              <a:t>Performance Max represented the largest share of spend (49.4%).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Performance Max delivered the largest share of leads (42.9%).</a:t>
            </a:r>
          </a:p>
        </p:txBody>
      </p:sp>
      <p:pic>
        <p:nvPicPr>
          <p:cNvPr id="8" name="Picture 7" descr="overall_cost_sh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325880"/>
            <a:ext cx="5212080" cy="3154680"/>
          </a:xfrm>
          <a:prstGeom prst="rect">
            <a:avLst/>
          </a:prstGeom>
        </p:spPr>
      </p:pic>
      <p:pic>
        <p:nvPicPr>
          <p:cNvPr id="9" name="Picture 8" descr="overall_leads_sha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325880"/>
            <a:ext cx="5212080" cy="31546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">
                <a:solidFill>
                  <a:srgbClr val="F7F9FC"/>
                </a:solidFill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>
                <a:solidFill>
                  <a:srgbClr val="142A4D"/>
                </a:solidFill>
              </a:rPr>
              <a:t>Brand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A5A5A"/>
                </a:solidFill>
              </a:rPr>
              <a:t>Q4 2025 (Oct - Dec 2025)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4572000"/>
            <a:ext cx="10972800" cy="1463040"/>
          </a:xfrm>
          <a:prstGeom prst="roundRect">
            <a:avLst/>
          </a:prstGeom>
          <a:solidFill>
            <a:srgbClr val="DDE6F2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>
                <a:solidFill>
                  <a:srgbClr val="2D2D2D"/>
                </a:solidFill>
              </a:defRPr>
            </a:pPr>
            <a:r>
              <a:t>Brand generated 15 leads from £80.00 with a quarter CPL of £5.33.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Best efficiency was in Oct (£5.33 CPL), while Oct was highest at £5.33.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YoY comparison is unavailable due to missing or zero baseline in prior year data.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11480" y="1234440"/>
          <a:ext cx="1133856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3856"/>
                <a:gridCol w="1133856"/>
                <a:gridCol w="1133856"/>
                <a:gridCol w="1133856"/>
                <a:gridCol w="1133856"/>
                <a:gridCol w="1133856"/>
                <a:gridCol w="1133856"/>
                <a:gridCol w="1133856"/>
                <a:gridCol w="1133856"/>
                <a:gridCol w="1133856"/>
              </a:tblGrid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Month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Impressions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Clicks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CTR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CPC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Cost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Sales Leads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CPL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CVR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Revenue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Oct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12.00%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£0.67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£80.00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£5.33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12.50%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£2,500.00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Nov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£0.00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Dec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£0.00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Total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1,000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120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12.00%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£0.67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£80.00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15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£5.33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12.50%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£2,500.00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">
                <a:solidFill>
                  <a:srgbClr val="F7F9FC"/>
                </a:solidFill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>
                <a:solidFill>
                  <a:srgbClr val="142A4D"/>
                </a:solidFill>
              </a:rPr>
              <a:t>Brand Monthly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A5A5A"/>
                </a:solidFill>
              </a:rPr>
              <a:t>Q4 2025 (Oct - Dec 2025)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4663440"/>
            <a:ext cx="10972800" cy="1371600"/>
          </a:xfrm>
          <a:prstGeom prst="roundRect">
            <a:avLst/>
          </a:prstGeom>
          <a:solidFill>
            <a:srgbClr val="DDE6F2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>
                <a:solidFill>
                  <a:srgbClr val="2D2D2D"/>
                </a:solidFill>
              </a:defRPr>
            </a:pPr>
            <a:r>
              <a:t>Brand generated 15 leads from £80.00 with a quarter CPL of £5.33.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Best efficiency was in Oct (£5.33 CPL), while Oct was highest at £5.33.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YoY comparison is unavailable due to missing or zero baseline in prior year data.</a:t>
            </a:r>
          </a:p>
        </p:txBody>
      </p:sp>
      <p:pic>
        <p:nvPicPr>
          <p:cNvPr id="8" name="Picture 7" descr="campaign_brand_cpl_cv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34440"/>
            <a:ext cx="5577840" cy="3108960"/>
          </a:xfrm>
          <a:prstGeom prst="rect">
            <a:avLst/>
          </a:prstGeom>
        </p:spPr>
      </p:pic>
      <p:pic>
        <p:nvPicPr>
          <p:cNvPr id="9" name="Picture 8" descr="campaign_brand_cost_lead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234440"/>
            <a:ext cx="5303520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">
                <a:solidFill>
                  <a:srgbClr val="F7F9FC"/>
                </a:solidFill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>
                <a:solidFill>
                  <a:srgbClr val="142A4D"/>
                </a:solidFill>
              </a:rPr>
              <a:t>Generic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A5A5A"/>
                </a:solidFill>
              </a:rPr>
              <a:t>Q4 2025 (Oct - Dec 2025)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4572000"/>
            <a:ext cx="10972800" cy="1463040"/>
          </a:xfrm>
          <a:prstGeom prst="roundRect">
            <a:avLst/>
          </a:prstGeom>
          <a:solidFill>
            <a:srgbClr val="DDE6F2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>
                <a:solidFill>
                  <a:srgbClr val="2D2D2D"/>
                </a:solidFill>
              </a:defRPr>
            </a:pPr>
            <a:r>
              <a:t>Generic generated 9 leads from £320.00 with a quarter CPL of £35.56.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Best efficiency was in Oct (£35.56 CPL), while Oct was highest at £35.56.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YoY comparison is unavailable due to missing or zero baseline in prior year data.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11480" y="1234440"/>
          <a:ext cx="1133856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3856"/>
                <a:gridCol w="1133856"/>
                <a:gridCol w="1133856"/>
                <a:gridCol w="1133856"/>
                <a:gridCol w="1133856"/>
                <a:gridCol w="1133856"/>
                <a:gridCol w="1133856"/>
                <a:gridCol w="1133856"/>
                <a:gridCol w="1133856"/>
                <a:gridCol w="1133856"/>
              </a:tblGrid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Month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Impressions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Clicks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CTR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CPC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Cost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Sales Leads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CPL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CVR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Revenue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Oct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3,500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5.71%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£1.60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£320.00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£35.56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4.50%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£1,800.00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Nov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£0.00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Dec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£0.00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Total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3,500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200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5.71%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£1.60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£320.00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9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£35.56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4.50%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£1,800.00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">
                <a:solidFill>
                  <a:srgbClr val="F7F9FC"/>
                </a:solidFill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>
                <a:solidFill>
                  <a:srgbClr val="142A4D"/>
                </a:solidFill>
              </a:rPr>
              <a:t>Generic Monthly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A5A5A"/>
                </a:solidFill>
              </a:rPr>
              <a:t>Q4 2025 (Oct - Dec 2025)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4663440"/>
            <a:ext cx="10972800" cy="1371600"/>
          </a:xfrm>
          <a:prstGeom prst="roundRect">
            <a:avLst/>
          </a:prstGeom>
          <a:solidFill>
            <a:srgbClr val="DDE6F2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>
                <a:solidFill>
                  <a:srgbClr val="2D2D2D"/>
                </a:solidFill>
              </a:defRPr>
            </a:pPr>
            <a:r>
              <a:t>Generic generated 9 leads from £320.00 with a quarter CPL of £35.56.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Best efficiency was in Oct (£35.56 CPL), while Oct was highest at £35.56.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YoY comparison is unavailable due to missing or zero baseline in prior year data.</a:t>
            </a:r>
          </a:p>
        </p:txBody>
      </p:sp>
      <p:pic>
        <p:nvPicPr>
          <p:cNvPr id="8" name="Picture 7" descr="campaign_generic_cpl_cv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34440"/>
            <a:ext cx="5577840" cy="3108960"/>
          </a:xfrm>
          <a:prstGeom prst="rect">
            <a:avLst/>
          </a:prstGeom>
        </p:spPr>
      </p:pic>
      <p:pic>
        <p:nvPicPr>
          <p:cNvPr id="9" name="Picture 8" descr="campaign_generic_cost_lead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234440"/>
            <a:ext cx="5303520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">
                <a:solidFill>
                  <a:srgbClr val="F7F9FC"/>
                </a:solidFill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>
                <a:solidFill>
                  <a:srgbClr val="142A4D"/>
                </a:solidFill>
              </a:rPr>
              <a:t>Performance Max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A5A5A"/>
                </a:solidFill>
              </a:rPr>
              <a:t>Q4 2025 (Oct - Dec 2025)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4572000"/>
            <a:ext cx="10972800" cy="1463040"/>
          </a:xfrm>
          <a:prstGeom prst="roundRect">
            <a:avLst/>
          </a:prstGeom>
          <a:solidFill>
            <a:srgbClr val="DDE6F2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>
                <a:solidFill>
                  <a:srgbClr val="2D2D2D"/>
                </a:solidFill>
              </a:defRPr>
            </a:pPr>
            <a:r>
              <a:t>Performance Max generated 18 leads from £390.00 with a quarter CPL of £21.67.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Best efficiency was in Oct (£21.67 CPL), while Oct was highest at £21.67.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YoY comparison is unavailable due to missing or zero baseline in prior year data.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11480" y="1234440"/>
          <a:ext cx="1133856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3856"/>
                <a:gridCol w="1133856"/>
                <a:gridCol w="1133856"/>
                <a:gridCol w="1133856"/>
                <a:gridCol w="1133856"/>
                <a:gridCol w="1133856"/>
                <a:gridCol w="1133856"/>
                <a:gridCol w="1133856"/>
                <a:gridCol w="1133856"/>
                <a:gridCol w="1133856"/>
              </a:tblGrid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Month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Impressions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Clicks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CTR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CPC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Cost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Sales Leads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CPL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CVR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Revenue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Oct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7,200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300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4.17%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£1.30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£390.00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£21.67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6.00%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£4,200.00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Nov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£0.00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Dec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£0.00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Total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7,200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300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4.17%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£1.30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£390.00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18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£21.67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6.00%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£4,200.00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">
                <a:solidFill>
                  <a:srgbClr val="F7F9FC"/>
                </a:solidFill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>
                <a:solidFill>
                  <a:srgbClr val="142A4D"/>
                </a:solidFill>
              </a:rPr>
              <a:t>Performance Max Monthly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A5A5A"/>
                </a:solidFill>
              </a:rPr>
              <a:t>Q4 2025 (Oct - Dec 2025)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4663440"/>
            <a:ext cx="10972800" cy="1371600"/>
          </a:xfrm>
          <a:prstGeom prst="roundRect">
            <a:avLst/>
          </a:prstGeom>
          <a:solidFill>
            <a:srgbClr val="DDE6F2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>
                <a:solidFill>
                  <a:srgbClr val="2D2D2D"/>
                </a:solidFill>
              </a:defRPr>
            </a:pPr>
            <a:r>
              <a:t>Performance Max generated 18 leads from £390.00 with a quarter CPL of £21.67.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Best efficiency was in Oct (£21.67 CPL), while Oct was highest at £21.67.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YoY comparison is unavailable due to missing or zero baseline in prior year data.</a:t>
            </a:r>
          </a:p>
        </p:txBody>
      </p:sp>
      <p:pic>
        <p:nvPicPr>
          <p:cNvPr id="8" name="Picture 7" descr="campaign_performance_max_cpl_cv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34440"/>
            <a:ext cx="5577840" cy="3108960"/>
          </a:xfrm>
          <a:prstGeom prst="rect">
            <a:avLst/>
          </a:prstGeom>
        </p:spPr>
      </p:pic>
      <p:pic>
        <p:nvPicPr>
          <p:cNvPr id="9" name="Picture 8" descr="campaign_performance_max_cost_lead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234440"/>
            <a:ext cx="5303520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">
                <a:solidFill>
                  <a:srgbClr val="F7F9FC"/>
                </a:solidFill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>
                <a:solidFill>
                  <a:srgbClr val="142A4D"/>
                </a:solidFill>
              </a:rPr>
              <a:t>China Summary + YoY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A5A5A"/>
                </a:solidFill>
              </a:rPr>
              <a:t>Q4 2025 (Oct - Dec 2025)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4572000"/>
            <a:ext cx="10972800" cy="1463040"/>
          </a:xfrm>
          <a:prstGeom prst="roundRect">
            <a:avLst/>
          </a:prstGeom>
          <a:solidFill>
            <a:srgbClr val="DDE6F2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>
                <a:solidFill>
                  <a:srgbClr val="2D2D2D"/>
                </a:solidFill>
              </a:defRPr>
            </a:pPr>
            <a:r>
              <a:t>China generated 15 leads from £80.00 with a quarter CPL of £5.33.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Best efficiency was in Oct (£5.33 CPL), while Oct was highest at £5.33.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YoY comparison is unavailable due to missing or zero baseline in prior year data.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11480" y="1234440"/>
          <a:ext cx="1133856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3856"/>
                <a:gridCol w="1133856"/>
                <a:gridCol w="1133856"/>
                <a:gridCol w="1133856"/>
                <a:gridCol w="1133856"/>
                <a:gridCol w="1133856"/>
                <a:gridCol w="1133856"/>
                <a:gridCol w="1133856"/>
                <a:gridCol w="1133856"/>
                <a:gridCol w="1133856"/>
              </a:tblGrid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Month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Impressions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Clicks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CTR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CPC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Cost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Sales Leads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CPL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CVR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Revenue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Oct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12.00%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£0.67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£80.00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£5.33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12.50%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£2,500.00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Nov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£0.00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Dec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£0.00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Total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1,000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120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12.00%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£0.67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£80.00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15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£5.33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12.50%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£2,500.00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">
                <a:solidFill>
                  <a:srgbClr val="F7F9FC"/>
                </a:solidFill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>
                <a:solidFill>
                  <a:srgbClr val="142A4D"/>
                </a:solidFill>
              </a:rPr>
              <a:t>China Monthly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A5A5A"/>
                </a:solidFill>
              </a:rPr>
              <a:t>Q4 2025 (Oct - Dec 2025)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4663440"/>
            <a:ext cx="10972800" cy="1371600"/>
          </a:xfrm>
          <a:prstGeom prst="roundRect">
            <a:avLst/>
          </a:prstGeom>
          <a:solidFill>
            <a:srgbClr val="DDE6F2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>
                <a:solidFill>
                  <a:srgbClr val="2D2D2D"/>
                </a:solidFill>
              </a:defRPr>
            </a:pPr>
            <a:r>
              <a:t>China generated 15 leads from £80.00 with a quarter CPL of £5.33.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Best efficiency was in Oct (£5.33 CPL), while Oct was highest at £5.33.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YoY comparison is unavailable due to missing or zero baseline in prior year data.</a:t>
            </a:r>
          </a:p>
        </p:txBody>
      </p:sp>
      <p:pic>
        <p:nvPicPr>
          <p:cNvPr id="8" name="Picture 7" descr="campaign_brand_cpl_cv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34440"/>
            <a:ext cx="5577840" cy="3108960"/>
          </a:xfrm>
          <a:prstGeom prst="rect">
            <a:avLst/>
          </a:prstGeom>
        </p:spPr>
      </p:pic>
      <p:pic>
        <p:nvPicPr>
          <p:cNvPr id="9" name="Picture 8" descr="campaign_brand_cost_lead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234440"/>
            <a:ext cx="5303520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">
                <a:solidFill>
                  <a:srgbClr val="F7F9FC"/>
                </a:solidFill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>
                <a:solidFill>
                  <a:srgbClr val="142A4D"/>
                </a:solidFill>
              </a:rPr>
              <a:t>China Campaign Mix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A5A5A"/>
                </a:solidFill>
              </a:rPr>
              <a:t>Q4 2025 (Oct - Dec 2025)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4754880"/>
            <a:ext cx="10972800" cy="1325880"/>
          </a:xfrm>
          <a:prstGeom prst="roundRect">
            <a:avLst/>
          </a:prstGeom>
          <a:solidFill>
            <a:srgbClr val="DDE6F2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>
                <a:solidFill>
                  <a:srgbClr val="2D2D2D"/>
                </a:solidFill>
              </a:defRPr>
            </a:pPr>
            <a:r>
              <a:t>Brand represented the largest share of spend (100.0%).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Brand delivered the largest share of leads (100.0%).</a:t>
            </a:r>
          </a:p>
        </p:txBody>
      </p:sp>
      <p:pic>
        <p:nvPicPr>
          <p:cNvPr id="8" name="Picture 7" descr="destination_china_cost_sh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325880"/>
            <a:ext cx="5212080" cy="3154680"/>
          </a:xfrm>
          <a:prstGeom prst="rect">
            <a:avLst/>
          </a:prstGeom>
        </p:spPr>
      </p:pic>
      <p:pic>
        <p:nvPicPr>
          <p:cNvPr id="9" name="Picture 8" descr="destination_china_cost_sh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1325880"/>
            <a:ext cx="5212080" cy="315468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">
                <a:solidFill>
                  <a:srgbClr val="F7F9FC"/>
                </a:solidFill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>
                <a:solidFill>
                  <a:srgbClr val="142A4D"/>
                </a:solidFill>
              </a:rPr>
              <a:t>Japan Summary + YoY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A5A5A"/>
                </a:solidFill>
              </a:rPr>
              <a:t>Q4 2025 (Oct - Dec 2025)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4572000"/>
            <a:ext cx="10972800" cy="1463040"/>
          </a:xfrm>
          <a:prstGeom prst="roundRect">
            <a:avLst/>
          </a:prstGeom>
          <a:solidFill>
            <a:srgbClr val="DDE6F2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>
                <a:solidFill>
                  <a:srgbClr val="2D2D2D"/>
                </a:solidFill>
              </a:defRPr>
            </a:pPr>
            <a:r>
              <a:t>Japan generated 9 leads from £320.00 with a quarter CPL of £35.56.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Best efficiency was in Oct (£35.56 CPL), while Oct was highest at £35.56.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YoY comparison is unavailable due to missing or zero baseline in prior year data.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11480" y="1234440"/>
          <a:ext cx="1133856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3856"/>
                <a:gridCol w="1133856"/>
                <a:gridCol w="1133856"/>
                <a:gridCol w="1133856"/>
                <a:gridCol w="1133856"/>
                <a:gridCol w="1133856"/>
                <a:gridCol w="1133856"/>
                <a:gridCol w="1133856"/>
                <a:gridCol w="1133856"/>
                <a:gridCol w="1133856"/>
              </a:tblGrid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Month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Impressions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Clicks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CTR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CPC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Cost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Sales Leads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CPL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CVR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Revenue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Oct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3,500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5.71%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£1.60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£320.00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£35.56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4.50%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£1,800.00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Nov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£0.00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Dec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£0.00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Total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3,500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200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5.71%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£1.60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£320.00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9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£35.56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4.50%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£1,800.00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">
                <a:solidFill>
                  <a:srgbClr val="F7F9FC"/>
                </a:solidFill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>
                <a:solidFill>
                  <a:srgbClr val="142A4D"/>
                </a:solidFill>
              </a:rPr>
              <a:t>Japan Monthly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A5A5A"/>
                </a:solidFill>
              </a:rPr>
              <a:t>Q4 2025 (Oct - Dec 2025)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4663440"/>
            <a:ext cx="10972800" cy="1371600"/>
          </a:xfrm>
          <a:prstGeom prst="roundRect">
            <a:avLst/>
          </a:prstGeom>
          <a:solidFill>
            <a:srgbClr val="DDE6F2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>
                <a:solidFill>
                  <a:srgbClr val="2D2D2D"/>
                </a:solidFill>
              </a:defRPr>
            </a:pPr>
            <a:r>
              <a:t>Japan generated 9 leads from £320.00 with a quarter CPL of £35.56.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Best efficiency was in Oct (£35.56 CPL), while Oct was highest at £35.56.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YoY comparison is unavailable due to missing or zero baseline in prior year data.</a:t>
            </a:r>
          </a:p>
        </p:txBody>
      </p:sp>
      <p:pic>
        <p:nvPicPr>
          <p:cNvPr id="8" name="Picture 7" descr="campaign_generic_cpl_cv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34440"/>
            <a:ext cx="5577840" cy="3108960"/>
          </a:xfrm>
          <a:prstGeom prst="rect">
            <a:avLst/>
          </a:prstGeom>
        </p:spPr>
      </p:pic>
      <p:pic>
        <p:nvPicPr>
          <p:cNvPr id="9" name="Picture 8" descr="campaign_generic_cost_lead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234440"/>
            <a:ext cx="5303520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">
                <a:solidFill>
                  <a:srgbClr val="F7F9FC"/>
                </a:solidFill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>
                <a:solidFill>
                  <a:srgbClr val="142A4D"/>
                </a:solidFill>
              </a:rPr>
              <a:t>Japan Campaign Mix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A5A5A"/>
                </a:solidFill>
              </a:rPr>
              <a:t>Q4 2025 (Oct - Dec 2025)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4754880"/>
            <a:ext cx="10972800" cy="1325880"/>
          </a:xfrm>
          <a:prstGeom prst="roundRect">
            <a:avLst/>
          </a:prstGeom>
          <a:solidFill>
            <a:srgbClr val="DDE6F2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>
                <a:solidFill>
                  <a:srgbClr val="2D2D2D"/>
                </a:solidFill>
              </a:defRPr>
            </a:pPr>
            <a:r>
              <a:t>Generic represented the largest share of spend (100.0%).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Generic delivered the largest share of leads (100.0%).</a:t>
            </a:r>
          </a:p>
        </p:txBody>
      </p:sp>
      <p:pic>
        <p:nvPicPr>
          <p:cNvPr id="8" name="Picture 7" descr="destination_japan_cost_sh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325880"/>
            <a:ext cx="5212080" cy="3154680"/>
          </a:xfrm>
          <a:prstGeom prst="rect">
            <a:avLst/>
          </a:prstGeom>
        </p:spPr>
      </p:pic>
      <p:pic>
        <p:nvPicPr>
          <p:cNvPr id="9" name="Picture 8" descr="destination_japan_cost_sh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1325880"/>
            <a:ext cx="5212080" cy="315468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">
                <a:solidFill>
                  <a:srgbClr val="F7F9FC"/>
                </a:solidFill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>
                <a:solidFill>
                  <a:srgbClr val="142A4D"/>
                </a:solidFill>
              </a:rPr>
              <a:t>SE Asia Summary + YoY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A5A5A"/>
                </a:solidFill>
              </a:rPr>
              <a:t>Q4 2025 (Oct - Dec 2025)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4572000"/>
            <a:ext cx="10972800" cy="1463040"/>
          </a:xfrm>
          <a:prstGeom prst="roundRect">
            <a:avLst/>
          </a:prstGeom>
          <a:solidFill>
            <a:srgbClr val="DDE6F2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>
                <a:solidFill>
                  <a:srgbClr val="2D2D2D"/>
                </a:solidFill>
              </a:defRPr>
            </a:pPr>
            <a:r>
              <a:t>SE Asia generated 18 leads from £390.00 with a quarter CPL of £21.67.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Best efficiency was in Oct (£21.67 CPL), while Oct was highest at £21.67.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YoY comparison is unavailable due to missing or zero baseline in prior year data.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11480" y="1234440"/>
          <a:ext cx="1133856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3856"/>
                <a:gridCol w="1133856"/>
                <a:gridCol w="1133856"/>
                <a:gridCol w="1133856"/>
                <a:gridCol w="1133856"/>
                <a:gridCol w="1133856"/>
                <a:gridCol w="1133856"/>
                <a:gridCol w="1133856"/>
                <a:gridCol w="1133856"/>
                <a:gridCol w="1133856"/>
              </a:tblGrid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Month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Impressions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Clicks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CTR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CPC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Cost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Sales Leads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CPL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CVR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Revenue</a:t>
                      </a:r>
                    </a:p>
                  </a:txBody>
                  <a:tcPr>
                    <a:solidFill>
                      <a:srgbClr val="DBE6F4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Oct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7,200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300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4.17%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£1.30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£390.00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£21.67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6.00%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£4,200.00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Nov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£0.00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Dec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/>
                        <a:t>£0.00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Total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7,200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300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4.17%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£1.30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£390.00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18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£21.67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6.00%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/>
                        <a:t>£4,200.00</a:t>
                      </a:r>
                    </a:p>
                  </a:txBody>
                  <a:tcPr>
                    <a:solidFill>
                      <a:srgbClr val="EBF1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">
                <a:solidFill>
                  <a:srgbClr val="F7F9FC"/>
                </a:solidFill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>
                <a:solidFill>
                  <a:srgbClr val="142A4D"/>
                </a:solidFill>
              </a:rPr>
              <a:t>SE Asia Monthly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A5A5A"/>
                </a:solidFill>
              </a:rPr>
              <a:t>Q4 2025 (Oct - Dec 2025)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4663440"/>
            <a:ext cx="10972800" cy="1371600"/>
          </a:xfrm>
          <a:prstGeom prst="roundRect">
            <a:avLst/>
          </a:prstGeom>
          <a:solidFill>
            <a:srgbClr val="DDE6F2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>
                <a:solidFill>
                  <a:srgbClr val="2D2D2D"/>
                </a:solidFill>
              </a:defRPr>
            </a:pPr>
            <a:r>
              <a:t>SE Asia generated 18 leads from £390.00 with a quarter CPL of £21.67.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Best efficiency was in Oct (£21.67 CPL), while Oct was highest at £21.67.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YoY comparison is unavailable due to missing or zero baseline in prior year data.</a:t>
            </a:r>
          </a:p>
        </p:txBody>
      </p:sp>
      <p:pic>
        <p:nvPicPr>
          <p:cNvPr id="8" name="Picture 7" descr="campaign_performance_max_cpl_cv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34440"/>
            <a:ext cx="5577840" cy="3108960"/>
          </a:xfrm>
          <a:prstGeom prst="rect">
            <a:avLst/>
          </a:prstGeom>
        </p:spPr>
      </p:pic>
      <p:pic>
        <p:nvPicPr>
          <p:cNvPr id="9" name="Picture 8" descr="campaign_performance_max_cost_lead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234440"/>
            <a:ext cx="5303520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">
                <a:solidFill>
                  <a:srgbClr val="F7F9FC"/>
                </a:solidFill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>
                <a:solidFill>
                  <a:srgbClr val="142A4D"/>
                </a:solidFill>
              </a:rPr>
              <a:t>SE Asia Campaign Mix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A5A5A"/>
                </a:solidFill>
              </a:rPr>
              <a:t>Q4 2025 (Oct - Dec 2025)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4754880"/>
            <a:ext cx="10972800" cy="1325880"/>
          </a:xfrm>
          <a:prstGeom prst="roundRect">
            <a:avLst/>
          </a:prstGeom>
          <a:solidFill>
            <a:srgbClr val="DDE6F2"/>
          </a:solidFill>
          <a:ln>
            <a:solidFill>
              <a:srgbClr val="5A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>
                <a:solidFill>
                  <a:srgbClr val="2D2D2D"/>
                </a:solidFill>
              </a:defRPr>
            </a:pPr>
            <a:r>
              <a:t>Performance Max represented the largest share of spend (100.0%).</a:t>
            </a:r>
          </a:p>
          <a:p>
            <a:pPr>
              <a:defRPr sz="1400">
                <a:solidFill>
                  <a:srgbClr val="2D2D2D"/>
                </a:solidFill>
              </a:defRPr>
            </a:pPr>
            <a:r>
              <a:t>Performance Max delivered the largest share of leads (100.0%).</a:t>
            </a:r>
          </a:p>
        </p:txBody>
      </p:sp>
      <p:pic>
        <p:nvPicPr>
          <p:cNvPr id="8" name="Picture 7" descr="destination_se_asia_cost_sh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325880"/>
            <a:ext cx="5212080" cy="3154680"/>
          </a:xfrm>
          <a:prstGeom prst="rect">
            <a:avLst/>
          </a:prstGeom>
        </p:spPr>
      </p:pic>
      <p:pic>
        <p:nvPicPr>
          <p:cNvPr id="9" name="Picture 8" descr="destination_se_asia_cost_sh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1325880"/>
            <a:ext cx="5212080" cy="315468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">
                <a:solidFill>
                  <a:srgbClr val="F7F9FC"/>
                </a:solidFill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560320"/>
            <a:ext cx="100584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>
                <a:solidFill>
                  <a:srgbClr val="142A4D"/>
                </a:solidFill>
              </a:rPr>
              <a:t>Recommendations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42A4D"/>
                </a:solidFill>
              </a:rPr>
              <a:t>Recommendations /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59536"/>
            <a:ext cx="11247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5A5A5A"/>
                </a:solidFill>
              </a:rPr>
              <a:t>Q4 2025 (Oct - Dec 2025)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78992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</a:pPr>
            <a:r>
              <a:rPr b="1" sz="1600">
                <a:solidFill>
                  <a:srgbClr val="142A4D"/>
                </a:solidFill>
              </a:rPr>
              <a:t>Budget allocation: </a:t>
            </a:r>
            <a:r>
              <a:rPr sz="1600">
                <a:solidFill>
                  <a:srgbClr val="2D2D2D"/>
                </a:solidFill>
              </a:rPr>
              <a:t>Protect investment in Performance Max for scale while testing incremental budget into Brand where efficiency is strongest.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