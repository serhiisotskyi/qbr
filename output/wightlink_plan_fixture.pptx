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Wightlink QBR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231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3291840"/>
            <a:ext cx="4480560" cy="1051560"/>
          </a:xfrm>
          <a:prstGeom prst="roundRect">
            <a:avLst/>
          </a:prstGeom>
          <a:solidFill>
            <a:srgbClr val="E8EFF7"/>
          </a:solidFill>
          <a:ln>
            <a:solidFill>
              <a:srgbClr val="0C5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C5460"/>
                </a:solidFill>
              </a:rPr>
              <a:t>Wightlink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What We'll Cover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Trends</a:t>
            </a:r>
          </a:p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Auction Insights</a:t>
            </a:r>
          </a:p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Performance</a:t>
            </a:r>
          </a:p>
          <a:p>
            <a:pPr>
              <a:spcAft>
                <a:spcPts val="1000"/>
              </a:spcAft>
              <a:defRPr sz="2200">
                <a:solidFill>
                  <a:srgbClr val="2D2D2D"/>
                </a:solidFill>
              </a:defRPr>
            </a:pPr>
            <a:r>
              <a:t>Plan vs Actual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A4D"/>
                </a:solidFill>
              </a:rPr>
              <a:t>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Google Trends - Isle Of Wight Ferry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1264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5160" y="1463040"/>
            <a:ext cx="420624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Peak search interest landed in 17 Feb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Google Trends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Auction Insights - Generic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30"/>
              </a:tblGrid>
              <a:tr h="437605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Display URL domain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Impression share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Overlap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Position above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Top of page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Abs. Top of page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Outranking share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ferrysavers.co.uk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12.96%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29.04%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88.89%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11.95%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parkdeanresorts.co.uk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56.09%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87.96%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41.83%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36.46%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37.19%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94.72%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40.20%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directferries.co.uk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24.78%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40.59%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45.57%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94.94%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28.67%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30.31%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redfunnel.co.uk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24.48%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45.32%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66.46%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95.62%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43.09%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25.99%</a:t>
                      </a:r>
                    </a:p>
                  </a:txBody>
                  <a:tcPr/>
                </a:tc>
              </a:tr>
              <a:tr h="4376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booking.com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62.20%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85.06%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35.00%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36.80%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We saw 5 competitors in the supplied auction data.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redfunnel.co.uk was one of the strongest overlapping competitors at 45%, with abs. top-of-page pressure at 43%.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directferries.co.uk was one of the strongest overlapping competitors at 41%, with abs. top-of-page pressure at 29%.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Average top-of-page pressure across competitors was 90% in the supplied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Google Ads Auction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Auction Insights - Brand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30"/>
              </a:tblGrid>
              <a:tr h="51054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Display URL domain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Impression share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Overlap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Position above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Top of page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Abs. Top of page rate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Outranking share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91.08%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74.04%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redfunnel.co.uk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35.74%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42.52%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26.97%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84.11%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70.88%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awayresorts.co.uk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12.68%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13.38%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62.10%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12.60%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78.41%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adamvacations.com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&lt; 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11.67%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11.55%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42.10%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9.31%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78.98%</a:t>
                      </a:r>
                    </a:p>
                  </a:txBody>
                  <a:tcPr/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directferries.co.uk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&lt; 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11.56%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15.59%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72.42%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13.05%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78.61%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Throughout the quarter we saw 4 main competitors in the market.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Red Funnel were overlapping us 43% of the time, claiming the top spot 25% of the time.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Comparing YoY, Red Funnel had an increased presence versus the reference period.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Google Ads Auction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A4D"/>
                </a:solidFill>
              </a:rPr>
              <a:t>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All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all_cpa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486400" cy="2880360"/>
          </a:xfrm>
          <a:prstGeom prst="rect">
            <a:avLst/>
          </a:prstGeom>
        </p:spPr>
      </p:pic>
      <p:pic>
        <p:nvPicPr>
          <p:cNvPr id="5" name="Picture 4" descr="all_cost_purch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48640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434840"/>
            <a:ext cx="107899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March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February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58.44 on £55,265 spend.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spend landed 0.2% below plan.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revenue finished 27% above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Uploaded performance 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All Performance YoY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437605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Prior year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YoY change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Purchases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34,929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25,506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+36.9%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£3,229,632.90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£2,207,172.42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+46.3%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£55,265.24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£42,141.92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+31.1%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CPA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-4.2%</a:t>
                      </a:r>
                    </a:p>
                  </a:txBody>
                  <a:tcPr/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58.44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52.37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+11.6%</a:t>
                      </a:r>
                    </a:p>
                  </a:txBody>
                  <a:tcPr/>
                </a:tc>
              </a:tr>
              <a:tr h="43761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Purchases were up 37% versus the same quarter last year.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Revenue was up 46% versus the same quarter last year.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Cost was up 31% versus the same quarter last year.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CPA was down 4% versus the same quarter last year.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spend landed 0.2% below plan.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Plan vs Actual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56"/>
                <a:gridCol w="2276856"/>
                <a:gridCol w="2276856"/>
                <a:gridCol w="2276856"/>
                <a:gridCol w="2276856"/>
              </a:tblGrid>
              <a:tr h="10210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Variance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Variance %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10210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£54,333.46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£54,207.46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£-126.00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-0.2%</a:t>
                      </a:r>
                    </a:p>
                  </a:txBody>
                  <a:tcPr/>
                </a:tc>
              </a:tr>
              <a:tr h="10210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£2,551,009.48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£3,229,632.90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£678,623.42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+26.6%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spend closed 0.2% below plan at £54,207 versus £54,333.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revenue finished 27% above plan at £3,229,633 versus £2,551,009.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delivered the strongest revenue overdelivery versus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Wightlink planning workbook and uploaded performance 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Plan vs Actual Monthly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plan_vs_actual_sp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5486400" cy="2468880"/>
          </a:xfrm>
          <a:prstGeom prst="rect">
            <a:avLst/>
          </a:prstGeom>
        </p:spPr>
      </p:pic>
      <p:pic>
        <p:nvPicPr>
          <p:cNvPr id="5" name="Picture 4" descr="plan_vs_actual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5486400" cy="2468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3840480"/>
          <a:ext cx="73152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028"/>
                <a:gridCol w="1045028"/>
                <a:gridCol w="1045028"/>
                <a:gridCol w="1045028"/>
                <a:gridCol w="1045028"/>
                <a:gridCol w="1045028"/>
                <a:gridCol w="1045032"/>
              </a:tblGrid>
              <a:tr h="393192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Planned Spend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Actual Spend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Spend Var.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Planned Revenue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Actual Revenue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Revenue Var.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£13,987.14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£13,853.48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£-133.66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£527,425.87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£974,620.29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£447,194.42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£12,842.32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£14,075.46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£1,233.14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£1,120,626.43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£930,191.88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£-190,434.55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£27,504.00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£26,278.52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£-1,225.48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£902,957.18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£1,324,820.74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£421,863.55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£54,333.46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£54,207.46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£-126.00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£2,551,009.48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£3,229,632.90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£678,623.42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55279" y="3886200"/>
            <a:ext cx="3749039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February showed the largest spend movement versus plan, finishing over plan.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February recorded the largest revenue shortfall versus plan.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January was the strongest month for revenue delivery against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A5A5A"/>
                </a:solidFill>
              </a:rPr>
              <a:t>Source: Wightlink planning workbook and uploaded performance CSV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Brand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brand_cpa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486400" cy="2880360"/>
          </a:xfrm>
          <a:prstGeom prst="rect">
            <a:avLst/>
          </a:prstGeom>
        </p:spPr>
      </p:pic>
      <p:pic>
        <p:nvPicPr>
          <p:cNvPr id="5" name="Picture 4" descr="brand_cost_purch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48640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434840"/>
            <a:ext cx="107899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March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197.77 on £11,144 spend.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CPA was 61% lower than the same quarter last year.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Brand 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40"/>
              </a:tblGrid>
              <a:tr h="612648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Clicks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 Revenue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£2,774.47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8,055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£700,297.56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252.41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£2,712.20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7,731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£682,664.14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251.70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£5,657.55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8,670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£821,032.32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145.12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£11,144.22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24,457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£2,203,994.03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197.77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March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197.77 on £11,144 spend.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CPA was 61% lower than the same quarter last year.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Generics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generic_cpa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486400" cy="2880360"/>
          </a:xfrm>
          <a:prstGeom prst="rect">
            <a:avLst/>
          </a:prstGeom>
        </p:spPr>
      </p:pic>
      <p:pic>
        <p:nvPicPr>
          <p:cNvPr id="5" name="Picture 4" descr="generic_cost_purch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48640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434840"/>
            <a:ext cx="107899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March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26.18 on £27,700 spend.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CPA was 16% lower than the same quarter last year.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Generics 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40"/>
              </a:tblGrid>
              <a:tr h="612648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Clicks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 Revenue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£6,866.11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1,861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£201,575.37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29.36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£6,806.00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1,671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£180,929.17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26.58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£14,027.71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2,871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£342,810.28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24.44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£27,699.82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6,403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£725,314.83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26.18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March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26.18 on £27,700 spend.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CPA was 16% lower than the same quarter last year.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PMax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34"/>
                <a:gridCol w="1034940"/>
              </a:tblGrid>
              <a:tr h="612648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Impressions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Clicks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CPC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Purchase Revenue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42A4D"/>
                          </a:solidFill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E8EF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£1,671.00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£31,769.23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19.01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£1,523.82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£24,628.29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16.16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£2,258.27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£39,601.87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17.54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£5,453.08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1,181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£4.62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£95,999.39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17.60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D2D2D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78992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March was the strongest month for purchase volume.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January was the most efficient month on CPA.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CVR could not be calculated from the uploaded CSV because click data was not supplied.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Quarter ROAS closed at 17.60 on £5,453 spend.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Performance Max should be read alongside generic activity because the source CSV is aggregated at campaign type level.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A4D"/>
                </a:solidFill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