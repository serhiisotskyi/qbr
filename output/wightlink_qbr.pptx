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Wightlink QBR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3291840"/>
            <a:ext cx="4480560" cy="1051560"/>
          </a:xfrm>
          <a:prstGeom prst="roundRect">
            <a:avLst/>
          </a:prstGeom>
          <a:solidFill>
            <a:srgbClr val="E8EFF7"/>
          </a:solidFill>
          <a:ln>
            <a:solidFill>
              <a:srgbClr val="0C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C5460"/>
                </a:solidFill>
              </a:rPr>
              <a:t>Wightlink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Trends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Auction Insights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Performance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Audience Insights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Competitor Analysis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Opportunities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SEO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Google Trends - Isle Of Wight Ferry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417320"/>
            <a:ext cx="39319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No Google Trends CSV was supplied for this report.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Upload one or more Google Trends exports to populate the trend chart and narrative.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 - Generic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43760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Display URL domain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Overlap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Position above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Abs. 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Outranking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ferrysavers.co.uk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29.01%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88.84%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booking.com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62.28%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36.80%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parkdeanresorts.co.uk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56.19%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41.86%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36.47%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37.20%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94.72%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redfunnel.co.uk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45.34%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66.58%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95.64%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43.09%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25.97%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directferries.co.uk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45.61%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94.97%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28.69%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30.32%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We saw 5 competitors in the supplied auction data.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redfunnel.co.uk was one of the strongest overlapping competitors at 45%, with abs. top-of-page pressure at 43%.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directferries.co.uk was one of the strongest overlapping competitors at 41%, with abs. top-of-page pressure at 29%.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Average top-of-page pressure across competitors was 91% in the supplied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 -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5105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Display URL domain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Overlap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Position above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Abs. 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Outranking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91.08%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74.04%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redfunnel.co.uk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70.88%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awayresorts.co.uk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78.41%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adamvacations.com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&lt;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78.98%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directferries.co.uk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&lt;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72.42%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78.61%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Throughout the quarter we saw 4 main competitors in the market.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Red Funnel were overlapping us 43% of the time, claiming the top spot 25% of the time.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Comparing YoY, Red Funnel had an increased presence versus the reference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all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all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February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60.61 on £47,544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Uploaded performance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All Performance YoY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43760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YoY change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31,498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25,506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+23.5%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£2,881,519.98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£2,207,172.42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+30.6%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£47,544.04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£42,141.92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+12.8%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-8.6%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+15.7%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Purchases were up 23%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Revenue was up 31%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Cost was up 13%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CPA was down 9% versus the same quarter last year.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Brand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brand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brand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220.03 on £9,018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65% lower than the same quarter last year.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Brand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£2,774.47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8,055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£700,297.56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£2,712.20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7,731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£682,664.14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£3,531.06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6,391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£601,186.41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£9,017.73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22,177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£1,984,148.11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220.03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220.03 on £9,018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65% lower than the same quarter last year.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Generics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generic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generic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26.42 on £23,567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18% lower than the same quarter last year.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Generics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£6,866.11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£201,575.37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£6,806.00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£180,929.17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£9,894.71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£240,207.82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£23,566.81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5,570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£622,712.36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26.42 on £23,567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18% lower than the same quarter last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PMax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£1,671.00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£31,769.23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£1,523.82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£24,628.29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£1,845.35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£29,499.14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£5,040.16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£85,896.66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17.04 on £5,040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Performance Max should be read alongside generic activity because the source CSV is aggregated at campaign type level.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Audience Insights - Generics Location Targeting (Q3 2025 Google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5105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County (Matched)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Impr.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Hampshire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183,102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23.15%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£11,815.56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6,109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14.41%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Greater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197,766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34,271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£10,716.38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4,806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14.02%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Isle of Wight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79,349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16,790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21.16%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£7,512.68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3,082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18.35%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West Sussex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38,257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10,519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27.50%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£2,868.07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13.90%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Surrey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32,705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7,543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23.06%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£2,306.64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14.64%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As you would expect the majority of our traffic comes from the South of England, and our investment mirrors that.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The Isle of Wight has the highest CVR, which is consistent with the reference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Reference deck / manual input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Audience Insights - Generics Device Performance (Q3 2025 Google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</a:tblGrid>
              <a:tr h="76581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Impr.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Avg. 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Search impr.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Mobile 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731,128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150,483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20.58%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£38,142.36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18,404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58.55%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182,096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31,697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£15,828.35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56.23%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Tablets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26,557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5,437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20.47%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£1,518.94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51.92%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The majority of impressions and clicks are from mobile, and investment continues to follow that demand.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Desktop had the strongest CVR and a similar CPA to the other devices, so it remained an efficient source of conversion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Reference deck / manual input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Audience Insights - Brand Location Targeting (Q3 2025 Google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  <a:gridCol w="1264920"/>
              </a:tblGrid>
              <a:tr h="5105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County (Matched)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Impr.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Isle of Wight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98,611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53,797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54.55%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£6,367.53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25.63%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Hampshire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59,499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31,968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53.73%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£3,385.37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5,906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18.47%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Greater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55,381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28,361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£3,012.38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5,743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20.25%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West Sussex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12,537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7,144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56.98%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£728.09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18.34%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Surrey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£661.48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20.93%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Brand location splits broadly mirror the generics footprint.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The Isle of Wight remained the strongest conversion area within the reference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Reference deck / manual input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Audience Insights - Brand Device Performance (Q3 2025 Google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  <a:gridCol w="1138428"/>
              </a:tblGrid>
              <a:tr h="76581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Impr.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Avg. 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Search impr.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Mobile 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255,202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136,063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53.32%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£15,067.60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21,464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80.02%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Computers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79,642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42,721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£5,148.75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16,466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38.54%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81.58%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Tablets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10,856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5,424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£716.63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72.06%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Mobile still drove most brand impressions and clicks.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Desktop conversion strength was materially higher and accounted for a large share of brand conversions in the reference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Reference deck / manual input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Brand tCPA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76581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Arm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Cost/Conversion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 Value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 Value/Cost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34,522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15,926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46.13%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£2,644.09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2,244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£208,138.19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14.09%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29,996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14,074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46.92%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£3,473.78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2,333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£226,417.79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65.18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16.58%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Difference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Control was the stronger arm on overall efficiency in the supplied test summary.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From an efficiency standpoint, this test was not successful.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The treatment arm improved conversion rate but at a materially higher CPC and cost per conversion.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Several of the efficiency movements were statistically significant in the reference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Reference deck / manual input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Target ROAS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76581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Arm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Cost/Conversion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 Value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Conversion Value/Cost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6,482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£502.79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£20,367.47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12.91%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5,119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£509.29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£12,118.54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9.96%</a:t>
                      </a:r>
                    </a:p>
                  </a:txBody>
                  <a:tcPr/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Difference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-23%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Control was the stronger arm on overall efficiency in the supplied test summary.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The control arm performed significantly better, so the test was ended.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Treatment drove fewer conversions and lower conversion value at a higher CPC.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Cost per conversion was significantly higher in the treatment 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Reference deck / manual input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SEO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Organic Keywords (Non Brand)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6217920" cy="3931920"/>
          </a:xfrm>
          <a:prstGeom prst="rect">
            <a:avLst/>
          </a:prstGeom>
          <a:solidFill>
            <a:srgbClr val="ECF1F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Image / screenshot 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From the 25,933 keywords, 20,262 are non-branded terms.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The reference deck notes a slight reduction in non-brand keyword count, largely in secondary terms.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YOY Clicks reduced, but impact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From the 25,933 keywords, 20,262 are non-branded terms.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The reference deck notes a slight reduction in non-brand keyword count, largely in secondary terms.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Impressions were up 31%, suggesting broader visibility across more non-brand terms.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Clicks were down 20% YoY in the reference deck, with weaker CTR consistent with visibility at lower positions.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AI and LLM behaviour should only be referenced when it is explicitly provided in the manual content, which it is here.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Opportunities/Tests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Live and upcoming tests/builds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Search Term Analyser - Running successfully on the account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Ad copy testing using AI - Currently running (not significant yet)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AI Max - Currently testing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Ad customisers - price insertion (on hold)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Predictive budget allocation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</a:defRPr>
            </a:pPr>
            <a:r>
              <a:t>Competitor Ad Analysis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Competitors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Competitor Analysis - Red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6217920" cy="3931920"/>
          </a:xfrm>
          <a:prstGeom prst="rect">
            <a:avLst/>
          </a:prstGeom>
          <a:solidFill>
            <a:srgbClr val="ECF1F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5A5A5A"/>
                </a:solidFill>
              </a:rPr>
              <a:t>Image / screenshot 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463040"/>
            <a:ext cx="43891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Mix of formats can be seen across Search, Video and Images.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Creative examples are heavily price-led, including single, return and percentage-off messaging.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The reference deck suggests Performance Max activity promoting Isle of Wight activities.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DSA appears to have been stopped.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Ad extension usage appears limited, mainly image extensions.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Ad Transparency Tool HERE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