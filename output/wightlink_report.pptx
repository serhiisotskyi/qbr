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A4D"/>
                </a:solidFill>
              </a:rPr>
              <a:t>Wightlink QBR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4231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0" y="3291840"/>
            <a:ext cx="4480560" cy="1051560"/>
          </a:xfrm>
          <a:prstGeom prst="roundRect">
            <a:avLst/>
          </a:prstGeom>
          <a:solidFill>
            <a:srgbClr val="E8EFF7"/>
          </a:solidFill>
          <a:ln>
            <a:solidFill>
              <a:srgbClr val="0C5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C5460"/>
                </a:solidFill>
              </a:rPr>
              <a:t>Wightlink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What We'll Cover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D2D2D"/>
                </a:solidFill>
              </a:defRPr>
            </a:pPr>
            <a:r>
              <a:t>Trends</a:t>
            </a:r>
          </a:p>
          <a:p>
            <a:pPr>
              <a:spcAft>
                <a:spcPts val="1000"/>
              </a:spcAft>
              <a:defRPr sz="2200">
                <a:solidFill>
                  <a:srgbClr val="2D2D2D"/>
                </a:solidFill>
              </a:defRPr>
            </a:pPr>
            <a:r>
              <a:t>Auction Insights</a:t>
            </a:r>
          </a:p>
          <a:p>
            <a:pPr>
              <a:spcAft>
                <a:spcPts val="1000"/>
              </a:spcAft>
              <a:defRPr sz="2200">
                <a:solidFill>
                  <a:srgbClr val="2D2D2D"/>
                </a:solidFill>
              </a:defRPr>
            </a:pPr>
            <a:r>
              <a:t>Performance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42A4D"/>
                </a:solidFill>
              </a:rPr>
              <a:t>Trends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Google Trends - Isle Of Wight Ferry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pic>
        <p:nvPicPr>
          <p:cNvPr id="4" name="Picture 3" descr="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126480" cy="3474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95160" y="1463040"/>
            <a:ext cx="420624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Peak search interest landed in 17 Feb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5A5A"/>
                </a:solidFill>
              </a:rPr>
              <a:t>Source: Google Trends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Auction Insights - Generic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34440"/>
          <a:ext cx="1138428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6325"/>
                <a:gridCol w="1626325"/>
                <a:gridCol w="1626325"/>
                <a:gridCol w="1626325"/>
                <a:gridCol w="1626325"/>
                <a:gridCol w="1626325"/>
                <a:gridCol w="1626330"/>
              </a:tblGrid>
              <a:tr h="437605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Display URL domain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Impression share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Overlap rate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Position above rate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Top of page rate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Abs. Top of page rate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Outranking share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</a:tr>
              <a:tr h="437605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ferrysavers.co.uk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12.96%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24.15%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29.04%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88.89%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11.95%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34.58%</a:t>
                      </a:r>
                    </a:p>
                  </a:txBody>
                  <a:tcPr/>
                </a:tc>
              </a:tr>
              <a:tr h="437605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parkdeanresorts.co.uk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3.50%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56.09%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87.96%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41.83%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36.46%</a:t>
                      </a:r>
                    </a:p>
                  </a:txBody>
                  <a:tcPr/>
                </a:tc>
              </a:tr>
              <a:tr h="437605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You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37.19%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94.72%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40.20%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</a:tr>
              <a:tr h="437605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directferries.co.uk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24.78%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40.59%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45.57%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94.94%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28.67%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30.31%</a:t>
                      </a:r>
                    </a:p>
                  </a:txBody>
                  <a:tcPr/>
                </a:tc>
              </a:tr>
              <a:tr h="437605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redfunnel.co.uk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24.48%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45.32%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66.46%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95.62%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43.09%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25.99%</a:t>
                      </a:r>
                    </a:p>
                  </a:txBody>
                  <a:tcPr/>
                </a:tc>
              </a:tr>
              <a:tr h="43761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booking.com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1.72%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62.20%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85.06%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35.00%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36.80%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526280"/>
            <a:ext cx="107899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We saw 5 competitors in the supplied auction data.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redfunnel.co.uk was one of the strongest overlapping competitors at 45%, with abs. top-of-page pressure at 43%.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directferries.co.uk was one of the strongest overlapping competitors at 41%, with abs. top-of-page pressure at 29%.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Average top-of-page pressure across competitors was 90% in the supplied file.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5A5A"/>
                </a:solidFill>
              </a:rPr>
              <a:t>Source: Google Ads Auction Insights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Auction Insights - Brand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34440"/>
          <a:ext cx="1138428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6325"/>
                <a:gridCol w="1626325"/>
                <a:gridCol w="1626325"/>
                <a:gridCol w="1626325"/>
                <a:gridCol w="1626325"/>
                <a:gridCol w="1626325"/>
                <a:gridCol w="1626330"/>
              </a:tblGrid>
              <a:tr h="510540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Display URL domain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Impression share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Overlap rate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Position above rate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Top of page rate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Abs. Top of page rate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Outranking share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You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80.06%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91.08%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74.04%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redfunnel.co.uk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35.74%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42.52%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26.97%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84.11%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25.42%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70.88%</a:t>
                      </a:r>
                    </a:p>
                  </a:txBody>
                  <a:tcPr/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awayresorts.co.uk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12.68%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15.36%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13.38%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62.10%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12.60%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78.41%</a:t>
                      </a:r>
                    </a:p>
                  </a:txBody>
                  <a:tcPr/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adamvacations.com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&lt; 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11.67%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11.55%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42.10%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9.31%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78.98%</a:t>
                      </a:r>
                    </a:p>
                  </a:txBody>
                  <a:tcPr/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directferries.co.uk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&lt; 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11.56%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15.59%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72.42%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13.05%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78.61%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526280"/>
            <a:ext cx="107899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Throughout the quarter we saw 4 main competitors in the market.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Red Funnel were overlapping us 43% of the time, claiming the top spot 25% of the time.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Comparing YoY, Red Funnel had an increased presence versus the reference period.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5A5A"/>
                </a:solidFill>
              </a:rPr>
              <a:t>Source: Google Ads Auction Insights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42A4D"/>
                </a:solidFill>
              </a:rPr>
              <a:t>Performance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All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pic>
        <p:nvPicPr>
          <p:cNvPr id="4" name="Picture 3" descr="all_cpa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5486400" cy="2880360"/>
          </a:xfrm>
          <a:prstGeom prst="rect">
            <a:avLst/>
          </a:prstGeom>
        </p:spPr>
      </p:pic>
      <p:pic>
        <p:nvPicPr>
          <p:cNvPr id="5" name="Picture 4" descr="all_cost_purcha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34440"/>
            <a:ext cx="5486400" cy="2880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434840"/>
            <a:ext cx="1078992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March was the strongest month for purchase volume.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February was the most efficient month on CPA.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CVR could not be calculated from the uploaded CSV because click data was not supplied.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Quarter ROAS closed at 58.44 on £55,265 spend.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0936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5A5A"/>
                </a:solidFill>
              </a:rPr>
              <a:t>Source: Uploaded performance CSV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All Performance YoY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34440"/>
          <a:ext cx="1138428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6070"/>
                <a:gridCol w="2846070"/>
                <a:gridCol w="2846070"/>
                <a:gridCol w="2846070"/>
              </a:tblGrid>
              <a:tr h="437605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Current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Prior year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YoY change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</a:tr>
              <a:tr h="437605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Purchases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34,929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25,506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+36.9%</a:t>
                      </a:r>
                    </a:p>
                  </a:txBody>
                  <a:tcPr/>
                </a:tc>
              </a:tr>
              <a:tr h="437605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£3,229,632.90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£2,207,172.42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+46.3%</a:t>
                      </a:r>
                    </a:p>
                  </a:txBody>
                  <a:tcPr/>
                </a:tc>
              </a:tr>
              <a:tr h="437605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£55,265.24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£42,141.92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+31.1%</a:t>
                      </a:r>
                    </a:p>
                  </a:txBody>
                  <a:tcPr/>
                </a:tc>
              </a:tr>
              <a:tr h="437605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CPA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£1.58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£1.65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-4.2%</a:t>
                      </a:r>
                    </a:p>
                  </a:txBody>
                  <a:tcPr/>
                </a:tc>
              </a:tr>
              <a:tr h="437605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ROAS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58.44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52.37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+11.6%</a:t>
                      </a:r>
                    </a:p>
                  </a:txBody>
                  <a:tcPr/>
                </a:tc>
              </a:tr>
              <a:tr h="43761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CVR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526280"/>
            <a:ext cx="107899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Purchases were up 37% versus the same quarter last year.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Revenue was up 46% versus the same quarter last year.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Cost was up 31% versus the same quarter last year.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CPA was down 4% versus the same quarter last year.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Brand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pic>
        <p:nvPicPr>
          <p:cNvPr id="4" name="Picture 3" descr="brand_cpa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5486400" cy="2880360"/>
          </a:xfrm>
          <a:prstGeom prst="rect">
            <a:avLst/>
          </a:prstGeom>
        </p:spPr>
      </p:pic>
      <p:pic>
        <p:nvPicPr>
          <p:cNvPr id="5" name="Picture 4" descr="brand_cost_purcha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34440"/>
            <a:ext cx="5486400" cy="2880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434840"/>
            <a:ext cx="1078992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March was the strongest month for purchase volume.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January was the most efficient month on CPA.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CVR could not be calculated from the uploaded CSV because click data was not supplied.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Quarter ROAS closed at 197.77 on £11,144 spend.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Quarter CPA was 61% lower than the same quarter last year.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Brand Performance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34440"/>
          <a:ext cx="1138428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4934"/>
                <a:gridCol w="1034934"/>
                <a:gridCol w="1034934"/>
                <a:gridCol w="1034934"/>
                <a:gridCol w="1034934"/>
                <a:gridCol w="1034934"/>
                <a:gridCol w="1034934"/>
                <a:gridCol w="1034934"/>
                <a:gridCol w="1034934"/>
                <a:gridCol w="1034934"/>
                <a:gridCol w="1034940"/>
              </a:tblGrid>
              <a:tr h="612648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Impressions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Clicks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CTR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CPC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Purchases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CPA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Purchase Revenue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ROAS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CVR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January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£2,774.47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8,055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£0.34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£700,297.56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252.41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February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£2,712.20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7,731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£0.35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£682,664.14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251.70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March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£5,657.55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8,670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£0.65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£821,032.32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145.12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£11,144.22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24,457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£0.46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£2,203,994.03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197.77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526280"/>
            <a:ext cx="107899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March was the strongest month for purchase volume.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January was the most efficient month on CPA.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CVR could not be calculated from the uploaded CSV because click data was not supplied.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Quarter ROAS closed at 197.77 on £11,144 spend.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Quarter CPA was 61% lower than the same quarter last year.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Generics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pic>
        <p:nvPicPr>
          <p:cNvPr id="4" name="Picture 3" descr="generic_cpa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5486400" cy="2880360"/>
          </a:xfrm>
          <a:prstGeom prst="rect">
            <a:avLst/>
          </a:prstGeom>
        </p:spPr>
      </p:pic>
      <p:pic>
        <p:nvPicPr>
          <p:cNvPr id="5" name="Picture 4" descr="generic_cost_purcha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34440"/>
            <a:ext cx="5486400" cy="2880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434840"/>
            <a:ext cx="1078992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March was the strongest month for purchase volume.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January was the most efficient month on CPA.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CVR could not be calculated from the uploaded CSV because click data was not supplied.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Quarter ROAS closed at 26.18 on £27,700 spend.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Quarter CPA was 16% lower than the same quarter last year.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Generics Performance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34440"/>
          <a:ext cx="1138428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4934"/>
                <a:gridCol w="1034934"/>
                <a:gridCol w="1034934"/>
                <a:gridCol w="1034934"/>
                <a:gridCol w="1034934"/>
                <a:gridCol w="1034934"/>
                <a:gridCol w="1034934"/>
                <a:gridCol w="1034934"/>
                <a:gridCol w="1034934"/>
                <a:gridCol w="1034934"/>
                <a:gridCol w="1034940"/>
              </a:tblGrid>
              <a:tr h="612648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Impressions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Clicks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CTR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CPC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Purchases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CPA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Purchase Revenue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ROAS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CVR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January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£6,866.11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1,861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£3.69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£201,575.37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29.36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February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£6,806.00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1,671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£4.07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£180,929.17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26.58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March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£14,027.71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2,871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£4.89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£342,810.28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24.44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£27,699.82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6,403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£4.33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£725,314.83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26.18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526280"/>
            <a:ext cx="107899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March was the strongest month for purchase volume.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January was the most efficient month on CPA.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CVR could not be calculated from the uploaded CSV because click data was not supplied.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Quarter ROAS closed at 26.18 on £27,700 spend.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Quarter CPA was 16% lower than the same quarter last year.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PMax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34440"/>
          <a:ext cx="1138428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4934"/>
                <a:gridCol w="1034934"/>
                <a:gridCol w="1034934"/>
                <a:gridCol w="1034934"/>
                <a:gridCol w="1034934"/>
                <a:gridCol w="1034934"/>
                <a:gridCol w="1034934"/>
                <a:gridCol w="1034934"/>
                <a:gridCol w="1034934"/>
                <a:gridCol w="1034934"/>
                <a:gridCol w="1034940"/>
              </a:tblGrid>
              <a:tr h="612648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Impressions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Clicks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CTR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CPC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Purchases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CPA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Purchase Revenue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ROAS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CVR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January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£1,671.00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409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£4.08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£31,769.23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19.01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February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£1,523.82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331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£4.60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£24,628.29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16.16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March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£2,258.27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441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£5.13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£39,601.87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17.54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£5,453.08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1,181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£4.62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£95,999.39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17.60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526280"/>
            <a:ext cx="107899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March was the strongest month for purchase volume.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January was the most efficient month on CPA.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CVR could not be calculated from the uploaded CSV because click data was not supplied.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Quarter ROAS closed at 17.60 on £5,453 spend.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Performance Max should be read alongside generic activity because the source CSV is aggregated at campaign type level.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42A4D"/>
                </a:solidFill>
              </a:rP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