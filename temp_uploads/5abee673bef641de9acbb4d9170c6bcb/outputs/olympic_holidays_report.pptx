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Q1 2026 delivered £372,830 revenue from 209.2 purchases on £72,456 spend.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Quarter efficiency closed at £346 CPA, £31 cost per ATC, and £1,782 AOV.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Jan 2026 was the strongest revenue month, while Jan 2026 recorded the most efficient CPA.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Versus Q1 2025, revenue moved -47.3%, cost moved -12.5%, and purchases moved -43.4%.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Cyprus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Google Trends</a:t>
            </a:r>
          </a:p>
        </p:txBody>
      </p:sp>
      <p:pic>
        <p:nvPicPr>
          <p:cNvPr id="4" name="Picture 3" descr="cyprus_trends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Peak interest occurred in Mar 2026 with an indexed value of 39.4.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Latest month interest rose from 24.4 to 39.4.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Greece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Google Trends</a:t>
            </a:r>
          </a:p>
        </p:txBody>
      </p:sp>
      <p:pic>
        <p:nvPicPr>
          <p:cNvPr id="4" name="Picture 3" descr="greece_trends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Peak interest occurred in Jan 2026 with an indexed value of 62.6.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Latest month interest fell from 46.5 to 45.4.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OH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Google Trends</a:t>
            </a:r>
          </a:p>
        </p:txBody>
      </p:sp>
      <p:pic>
        <p:nvPicPr>
          <p:cNvPr id="4" name="Picture 3" descr="oh_trends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Peak interest occurred in Mar 2026 with an indexed value of 30.5.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Latest month interest rose from 0.0 to 30.5.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Uploaded auction report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74980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154"/>
                <a:gridCol w="1071154"/>
                <a:gridCol w="1071154"/>
                <a:gridCol w="1071154"/>
                <a:gridCol w="1071154"/>
                <a:gridCol w="1071154"/>
                <a:gridCol w="1071155"/>
              </a:tblGrid>
              <a:tr h="260252"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750">
                          <a:solidFill>
                            <a:srgbClr val="142A4D"/>
                          </a:solidFill>
                        </a:rPr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jet2holidays.com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6.7%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loveholidays.com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27.3%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7.7%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tui.co.uk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7.3%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easyjet.com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8.3%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onthebeach.co.uk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9.0%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booking.com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8.8%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firstchoice.co.uk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9.2%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thomascook.com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9.3%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travelsupermarket.com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36.3%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9.3%</a:t>
                      </a:r>
                    </a:p>
                  </a:txBody>
                  <a:tcPr/>
                </a:tc>
              </a:tr>
              <a:tr h="260252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icelolly.com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31.4%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9.3%</a:t>
                      </a:r>
                    </a:p>
                  </a:txBody>
                  <a:tcPr/>
                </a:tc>
              </a:tr>
              <a:tr h="260256"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britishairways.com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750">
                          <a:solidFill>
                            <a:srgbClr val="142A4D"/>
                          </a:solidFill>
                        </a:rPr>
                        <a:t>9.3%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1325880"/>
            <a:ext cx="2971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The uploaded auction report included 12 competitor row(s).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Our own row was present without a usable impression-share value, so competitor pressure is read from the surrounding auction metrics.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jet2holidays.com had the highest impression share at 57.3%.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jet2holidays.com had the highest overlap rate at 35.5%.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jet2holidays.com had the highest position-above rate at 83.6%.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jet2holidays.com had the highest absolute top-of-page rate at 52.1%.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Average top-of-page pressure across competitors was 69.2%.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Overall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Q1 2026</a:t>
            </a:r>
          </a:p>
        </p:txBody>
      </p:sp>
      <p:pic>
        <p:nvPicPr>
          <p:cNvPr id="4" name="Picture 3" descr="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Revenue moved -58.6% from Jan 2026 to Mar 2026.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Spend moved -35.0% over the same period, while purchases moved -57.9%.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CPA moved +54.3%, and AOV closed the quarter at £1,782.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Add-to-cart volume reached 2331.2, with quarter cost per ATC at £31.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YoY Matched-Month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Matched months versus prior-year quarter (2 of 3 months matched)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749807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2291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142A4D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142A4D"/>
                          </a:solidFill>
                        </a:rPr>
                        <a:t>Q1 2025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142A4D"/>
                          </a:solidFill>
                        </a:rPr>
                        <a:t>Q1 2026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142A4D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£316,901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£166,853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-47.3%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£51,548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£45,109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-12.5%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165.6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93.8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-43.4%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Add to 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2567.7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1155.1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-55.0%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+54.5%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Cost per ATC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+94.5%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AOV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£1,913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£1,778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900">
                          <a:solidFill>
                            <a:srgbClr val="142A4D"/>
                          </a:solidFill>
                        </a:rPr>
                        <a:t>-7.0%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1325880"/>
            <a:ext cx="2971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The comparison covers 2 of 3 month(s) in the quarter.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Revenue was -47.3% versus Q1 2025.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Spend was -12.5% and purchases were -43.4% on matched months.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CPA moved +54.5%, cost per ATC moved +94.5%, and AOV moved -7.0%.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End of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Latest months</a:t>
            </a:r>
          </a:p>
        </p:txBody>
      </p:sp>
      <p:pic>
        <p:nvPicPr>
          <p:cNvPr id="4" name="Picture 3" descr="end_of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Mar 2026 revenue was £85,318 versus £81,535 in Feb 2026.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Spend moved from £27,342 to £17,767, while purchases moved from 45.3 to 48.6.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CPA improved from £604 to £366.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Cost per ATC moved from £41 to £37.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Cost and revenue share</a:t>
            </a:r>
          </a:p>
        </p:txBody>
      </p:sp>
      <p:pic>
        <p:nvPicPr>
          <p:cNvPr id="4" name="Picture 3" descr="channe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840480" cy="3474720"/>
          </a:xfrm>
          <a:prstGeom prst="rect">
            <a:avLst/>
          </a:prstGeom>
        </p:spPr>
      </p:pic>
      <p:pic>
        <p:nvPicPr>
          <p:cNvPr id="5" name="Picture 4" descr="channel_revenu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38404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25880"/>
            <a:ext cx="2697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Brand drove the largest revenue share at 69.1% with £79 CPA.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Generic carried the highest cost share at 68.5% of spend.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Generic was the least efficient campaign type on quarter CPA at £1,036.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Brand delivered 69.1% of revenue, while Generic accounted for 68.5% of spend.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Q1 2026</a:t>
            </a:r>
          </a:p>
        </p:txBody>
      </p:sp>
      <p:pic>
        <p:nvPicPr>
          <p:cNvPr id="4" name="Picture 3" descr="generic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Generic delivered £85,032 revenue from £49,665 spend at £1,036 CPA.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Jan 2026 was the strongest generic revenue month in the quarter.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From Jan 2026 to Mar 2026, generic revenue moved -36.8% and CPA moved +15.2%.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Generic add-to-cart volume totalled 746.5, with £67 cost per ATC and £1,773 AOV.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ATC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Add to cart and cost per ATC</a:t>
            </a:r>
          </a:p>
        </p:txBody>
      </p:sp>
      <p:pic>
        <p:nvPicPr>
          <p:cNvPr id="4" name="Picture 3" descr="at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Add-to-cart volume moved -59.0% from Jan 2026 to Mar 2026.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Cost per ATC moved +58.3% across the same period.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The quarter delivered 2331.2 total add-to-cart actions from £72,456 spend.</a:t>
            </a:r>
          </a:p>
          <a:p>
            <a:pPr>
              <a:spcAft>
                <a:spcPts val="1000"/>
              </a:spcAft>
              <a:defRPr sz="1300">
                <a:solidFill>
                  <a:srgbClr val="2D2D2D"/>
                </a:solidFill>
              </a:defRPr>
            </a:pPr>
            <a:r>
              <a:t>Purchases totalled 209.2, providing the downstream conversion context for ATC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