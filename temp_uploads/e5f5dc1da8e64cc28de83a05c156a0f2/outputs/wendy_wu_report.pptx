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Q1 2026 (Jan - Mar 2026)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(£34.87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5,632 leads from £222,611.31 spend at a blended CPL of £39.53.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+59.82% and spend +48.39%.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generated the highest share of leads (59.9%).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5,632 leads from £222,611.31 with a quarter CPL of £39.53.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(£34.87 CPL), while Jan was highest at £41.65.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+59.82%, spend +48.39%.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4,733,048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79,502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£100,208.74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£41.65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4,790,487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59,192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£73,305.47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2,625,597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43,243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£49,097.11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3.26%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12,149,132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181,937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£222,611.31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5,632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£39.53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3.10%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(65.9%).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(59.9%).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3,371 leads from £12,689.98 with a quarter CPL of £3.76.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(£3.33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+390.68%, spend +46.72%.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29,361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15,291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£5,737.22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9.35%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51.08%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£3,384.96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8.81%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19,379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9,574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£3,567.80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9.67%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71,294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36,385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51.04%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£0.35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£12,689.98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3,371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£3.76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9.26%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3,371 leads from £12,689.98 with a quarter CPL of £3.76.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(£3.33 CPL), while Jan was highest at £4.01.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+390.68%, spend +46.72%.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1,287 leads from £146,591.38 with a quarter CPL of £113.90.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(£99.32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+13.79%, spend +24.70%.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404,712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£65,788.14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£125.55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354,493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£47,474.65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2.42%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429,822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£33,328.58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1,189,027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58,108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4.89%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£2.52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£146,591.38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1,287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£113.90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2.21%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1,287 leads from £146,591.38 with a quarter CPL of £113.90.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(£99.32 CPL), while Jan was highest at £125.55.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+13.79%, spend +24.70%.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618 leads from £36,584.24 with a quarter CPL of £59.20.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Feb was highest at £63.57.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-57.61%, spend +66.32%.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1,525,966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£15,223.55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£56.18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2,813,840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£13,350.29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1,125,512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9,916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£8,010.41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£58.47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5,465,318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43,168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£0.85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£36,584.24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£59.20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618 leads from £36,584.24 with a quarter CPL of £59.20.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(£56.18 CPL), while Feb was highest at £63.57.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-57.61%, spend +66.32%.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277 leads from £26,745.71 with a quarter CPL of £96.55.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£110.27.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+793.55%, spend +1368.05%.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2,773,009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£13,459.83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1,599,600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£9,095.57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1,050,884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7,596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£4,190.32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5,423,493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44,276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0.82%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£26,745.71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277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£96.55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0.63%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Demand Gen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Demand Gen generated 277 leads from £26,745.71 with a quarter CPL of £96.55.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(£91.56 CPL), while Mar was highest at £110.27.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+793.55%, spend +1368.05%.</a:t>
            </a:r>
          </a:p>
        </p:txBody>
      </p:sp>
      <p:pic>
        <p:nvPicPr>
          <p:cNvPr id="8" name="Picture 7" descr="campaign_demand_ge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demand_ge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79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n/a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79 leads from £0.00 with a quarter CPL of £0.00.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Active months in this quarter subset were Jan, Feb,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771 leads from £73,705.74 with a quarter CPL of £95.60.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-5.05%, spend +155.66%.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1,872,295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22,617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£35,382.89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£118.34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701,195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11,892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£19,195.21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£69.55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2.32%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1,069,902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12,959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£19,127.63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£97.59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3,643,392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47,468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1.30%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£73,705.74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771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£95.60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771 leads from £73,705.74 with a quarter CPL of £95.60.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(£69.55 CPL), while Jan was highest at £118.34.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-5.05%, spend +155.66%.</a:t>
            </a:r>
          </a:p>
        </p:txBody>
      </p:sp>
      <p:pic>
        <p:nvPicPr>
          <p:cNvPr id="8" name="Picture 7" descr="destination_chin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chin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(69.7%).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(51.9%).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674 leads from £61,385.22 with a quarter CPL of £91.08.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(£82.60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-10.85%, spend +18.27%.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1,375,199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21,412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£32,104.77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1.64%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1,222,264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12,209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£19,285.56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£95.95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1.65%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594,709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£9,994.90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£82.60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1.63%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3,192,172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41,046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£61,385.22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674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£91.08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1.64%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674 leads from £61,385.22 with a quarter CPL of £91.08.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Mar (£82.60 CPL), while Feb was highest at £95.95.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-10.85%, spend +18.27%.</a:t>
            </a:r>
          </a:p>
        </p:txBody>
      </p:sp>
      <p:pic>
        <p:nvPicPr>
          <p:cNvPr id="8" name="Picture 7" descr="destination_japan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japan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(70.9%).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(60.4%).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271 leads from £28,118.12 with a quarter CPL of £103.76.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Jan was highest at £107.56.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-33.58%, spend +12.15%.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775,452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10,117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£12,799.91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971,734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8,383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£9,847.36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£99.47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237,896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£5,470.85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£103.22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1.40%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1,985,082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22,282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1.12%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£28,118.12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271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£103.76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1.22%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271 leads from £28,118.12 with a quarter CPL of £103.76.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Feb (£99.47 CPL), while Jan was highest at £107.56.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-33.58%, spend +12.15%.</a:t>
            </a:r>
          </a:p>
        </p:txBody>
      </p:sp>
      <p:pic>
        <p:nvPicPr>
          <p:cNvPr id="8" name="Picture 7" descr="destination_se_as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se_as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(59.7%).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(52.0%).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225 leads from £22,820.53 with a quarter CPL of £101.42.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£131.42.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-42.31%, spend +17.52%.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451,624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5,177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£7,524.19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1.91%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1,357,405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0.51%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£9,908.31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£116.57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1.22%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187,767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£5,388.04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£131.42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1.38%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1,996,796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15,103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0.76%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£1.51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£22,820.53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225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£101.42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1.49%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India generated 225 leads from £22,820.53 with a quarter CPL of £101.42.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(£76.00 CPL), while Mar was highest at £131.42.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-42.31%, spend +17.52%.</a:t>
            </a:r>
          </a:p>
        </p:txBody>
      </p:sp>
      <p:pic>
        <p:nvPicPr>
          <p:cNvPr id="8" name="Picture 7" descr="destination_india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india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India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(61.0%).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(53.3%).</a:t>
            </a:r>
          </a:p>
        </p:txBody>
      </p:sp>
      <p:pic>
        <p:nvPicPr>
          <p:cNvPr id="8" name="Picture 7" descr="destination_ind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india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3,691 leads from £36,581.70 with a quarter CPL of £9.91.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+218.74%, spend +47.51%.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  <a:gridCol w="1259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258,478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20,179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£12,396.98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7.62%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537,889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19,750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£15,069.02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1,157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£13.02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5.86%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535,323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16,109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£9,115.70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£9.14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6.19%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1,331,690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56,038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4.21%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£36,581.70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3,691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£9.91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6.59%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Other generated 3,691 leads from £36,581.70 with a quarter CPL of £9.91.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Jan (£8.07 CPL), while Feb was highest at £13.02.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vs same quarter last year: leads +218.74%, spend +47.51%.</a:t>
            </a:r>
          </a:p>
        </p:txBody>
      </p:sp>
      <p:pic>
        <p:nvPicPr>
          <p:cNvPr id="8" name="Picture 7" descr="destination_other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destination_other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Other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(57.4%).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(91.3%).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Spend and lead mix are concentrated in different campaign types, indicating different efficiency profiles.</a:t>
            </a:r>
          </a:p>
        </p:txBody>
      </p:sp>
      <p:pic>
        <p:nvPicPr>
          <p:cNvPr id="8" name="Picture 7" descr="destination_other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other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Google Trends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Wendy Wu Tours Terms Are Growing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bran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Mar.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seasonal / spiky.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Japan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japa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Jan.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China Demand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pic>
        <p:nvPicPr>
          <p:cNvPr id="4" name="Picture 3" descr="trend_chin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72084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417320"/>
            <a:ext cx="3931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trend data is available for the current period, but a prior-year baseline is not available.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Peak interest in the quarter fell in Feb.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The broader trend pattern looks decreasing.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Trends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Auction Insights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Brand coverage is very strong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262"/>
                <a:gridCol w="1613262"/>
                <a:gridCol w="1613262"/>
                <a:gridCol w="1613262"/>
                <a:gridCol w="1613262"/>
                <a:gridCol w="1613262"/>
                <a:gridCol w="1613268"/>
              </a:tblGrid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Domain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Overlap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Position Above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Top of Page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Absolute Top Rate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Outranking Share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audleytravel.com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15.3%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you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distantjourneys.co.uk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17.1%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tui.co.uk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18.7%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gadventures.com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18.6%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travelbag.co.uk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17.9%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exoticca.com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18.3%</a:t>
                      </a:r>
                    </a:p>
                  </a:txBody>
                  <a:tcPr/>
                </a:tc>
              </a:tr>
              <a:tr h="34036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loveholidays.com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80.2%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18.6%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52628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audleytravel.com, distantjourneys.co.uk and intrepidtravel.com are the closest competitors based on overlap rate.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audleytravel.com, you and distantjourneys.co.uk are strongest on impression share among competitors in the file.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getyourguide.com, tui.co.uk and gadventures.com show the strongest outranking presence where that metric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5A5A"/>
                </a:solidFill>
              </a:rPr>
              <a:t>Source: Google Ads Auction Insights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Q1 2026 (Jan - Mar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Scale efficiency: </a:t>
            </a:r>
            <a:r>
              <a:rPr sz="1600">
                <a:solidFill>
                  <a:srgbClr val="2D2D2D"/>
                </a:solidFill>
              </a:rPr>
              <a:t>Increase budget in the campaign types that are already delivering lead growth without a CPL penalty.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Brand for scale while testing incremental budget into Other where efficiency is strongest.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Competitive defence: </a:t>
            </a:r>
            <a:r>
              <a:rPr sz="1600">
                <a:solidFill>
                  <a:srgbClr val="2D2D2D"/>
                </a:solidFill>
              </a:rPr>
              <a:t>Monitor overlap from audleytravel.com, distantjourneys.co.uk and protect impression share on the most valuable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